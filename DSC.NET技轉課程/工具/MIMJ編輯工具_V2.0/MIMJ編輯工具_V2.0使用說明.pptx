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3"/>
  </p:sldMasterIdLst>
  <p:notesMasterIdLst>
    <p:notesMasterId r:id="rId14"/>
  </p:notesMasterIdLst>
  <p:handoutMasterIdLst>
    <p:handoutMasterId r:id="rId15"/>
  </p:handoutMasterIdLst>
  <p:sldIdLst>
    <p:sldId id="622" r:id="rId4"/>
    <p:sldId id="685" r:id="rId5"/>
    <p:sldId id="668" r:id="rId6"/>
    <p:sldId id="681" r:id="rId7"/>
    <p:sldId id="677" r:id="rId8"/>
    <p:sldId id="678" r:id="rId9"/>
    <p:sldId id="682" r:id="rId10"/>
    <p:sldId id="684" r:id="rId11"/>
    <p:sldId id="683" r:id="rId12"/>
    <p:sldId id="676" r:id="rId13"/>
  </p:sldIdLst>
  <p:sldSz cx="9144000" cy="6858000" type="screen4x3"/>
  <p:notesSz cx="6833870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3C8C93"/>
    <a:srgbClr val="E2F1F2"/>
    <a:srgbClr val="D1DCEE"/>
    <a:srgbClr val="D0EAEC"/>
    <a:srgbClr val="C9E7E9"/>
    <a:srgbClr val="E7F4F5"/>
    <a:srgbClr val="0000CC"/>
    <a:srgbClr val="DCDEF4"/>
    <a:srgbClr val="EBE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9" autoAdjust="0"/>
    <p:restoredTop sz="92580" autoAdjust="0"/>
  </p:normalViewPr>
  <p:slideViewPr>
    <p:cSldViewPr>
      <p:cViewPr>
        <p:scale>
          <a:sx n="80" d="100"/>
          <a:sy n="80" d="100"/>
        </p:scale>
        <p:origin x="-88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第三层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第四层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第五层</a:t>
            </a:r>
            <a:endParaRPr lang="zh-TW" altLang="en-US" noProof="0" smtClean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itchFamily="2" charset="2"/>
              <a:buChar char="n"/>
              <a:defRPr b="1">
                <a:solidFill>
                  <a:srgbClr val="000099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 b="1">
                <a:latin typeface="微軟正黑體" pitchFamily="34" charset="-120"/>
                <a:ea typeface="微軟正黑體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 b="1">
                <a:latin typeface="微軟正黑體" pitchFamily="34" charset="-120"/>
                <a:ea typeface="微軟正黑體" pitchFamily="34" charset="-120"/>
              </a:defRPr>
            </a:lvl4pPr>
            <a:lvl5pPr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9.jpe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smtClean="0"/>
              <a:t>按一下以編輯母片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0.png"/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500298" y="1994064"/>
            <a:ext cx="6643702" cy="1988820"/>
          </a:xfrm>
        </p:spPr>
        <p:txBody>
          <a:bodyPr/>
          <a:lstStyle/>
          <a:p>
            <a:r>
              <a:rPr lang="en-US" altLang="zh-TW" dirty="0" smtClean="0"/>
              <a:t>MIMJ</a:t>
            </a:r>
            <a:r>
              <a:rPr lang="zh-TW" altLang="en-US" dirty="0" smtClean="0"/>
              <a:t>工具</a:t>
            </a:r>
            <a:r>
              <a:rPr lang="en-US" altLang="zh-TW" dirty="0" smtClean="0"/>
              <a:t>V2.0</a:t>
            </a:r>
            <a:br>
              <a:rPr lang="zh-TW" altLang="en-US" dirty="0" smtClean="0"/>
            </a:br>
            <a:r>
              <a:rPr lang="zh-TW" altLang="en-US" dirty="0" smtClean="0"/>
              <a:t>使用說明</a:t>
            </a:r>
            <a:endParaRPr lang="zh-TW" altLang="en-US" sz="3600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555776" y="5143512"/>
            <a:ext cx="4536504" cy="1428760"/>
          </a:xfrm>
        </p:spPr>
        <p:txBody>
          <a:bodyPr/>
          <a:lstStyle/>
          <a:p>
            <a:r>
              <a:rPr lang="zh-TW" altLang="en-US" sz="2800" dirty="0" smtClean="0"/>
              <a:t>陳威弟</a:t>
            </a:r>
            <a:endParaRPr lang="en-US" altLang="zh-TW" sz="2800" dirty="0" smtClean="0"/>
          </a:p>
          <a:p>
            <a:r>
              <a:rPr lang="zh-TW" altLang="en-US" sz="2000" dirty="0" smtClean="0"/>
              <a:t>鼎新電腦</a:t>
            </a:r>
            <a:endParaRPr lang="zh-TW" altLang="en-US" sz="2000" dirty="0" smtClean="0"/>
          </a:p>
          <a:p>
            <a:r>
              <a:rPr lang="en-US" altLang="zh-TW" sz="2000" dirty="0"/>
              <a:t>2016/12/29</a:t>
            </a:r>
            <a:endParaRPr lang="en-US" altLang="zh-TW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p>
            <a:r>
              <a:rPr lang="en-US" altLang="zh-TW"/>
              <a:t>V2.0</a:t>
            </a:r>
            <a:r>
              <a:t>功能調整說明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TW" altLang="en-US" sz="2400"/>
              <a:t>修正</a:t>
            </a:r>
            <a:r>
              <a:rPr lang="en-US" altLang="zh-TW" sz="2400"/>
              <a:t>V1.0</a:t>
            </a:r>
            <a:r>
              <a:rPr lang="zh-TW" altLang="en-US" sz="2400"/>
              <a:t>於</a:t>
            </a:r>
            <a:r>
              <a:rPr lang="en-US" altLang="zh-TW" sz="2400"/>
              <a:t>64</a:t>
            </a:r>
            <a:r>
              <a:rPr lang="zh-TW" altLang="en-US" sz="2400"/>
              <a:t>位元環境異常</a:t>
            </a:r>
            <a:endParaRPr lang="zh-TW" altLang="en-US" sz="2400"/>
          </a:p>
          <a:p>
            <a:r>
              <a:rPr lang="zh-TW" altLang="en-US" sz="2400"/>
              <a:t>修正</a:t>
            </a:r>
            <a:r>
              <a:rPr lang="en-US" altLang="zh-TW" sz="2400"/>
              <a:t>V1.0</a:t>
            </a:r>
            <a:r>
              <a:rPr lang="zh-TW" altLang="en-US" sz="2400"/>
              <a:t>欄位標題說明錯誤</a:t>
            </a:r>
            <a:endParaRPr lang="zh-TW" altLang="en-US" sz="2400"/>
          </a:p>
          <a:p>
            <a:r>
              <a:rPr lang="zh-TW" altLang="en-US" sz="2400">
                <a:sym typeface="+mn-ea"/>
              </a:rPr>
              <a:t>修正</a:t>
            </a:r>
            <a:r>
              <a:rPr lang="en-US" altLang="zh-TW" sz="2400">
                <a:sym typeface="+mn-ea"/>
              </a:rPr>
              <a:t>V1.0</a:t>
            </a:r>
            <a:r>
              <a:rPr lang="zh-TW" altLang="en-US" sz="2400">
                <a:sym typeface="+mn-ea"/>
              </a:rPr>
              <a:t>匯出</a:t>
            </a:r>
            <a:r>
              <a:rPr lang="en-US" altLang="zh-TW" sz="2400">
                <a:sym typeface="+mn-ea"/>
              </a:rPr>
              <a:t>SQL</a:t>
            </a:r>
            <a:r>
              <a:rPr lang="zh-TW" altLang="en-US" sz="2400">
                <a:sym typeface="+mn-ea"/>
              </a:rPr>
              <a:t>指令有亂碼情況</a:t>
            </a:r>
            <a:endParaRPr lang="zh-TW" altLang="en-US" sz="2400">
              <a:sym typeface="+mn-ea"/>
            </a:endParaRPr>
          </a:p>
          <a:p>
            <a:r>
              <a:rPr lang="zh-TW" altLang="en-US" sz="2400"/>
              <a:t>新增可於非</a:t>
            </a:r>
            <a:r>
              <a:rPr lang="en-US" altLang="zh-TW" sz="2400"/>
              <a:t>AP</a:t>
            </a:r>
            <a:r>
              <a:rPr lang="zh-TW" altLang="en-US" sz="2400"/>
              <a:t>主機使用的方式</a:t>
            </a:r>
            <a:r>
              <a:rPr lang="en-US" altLang="zh-TW" sz="2400"/>
              <a:t>(</a:t>
            </a:r>
            <a:r>
              <a:rPr lang="zh-TW" altLang="en-US" sz="2400">
                <a:hlinkClick r:id="rId1" tooltip="" action="ppaction://hlinksldjump"/>
              </a:rPr>
              <a:t>參考</a:t>
            </a:r>
            <a:r>
              <a:rPr lang="en-US" altLang="zh-TW" sz="2400">
                <a:hlinkClick r:id="rId1" tooltip="" action="ppaction://hlinksldjump"/>
              </a:rPr>
              <a:t>p.3</a:t>
            </a:r>
            <a:r>
              <a:rPr lang="en-US" altLang="zh-TW" sz="2400"/>
              <a:t>)</a:t>
            </a:r>
            <a:endParaRPr lang="en-US" altLang="zh-TW" sz="2400"/>
          </a:p>
          <a:p>
            <a:r>
              <a:rPr lang="zh-TW" altLang="en-US" sz="2400"/>
              <a:t>新增</a:t>
            </a:r>
            <a:r>
              <a:rPr lang="en-US" altLang="zh-TW" sz="2400"/>
              <a:t>MI</a:t>
            </a:r>
            <a:r>
              <a:rPr lang="zh-TW" altLang="en-US" sz="2400"/>
              <a:t>可設定</a:t>
            </a:r>
            <a:r>
              <a:rPr lang="zh-TW" altLang="en-US" sz="2400">
                <a:solidFill>
                  <a:srgbClr val="0000CC"/>
                </a:solidFill>
              </a:rPr>
              <a:t>預設搜尋</a:t>
            </a:r>
            <a:r>
              <a:rPr lang="zh-TW" altLang="en-US" sz="2400"/>
              <a:t>的欄位</a:t>
            </a:r>
            <a:r>
              <a:rPr lang="en-US" altLang="zh-TW" sz="2400"/>
              <a:t>(</a:t>
            </a:r>
            <a:r>
              <a:rPr lang="zh-TW" altLang="en-US" sz="2400">
                <a:hlinkClick r:id="rId2" tooltip="" action="ppaction://hlinksldjump"/>
              </a:rPr>
              <a:t>參考</a:t>
            </a:r>
            <a:r>
              <a:rPr lang="en-US" altLang="zh-TW" sz="2400">
                <a:hlinkClick r:id="rId2" tooltip="" action="ppaction://hlinksldjump"/>
              </a:rPr>
              <a:t>p.6</a:t>
            </a:r>
            <a:r>
              <a:rPr lang="en-US" altLang="zh-TW" sz="2400"/>
              <a:t>)</a:t>
            </a:r>
            <a:endParaRPr lang="en-US" altLang="zh-TW" sz="2400"/>
          </a:p>
          <a:p>
            <a:r>
              <a:rPr lang="zh-TW" altLang="en-US" sz="2400"/>
              <a:t>新增</a:t>
            </a:r>
            <a:r>
              <a:rPr lang="zh-TW" altLang="en-US" sz="2400">
                <a:solidFill>
                  <a:srgbClr val="0000CC"/>
                </a:solidFill>
              </a:rPr>
              <a:t>外部資料庫測試</a:t>
            </a:r>
            <a:r>
              <a:rPr lang="zh-TW" altLang="en-US" sz="2400"/>
              <a:t>功能</a:t>
            </a:r>
            <a:r>
              <a:rPr lang="en-US" altLang="zh-TW" sz="2400"/>
              <a:t>(</a:t>
            </a:r>
            <a:r>
              <a:rPr lang="zh-TW" altLang="en-US" sz="2400">
                <a:hlinkClick r:id="rId3" tooltip="" action="ppaction://hlinksldjump"/>
              </a:rPr>
              <a:t>參考</a:t>
            </a:r>
            <a:r>
              <a:rPr lang="en-US" altLang="zh-TW" sz="2400">
                <a:hlinkClick r:id="rId3" tooltip="" action="ppaction://hlinksldjump"/>
              </a:rPr>
              <a:t>p.7</a:t>
            </a:r>
            <a:r>
              <a:rPr lang="en-US" altLang="zh-TW" sz="2400"/>
              <a:t>)</a:t>
            </a:r>
            <a:endParaRPr lang="en-US" altLang="zh-TW" sz="2400"/>
          </a:p>
        </p:txBody>
      </p:sp>
      <p:sp>
        <p:nvSpPr>
          <p:cNvPr id="9" name="剪去並圓角化單一角落矩形 8"/>
          <p:cNvSpPr/>
          <p:nvPr/>
        </p:nvSpPr>
        <p:spPr>
          <a:xfrm>
            <a:off x="467995" y="5156835"/>
            <a:ext cx="5547360" cy="1135380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TW">
                <a:sym typeface="+mn-ea"/>
              </a:rPr>
              <a:t>1.</a:t>
            </a:r>
            <a:r>
              <a:rPr lang="zh-TW" altLang="en-US">
                <a:sym typeface="+mn-ea"/>
              </a:rPr>
              <a:t>本工具僅提供內部同仁使用</a:t>
            </a:r>
            <a:endParaRPr lang="zh-TW" altLang="en-US">
              <a:sym typeface="+mn-ea"/>
            </a:endParaRPr>
          </a:p>
          <a:p>
            <a:pPr algn="l"/>
            <a:r>
              <a:rPr lang="en-US" altLang="zh-TW">
                <a:sym typeface="+mn-ea"/>
              </a:rPr>
              <a:t>2.</a:t>
            </a:r>
            <a:r>
              <a:rPr lang="zh-TW" altLang="en-US">
                <a:sym typeface="+mn-ea"/>
              </a:rPr>
              <a:t>若調整標準的組別組數，系統版更將被還原</a:t>
            </a:r>
            <a:endParaRPr lang="zh-TW" altLang="en-US">
              <a:sym typeface="+mn-e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480000">
            <a:off x="237490" y="4708525"/>
            <a:ext cx="1917700" cy="962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9565" y="3357245"/>
            <a:ext cx="4962525" cy="333692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2" name="文字方塊 1"/>
          <p:cNvSpPr txBox="1"/>
          <p:nvPr/>
        </p:nvSpPr>
        <p:spPr>
          <a:xfrm>
            <a:off x="323215" y="836930"/>
            <a:ext cx="7614920" cy="4206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charset="0"/>
              <a:buChar char="u"/>
            </a:pPr>
            <a:r>
              <a:rPr lang="zh-TW" altLang="en-US" dirty="0" smtClean="0">
                <a:sym typeface="+mn-ea"/>
              </a:rPr>
              <a:t>使用</a:t>
            </a:r>
            <a:r>
              <a:rPr lang="zh-TW" altLang="en-US" dirty="0" smtClean="0">
                <a:solidFill>
                  <a:srgbClr val="FF0000"/>
                </a:solidFill>
                <a:sym typeface="+mn-ea"/>
              </a:rPr>
              <a:t>管理員</a:t>
            </a:r>
            <a:r>
              <a:rPr lang="zh-TW" altLang="en-US" dirty="0" smtClean="0">
                <a:sym typeface="+mn-ea"/>
              </a:rPr>
              <a:t>身份開啟MIMJTools，如下圖</a:t>
            </a:r>
            <a:br>
              <a:rPr lang="zh-TW" altLang="en-US" dirty="0" smtClean="0">
                <a:sym typeface="+mn-ea"/>
              </a:rPr>
            </a:b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171450" indent="-171450">
              <a:buFont typeface="Wingdings" charset="0"/>
              <a:buChar char="u"/>
            </a:pPr>
            <a:r>
              <a:rPr lang="zh-TW" altLang="en-US" dirty="0" smtClean="0">
                <a:sym typeface="+mn-ea"/>
              </a:rPr>
              <a:t>若需要於</a:t>
            </a:r>
            <a:r>
              <a:rPr lang="zh-TW" altLang="en-US" dirty="0" smtClean="0">
                <a:solidFill>
                  <a:srgbClr val="FF0000"/>
                </a:solidFill>
                <a:sym typeface="+mn-ea"/>
              </a:rPr>
              <a:t>非</a:t>
            </a:r>
            <a:r>
              <a:rPr lang="en-US" altLang="zh-TW" dirty="0" smtClean="0">
                <a:solidFill>
                  <a:srgbClr val="FF0000"/>
                </a:solidFill>
                <a:sym typeface="+mn-ea"/>
              </a:rPr>
              <a:t>AP</a:t>
            </a:r>
            <a:r>
              <a:rPr lang="zh-TW" altLang="en-US" dirty="0" smtClean="0">
                <a:solidFill>
                  <a:srgbClr val="FF0000"/>
                </a:solidFill>
                <a:sym typeface="+mn-ea"/>
              </a:rPr>
              <a:t>主機</a:t>
            </a:r>
            <a:r>
              <a:rPr lang="zh-TW" altLang="en-US" dirty="0" smtClean="0">
                <a:sym typeface="+mn-ea"/>
              </a:rPr>
              <a:t>上執行時，</a:t>
            </a:r>
            <a:br>
              <a:rPr lang="zh-TW" altLang="en-US" dirty="0" smtClean="0">
                <a:sym typeface="+mn-ea"/>
              </a:rPr>
            </a:br>
            <a:r>
              <a:rPr lang="zh-TW" altLang="en-US" dirty="0" smtClean="0">
                <a:sym typeface="+mn-ea"/>
              </a:rPr>
              <a:t>可複製主機</a:t>
            </a:r>
            <a:r>
              <a:rPr lang="en-US" altLang="zh-TW" dirty="0" smtClean="0">
                <a:sym typeface="+mn-ea"/>
              </a:rPr>
              <a:t>D:\EasyFlow\EFNET</a:t>
            </a:r>
            <a:r>
              <a:rPr lang="zh-TW" altLang="en-US" dirty="0" smtClean="0">
                <a:sym typeface="+mn-ea"/>
              </a:rPr>
              <a:t>的</a:t>
            </a:r>
            <a:r>
              <a:rPr lang="en-US" altLang="zh-TW" dirty="0" smtClean="0">
                <a:sym typeface="+mn-ea"/>
              </a:rPr>
              <a:t>Web.Config</a:t>
            </a:r>
            <a:r>
              <a:rPr lang="zh-TW" altLang="en-US" dirty="0" smtClean="0">
                <a:sym typeface="+mn-ea"/>
              </a:rPr>
              <a:t>到本地端，</a:t>
            </a:r>
            <a:br>
              <a:rPr lang="zh-TW" altLang="en-US" dirty="0" smtClean="0">
                <a:sym typeface="+mn-ea"/>
              </a:rPr>
            </a:br>
            <a:r>
              <a:rPr lang="zh-TW" altLang="en-US" dirty="0" smtClean="0">
                <a:sym typeface="+mn-ea"/>
              </a:rPr>
              <a:t>如右</a:t>
            </a:r>
            <a:r>
              <a:rPr lang="zh-TW" altLang="en-US" dirty="0" smtClean="0">
                <a:sym typeface="+mn-ea"/>
              </a:rPr>
              <a:t>圖</a:t>
            </a:r>
            <a:endParaRPr lang="zh-TW" altLang="en-US" dirty="0" smtClean="0">
              <a:sym typeface="+mn-ea"/>
            </a:endParaRPr>
          </a:p>
          <a:p>
            <a:pPr marL="685800" lvl="1" indent="-228600">
              <a:buFont typeface="+mj-lt"/>
              <a:buAutoNum type="alphaLcParenR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1196975"/>
            <a:ext cx="3456940" cy="2028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2" name="文字方塊 1"/>
          <p:cNvSpPr txBox="1"/>
          <p:nvPr/>
        </p:nvSpPr>
        <p:spPr>
          <a:xfrm>
            <a:off x="323215" y="836930"/>
            <a:ext cx="7614920" cy="33832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ClrTx/>
              <a:buFont typeface="Wingdings" charset="0"/>
              <a:buChar char="u"/>
            </a:pPr>
            <a:r>
              <a:rPr lang="zh-TW" altLang="en-US" dirty="0" smtClean="0">
                <a:sym typeface="+mn-ea"/>
              </a:rPr>
              <a:t>選擇</a:t>
            </a:r>
            <a:r>
              <a:rPr lang="en-US" altLang="zh-TW" dirty="0" smtClean="0">
                <a:sym typeface="+mn-ea"/>
              </a:rPr>
              <a:t>web.confg</a:t>
            </a:r>
            <a:r>
              <a:rPr lang="zh-TW" altLang="en-US" dirty="0" smtClean="0">
                <a:sym typeface="+mn-ea"/>
              </a:rPr>
              <a:t>位置後，按下連線</a:t>
            </a:r>
            <a:br>
              <a:rPr lang="zh-TW" altLang="en-US" dirty="0" smtClean="0">
                <a:sym typeface="+mn-ea"/>
              </a:rPr>
            </a:b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 startAt="3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 startAt="3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 startAt="3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 startAt="3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 startAt="3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 startAt="3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 startAt="3"/>
            </a:pPr>
            <a:endParaRPr lang="zh-TW" altLang="en-US" dirty="0" smtClean="0">
              <a:sym typeface="+mn-ea"/>
            </a:endParaRPr>
          </a:p>
          <a:p>
            <a:pPr marL="685800" lvl="1" indent="-228600">
              <a:buFont typeface="+mj-lt"/>
              <a:buAutoNum type="alphaLcParenR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 dirty="0" smtClean="0">
              <a:sym typeface="+mn-ea"/>
            </a:endParaRPr>
          </a:p>
          <a:p>
            <a:pPr marL="228600" indent="-228600">
              <a:buAutoNum type="arabicPeriod"/>
            </a:pPr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268730"/>
            <a:ext cx="5657215" cy="4571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467544" y="907708"/>
            <a:ext cx="8208912" cy="386715"/>
          </a:xfrm>
        </p:spPr>
        <p:txBody>
          <a:bodyPr/>
          <a:lstStyle/>
          <a:p>
            <a:pPr marL="285750" indent="-285750" algn="l">
              <a:buFont typeface="Wingdings" charset="0"/>
              <a:buChar char="u"/>
            </a:pPr>
            <a:r>
              <a:rPr lang="zh-TW" altLang="en-US" sz="1800" b="0" dirty="0" smtClean="0">
                <a:effectLst/>
              </a:rPr>
              <a:t>可於組別組數輸入查詢的 </a:t>
            </a:r>
            <a:r>
              <a:rPr lang="en-US" altLang="zh-TW" sz="1800" b="0" dirty="0" smtClean="0">
                <a:effectLst/>
              </a:rPr>
              <a:t>keyword </a:t>
            </a:r>
            <a:r>
              <a:rPr lang="zh-TW" altLang="en-US" sz="1800" b="0" dirty="0" smtClean="0">
                <a:effectLst/>
              </a:rPr>
              <a:t>後按</a:t>
            </a:r>
            <a:r>
              <a:rPr lang="en-US" altLang="zh-TW" sz="1800" b="0" dirty="0" smtClean="0">
                <a:effectLst/>
              </a:rPr>
              <a:t>Enter</a:t>
            </a:r>
            <a:endParaRPr lang="zh-TW" altLang="en-US" sz="1800" b="0" dirty="0">
              <a:effectLst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1770380"/>
            <a:ext cx="5628640" cy="4628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67544" y="907708"/>
            <a:ext cx="8208912" cy="386715"/>
          </a:xfrm>
        </p:spPr>
        <p:txBody>
          <a:bodyPr/>
          <a:p>
            <a:pPr marL="285750" indent="-285750" algn="l">
              <a:buFont typeface="Wingdings" charset="0"/>
              <a:buChar char="u"/>
            </a:pPr>
            <a:r>
              <a:rPr lang="zh-TW" altLang="en-US" sz="1800" b="0" dirty="0">
                <a:effectLst/>
              </a:rPr>
              <a:t>點擊資料列開啟編輯</a:t>
            </a:r>
            <a:r>
              <a:rPr lang="zh-TW" altLang="en-US" sz="1800" b="0" dirty="0">
                <a:effectLst/>
              </a:rPr>
              <a:t>頁面</a:t>
            </a:r>
            <a:endParaRPr lang="zh-TW" altLang="en-US" sz="1800" b="0" dirty="0">
              <a:effectLst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412875"/>
            <a:ext cx="7790180" cy="4218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67544" y="907708"/>
            <a:ext cx="8208912" cy="386715"/>
          </a:xfrm>
        </p:spPr>
        <p:txBody>
          <a:bodyPr/>
          <a:p>
            <a:pPr marL="285750" indent="-285750" algn="l">
              <a:buFont typeface="Wingdings" charset="0"/>
              <a:buChar char="u"/>
            </a:pPr>
            <a:r>
              <a:rPr lang="zh-TW" altLang="en-US" sz="1800" b="0" dirty="0">
                <a:effectLst/>
              </a:rPr>
              <a:t>切換為測試頁面進行測試</a:t>
            </a:r>
            <a:r>
              <a:rPr lang="en-US" altLang="zh-TW" sz="1800" b="0" dirty="0">
                <a:effectLst/>
              </a:rPr>
              <a:t>(MI)</a:t>
            </a:r>
            <a:endParaRPr lang="en-US" altLang="zh-TW" sz="1800" b="0" dirty="0">
              <a:effectLst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340485"/>
            <a:ext cx="7404100" cy="531495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930" y="1318260"/>
            <a:ext cx="4688840" cy="5305425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1403350" y="2637155"/>
            <a:ext cx="2021205" cy="837565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TW"/>
              <a:t>EFNET</a:t>
            </a:r>
            <a:r>
              <a:rPr lang="zh-TW" altLang="en-US"/>
              <a:t>資料庫測試</a:t>
            </a:r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5939790" y="2637155"/>
            <a:ext cx="2021205" cy="837565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TW" altLang="en-US"/>
              <a:t>外部</a:t>
            </a:r>
            <a:r>
              <a:rPr lang="zh-TW" altLang="en-US"/>
              <a:t>資料庫測試</a:t>
            </a:r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4643755" y="3717290"/>
            <a:ext cx="3240405" cy="8636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1988820"/>
            <a:ext cx="4714240" cy="445706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67544" y="907708"/>
            <a:ext cx="8208912" cy="386715"/>
          </a:xfrm>
        </p:spPr>
        <p:txBody>
          <a:bodyPr/>
          <a:p>
            <a:pPr marL="285750" indent="-285750" algn="l">
              <a:buFont typeface="Wingdings" charset="0"/>
              <a:buChar char="u"/>
            </a:pPr>
            <a:r>
              <a:rPr lang="zh-TW" altLang="en-US" sz="1800" b="0" dirty="0">
                <a:effectLst/>
              </a:rPr>
              <a:t>切換為測試頁面進行測試</a:t>
            </a:r>
            <a:r>
              <a:rPr lang="en-US" altLang="zh-TW" sz="1800" b="0" dirty="0">
                <a:effectLst/>
              </a:rPr>
              <a:t>(MJ)</a:t>
            </a:r>
            <a:endParaRPr lang="en-US" altLang="zh-TW" sz="1800" b="0" dirty="0">
              <a:effectLst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259205" y="3284855"/>
            <a:ext cx="2021205" cy="837565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TW"/>
              <a:t>EFNET</a:t>
            </a:r>
            <a:r>
              <a:rPr lang="zh-TW" altLang="en-US"/>
              <a:t>資料庫測試</a:t>
            </a:r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5939790" y="3282950"/>
            <a:ext cx="2021205" cy="837565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TW" altLang="en-US"/>
              <a:t>外部資料庫測試</a:t>
            </a:r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060575"/>
            <a:ext cx="4580890" cy="4323715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4644390" y="4508500"/>
            <a:ext cx="3240405" cy="99631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67544" y="907708"/>
            <a:ext cx="8208912" cy="386715"/>
          </a:xfrm>
        </p:spPr>
        <p:txBody>
          <a:bodyPr/>
          <a:p>
            <a:pPr marL="285750" indent="-285750" algn="l">
              <a:buFont typeface="Wingdings" charset="0"/>
              <a:buChar char="u"/>
            </a:pPr>
            <a:r>
              <a:rPr lang="zh-TW" altLang="en-US" sz="1800" b="0" dirty="0">
                <a:effectLst/>
              </a:rPr>
              <a:t>勾選資料列按下匯出，可產出該組別</a:t>
            </a:r>
            <a:r>
              <a:rPr lang="en-US" altLang="zh-TW" sz="1800" b="0" dirty="0">
                <a:effectLst/>
              </a:rPr>
              <a:t>-</a:t>
            </a:r>
            <a:r>
              <a:rPr sz="1800" b="0" dirty="0">
                <a:effectLst/>
              </a:rPr>
              <a:t>組數的 </a:t>
            </a:r>
            <a:r>
              <a:rPr lang="en-US" altLang="zh-TW" sz="1800" b="0" dirty="0">
                <a:effectLst/>
              </a:rPr>
              <a:t>SQL</a:t>
            </a:r>
            <a:r>
              <a:rPr sz="1800" b="0" dirty="0">
                <a:effectLst/>
              </a:rPr>
              <a:t>指令，方</a:t>
            </a:r>
            <a:r>
              <a:rPr sz="1800" b="0" dirty="0">
                <a:effectLst/>
              </a:rPr>
              <a:t>便匯入到另一個環境中</a:t>
            </a:r>
            <a:endParaRPr sz="1800" b="0" dirty="0">
              <a:effectLst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340485"/>
            <a:ext cx="5647690" cy="338074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830" y="3644900"/>
            <a:ext cx="3094990" cy="289496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293235"/>
            <a:ext cx="5714365" cy="2514600"/>
          </a:xfrm>
          <a:prstGeom prst="rect">
            <a:avLst/>
          </a:prstGeom>
        </p:spPr>
      </p:pic>
      <p:cxnSp>
        <p:nvCxnSpPr>
          <p:cNvPr id="9" name="直線單箭頭接點 8"/>
          <p:cNvCxnSpPr/>
          <p:nvPr/>
        </p:nvCxnSpPr>
        <p:spPr>
          <a:xfrm>
            <a:off x="5388610" y="3288665"/>
            <a:ext cx="1775460" cy="1940560"/>
          </a:xfrm>
          <a:prstGeom prst="straightConnector1">
            <a:avLst/>
          </a:prstGeom>
          <a:ln>
            <a:solidFill>
              <a:srgbClr val="0000CC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  <a:endParaRPr lang="en-US" altLang="zh-TW" sz="4000" b="1" i="1" dirty="0" smtClean="0"/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WPS Presentation</Application>
  <PresentationFormat>如螢幕大小 (4:3)</PresentationFormat>
  <Paragraphs>69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自訂設計</vt:lpstr>
      <vt:lpstr>Office 佈景主題</vt:lpstr>
      <vt:lpstr>MIMJ工具使用說明</vt:lpstr>
      <vt:lpstr>PowerPoint 演示文稿</vt:lpstr>
      <vt:lpstr>1. 選擇Web.config位置</vt:lpstr>
      <vt:lpstr>PowerPoint 演示文稿</vt:lpstr>
      <vt:lpstr>2.按下連線，系統所有MI MJ將各別顯示於頁籤，可於組別組數輸入查詢的keyword後按Enter</vt:lpstr>
      <vt:lpstr>可於組別組數輸入查詢的 keyword 後按Enter</vt:lpstr>
      <vt:lpstr>點擊資料列開啟編輯頁面</vt:lpstr>
      <vt:lpstr>切換為測試頁面進行測試(MI)</vt:lpstr>
      <vt:lpstr>切換為測試頁面進行測試</vt:lpstr>
      <vt:lpstr>PowerPoint 演示文稿</vt:lpstr>
    </vt:vector>
  </TitlesOfParts>
  <Company>dsc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Administrator</cp:lastModifiedBy>
  <cp:revision>1603</cp:revision>
  <dcterms:created xsi:type="dcterms:W3CDTF">2008-10-15T09:32:00Z</dcterms:created>
  <dcterms:modified xsi:type="dcterms:W3CDTF">2016-12-29T08:19:57Z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