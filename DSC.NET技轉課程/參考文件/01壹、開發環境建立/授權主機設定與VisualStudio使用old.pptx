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3"/>
  </p:sldMasterIdLst>
  <p:notesMasterIdLst>
    <p:notesMasterId r:id="rId9"/>
  </p:notesMasterIdLst>
  <p:handoutMasterIdLst>
    <p:handoutMasterId r:id="rId36"/>
  </p:handoutMasterIdLst>
  <p:sldIdLst>
    <p:sldId id="622" r:id="rId4"/>
    <p:sldId id="668" r:id="rId5"/>
    <p:sldId id="678" r:id="rId6"/>
    <p:sldId id="697" r:id="rId7"/>
    <p:sldId id="677" r:id="rId8"/>
    <p:sldId id="680" r:id="rId10"/>
    <p:sldId id="681" r:id="rId11"/>
    <p:sldId id="682" r:id="rId12"/>
    <p:sldId id="683" r:id="rId13"/>
    <p:sldId id="684" r:id="rId14"/>
    <p:sldId id="685" r:id="rId15"/>
    <p:sldId id="686" r:id="rId16"/>
    <p:sldId id="687" r:id="rId17"/>
    <p:sldId id="688" r:id="rId18"/>
    <p:sldId id="689" r:id="rId19"/>
    <p:sldId id="690" r:id="rId20"/>
    <p:sldId id="691" r:id="rId21"/>
    <p:sldId id="692" r:id="rId22"/>
    <p:sldId id="693" r:id="rId23"/>
    <p:sldId id="694" r:id="rId24"/>
    <p:sldId id="695" r:id="rId25"/>
    <p:sldId id="696" r:id="rId26"/>
    <p:sldId id="698" r:id="rId27"/>
    <p:sldId id="699" r:id="rId28"/>
    <p:sldId id="700" r:id="rId29"/>
    <p:sldId id="702" r:id="rId30"/>
    <p:sldId id="703" r:id="rId31"/>
    <p:sldId id="701" r:id="rId32"/>
    <p:sldId id="705" r:id="rId33"/>
    <p:sldId id="704" r:id="rId34"/>
    <p:sldId id="676" r:id="rId35"/>
  </p:sldIdLst>
  <p:sldSz cx="9144000" cy="6858000" type="screen4x3"/>
  <p:notesSz cx="6833870" cy="99790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1063cindyche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7C80"/>
    <a:srgbClr val="3C8C93"/>
    <a:srgbClr val="E2F1F2"/>
    <a:srgbClr val="D1DCEE"/>
    <a:srgbClr val="D0EAEC"/>
    <a:srgbClr val="C9E7E9"/>
    <a:srgbClr val="E7F4F5"/>
    <a:srgbClr val="DCDEF4"/>
    <a:srgbClr val="EBE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9" autoAdjust="0"/>
    <p:restoredTop sz="92580" autoAdjust="0"/>
  </p:normalViewPr>
  <p:slideViewPr>
    <p:cSldViewPr>
      <p:cViewPr>
        <p:scale>
          <a:sx n="70" d="100"/>
          <a:sy n="70" d="100"/>
        </p:scale>
        <p:origin x="-1590" y="-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commentAuthors" Target="commentAuthors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48930-57E6-4F24-A2EE-754E3BB2D090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CFE1-B21C-4E68-8F53-FCA88856515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5AFCBC85-116C-4042-82A0-EF8BD8001D3D}" type="datetimeFigureOut">
              <a:rPr lang="zh-TW" altLang="en-US"/>
            </a:fld>
            <a:endParaRPr lang="en-US" altLang="zh-TW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7713"/>
            <a:ext cx="4989512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/>
          <a:p>
            <a:pPr lvl="0"/>
            <a:r>
              <a:rPr lang="zh-CN" altLang="en-US" noProof="0" smtClean="0"/>
              <a:t>单击以编辑母片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第二层</a:t>
            </a:r>
            <a:endParaRPr lang="zh-TW" altLang="en-US" noProof="0" smtClean="0"/>
          </a:p>
          <a:p>
            <a:pPr lvl="2"/>
            <a:r>
              <a:rPr lang="zh-TW" altLang="en-US" noProof="0" smtClean="0"/>
              <a:t>第三层</a:t>
            </a:r>
            <a:endParaRPr lang="zh-TW" altLang="en-US" noProof="0" smtClean="0"/>
          </a:p>
          <a:p>
            <a:pPr lvl="3"/>
            <a:r>
              <a:rPr lang="zh-TW" altLang="en-US" noProof="0" smtClean="0"/>
              <a:t>第四层</a:t>
            </a:r>
            <a:endParaRPr lang="zh-TW" altLang="en-US" noProof="0" smtClean="0"/>
          </a:p>
          <a:p>
            <a:pPr lvl="4"/>
            <a:r>
              <a:rPr lang="zh-TW" altLang="en-US" noProof="0" smtClean="0"/>
              <a:t>第五层</a:t>
            </a:r>
            <a:endParaRPr lang="zh-TW" altLang="en-US" noProof="0" smtClean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應用程式集區是什麼？要共用集區還是獨立集區</a:t>
            </a:r>
            <a:endParaRPr lang="en-US" altLang="zh-TW" dirty="0" smtClean="0"/>
          </a:p>
          <a:p>
            <a:r>
              <a:rPr lang="zh-TW" altLang="en-US" dirty="0" smtClean="0"/>
              <a:t>集區</a:t>
            </a:r>
            <a:r>
              <a:rPr lang="en-US" altLang="zh-TW" dirty="0" smtClean="0"/>
              <a:t>=</a:t>
            </a:r>
            <a:r>
              <a:rPr lang="zh-TW" altLang="en-US" dirty="0" smtClean="0"/>
              <a:t>一個獨立的執行緒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0238029-D79D-42D5-8DD3-3973BBA50490}" type="slidenum">
              <a:rPr lang="zh-TW" altLang="en-US" smtClean="0"/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en-US" altLang="zh-TW"/>
              <a:t>HurryUP</a:t>
            </a:r>
            <a:r>
              <a:rPr lang="zh-TW" altLang="zh-TW"/>
              <a:t>工具介紹</a:t>
            </a:r>
            <a:endParaRPr lang="zh-TW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DAB0E-E1AC-46DA-A9EC-548034A1FB9F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868363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065588"/>
          </a:xfrm>
        </p:spPr>
        <p:txBody>
          <a:bodyPr/>
          <a:lstStyle>
            <a:lvl1pPr>
              <a:buFont typeface="Wingdings" pitchFamily="2" charset="2"/>
              <a:buChar char="n"/>
              <a:defRPr b="1">
                <a:solidFill>
                  <a:srgbClr val="000099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 b="1">
                <a:latin typeface="微軟正黑體" pitchFamily="34" charset="-120"/>
                <a:ea typeface="微軟正黑體" pitchFamily="34" charset="-120"/>
              </a:defRPr>
            </a:lvl2pPr>
            <a:lvl3pPr>
              <a:defRPr b="1">
                <a:solidFill>
                  <a:srgbClr val="663300"/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 b="1">
                <a:latin typeface="微軟正黑體" pitchFamily="34" charset="-120"/>
                <a:ea typeface="微軟正黑體" pitchFamily="34" charset="-120"/>
              </a:defRPr>
            </a:lvl4pPr>
            <a:lvl5pPr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  <a:p>
            <a:pPr>
              <a:defRPr/>
            </a:pPr>
            <a:endParaRPr lang="en-US" altLang="zh-TW"/>
          </a:p>
          <a:p>
            <a:pPr>
              <a:defRPr/>
            </a:pPr>
            <a:fld id="{6F8F4BC0-65D6-45C0-95FE-854F8F2BD9F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E2AB8-31FC-468B-AE37-ABE5C8C2A0C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9DB8A-6EC4-4D79-AD14-FE7C9DFF58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52CE6-C213-46A8-84F7-C371EF09385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5AAD-0BA9-43D2-A48E-D7F91AEB675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B806-3AE1-4F93-9E96-89D6A14B6A3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7EF79-B625-4ABD-994A-D02D50832F6E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C9E8C-55E2-4C6E-8287-1A65335C65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5A53-5CAC-48E3-808E-56106F08AE1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81075"/>
            <a:ext cx="2057400" cy="5145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19800" cy="5145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1D19-2EC9-44B1-8A50-42D6FD8F1F8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首頁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ctrTitle" hasCustomPrompt="1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6000" b="1" kern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CN" altLang="en-US" dirty="0" smtClean="0"/>
              <a:t>单击以编辑母片标题样式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单击以编辑母片副标题样式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7" y="964629"/>
            <a:ext cx="648072" cy="17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594" y="988542"/>
            <a:ext cx="797719" cy="14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2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6221C-E86A-49BC-B566-D20161E0AE5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9.jpe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 descr="ppt_B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4763" y="-1588"/>
            <a:ext cx="9153526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81075"/>
            <a:ext cx="8229600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60575"/>
            <a:ext cx="8229600" cy="4065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smtClean="0"/>
              <a:t>按一下以編輯母片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1BAA6A6A-B44F-4E1B-A333-ADD46CF30C79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ll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6" descr="1007簡報內頁.jpg"/>
          <p:cNvPicPr>
            <a:picLocks noChangeAspect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63" y="0"/>
            <a:ext cx="9134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2.png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2483768" y="1844824"/>
            <a:ext cx="6192688" cy="1754326"/>
          </a:xfrm>
        </p:spPr>
        <p:txBody>
          <a:bodyPr/>
          <a:lstStyle/>
          <a:p>
            <a:r>
              <a:rPr lang="zh-TW" altLang="en-US" sz="5400" dirty="0" smtClean="0"/>
              <a:t>授權主機設定與</a:t>
            </a:r>
            <a:br>
              <a:rPr lang="en-US" altLang="zh-TW" sz="5400" dirty="0" smtClean="0"/>
            </a:br>
            <a:r>
              <a:rPr lang="en-US" altLang="zh-TW" sz="5400" dirty="0" smtClean="0"/>
              <a:t>Visual  Studio</a:t>
            </a:r>
            <a:r>
              <a:rPr lang="zh-TW" altLang="en-US" sz="5400" dirty="0" smtClean="0"/>
              <a:t>使用</a:t>
            </a:r>
            <a:endParaRPr lang="zh-TW" altLang="en-US" sz="5400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2411760" y="5410161"/>
            <a:ext cx="4536504" cy="1428760"/>
          </a:xfrm>
        </p:spPr>
        <p:txBody>
          <a:bodyPr/>
          <a:lstStyle/>
          <a:p>
            <a:r>
              <a:rPr lang="zh-TW" altLang="en-US" sz="2800" smtClean="0"/>
              <a:t>吳俐君</a:t>
            </a:r>
            <a:endParaRPr lang="en-US" altLang="zh-TW" sz="2800" dirty="0" smtClean="0"/>
          </a:p>
          <a:p>
            <a:r>
              <a:rPr lang="zh-TW" altLang="en-US" sz="2000" dirty="0" smtClean="0"/>
              <a:t>鼎新電腦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dirty="0" smtClean="0"/>
              <a:t>大綱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r>
              <a:rPr lang="zh-TW" altLang="en-US" dirty="0" smtClean="0"/>
              <a:t>授權主機</a:t>
            </a:r>
            <a:endParaRPr lang="en-US" altLang="zh-TW" dirty="0"/>
          </a:p>
          <a:p>
            <a:pPr lvl="1"/>
            <a:r>
              <a:rPr lang="zh-TW" altLang="en-US" dirty="0" smtClean="0"/>
              <a:t>授權主機設定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開發機設定</a:t>
            </a:r>
            <a:endParaRPr lang="en-US" altLang="zh-TW" dirty="0"/>
          </a:p>
          <a:p>
            <a:r>
              <a:rPr lang="en-US" altLang="zh-TW" dirty="0"/>
              <a:t>Visual Studio</a:t>
            </a:r>
            <a:r>
              <a:rPr lang="zh-TW" altLang="en-US" dirty="0" smtClean="0"/>
              <a:t>使用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如何開啟網站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如何偵錯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監看式使用</a:t>
            </a:r>
            <a:endParaRPr lang="zh-TW" altLang="en-US" dirty="0"/>
          </a:p>
          <a:p>
            <a:pPr lvl="1"/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授權主機架構示意圖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grpSp>
        <p:nvGrpSpPr>
          <p:cNvPr id="36" name="群組 35"/>
          <p:cNvGrpSpPr/>
          <p:nvPr/>
        </p:nvGrpSpPr>
        <p:grpSpPr>
          <a:xfrm>
            <a:off x="785467" y="1484784"/>
            <a:ext cx="7825215" cy="5184576"/>
            <a:chOff x="785467" y="1484784"/>
            <a:chExt cx="7825215" cy="5184576"/>
          </a:xfrm>
        </p:grpSpPr>
        <p:pic>
          <p:nvPicPr>
            <p:cNvPr id="2050" name="Picture 2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1560" y="5431470"/>
              <a:ext cx="1212576" cy="1237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1" name="Picture 3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467" y="5431470"/>
              <a:ext cx="1212576" cy="1237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4008" y="5431470"/>
              <a:ext cx="1212576" cy="1237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2280" y="5431470"/>
              <a:ext cx="1212576" cy="1237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3" name="Picture 5" descr="C:\Program Files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467" y="3429000"/>
              <a:ext cx="1824228" cy="1121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5" descr="C:\Program Files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1528" y="3429000"/>
              <a:ext cx="1824228" cy="1121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 descr="C:\Program Files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6454" y="3429000"/>
              <a:ext cx="1824228" cy="1121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25" r="3802"/>
            <a:stretch>
              <a:fillRect/>
            </a:stretch>
          </p:blipFill>
          <p:spPr bwMode="auto">
            <a:xfrm>
              <a:off x="3563888" y="1484784"/>
              <a:ext cx="1542553" cy="1374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" name="直線單箭頭接點 13"/>
            <p:cNvCxnSpPr>
              <a:stCxn id="2053" idx="0"/>
              <a:endCxn id="2054" idx="2"/>
            </p:cNvCxnSpPr>
            <p:nvPr/>
          </p:nvCxnSpPr>
          <p:spPr>
            <a:xfrm flipV="1">
              <a:off x="1697581" y="2858884"/>
              <a:ext cx="2637584" cy="5701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stCxn id="11" idx="0"/>
            </p:cNvCxnSpPr>
            <p:nvPr/>
          </p:nvCxnSpPr>
          <p:spPr>
            <a:xfrm flipH="1" flipV="1">
              <a:off x="4355976" y="2858884"/>
              <a:ext cx="3342592" cy="5701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10" idx="0"/>
              <a:endCxn id="2054" idx="2"/>
            </p:cNvCxnSpPr>
            <p:nvPr/>
          </p:nvCxnSpPr>
          <p:spPr>
            <a:xfrm flipH="1" flipV="1">
              <a:off x="4335165" y="2858884"/>
              <a:ext cx="208477" cy="5701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stCxn id="2051" idx="0"/>
              <a:endCxn id="2053" idx="2"/>
            </p:cNvCxnSpPr>
            <p:nvPr/>
          </p:nvCxnSpPr>
          <p:spPr>
            <a:xfrm flipV="1">
              <a:off x="1391755" y="4550054"/>
              <a:ext cx="305826" cy="881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>
              <a:endCxn id="10" idx="2"/>
            </p:cNvCxnSpPr>
            <p:nvPr/>
          </p:nvCxnSpPr>
          <p:spPr>
            <a:xfrm flipV="1">
              <a:off x="3779912" y="4550054"/>
              <a:ext cx="763730" cy="881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2052" idx="0"/>
              <a:endCxn id="10" idx="2"/>
            </p:cNvCxnSpPr>
            <p:nvPr/>
          </p:nvCxnSpPr>
          <p:spPr>
            <a:xfrm flipH="1" flipV="1">
              <a:off x="4543642" y="4550054"/>
              <a:ext cx="706654" cy="881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8" idx="0"/>
            </p:cNvCxnSpPr>
            <p:nvPr/>
          </p:nvCxnSpPr>
          <p:spPr>
            <a:xfrm flipH="1" flipV="1">
              <a:off x="7558471" y="4550054"/>
              <a:ext cx="140097" cy="881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5106441" y="1753652"/>
              <a:ext cx="16800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授權主機</a:t>
              </a:r>
              <a:endParaRPr lang="zh-TW" altLang="en-US" sz="28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2430091" y="4729152"/>
              <a:ext cx="43021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多</a:t>
              </a:r>
              <a:r>
                <a:rPr lang="en-US" altLang="zh-TW" sz="2800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AP(</a:t>
              </a:r>
              <a:r>
                <a:rPr lang="zh-TW" altLang="en-US" sz="2800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負載平衡與開發用</a:t>
              </a:r>
              <a:r>
                <a:rPr lang="en-US" altLang="zh-TW" sz="2800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)</a:t>
              </a:r>
              <a:endParaRPr lang="zh-TW" altLang="en-US" sz="28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1446550"/>
          </a:xfrm>
        </p:spPr>
        <p:txBody>
          <a:bodyPr/>
          <a:lstStyle/>
          <a:p>
            <a:r>
              <a:rPr lang="zh-TW" altLang="en-US" dirty="0" smtClean="0"/>
              <a:t>授權主機設定</a:t>
            </a:r>
            <a:br>
              <a:rPr lang="en-US" altLang="zh-TW" dirty="0" smtClean="0"/>
            </a:br>
            <a:r>
              <a:rPr lang="en-US" altLang="zh-TW" dirty="0" smtClean="0"/>
              <a:t>(AP</a:t>
            </a:r>
            <a:r>
              <a:rPr lang="zh-TW" altLang="en-US" dirty="0" smtClean="0"/>
              <a:t>、</a:t>
            </a:r>
            <a:r>
              <a:rPr lang="en-US" altLang="zh-TW" dirty="0" smtClean="0"/>
              <a:t>Server)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67544" y="620689"/>
            <a:ext cx="4464496" cy="648072"/>
          </a:xfrm>
        </p:spPr>
        <p:txBody>
          <a:bodyPr/>
          <a:lstStyle/>
          <a:p>
            <a:r>
              <a:rPr lang="en-US" altLang="zh-TW" dirty="0" smtClean="0"/>
              <a:t>IIS</a:t>
            </a:r>
            <a:r>
              <a:rPr lang="zh-TW" altLang="en-US" dirty="0" smtClean="0"/>
              <a:t>設定</a:t>
            </a:r>
            <a:r>
              <a:rPr lang="en-US" altLang="zh-TW" dirty="0" smtClean="0"/>
              <a:t>-</a:t>
            </a:r>
            <a:r>
              <a:rPr lang="zh-TW" altLang="en-US" dirty="0" smtClean="0"/>
              <a:t>應用程式集區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457200" y="1484785"/>
            <a:ext cx="8229600" cy="576064"/>
          </a:xfrm>
        </p:spPr>
        <p:txBody>
          <a:bodyPr/>
          <a:lstStyle/>
          <a:p>
            <a:r>
              <a:rPr lang="zh-TW" altLang="en-US" sz="2400" dirty="0" smtClean="0"/>
              <a:t>建立</a:t>
            </a:r>
            <a:r>
              <a:rPr lang="en-US" altLang="zh-TW" sz="2400" dirty="0" err="1" smtClean="0"/>
              <a:t>SecurityWS</a:t>
            </a:r>
            <a:r>
              <a:rPr lang="zh-TW" altLang="en-US" sz="2400" dirty="0" smtClean="0"/>
              <a:t>應用程式集區</a:t>
            </a:r>
            <a:endParaRPr lang="zh-TW" altLang="en-US" sz="2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60847"/>
            <a:ext cx="7488832" cy="4113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476673"/>
            <a:ext cx="8229600" cy="576063"/>
          </a:xfrm>
        </p:spPr>
        <p:txBody>
          <a:bodyPr/>
          <a:lstStyle/>
          <a:p>
            <a:r>
              <a:rPr lang="zh-TW" altLang="en-US" sz="2400" dirty="0" smtClean="0"/>
              <a:t>建立</a:t>
            </a:r>
            <a:r>
              <a:rPr lang="en-US" altLang="zh-TW" sz="2400" dirty="0" err="1" smtClean="0"/>
              <a:t>SecurityWS</a:t>
            </a:r>
            <a:r>
              <a:rPr lang="zh-TW" altLang="en-US" sz="2400" dirty="0" smtClean="0"/>
              <a:t>應用程式，集區選剛建立的</a:t>
            </a:r>
            <a:endParaRPr lang="zh-TW" altLang="en-US" sz="2400" dirty="0"/>
          </a:p>
        </p:txBody>
      </p:sp>
      <p:pic>
        <p:nvPicPr>
          <p:cNvPr id="2050" name="Picture 2" descr="C:\Users\Administrator\Desktop\授權主機\iis應用程式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0" y="908719"/>
            <a:ext cx="6939670" cy="5833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08912" cy="646331"/>
          </a:xfrm>
        </p:spPr>
        <p:txBody>
          <a:bodyPr/>
          <a:lstStyle/>
          <a:p>
            <a:pPr algn="l"/>
            <a:r>
              <a:rPr lang="zh-TW" altLang="en-US" dirty="0" smtClean="0"/>
              <a:t>註冊</a:t>
            </a:r>
            <a:r>
              <a:rPr lang="en-US" altLang="zh-TW" dirty="0" err="1" smtClean="0"/>
              <a:t>SecurityWs</a:t>
            </a:r>
            <a:r>
              <a:rPr lang="zh-TW" altLang="en-US" dirty="0" smtClean="0"/>
              <a:t>序號</a:t>
            </a:r>
            <a:endParaRPr lang="zh-TW" altLang="en-US" dirty="0"/>
          </a:p>
        </p:txBody>
      </p:sp>
      <p:pic>
        <p:nvPicPr>
          <p:cNvPr id="3074" name="Picture 2" descr="C:\Users\Administrator\Desktop\授權主機\ERP2Register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5"/>
          <a:stretch>
            <a:fillRect/>
          </a:stretch>
        </p:blipFill>
        <p:spPr bwMode="auto">
          <a:xfrm>
            <a:off x="899592" y="980573"/>
            <a:ext cx="7265988" cy="587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註冊</a:t>
            </a:r>
            <a:r>
              <a:rPr lang="en-US" altLang="zh-TW" dirty="0" err="1" smtClean="0"/>
              <a:t>SecurityWS</a:t>
            </a:r>
            <a:r>
              <a:rPr lang="en-US" altLang="zh-TW" dirty="0" smtClean="0"/>
              <a:t> DB</a:t>
            </a:r>
            <a:r>
              <a:rPr lang="zh-TW" altLang="en-US" dirty="0" smtClean="0"/>
              <a:t>資訊</a:t>
            </a:r>
            <a:endParaRPr lang="zh-TW" altLang="en-US" dirty="0"/>
          </a:p>
        </p:txBody>
      </p:sp>
      <p:pic>
        <p:nvPicPr>
          <p:cNvPr id="4098" name="Picture 2" descr="C:\Users\Administrator\Desktop\授權主機\DB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1"/>
          <a:stretch>
            <a:fillRect/>
          </a:stretch>
        </p:blipFill>
        <p:spPr bwMode="auto">
          <a:xfrm>
            <a:off x="899591" y="1340768"/>
            <a:ext cx="730271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0" y="620688"/>
            <a:ext cx="9144000" cy="584775"/>
          </a:xfrm>
        </p:spPr>
        <p:txBody>
          <a:bodyPr/>
          <a:lstStyle/>
          <a:p>
            <a:pPr algn="l"/>
            <a:r>
              <a:rPr lang="zh-TW" altLang="en-US" sz="3200" dirty="0" smtClean="0"/>
              <a:t>於</a:t>
            </a:r>
            <a:r>
              <a:rPr lang="en-US" altLang="zh-TW" sz="3200" dirty="0" smtClean="0"/>
              <a:t>IIS</a:t>
            </a:r>
            <a:r>
              <a:rPr lang="zh-TW" altLang="en-US" sz="3200" dirty="0" smtClean="0"/>
              <a:t>選應用程式切內容檢視頁籤</a:t>
            </a:r>
            <a:r>
              <a:rPr lang="en-US" altLang="zh-TW" sz="3200" dirty="0" smtClean="0"/>
              <a:t>-</a:t>
            </a:r>
            <a:r>
              <a:rPr lang="en-US" altLang="zh-TW" sz="3200" dirty="0" err="1" smtClean="0"/>
              <a:t>Service.aspmx</a:t>
            </a:r>
            <a:endParaRPr lang="zh-TW" altLang="en-US" sz="3200" dirty="0"/>
          </a:p>
        </p:txBody>
      </p:sp>
      <p:pic>
        <p:nvPicPr>
          <p:cNvPr id="5122" name="Picture 2" descr="C:\Users\Administrator\Desktop\授權主機\ASMX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8712968" cy="513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測試</a:t>
            </a:r>
            <a:r>
              <a:rPr lang="en-US" altLang="zh-TW" dirty="0" err="1" smtClean="0"/>
              <a:t>SecurityWS</a:t>
            </a:r>
            <a:r>
              <a:rPr lang="zh-TW" altLang="en-US" dirty="0" smtClean="0"/>
              <a:t>是否正常</a:t>
            </a:r>
            <a:endParaRPr lang="zh-TW" altLang="en-US" dirty="0"/>
          </a:p>
        </p:txBody>
      </p:sp>
      <p:pic>
        <p:nvPicPr>
          <p:cNvPr id="6146" name="Picture 2" descr="C:\Users\Administrator\Desktop\授權主機\IE ASMX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9" y="1340768"/>
            <a:ext cx="8995401" cy="492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4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1446550"/>
          </a:xfrm>
        </p:spPr>
        <p:txBody>
          <a:bodyPr/>
          <a:lstStyle/>
          <a:p>
            <a:r>
              <a:rPr lang="zh-TW" altLang="en-US" dirty="0" smtClean="0"/>
              <a:t>開發機設定</a:t>
            </a:r>
            <a:br>
              <a:rPr lang="en-US" altLang="zh-TW" dirty="0" smtClean="0"/>
            </a:br>
            <a:r>
              <a:rPr lang="en-US" altLang="zh-TW" dirty="0" smtClean="0"/>
              <a:t>(</a:t>
            </a:r>
            <a:r>
              <a:rPr lang="zh-TW" altLang="en-US" dirty="0" smtClean="0"/>
              <a:t>本機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08912" cy="1815882"/>
          </a:xfrm>
        </p:spPr>
        <p:txBody>
          <a:bodyPr/>
          <a:lstStyle/>
          <a:p>
            <a:pPr lvl="0" algn="l"/>
            <a:r>
              <a:rPr lang="zh-TW" altLang="zh-TW" sz="2800" dirty="0">
                <a:effectLst/>
              </a:rPr>
              <a:t>複製</a:t>
            </a:r>
            <a:r>
              <a:rPr lang="en-US" altLang="zh-TW" sz="2800" dirty="0">
                <a:effectLst/>
              </a:rPr>
              <a:t>AP</a:t>
            </a:r>
            <a:r>
              <a:rPr lang="zh-TW" altLang="zh-TW" sz="2800" dirty="0" smtClean="0">
                <a:effectLst/>
              </a:rPr>
              <a:t>主機</a:t>
            </a:r>
            <a:r>
              <a:rPr lang="en-US" altLang="zh-TW" sz="2800" dirty="0" smtClean="0">
                <a:effectLst/>
              </a:rPr>
              <a:t>D</a:t>
            </a:r>
            <a:r>
              <a:rPr lang="en-US" altLang="zh-TW" sz="2800" dirty="0">
                <a:effectLst/>
              </a:rPr>
              <a:t>:\</a:t>
            </a:r>
            <a:r>
              <a:rPr lang="en-US" altLang="zh-TW" sz="2800" dirty="0" smtClean="0">
                <a:effectLst/>
              </a:rPr>
              <a:t>EasyFlow\EFNET</a:t>
            </a:r>
            <a:br>
              <a:rPr lang="en-US" altLang="zh-TW" sz="2800" dirty="0">
                <a:effectLst/>
              </a:rPr>
            </a:br>
            <a:r>
              <a:rPr lang="en-US" altLang="zh-TW" sz="2800" dirty="0" smtClean="0">
                <a:effectLst/>
              </a:rPr>
              <a:t>C</a:t>
            </a:r>
            <a:r>
              <a:rPr lang="en-US" altLang="zh-TW" sz="2800" dirty="0">
                <a:effectLst/>
              </a:rPr>
              <a:t>:\inetpub\wwwroot\webctrl_client</a:t>
            </a:r>
            <a:br>
              <a:rPr lang="zh-TW" altLang="zh-TW" sz="2800" dirty="0">
                <a:effectLst/>
              </a:rPr>
            </a:br>
            <a:r>
              <a:rPr lang="en-US" altLang="zh-TW" sz="2800" dirty="0">
                <a:effectLst/>
              </a:rPr>
              <a:t>D:\EasyFlow\Tools\RegCOMPlus</a:t>
            </a:r>
            <a:br>
              <a:rPr lang="zh-TW" altLang="zh-TW" sz="2800" dirty="0">
                <a:effectLst/>
              </a:rPr>
            </a:br>
            <a:r>
              <a:rPr lang="en-US" altLang="zh-TW" sz="2800" dirty="0">
                <a:effectLst/>
              </a:rPr>
              <a:t>D:\</a:t>
            </a:r>
            <a:r>
              <a:rPr lang="en-US" altLang="zh-TW" sz="2800" dirty="0" smtClean="0">
                <a:effectLst/>
              </a:rPr>
              <a:t>EasyFlow\Tools\RegTool</a:t>
            </a:r>
            <a:r>
              <a:rPr lang="zh-TW" altLang="en-US" sz="2800" dirty="0" smtClean="0">
                <a:effectLst/>
              </a:rPr>
              <a:t>至發開機相應位置</a:t>
            </a:r>
            <a:endParaRPr lang="zh-TW" altLang="zh-TW" sz="2800" dirty="0">
              <a:effectLst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48880"/>
            <a:ext cx="8124548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77072"/>
            <a:ext cx="8124548" cy="2522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zh-TW" sz="2800" dirty="0">
                <a:effectLst/>
              </a:rPr>
              <a:t>建立本機</a:t>
            </a:r>
            <a:r>
              <a:rPr lang="en-US" altLang="zh-TW" sz="2800" dirty="0">
                <a:effectLst/>
              </a:rPr>
              <a:t>EFNET</a:t>
            </a:r>
            <a:r>
              <a:rPr lang="zh-TW" altLang="zh-TW" sz="2800" dirty="0">
                <a:effectLst/>
              </a:rPr>
              <a:t>應用程式集區，並修改集區設定</a:t>
            </a:r>
            <a:endParaRPr lang="zh-TW" altLang="en-US" sz="2800" dirty="0"/>
          </a:p>
        </p:txBody>
      </p:sp>
      <p:pic>
        <p:nvPicPr>
          <p:cNvPr id="8196" name="Picture 4" descr="C:\Users\Administrator\Desktop\授權主(開發)\2016-05-04_135808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0" t="3046" r="23689" b="12268"/>
          <a:stretch>
            <a:fillRect/>
          </a:stretch>
        </p:blipFill>
        <p:spPr bwMode="auto">
          <a:xfrm>
            <a:off x="179512" y="1228298"/>
            <a:ext cx="4189578" cy="392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C:\Users\Administrator\Desktop\授權主(開發)\IIS進階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1" r="8837" b="4068"/>
          <a:stretch>
            <a:fillRect/>
          </a:stretch>
        </p:blipFill>
        <p:spPr bwMode="auto">
          <a:xfrm>
            <a:off x="4369090" y="1217704"/>
            <a:ext cx="4476087" cy="54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</p:spPr>
        <p:txBody>
          <a:bodyPr/>
          <a:lstStyle/>
          <a:p>
            <a:pPr algn="l"/>
            <a:r>
              <a:rPr lang="zh-TW" altLang="zh-TW" dirty="0">
                <a:effectLst/>
              </a:rPr>
              <a:t>建立本機應用程式</a:t>
            </a:r>
            <a:r>
              <a:rPr lang="en-US" altLang="zh-TW" dirty="0">
                <a:effectLst/>
              </a:rPr>
              <a:t>EFNET</a:t>
            </a:r>
            <a:endParaRPr lang="zh-TW" altLang="en-US" dirty="0"/>
          </a:p>
        </p:txBody>
      </p:sp>
      <p:pic>
        <p:nvPicPr>
          <p:cNvPr id="9218" name="Picture 2" descr="C:\Users\Administrator\Desktop\授權主(開發)\應用程式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" y="1484784"/>
            <a:ext cx="9132888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179512" y="764704"/>
            <a:ext cx="8496944" cy="576064"/>
          </a:xfrm>
        </p:spPr>
        <p:txBody>
          <a:bodyPr/>
          <a:lstStyle/>
          <a:p>
            <a:pPr algn="l"/>
            <a:r>
              <a:rPr lang="zh-TW" altLang="zh-TW" sz="2400" dirty="0">
                <a:effectLst/>
              </a:rPr>
              <a:t>若使用</a:t>
            </a:r>
            <a:r>
              <a:rPr lang="en-US" altLang="zh-TW" sz="2400" dirty="0">
                <a:effectLst/>
              </a:rPr>
              <a:t>AD</a:t>
            </a:r>
            <a:r>
              <a:rPr lang="zh-TW" altLang="zh-TW" sz="2400" dirty="0">
                <a:effectLst/>
              </a:rPr>
              <a:t>帳號登入請確認</a:t>
            </a:r>
            <a:r>
              <a:rPr lang="en-US" altLang="zh-TW" sz="2400" dirty="0">
                <a:effectLst/>
              </a:rPr>
              <a:t>Windows</a:t>
            </a:r>
            <a:r>
              <a:rPr lang="zh-TW" altLang="zh-TW" sz="2400" dirty="0">
                <a:effectLst/>
              </a:rPr>
              <a:t>驗證有開啟，並停用匿名驗證</a:t>
            </a:r>
            <a:endParaRPr lang="zh-TW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60" y="1958330"/>
            <a:ext cx="8494604" cy="298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zh-TW" sz="2800" dirty="0">
                <a:effectLst/>
              </a:rPr>
              <a:t>開啟本機</a:t>
            </a:r>
            <a:r>
              <a:rPr lang="en-US" altLang="zh-TW" sz="2800" dirty="0" err="1">
                <a:effectLst/>
              </a:rPr>
              <a:t>Web.Config</a:t>
            </a:r>
            <a:r>
              <a:rPr lang="zh-TW" altLang="zh-TW" sz="2800" dirty="0">
                <a:effectLst/>
              </a:rPr>
              <a:t>檔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2656"/>
          </a:xfrm>
        </p:spPr>
        <p:txBody>
          <a:bodyPr/>
          <a:lstStyle/>
          <a:p>
            <a:r>
              <a:rPr lang="zh-TW" altLang="zh-TW" sz="2400" dirty="0"/>
              <a:t>新增</a:t>
            </a:r>
            <a:r>
              <a:rPr lang="en-US" altLang="zh-TW" sz="2400" dirty="0" err="1"/>
              <a:t>AuthorizationIP</a:t>
            </a:r>
            <a:r>
              <a:rPr lang="en-US" altLang="zh-TW" sz="2400" dirty="0"/>
              <a:t> </a:t>
            </a:r>
            <a:r>
              <a:rPr lang="zh-TW" altLang="zh-TW" sz="2400" dirty="0"/>
              <a:t>授權主機</a:t>
            </a:r>
            <a:r>
              <a:rPr lang="en-US" altLang="zh-TW" sz="2400" dirty="0"/>
              <a:t>URL</a:t>
            </a:r>
            <a:r>
              <a:rPr lang="zh-TW" altLang="zh-TW" sz="2400" dirty="0"/>
              <a:t>位置</a:t>
            </a:r>
            <a:endParaRPr lang="zh-TW" altLang="en-US" sz="2400" dirty="0"/>
          </a:p>
        </p:txBody>
      </p:sp>
      <p:pic>
        <p:nvPicPr>
          <p:cNvPr id="11266" name="Picture 2" descr="C:\Users\Administrator\Desktop\授權主(開發)\Webconig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412"/>
          <a:stretch>
            <a:fillRect/>
          </a:stretch>
        </p:blipFill>
        <p:spPr bwMode="auto">
          <a:xfrm>
            <a:off x="467544" y="1603094"/>
            <a:ext cx="7589833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zh-TW" sz="2800" dirty="0">
                <a:effectLst/>
              </a:rPr>
              <a:t>確認本機連線資訊與主機的</a:t>
            </a:r>
            <a:r>
              <a:rPr lang="en-US" altLang="zh-TW" sz="2800" dirty="0" err="1">
                <a:effectLst/>
              </a:rPr>
              <a:t>SecurityWS</a:t>
            </a:r>
            <a:r>
              <a:rPr lang="zh-TW" altLang="zh-TW" sz="2800" dirty="0">
                <a:effectLst/>
              </a:rPr>
              <a:t>一致</a:t>
            </a:r>
            <a:endParaRPr lang="zh-TW" altLang="en-US" sz="2800" dirty="0"/>
          </a:p>
        </p:txBody>
      </p:sp>
      <p:pic>
        <p:nvPicPr>
          <p:cNvPr id="12290" name="Picture 2" descr="C:\Users\Administrator\Desktop\授權主(開發)\DB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68760"/>
            <a:ext cx="8501353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zh-TW" sz="2800" dirty="0">
                <a:effectLst/>
              </a:rPr>
              <a:t>註冊加解密元件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864096"/>
          </a:xfrm>
        </p:spPr>
        <p:txBody>
          <a:bodyPr/>
          <a:lstStyle/>
          <a:p>
            <a:r>
              <a:rPr lang="zh-TW" altLang="zh-TW" sz="2400" dirty="0"/>
              <a:t>記得要使用</a:t>
            </a:r>
            <a:r>
              <a:rPr lang="en-US" altLang="zh-TW" sz="2400" dirty="0"/>
              <a:t>Administrator</a:t>
            </a:r>
            <a:r>
              <a:rPr lang="zh-TW" altLang="zh-TW" sz="2400" dirty="0"/>
              <a:t>身分開啟工具，避免權限不足的問題，先反註冊再註冊</a:t>
            </a:r>
            <a:endParaRPr lang="zh-TW" altLang="en-US" sz="2400" dirty="0"/>
          </a:p>
        </p:txBody>
      </p:sp>
      <p:pic>
        <p:nvPicPr>
          <p:cNvPr id="13314" name="Picture 2" descr="C:\Users\Administrator\Desktop\授權主(開發)\COMPlus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88840"/>
            <a:ext cx="7840389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IE</a:t>
            </a:r>
            <a:r>
              <a:rPr lang="zh-TW" altLang="en-US" dirty="0" smtClean="0"/>
              <a:t>設定</a:t>
            </a:r>
            <a:r>
              <a:rPr lang="en-US" altLang="zh-TW" dirty="0" smtClean="0"/>
              <a:t>-</a:t>
            </a:r>
            <a:r>
              <a:rPr lang="zh-TW" altLang="en-US" dirty="0" smtClean="0"/>
              <a:t>檢查儲存的畫面是否有較新的版本</a:t>
            </a:r>
            <a:endParaRPr lang="zh-TW" altLang="en-US" dirty="0"/>
          </a:p>
        </p:txBody>
      </p:sp>
      <p:pic>
        <p:nvPicPr>
          <p:cNvPr id="14338" name="Picture 2" descr="C:\Users\Administrator\Desktop\授權主(開發)\IE設定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0078"/>
            <a:ext cx="8278218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IE</a:t>
            </a:r>
            <a:r>
              <a:rPr lang="zh-TW" altLang="en-US" dirty="0" smtClean="0"/>
              <a:t>設定</a:t>
            </a:r>
            <a:r>
              <a:rPr lang="en-US" altLang="zh-TW" dirty="0" smtClean="0"/>
              <a:t>-</a:t>
            </a:r>
            <a:r>
              <a:rPr lang="zh-TW" altLang="en-US" dirty="0" smtClean="0"/>
              <a:t>相容性檢視</a:t>
            </a:r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3267075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196752"/>
            <a:ext cx="4104456" cy="4608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036" y="1916832"/>
            <a:ext cx="3724275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IE</a:t>
            </a:r>
            <a:r>
              <a:rPr lang="zh-TW" altLang="en-US" dirty="0"/>
              <a:t>設定</a:t>
            </a:r>
            <a:r>
              <a:rPr lang="en-US" altLang="zh-TW" dirty="0" smtClean="0"/>
              <a:t>-</a:t>
            </a:r>
            <a:r>
              <a:rPr lang="zh-TW" altLang="en-US" dirty="0" smtClean="0"/>
              <a:t>安全</a:t>
            </a:r>
            <a:r>
              <a:rPr lang="zh-TW" altLang="en-US" dirty="0"/>
              <a:t>性</a:t>
            </a:r>
            <a:endParaRPr lang="zh-TW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539115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79192"/>
            <a:ext cx="4475154" cy="3950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en-US" altLang="zh-TW" sz="2800" dirty="0" smtClean="0"/>
              <a:t>Visual Studio</a:t>
            </a:r>
            <a:r>
              <a:rPr lang="zh-TW" altLang="en-US" sz="2800" dirty="0" smtClean="0"/>
              <a:t>使用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67544" y="1124745"/>
            <a:ext cx="8229600" cy="432048"/>
          </a:xfrm>
        </p:spPr>
        <p:txBody>
          <a:bodyPr/>
          <a:lstStyle/>
          <a:p>
            <a:r>
              <a:rPr lang="zh-TW" altLang="en-US" sz="2800" dirty="0" smtClean="0"/>
              <a:t>開啟網站</a:t>
            </a:r>
            <a:endParaRPr lang="zh-TW" altLang="en-US" sz="28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628775"/>
            <a:ext cx="4573270" cy="363029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340" y="3284855"/>
            <a:ext cx="5113020" cy="36918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開啟網站提示訊息</a:t>
            </a:r>
            <a:endParaRPr lang="zh-TW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28" y="1196752"/>
            <a:ext cx="5730933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43" y="3817014"/>
            <a:ext cx="7458493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將</a:t>
            </a:r>
            <a:r>
              <a:rPr lang="en-US" altLang="zh-TW" dirty="0" smtClean="0"/>
              <a:t>Default.htm</a:t>
            </a:r>
            <a:r>
              <a:rPr lang="zh-TW" altLang="en-US" dirty="0" smtClean="0"/>
              <a:t>設定為起始頁</a:t>
            </a:r>
            <a:endParaRPr lang="zh-TW" altLang="en-US" dirty="0"/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412776"/>
            <a:ext cx="2952328" cy="5258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設定建置起始動作</a:t>
            </a:r>
            <a:endParaRPr lang="zh-TW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3490265" cy="5081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56"/>
          <a:stretch>
            <a:fillRect/>
          </a:stretch>
        </p:blipFill>
        <p:spPr bwMode="auto">
          <a:xfrm>
            <a:off x="2108133" y="2234142"/>
            <a:ext cx="7035867" cy="2714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en-US" sz="2800" dirty="0" smtClean="0"/>
              <a:t>一般設定</a:t>
            </a:r>
            <a:r>
              <a:rPr lang="en-US" altLang="zh-TW" sz="2800" dirty="0" smtClean="0"/>
              <a:t>-</a:t>
            </a:r>
            <a:r>
              <a:rPr lang="zh-TW" altLang="en-US" sz="2800" dirty="0" smtClean="0"/>
              <a:t>放出行號</a:t>
            </a:r>
            <a:endParaRPr lang="zh-TW" altLang="en-US" sz="28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" y="1124744"/>
            <a:ext cx="7986429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en-US" sz="2800" dirty="0" smtClean="0"/>
              <a:t>一般設定</a:t>
            </a:r>
            <a:r>
              <a:rPr lang="en-US" altLang="zh-TW" sz="2800" dirty="0" smtClean="0"/>
              <a:t>-</a:t>
            </a:r>
            <a:r>
              <a:rPr lang="zh-TW" altLang="en-US" sz="2800" dirty="0" smtClean="0"/>
              <a:t>改變字型大小</a:t>
            </a:r>
            <a:endParaRPr lang="zh-TW" altLang="en-US" sz="28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59660"/>
            <a:ext cx="8352928" cy="4357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en-US" sz="2800" dirty="0" smtClean="0"/>
              <a:t>如何下中斷點</a:t>
            </a:r>
            <a:endParaRPr lang="zh-TW" altLang="en-US" sz="2800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62" y="1844824"/>
            <a:ext cx="8565104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347264" y="1196753"/>
            <a:ext cx="8229600" cy="504056"/>
          </a:xfrm>
        </p:spPr>
        <p:txBody>
          <a:bodyPr/>
          <a:lstStyle/>
          <a:p>
            <a:r>
              <a:rPr lang="zh-TW" altLang="en-US" sz="2400" dirty="0" smtClean="0"/>
              <a:t>在要檢視的行號前點一下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rcRect r="25593"/>
          <a:stretch>
            <a:fillRect/>
          </a:stretch>
        </p:blipFill>
        <p:spPr>
          <a:xfrm>
            <a:off x="539115" y="1628775"/>
            <a:ext cx="7284720" cy="1000125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偵錯工具列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851880" y="3213246"/>
            <a:ext cx="1512168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停止偵錯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 flipV="1">
            <a:off x="4572000" y="2492375"/>
            <a:ext cx="467360" cy="72009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2267858" y="2852365"/>
            <a:ext cx="1512168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繼續偵錯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10" name="直線單箭頭接點 9"/>
          <p:cNvCxnSpPr>
            <a:stCxn id="9" idx="0"/>
          </p:cNvCxnSpPr>
          <p:nvPr/>
        </p:nvCxnSpPr>
        <p:spPr>
          <a:xfrm flipV="1">
            <a:off x="3023870" y="2564765"/>
            <a:ext cx="1548130" cy="28765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內容版面配置區 3"/>
          <p:cNvSpPr>
            <a:spLocks noGrp="1"/>
          </p:cNvSpPr>
          <p:nvPr>
            <p:ph idx="1"/>
          </p:nvPr>
        </p:nvSpPr>
        <p:spPr>
          <a:xfrm>
            <a:off x="385192" y="4437112"/>
            <a:ext cx="8229600" cy="1296144"/>
          </a:xfrm>
        </p:spPr>
        <p:txBody>
          <a:bodyPr/>
          <a:lstStyle/>
          <a:p>
            <a:r>
              <a:rPr lang="zh-TW" altLang="en-US" sz="2400" dirty="0" smtClean="0"/>
              <a:t>快捷鍵</a:t>
            </a:r>
            <a:endParaRPr lang="en-US" altLang="zh-TW" sz="2400" dirty="0" smtClean="0"/>
          </a:p>
          <a:p>
            <a:r>
              <a:rPr lang="en-US" altLang="zh-TW" sz="2400" dirty="0" smtClean="0"/>
              <a:t>F10-</a:t>
            </a:r>
            <a:r>
              <a:rPr lang="zh-TW" altLang="en-US" sz="2400" dirty="0" smtClean="0"/>
              <a:t>逐一執行程式碼</a:t>
            </a:r>
            <a:endParaRPr lang="en-US" altLang="zh-TW" sz="2400" dirty="0" smtClean="0"/>
          </a:p>
          <a:p>
            <a:r>
              <a:rPr lang="en-US" altLang="zh-TW" sz="2400" dirty="0" smtClean="0"/>
              <a:t>F5-</a:t>
            </a:r>
            <a:r>
              <a:rPr lang="zh-TW" altLang="en-US" sz="2400" dirty="0" smtClean="0"/>
              <a:t>跳到下一個中斷點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5579745" y="3500755"/>
            <a:ext cx="2015490" cy="484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p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重新啟動偵錯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11" name="直線單箭頭接點 10"/>
          <p:cNvCxnSpPr>
            <a:stCxn id="6" idx="0"/>
          </p:cNvCxnSpPr>
          <p:nvPr/>
        </p:nvCxnSpPr>
        <p:spPr>
          <a:xfrm flipH="1" flipV="1">
            <a:off x="5435600" y="2564765"/>
            <a:ext cx="1151890" cy="93599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en-US" sz="2800" dirty="0" smtClean="0"/>
              <a:t>如何使用監看式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432048"/>
          </a:xfrm>
        </p:spPr>
        <p:txBody>
          <a:bodyPr/>
          <a:lstStyle/>
          <a:p>
            <a:r>
              <a:rPr lang="zh-TW" altLang="en-US" sz="2400" dirty="0" smtClean="0"/>
              <a:t>選取參數按右鍵</a:t>
            </a:r>
            <a:endParaRPr lang="zh-TW" altLang="en-US" sz="2400" dirty="0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847435"/>
            <a:ext cx="4543425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9" y="1556792"/>
            <a:ext cx="7422807" cy="354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201622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i="1" dirty="0" smtClean="0"/>
              <a:t>The End</a:t>
            </a:r>
            <a:endParaRPr lang="en-US" altLang="zh-TW" sz="4000" b="1" i="1" dirty="0" smtClean="0"/>
          </a:p>
          <a:p>
            <a:pPr marL="0" indent="0" algn="ctr">
              <a:buNone/>
            </a:pPr>
            <a:endParaRPr lang="en-US" altLang="zh-TW" b="1" i="1" dirty="0" smtClean="0"/>
          </a:p>
          <a:p>
            <a:pPr marL="0" indent="0" algn="r">
              <a:buNone/>
            </a:pPr>
            <a:endParaRPr lang="zh-TW" altLang="en-US" b="1" i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WPS Presentation</Application>
  <PresentationFormat>如螢幕大小 (4:3)</PresentationFormat>
  <Paragraphs>158</Paragraphs>
  <Slides>31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33" baseType="lpstr">
      <vt:lpstr>自訂設計</vt:lpstr>
      <vt:lpstr>Office 佈景主題</vt:lpstr>
      <vt:lpstr>授權主機設定與 Visual  Studio使用</vt:lpstr>
      <vt:lpstr>大綱</vt:lpstr>
      <vt:lpstr>授權主機架構示意圖</vt:lpstr>
      <vt:lpstr>授權主機設定 (AP、Server)</vt:lpstr>
      <vt:lpstr>IIS設定-應用程式集區</vt:lpstr>
      <vt:lpstr>PowerPoint 演示文稿</vt:lpstr>
      <vt:lpstr>註冊SecurityWs序號</vt:lpstr>
      <vt:lpstr>註冊SecurityWS DB資訊</vt:lpstr>
      <vt:lpstr>於IIS選應用程式切內容檢視頁籤-Service.aspmx</vt:lpstr>
      <vt:lpstr>測試SecurityWS是否正常</vt:lpstr>
      <vt:lpstr>開發機設定 (本機)</vt:lpstr>
      <vt:lpstr>複製AP主機D:\EasyFlow\EFNET C:\inetpub\wwwroot\webctrl_client D:\EasyFlow\Tools\RegCOMPlus D:\EasyFlow\Tools\RegTool至發開機相應位置</vt:lpstr>
      <vt:lpstr>建立本機EFNET應用程式集區，並修改集區設定</vt:lpstr>
      <vt:lpstr>建立本機應用程式EFNET</vt:lpstr>
      <vt:lpstr>若使用AD帳號登入請確認Windows驗證有開啟，並停用匿名驗證</vt:lpstr>
      <vt:lpstr>開啟本機Web.Config檔</vt:lpstr>
      <vt:lpstr>確認本機連線資訊與主機的SecurityWS一致</vt:lpstr>
      <vt:lpstr>註冊加解密元件</vt:lpstr>
      <vt:lpstr>IE設定-檢查儲存的畫面是否有較新的版本</vt:lpstr>
      <vt:lpstr>IE設定-相容性檢視</vt:lpstr>
      <vt:lpstr>IE設定-安全性</vt:lpstr>
      <vt:lpstr>Visual Studio使用</vt:lpstr>
      <vt:lpstr>開啟網站提示訊息</vt:lpstr>
      <vt:lpstr>將Default.htm設定為起始頁</vt:lpstr>
      <vt:lpstr>設定建置起始動作</vt:lpstr>
      <vt:lpstr>一般設定-放出行號</vt:lpstr>
      <vt:lpstr>一般設定-改變字型大小</vt:lpstr>
      <vt:lpstr>如何下中斷點</vt:lpstr>
      <vt:lpstr>偵錯工具列</vt:lpstr>
      <vt:lpstr>如何使用監看式</vt:lpstr>
      <vt:lpstr>PowerPoint 演示文稿</vt:lpstr>
    </vt:vector>
  </TitlesOfParts>
  <Company>dsc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ella</dc:creator>
  <cp:lastModifiedBy>Administrator</cp:lastModifiedBy>
  <cp:revision>1608</cp:revision>
  <dcterms:created xsi:type="dcterms:W3CDTF">2008-10-15T09:32:00Z</dcterms:created>
  <dcterms:modified xsi:type="dcterms:W3CDTF">2017-05-19T09:26:11Z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1028-10.8.0.5615</vt:lpwstr>
  </property>
</Properties>
</file>