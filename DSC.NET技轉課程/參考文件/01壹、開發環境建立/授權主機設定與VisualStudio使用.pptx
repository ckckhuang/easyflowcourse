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</p:sldMasterIdLst>
  <p:notesMasterIdLst>
    <p:notesMasterId r:id="rId9"/>
  </p:notesMasterIdLst>
  <p:handoutMasterIdLst>
    <p:handoutMasterId r:id="rId37"/>
  </p:handoutMasterIdLst>
  <p:sldIdLst>
    <p:sldId id="622" r:id="rId4"/>
    <p:sldId id="668" r:id="rId5"/>
    <p:sldId id="678" r:id="rId6"/>
    <p:sldId id="697" r:id="rId7"/>
    <p:sldId id="677" r:id="rId8"/>
    <p:sldId id="680" r:id="rId10"/>
    <p:sldId id="681" r:id="rId11"/>
    <p:sldId id="682" r:id="rId12"/>
    <p:sldId id="683" r:id="rId13"/>
    <p:sldId id="684" r:id="rId14"/>
    <p:sldId id="685" r:id="rId15"/>
    <p:sldId id="686" r:id="rId16"/>
    <p:sldId id="687" r:id="rId17"/>
    <p:sldId id="725" r:id="rId18"/>
    <p:sldId id="688" r:id="rId19"/>
    <p:sldId id="689" r:id="rId20"/>
    <p:sldId id="690" r:id="rId21"/>
    <p:sldId id="691" r:id="rId22"/>
    <p:sldId id="692" r:id="rId23"/>
    <p:sldId id="693" r:id="rId24"/>
    <p:sldId id="694" r:id="rId25"/>
    <p:sldId id="695" r:id="rId26"/>
    <p:sldId id="696" r:id="rId27"/>
    <p:sldId id="698" r:id="rId28"/>
    <p:sldId id="699" r:id="rId29"/>
    <p:sldId id="700" r:id="rId30"/>
    <p:sldId id="702" r:id="rId31"/>
    <p:sldId id="703" r:id="rId32"/>
    <p:sldId id="701" r:id="rId33"/>
    <p:sldId id="705" r:id="rId34"/>
    <p:sldId id="704" r:id="rId35"/>
    <p:sldId id="676" r:id="rId36"/>
  </p:sldIdLst>
  <p:sldSz cx="9144000" cy="6858000" type="screen4x3"/>
  <p:notesSz cx="6833870" cy="9979025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1063cindychen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7C80"/>
    <a:srgbClr val="3C8C93"/>
    <a:srgbClr val="E2F1F2"/>
    <a:srgbClr val="D1DCEE"/>
    <a:srgbClr val="D0EAEC"/>
    <a:srgbClr val="C9E7E9"/>
    <a:srgbClr val="E7F4F5"/>
    <a:srgbClr val="DCDEF4"/>
    <a:srgbClr val="EBEC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29" autoAdjust="0"/>
    <p:restoredTop sz="92580" autoAdjust="0"/>
  </p:normalViewPr>
  <p:slideViewPr>
    <p:cSldViewPr>
      <p:cViewPr>
        <p:scale>
          <a:sx n="70" d="100"/>
          <a:sy n="70" d="100"/>
        </p:scale>
        <p:origin x="-1590" y="-3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55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2" d="100"/>
        <a:sy n="9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commentAuthors" Target="commentAuthors.xml"/><Relationship Id="rId40" Type="http://schemas.openxmlformats.org/officeDocument/2006/relationships/tableStyles" Target="tableStyles.xml"/><Relationship Id="rId4" Type="http://schemas.openxmlformats.org/officeDocument/2006/relationships/slide" Target="slides/slide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handoutMaster" Target="handoutMasters/handoutMaster1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622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71913" y="0"/>
            <a:ext cx="2960687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248930-57E6-4F24-A2EE-754E3BB2D090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78963"/>
            <a:ext cx="29622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BCFE1-B21C-4E68-8F53-FCA888565152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2275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t" anchorCtr="0" compatLnSpc="1"/>
          <a:lstStyle>
            <a:lvl1pPr eaLnBrk="0" hangingPunct="0">
              <a:defRPr sz="1200">
                <a:latin typeface="Arial" panose="020B060402020202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1913" y="0"/>
            <a:ext cx="2960687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t" anchorCtr="0" compatLnSpc="1"/>
          <a:lstStyle>
            <a:lvl1pPr algn="r" eaLnBrk="0" hangingPunct="0">
              <a:defRPr sz="1200">
                <a:latin typeface="Arial" panose="020B060402020202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fld id="{5AFCBC85-116C-4042-82A0-EF8BD8001D3D}" type="datetimeFigureOut">
              <a:rPr lang="zh-TW" altLang="en-US"/>
            </a:fld>
            <a:endParaRPr lang="en-US" altLang="zh-TW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2338" y="747713"/>
            <a:ext cx="4989512" cy="3743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378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4213" y="4740275"/>
            <a:ext cx="5467350" cy="44910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t" anchorCtr="0" compatLnSpc="1"/>
          <a:lstStyle/>
          <a:p>
            <a:pPr lvl="0"/>
            <a:r>
              <a:rPr lang="zh-CN" altLang="en-US" noProof="0" smtClean="0"/>
              <a:t>单击以编辑母片</a:t>
            </a:r>
            <a:endParaRPr lang="zh-TW" altLang="en-US" noProof="0" smtClean="0"/>
          </a:p>
          <a:p>
            <a:pPr lvl="1"/>
            <a:r>
              <a:rPr lang="zh-TW" altLang="en-US" noProof="0" smtClean="0"/>
              <a:t>第二层</a:t>
            </a:r>
            <a:endParaRPr lang="zh-TW" altLang="en-US" noProof="0" smtClean="0"/>
          </a:p>
          <a:p>
            <a:pPr lvl="2"/>
            <a:r>
              <a:rPr lang="zh-TW" altLang="en-US" noProof="0" smtClean="0"/>
              <a:t>第三层</a:t>
            </a:r>
            <a:endParaRPr lang="zh-TW" altLang="en-US" noProof="0" smtClean="0"/>
          </a:p>
          <a:p>
            <a:pPr lvl="3"/>
            <a:r>
              <a:rPr lang="zh-TW" altLang="en-US" noProof="0" smtClean="0"/>
              <a:t>第四层</a:t>
            </a:r>
            <a:endParaRPr lang="zh-TW" altLang="en-US" noProof="0" smtClean="0"/>
          </a:p>
          <a:p>
            <a:pPr lvl="4"/>
            <a:r>
              <a:rPr lang="zh-TW" altLang="en-US" noProof="0" smtClean="0"/>
              <a:t>第五层</a:t>
            </a:r>
            <a:endParaRPr lang="zh-TW" altLang="en-US" noProof="0" smtClean="0"/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78963"/>
            <a:ext cx="2962275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b" anchorCtr="0" compatLnSpc="1"/>
          <a:lstStyle>
            <a:lvl1pPr eaLnBrk="0" hangingPunct="0">
              <a:defRPr sz="1200">
                <a:latin typeface="Arial" panose="020B060402020202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8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1913" y="9478963"/>
            <a:ext cx="2960687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925" tIns="45962" rIns="91925" bIns="45962" numCol="1" anchor="b" anchorCtr="0" compatLnSpc="1"/>
          <a:lstStyle>
            <a:lvl1pPr algn="r" eaLnBrk="0" hangingPunct="0">
              <a:defRPr sz="1200">
                <a:latin typeface="Arial" panose="020B060402020202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fld id="{D0238029-D79D-42D5-8DD3-3973BBA50490}" type="slidenum">
              <a:rPr lang="zh-TW" altLang="en-US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新細明體" panose="02020500000000000000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新細明體" panose="02020500000000000000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新細明體" panose="02020500000000000000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新細明體" panose="02020500000000000000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新細明體" panose="02020500000000000000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 smtClean="0"/>
              <a:t>應用程式集區是什麼？要共用集區還是獨立集區</a:t>
            </a:r>
            <a:endParaRPr lang="en-US" altLang="zh-TW" dirty="0" smtClean="0"/>
          </a:p>
          <a:p>
            <a:r>
              <a:rPr lang="zh-TW" altLang="en-US" dirty="0" smtClean="0"/>
              <a:t>集區</a:t>
            </a:r>
            <a:r>
              <a:rPr lang="en-US" altLang="zh-TW" dirty="0" smtClean="0"/>
              <a:t>=</a:t>
            </a:r>
            <a:r>
              <a:rPr lang="zh-TW" altLang="en-US" dirty="0" smtClean="0"/>
              <a:t>一個獨立的執行緒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0238029-D79D-42D5-8DD3-3973BBA50490}" type="slidenum">
              <a:rPr lang="zh-TW" altLang="en-US" smtClean="0"/>
            </a:fld>
            <a:endParaRPr lang="en-US" altLang="zh-TW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投影片圖像版面配置區 1"/>
          <p:cNvSpPr/>
          <p:nvPr>
            <p:ph type="sldImg" idx="2"/>
          </p:nvPr>
        </p:nvSpPr>
        <p:spPr/>
      </p:sp>
      <p:sp>
        <p:nvSpPr>
          <p:cNvPr id="3" name="文字版面配置區 2"/>
          <p:cNvSpPr/>
          <p:nvPr>
            <p:ph type="body" idx="3"/>
          </p:nvPr>
        </p:nvSpPr>
        <p:spPr/>
        <p:txBody>
          <a:bodyPr/>
          <a:p>
            <a:r>
              <a:rPr lang="en-US" altLang="zh-TW"/>
              <a:t>HurryUP</a:t>
            </a:r>
            <a:r>
              <a:rPr lang="zh-TW" altLang="zh-TW"/>
              <a:t>工具介紹</a:t>
            </a:r>
            <a:endParaRPr lang="zh-TW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>
              <a:defRPr/>
            </a:pPr>
            <a:fld id="{D0238029-D79D-42D5-8DD3-3973BBA50490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CDAB0E-E1AC-46DA-A9EC-548034A1FB9F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0034" y="785794"/>
            <a:ext cx="8229600" cy="868363"/>
          </a:xfrm>
        </p:spPr>
        <p:txBody>
          <a:bodyPr/>
          <a:lstStyle>
            <a:lvl1pPr>
              <a:defRPr sz="4000" b="1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0034" y="1928802"/>
            <a:ext cx="8229600" cy="4065588"/>
          </a:xfrm>
        </p:spPr>
        <p:txBody>
          <a:bodyPr/>
          <a:lstStyle>
            <a:lvl1pPr>
              <a:buFont typeface="Wingdings" panose="05000000000000000000" pitchFamily="2" charset="2"/>
              <a:buChar char="n"/>
              <a:defRPr b="1">
                <a:solidFill>
                  <a:srgbClr val="000099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b="1">
                <a:solidFill>
                  <a:srgbClr val="6633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b="1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endParaRPr lang="en-US" altLang="zh-TW"/>
          </a:p>
          <a:p>
            <a:pPr>
              <a:defRPr/>
            </a:pPr>
            <a:endParaRPr lang="en-US" altLang="zh-TW"/>
          </a:p>
          <a:p>
            <a:pPr>
              <a:defRPr/>
            </a:pPr>
            <a:fld id="{6F8F4BC0-65D6-45C0-95FE-854F8F2BD9FD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5E2AB8-31FC-468B-AE37-ABE5C8C2A0C5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060575"/>
            <a:ext cx="4038600" cy="4065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060575"/>
            <a:ext cx="4038600" cy="4065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09DB8A-6EC4-4D79-AD14-FE7C9DFF5877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652CE6-C213-46A8-84F7-C371EF093858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105AAD-0BA9-43D2-A48E-D7F91AEB675B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D0B806-3AE1-4F93-9E96-89D6A14B6A3D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7EF79-B625-4ABD-994A-D02D50832F6E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5C9E8C-55E2-4C6E-8287-1A65335C65B0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B55A53-5CAC-48E3-808E-56106F08AE1D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981075"/>
            <a:ext cx="2057400" cy="514508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981075"/>
            <a:ext cx="6019800" cy="514508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191D19-2EC9-44B1-8A50-42D6FD8F1F87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  <p:transition>
    <p:pull dir="r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首頁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標題 1"/>
          <p:cNvSpPr>
            <a:spLocks noGrp="1"/>
          </p:cNvSpPr>
          <p:nvPr>
            <p:ph type="ctrTitle" hasCustomPrompt="1"/>
          </p:nvPr>
        </p:nvSpPr>
        <p:spPr>
          <a:xfrm>
            <a:off x="2555776" y="1988840"/>
            <a:ext cx="6192688" cy="193899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lang="zh-TW" altLang="en-US" sz="6000" b="1" kern="1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</a:lstStyle>
          <a:p>
            <a:r>
              <a:rPr lang="zh-CN" altLang="en-US" dirty="0" smtClean="0"/>
              <a:t>单击以编辑母片标题样式</a:t>
            </a:r>
            <a:endParaRPr lang="zh-TW" altLang="en-US" dirty="0"/>
          </a:p>
        </p:txBody>
      </p:sp>
      <p:sp>
        <p:nvSpPr>
          <p:cNvPr id="4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2555776" y="4437112"/>
            <a:ext cx="4536504" cy="1752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 smtClean="0"/>
              <a:t>单击以编辑母片副标题样式</a:t>
            </a:r>
            <a:endParaRPr lang="zh-TW" altLang="en-US" dirty="0"/>
          </a:p>
        </p:txBody>
      </p:sp>
      <p:pic>
        <p:nvPicPr>
          <p:cNvPr id="37890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4937" y="964629"/>
            <a:ext cx="648072" cy="179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1" name="Picture 3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63594" y="988542"/>
            <a:ext cx="797719" cy="146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內頁1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1043608" y="2348880"/>
            <a:ext cx="70202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lang="zh-TW" altLang="en-US" sz="4400" b="1" kern="1200" spc="-15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pic>
        <p:nvPicPr>
          <p:cNvPr id="38916" name="Picture 4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63074" y="187198"/>
            <a:ext cx="795189" cy="14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7" name="Picture 5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8494" y="175494"/>
            <a:ext cx="605790" cy="15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內頁1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lang="zh-TW" altLang="en-US" sz="3600" b="1" kern="1200" spc="-15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pic>
        <p:nvPicPr>
          <p:cNvPr id="38916" name="Picture 4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63074" y="187198"/>
            <a:ext cx="795189" cy="14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7" name="Picture 5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8494" y="175494"/>
            <a:ext cx="605790" cy="15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452320" y="6445845"/>
            <a:ext cx="1450504" cy="41215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內頁2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45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4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63074" y="187198"/>
            <a:ext cx="795189" cy="14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5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8494" y="175494"/>
            <a:ext cx="605790" cy="15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452320" y="6445845"/>
            <a:ext cx="1450504" cy="41215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lang="zh-TW" altLang="en-US" sz="3600" b="1" kern="1200" spc="-15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7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  <a:endParaRPr lang="zh-TW" altLang="en-US" dirty="0" smtClean="0"/>
          </a:p>
          <a:p>
            <a:pPr lvl="1"/>
            <a:r>
              <a:rPr lang="zh-TW" altLang="en-US" dirty="0" smtClean="0"/>
              <a:t>第二層</a:t>
            </a:r>
            <a:endParaRPr lang="zh-TW" altLang="en-US" dirty="0" smtClean="0"/>
          </a:p>
          <a:p>
            <a:pPr lvl="2"/>
            <a:r>
              <a:rPr lang="zh-TW" altLang="en-US" dirty="0" smtClean="0"/>
              <a:t>第三層</a:t>
            </a:r>
            <a:endParaRPr lang="zh-TW" altLang="en-US" dirty="0" smtClean="0"/>
          </a:p>
          <a:p>
            <a:pPr lvl="3"/>
            <a:r>
              <a:rPr lang="zh-TW" altLang="en-US" dirty="0" smtClean="0"/>
              <a:t>第四層</a:t>
            </a:r>
            <a:endParaRPr lang="zh-TW" altLang="en-US" dirty="0" smtClean="0"/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981075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060575"/>
            <a:ext cx="8229600" cy="4065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6221C-E86A-49BC-B566-D20161E0AE5A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image" Target="../media/image9.jpeg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1" descr="ppt_B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-4763" y="-1588"/>
            <a:ext cx="9153526" cy="686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981075"/>
            <a:ext cx="8229600" cy="868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 smtClean="0"/>
              <a:t>按一下以編輯母片標題樣式</a:t>
            </a:r>
            <a:endParaRPr lang="zh-TW" altLang="en-US" smtClean="0"/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060575"/>
            <a:ext cx="8229600" cy="40655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smtClean="0"/>
              <a:t>按一下以編輯母片</a:t>
            </a:r>
            <a:endParaRPr lang="zh-TW" altLang="en-US" smtClean="0"/>
          </a:p>
          <a:p>
            <a:pPr lvl="1"/>
            <a:r>
              <a:rPr lang="zh-TW" altLang="en-US" smtClean="0"/>
              <a:t>第二層</a:t>
            </a:r>
            <a:endParaRPr lang="zh-TW" altLang="en-US" smtClean="0"/>
          </a:p>
          <a:p>
            <a:pPr lvl="2"/>
            <a:r>
              <a:rPr lang="zh-TW" altLang="en-US" smtClean="0"/>
              <a:t>第三層</a:t>
            </a:r>
            <a:endParaRPr lang="zh-TW" altLang="en-US" smtClean="0"/>
          </a:p>
          <a:p>
            <a:pPr lvl="3"/>
            <a:r>
              <a:rPr lang="zh-TW" altLang="en-US" smtClean="0"/>
              <a:t>第四層</a:t>
            </a:r>
            <a:endParaRPr lang="zh-TW" altLang="en-US" smtClean="0"/>
          </a:p>
          <a:p>
            <a:pPr lvl="4"/>
            <a:r>
              <a:rPr lang="zh-TW" altLang="en-US" smtClean="0"/>
              <a:t>第五層</a:t>
            </a:r>
            <a:endParaRPr lang="zh-TW" altLang="en-US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fld id="{1BAA6A6A-B44F-4E1B-A333-ADD46CF30C79}" type="slidenum">
              <a:rPr lang="en-US" altLang="zh-TW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pull dir="rd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panose="020B0604020202020204" pitchFamily="34" charset="0"/>
          <a:ea typeface="新細明體" panose="02020500000000000000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panose="020B0604020202020204" pitchFamily="34" charset="0"/>
          <a:ea typeface="新細明體" panose="02020500000000000000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panose="020B0604020202020204" pitchFamily="34" charset="0"/>
          <a:ea typeface="新細明體" panose="02020500000000000000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panose="020B0604020202020204" pitchFamily="34" charset="0"/>
          <a:ea typeface="新細明體" panose="02020500000000000000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panose="020B0604020202020204" pitchFamily="34" charset="0"/>
          <a:ea typeface="新細明體" panose="02020500000000000000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panose="020B0604020202020204" pitchFamily="34" charset="0"/>
          <a:ea typeface="新細明體" panose="02020500000000000000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panose="020B0604020202020204" pitchFamily="34" charset="0"/>
          <a:ea typeface="新細明體" panose="02020500000000000000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panose="020B0604020202020204" pitchFamily="34" charset="0"/>
          <a:ea typeface="新細明體" panose="02020500000000000000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圖片 6" descr="1007簡報內頁.jpg"/>
          <p:cNvPicPr>
            <a:picLocks noChangeAspect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763" y="0"/>
            <a:ext cx="913447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452320" y="6445845"/>
            <a:ext cx="1450504" cy="412155"/>
          </a:xfrm>
          <a:prstGeom prst="rect">
            <a:avLst/>
          </a:prstGeom>
        </p:spPr>
        <p:txBody>
          <a:bodyPr/>
          <a:lstStyle>
            <a:lvl1pPr algn="r">
              <a:defRPr sz="1600"/>
            </a:lvl1pPr>
          </a:lstStyle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新細明體" panose="02020500000000000000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新細明體" panose="02020500000000000000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新細明體" panose="02020500000000000000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新細明體" panose="02020500000000000000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新細明體" panose="02020500000000000000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新細明體" panose="02020500000000000000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新細明體" panose="02020500000000000000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新細明體" panose="02020500000000000000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12.png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ctrTitle"/>
          </p:nvPr>
        </p:nvSpPr>
        <p:spPr>
          <a:xfrm>
            <a:off x="2483768" y="1844824"/>
            <a:ext cx="6192688" cy="1754326"/>
          </a:xfrm>
        </p:spPr>
        <p:txBody>
          <a:bodyPr/>
          <a:lstStyle/>
          <a:p>
            <a:r>
              <a:rPr lang="zh-TW" altLang="en-US" sz="5400" dirty="0" smtClean="0"/>
              <a:t>授權主機設定與</a:t>
            </a:r>
            <a:br>
              <a:rPr lang="en-US" altLang="zh-TW" sz="5400" dirty="0" smtClean="0"/>
            </a:br>
            <a:r>
              <a:rPr lang="en-US" altLang="zh-TW" sz="5400" dirty="0" smtClean="0"/>
              <a:t>Visual  Studio</a:t>
            </a:r>
            <a:r>
              <a:rPr lang="zh-TW" altLang="en-US" sz="5400" dirty="0" smtClean="0"/>
              <a:t>使用</a:t>
            </a:r>
            <a:endParaRPr lang="zh-TW" altLang="en-US" sz="5400" dirty="0"/>
          </a:p>
        </p:txBody>
      </p:sp>
      <p:sp>
        <p:nvSpPr>
          <p:cNvPr id="6" name="副標題 5"/>
          <p:cNvSpPr>
            <a:spLocks noGrp="1"/>
          </p:cNvSpPr>
          <p:nvPr>
            <p:ph type="subTitle" idx="1"/>
          </p:nvPr>
        </p:nvSpPr>
        <p:spPr>
          <a:xfrm>
            <a:off x="2411760" y="5410161"/>
            <a:ext cx="4536504" cy="1428760"/>
          </a:xfrm>
        </p:spPr>
        <p:txBody>
          <a:bodyPr/>
          <a:lstStyle/>
          <a:p>
            <a:r>
              <a:rPr lang="zh-TW" altLang="en-US" sz="2800" smtClean="0"/>
              <a:t>吳俐君</a:t>
            </a:r>
            <a:endParaRPr lang="en-US" altLang="zh-TW" sz="2800" dirty="0" smtClean="0"/>
          </a:p>
          <a:p>
            <a:r>
              <a:rPr lang="zh-TW" altLang="en-US" sz="2000" dirty="0" smtClean="0"/>
              <a:t>鼎新電腦</a:t>
            </a:r>
            <a:endParaRPr lang="zh-TW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altLang="en-US" dirty="0" smtClean="0"/>
              <a:t>大綱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r>
              <a:rPr lang="zh-TW" altLang="en-US" dirty="0" smtClean="0"/>
              <a:t>授權主機</a:t>
            </a:r>
            <a:endParaRPr lang="en-US" altLang="zh-TW" dirty="0"/>
          </a:p>
          <a:p>
            <a:pPr lvl="1"/>
            <a:r>
              <a:rPr lang="zh-TW" altLang="en-US" dirty="0" smtClean="0"/>
              <a:t>授權主機設定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開發機設定</a:t>
            </a:r>
            <a:endParaRPr lang="en-US" altLang="zh-TW" dirty="0"/>
          </a:p>
          <a:p>
            <a:r>
              <a:rPr lang="en-US" altLang="zh-TW" dirty="0"/>
              <a:t>Visual Studio</a:t>
            </a:r>
            <a:r>
              <a:rPr lang="zh-TW" altLang="en-US" dirty="0" smtClean="0"/>
              <a:t>使用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如何開啟網站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如何偵錯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監看式使用</a:t>
            </a:r>
            <a:endParaRPr lang="zh-TW" altLang="en-US" dirty="0"/>
          </a:p>
          <a:p>
            <a:pPr lvl="1"/>
            <a:endParaRPr lang="en-US" altLang="zh-TW" sz="2400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標題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授權主機架構示意圖</a:t>
            </a:r>
            <a:endParaRPr lang="zh-TW" altLang="en-US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grpSp>
        <p:nvGrpSpPr>
          <p:cNvPr id="36" name="群組 35"/>
          <p:cNvGrpSpPr/>
          <p:nvPr/>
        </p:nvGrpSpPr>
        <p:grpSpPr>
          <a:xfrm>
            <a:off x="785467" y="1484784"/>
            <a:ext cx="7825215" cy="5184576"/>
            <a:chOff x="785467" y="1484784"/>
            <a:chExt cx="7825215" cy="5184576"/>
          </a:xfrm>
        </p:grpSpPr>
        <p:pic>
          <p:nvPicPr>
            <p:cNvPr id="2050" name="Picture 2" descr="C:\Program Files\Microsoft Office\MEDIA\CAGCAT10\j0195384.wmf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51560" y="5431470"/>
              <a:ext cx="1212576" cy="1237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1" name="Picture 3" descr="C:\Program Files\Microsoft Office\MEDIA\CAGCAT10\j0195384.wmf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5467" y="5431470"/>
              <a:ext cx="1212576" cy="1237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 descr="C:\Program Files\Microsoft Office\MEDIA\CAGCAT10\j0195384.wmf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4008" y="5431470"/>
              <a:ext cx="1212576" cy="1237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4" descr="C:\Program Files\Microsoft Office\MEDIA\CAGCAT10\j0195384.wmf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2280" y="5431470"/>
              <a:ext cx="1212576" cy="1237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3" name="Picture 5" descr="C:\Program Files\Microsoft Office\MEDIA\CAGCAT10\j0285750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5467" y="3429000"/>
              <a:ext cx="1824228" cy="11210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5" descr="C:\Program Files\Microsoft Office\MEDIA\CAGCAT10\j0285750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1528" y="3429000"/>
              <a:ext cx="1824228" cy="11210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5" descr="C:\Program Files\Microsoft Office\MEDIA\CAGCAT10\j0285750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86454" y="3429000"/>
              <a:ext cx="1824228" cy="11210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/>
            <p:cNvPicPr>
              <a:picLocks noChangeAspect="1" noChangeArrowheads="1"/>
            </p:cNvPicPr>
            <p:nvPr/>
          </p:nvPicPr>
          <p:blipFill rotWithShape="1"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25" r="3802"/>
            <a:stretch>
              <a:fillRect/>
            </a:stretch>
          </p:blipFill>
          <p:spPr bwMode="auto">
            <a:xfrm>
              <a:off x="3563888" y="1484784"/>
              <a:ext cx="1542553" cy="1374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14" name="直線單箭頭接點 13"/>
            <p:cNvCxnSpPr>
              <a:stCxn id="2053" idx="0"/>
              <a:endCxn id="2054" idx="2"/>
            </p:cNvCxnSpPr>
            <p:nvPr/>
          </p:nvCxnSpPr>
          <p:spPr>
            <a:xfrm flipV="1">
              <a:off x="1697581" y="2858884"/>
              <a:ext cx="2637584" cy="5701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單箭頭接點 19"/>
            <p:cNvCxnSpPr>
              <a:stCxn id="11" idx="0"/>
            </p:cNvCxnSpPr>
            <p:nvPr/>
          </p:nvCxnSpPr>
          <p:spPr>
            <a:xfrm flipH="1" flipV="1">
              <a:off x="4355976" y="2858884"/>
              <a:ext cx="3342592" cy="5701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>
              <a:stCxn id="10" idx="0"/>
              <a:endCxn id="2054" idx="2"/>
            </p:cNvCxnSpPr>
            <p:nvPr/>
          </p:nvCxnSpPr>
          <p:spPr>
            <a:xfrm flipH="1" flipV="1">
              <a:off x="4335165" y="2858884"/>
              <a:ext cx="208477" cy="5701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單箭頭接點 28"/>
            <p:cNvCxnSpPr>
              <a:stCxn id="2051" idx="0"/>
              <a:endCxn id="2053" idx="2"/>
            </p:cNvCxnSpPr>
            <p:nvPr/>
          </p:nvCxnSpPr>
          <p:spPr>
            <a:xfrm flipV="1">
              <a:off x="1391755" y="4550054"/>
              <a:ext cx="305826" cy="8814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單箭頭接點 34"/>
            <p:cNvCxnSpPr>
              <a:endCxn id="10" idx="2"/>
            </p:cNvCxnSpPr>
            <p:nvPr/>
          </p:nvCxnSpPr>
          <p:spPr>
            <a:xfrm flipV="1">
              <a:off x="3779912" y="4550054"/>
              <a:ext cx="763730" cy="8814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單箭頭接點 36"/>
            <p:cNvCxnSpPr>
              <a:stCxn id="2052" idx="0"/>
              <a:endCxn id="10" idx="2"/>
            </p:cNvCxnSpPr>
            <p:nvPr/>
          </p:nvCxnSpPr>
          <p:spPr>
            <a:xfrm flipH="1" flipV="1">
              <a:off x="4543642" y="4550054"/>
              <a:ext cx="706654" cy="8814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39"/>
            <p:cNvCxnSpPr>
              <a:stCxn id="8" idx="0"/>
            </p:cNvCxnSpPr>
            <p:nvPr/>
          </p:nvCxnSpPr>
          <p:spPr>
            <a:xfrm flipH="1" flipV="1">
              <a:off x="7558471" y="4550054"/>
              <a:ext cx="140097" cy="88141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字方塊 33"/>
            <p:cNvSpPr txBox="1"/>
            <p:nvPr/>
          </p:nvSpPr>
          <p:spPr>
            <a:xfrm>
              <a:off x="5106441" y="1753652"/>
              <a:ext cx="168001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800" dirty="0" smtClean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授權主機</a:t>
              </a:r>
              <a:endParaRPr lang="zh-TW" altLang="en-US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2430091" y="4729152"/>
              <a:ext cx="430214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800" dirty="0" smtClean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多</a:t>
              </a:r>
              <a:r>
                <a:rPr lang="en-US" altLang="zh-TW" sz="2800" dirty="0" smtClean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AP(</a:t>
              </a:r>
              <a:r>
                <a:rPr lang="zh-TW" altLang="en-US" sz="2800" dirty="0" smtClean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負載平衡與開發用</a:t>
              </a:r>
              <a:r>
                <a:rPr lang="en-US" altLang="zh-TW" sz="2800" dirty="0" smtClean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endParaRPr lang="zh-TW" altLang="en-US" sz="28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1043608" y="2348880"/>
            <a:ext cx="7020272" cy="1446550"/>
          </a:xfrm>
        </p:spPr>
        <p:txBody>
          <a:bodyPr/>
          <a:lstStyle/>
          <a:p>
            <a:r>
              <a:rPr lang="zh-TW" altLang="en-US" dirty="0" smtClean="0"/>
              <a:t>授權主機設定</a:t>
            </a:r>
            <a:br>
              <a:rPr lang="en-US" altLang="zh-TW" dirty="0" smtClean="0"/>
            </a:br>
            <a:r>
              <a:rPr lang="en-US" altLang="zh-TW" dirty="0" smtClean="0"/>
              <a:t>(AP</a:t>
            </a:r>
            <a:r>
              <a:rPr lang="zh-TW" altLang="en-US" dirty="0" smtClean="0"/>
              <a:t>、</a:t>
            </a:r>
            <a:r>
              <a:rPr lang="en-US" altLang="zh-TW" dirty="0" smtClean="0"/>
              <a:t>Server)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4294967295"/>
          </p:nvPr>
        </p:nvSpPr>
        <p:spPr>
          <a:xfrm>
            <a:off x="7693025" y="6445250"/>
            <a:ext cx="1450975" cy="412750"/>
          </a:xfrm>
        </p:spPr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467544" y="620689"/>
            <a:ext cx="4464496" cy="648072"/>
          </a:xfrm>
        </p:spPr>
        <p:txBody>
          <a:bodyPr/>
          <a:lstStyle/>
          <a:p>
            <a:r>
              <a:rPr lang="en-US" altLang="zh-TW" dirty="0" smtClean="0"/>
              <a:t>IIS</a:t>
            </a:r>
            <a:r>
              <a:rPr lang="zh-TW" altLang="en-US" dirty="0" smtClean="0"/>
              <a:t>設定</a:t>
            </a:r>
            <a:r>
              <a:rPr lang="en-US" altLang="zh-TW" dirty="0" smtClean="0"/>
              <a:t>-</a:t>
            </a:r>
            <a:r>
              <a:rPr lang="zh-TW" altLang="en-US" dirty="0" smtClean="0"/>
              <a:t>應用程式集區</a:t>
            </a:r>
            <a:endParaRPr lang="zh-TW" altLang="en-US" dirty="0"/>
          </a:p>
        </p:txBody>
      </p:sp>
      <p:sp>
        <p:nvSpPr>
          <p:cNvPr id="8" name="內容版面配置區 7"/>
          <p:cNvSpPr>
            <a:spLocks noGrp="1"/>
          </p:cNvSpPr>
          <p:nvPr>
            <p:ph idx="1"/>
          </p:nvPr>
        </p:nvSpPr>
        <p:spPr>
          <a:xfrm>
            <a:off x="457200" y="1484785"/>
            <a:ext cx="8229600" cy="576064"/>
          </a:xfrm>
        </p:spPr>
        <p:txBody>
          <a:bodyPr/>
          <a:lstStyle/>
          <a:p>
            <a:r>
              <a:rPr lang="zh-TW" altLang="en-US" sz="2400" dirty="0" smtClean="0"/>
              <a:t>建立</a:t>
            </a:r>
            <a:r>
              <a:rPr lang="en-US" altLang="zh-TW" sz="2400" dirty="0" err="1" smtClean="0"/>
              <a:t>SecurityWS</a:t>
            </a:r>
            <a:r>
              <a:rPr lang="zh-TW" altLang="en-US" sz="2400" dirty="0" smtClean="0"/>
              <a:t>應用程式集區</a:t>
            </a:r>
            <a:endParaRPr lang="zh-TW" altLang="en-US" sz="24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060847"/>
            <a:ext cx="7488832" cy="4113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57200" y="476673"/>
            <a:ext cx="8229600" cy="576063"/>
          </a:xfrm>
        </p:spPr>
        <p:txBody>
          <a:bodyPr/>
          <a:lstStyle/>
          <a:p>
            <a:r>
              <a:rPr lang="zh-TW" altLang="en-US" sz="2400" dirty="0" smtClean="0"/>
              <a:t>建立</a:t>
            </a:r>
            <a:r>
              <a:rPr lang="en-US" altLang="zh-TW" sz="2400" dirty="0" err="1" smtClean="0"/>
              <a:t>SecurityWS</a:t>
            </a:r>
            <a:r>
              <a:rPr lang="zh-TW" altLang="en-US" sz="2400" dirty="0" smtClean="0"/>
              <a:t>應用程式，集區選剛建立的</a:t>
            </a:r>
            <a:endParaRPr lang="zh-TW" altLang="en-US" sz="2400" dirty="0"/>
          </a:p>
        </p:txBody>
      </p:sp>
      <p:pic>
        <p:nvPicPr>
          <p:cNvPr id="2050" name="Picture 2" descr="C:\Users\Administrator\Desktop\授權主機\iis應用程式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690" y="908719"/>
            <a:ext cx="6939670" cy="5833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08912" cy="646331"/>
          </a:xfrm>
        </p:spPr>
        <p:txBody>
          <a:bodyPr/>
          <a:lstStyle/>
          <a:p>
            <a:pPr algn="l"/>
            <a:r>
              <a:rPr lang="zh-TW" altLang="en-US" dirty="0" smtClean="0"/>
              <a:t>註冊</a:t>
            </a:r>
            <a:r>
              <a:rPr lang="en-US" altLang="zh-TW" dirty="0" err="1" smtClean="0"/>
              <a:t>SecurityWs</a:t>
            </a:r>
            <a:r>
              <a:rPr lang="zh-TW" altLang="en-US" dirty="0" smtClean="0"/>
              <a:t>序號</a:t>
            </a:r>
            <a:endParaRPr lang="zh-TW" altLang="en-US" dirty="0"/>
          </a:p>
        </p:txBody>
      </p:sp>
      <p:pic>
        <p:nvPicPr>
          <p:cNvPr id="3074" name="Picture 2" descr="C:\Users\Administrator\Desktop\授權主機\ERP2Register.png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5"/>
          <a:stretch>
            <a:fillRect/>
          </a:stretch>
        </p:blipFill>
        <p:spPr bwMode="auto">
          <a:xfrm>
            <a:off x="899592" y="980573"/>
            <a:ext cx="7265988" cy="5877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 smtClean="0"/>
              <a:t>註冊</a:t>
            </a:r>
            <a:r>
              <a:rPr lang="en-US" altLang="zh-TW" dirty="0" err="1" smtClean="0"/>
              <a:t>SecurityWS</a:t>
            </a:r>
            <a:r>
              <a:rPr lang="en-US" altLang="zh-TW" dirty="0" smtClean="0"/>
              <a:t> DB</a:t>
            </a:r>
            <a:r>
              <a:rPr lang="zh-TW" altLang="en-US" dirty="0" smtClean="0"/>
              <a:t>資訊</a:t>
            </a:r>
            <a:endParaRPr lang="zh-TW" altLang="en-US" dirty="0"/>
          </a:p>
        </p:txBody>
      </p:sp>
      <p:pic>
        <p:nvPicPr>
          <p:cNvPr id="4098" name="Picture 2" descr="C:\Users\Administrator\Desktop\授權主機\DB.png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91"/>
          <a:stretch>
            <a:fillRect/>
          </a:stretch>
        </p:blipFill>
        <p:spPr bwMode="auto">
          <a:xfrm>
            <a:off x="899591" y="1340768"/>
            <a:ext cx="7302717" cy="5328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0" y="620688"/>
            <a:ext cx="9144000" cy="584775"/>
          </a:xfrm>
        </p:spPr>
        <p:txBody>
          <a:bodyPr/>
          <a:lstStyle/>
          <a:p>
            <a:pPr algn="l"/>
            <a:r>
              <a:rPr lang="zh-TW" altLang="en-US" sz="3200" dirty="0" smtClean="0"/>
              <a:t>於</a:t>
            </a:r>
            <a:r>
              <a:rPr lang="en-US" altLang="zh-TW" sz="3200" dirty="0" smtClean="0"/>
              <a:t>IIS</a:t>
            </a:r>
            <a:r>
              <a:rPr lang="zh-TW" altLang="en-US" sz="3200" dirty="0" smtClean="0"/>
              <a:t>選應用程式切內容檢視頁籤</a:t>
            </a:r>
            <a:r>
              <a:rPr lang="en-US" altLang="zh-TW" sz="3200" dirty="0" smtClean="0"/>
              <a:t>-</a:t>
            </a:r>
            <a:r>
              <a:rPr lang="en-US" altLang="zh-TW" sz="3200" dirty="0" err="1" smtClean="0"/>
              <a:t>Service.aspmx</a:t>
            </a:r>
            <a:endParaRPr lang="zh-TW" altLang="en-US" sz="3200" dirty="0"/>
          </a:p>
        </p:txBody>
      </p:sp>
      <p:pic>
        <p:nvPicPr>
          <p:cNvPr id="5122" name="Picture 2" descr="C:\Users\Administrator\Desktop\授權主機\ASMX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268760"/>
            <a:ext cx="8712968" cy="513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 smtClean="0"/>
              <a:t>測試</a:t>
            </a:r>
            <a:r>
              <a:rPr lang="en-US" altLang="zh-TW" dirty="0" err="1" smtClean="0"/>
              <a:t>SecurityWS</a:t>
            </a:r>
            <a:r>
              <a:rPr lang="zh-TW" altLang="en-US" dirty="0" smtClean="0"/>
              <a:t>是否正常</a:t>
            </a:r>
            <a:endParaRPr lang="zh-TW" altLang="en-US" dirty="0"/>
          </a:p>
        </p:txBody>
      </p:sp>
      <p:pic>
        <p:nvPicPr>
          <p:cNvPr id="6146" name="Picture 2" descr="C:\Users\Administrator\Desktop\授權主機\IE ASMX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29" y="1340768"/>
            <a:ext cx="8995401" cy="4921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4294967295"/>
          </p:nvPr>
        </p:nvSpPr>
        <p:spPr>
          <a:xfrm>
            <a:off x="7693025" y="6445250"/>
            <a:ext cx="1450975" cy="412750"/>
          </a:xfrm>
        </p:spPr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6" name="標題 4"/>
          <p:cNvSpPr>
            <a:spLocks noGrp="1"/>
          </p:cNvSpPr>
          <p:nvPr>
            <p:ph type="title"/>
          </p:nvPr>
        </p:nvSpPr>
        <p:spPr>
          <a:xfrm>
            <a:off x="1043608" y="2348880"/>
            <a:ext cx="7020272" cy="1446550"/>
          </a:xfrm>
        </p:spPr>
        <p:txBody>
          <a:bodyPr/>
          <a:lstStyle/>
          <a:p>
            <a:r>
              <a:rPr lang="zh-TW" altLang="en-US" dirty="0" smtClean="0"/>
              <a:t>開發機設定</a:t>
            </a:r>
            <a:br>
              <a:rPr lang="en-US" altLang="zh-TW" dirty="0" smtClean="0"/>
            </a:br>
            <a:r>
              <a:rPr lang="en-US" altLang="zh-TW" dirty="0" smtClean="0"/>
              <a:t>(</a:t>
            </a:r>
            <a:r>
              <a:rPr lang="zh-TW" altLang="en-US" dirty="0" smtClean="0"/>
              <a:t>本機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395536" y="548680"/>
            <a:ext cx="8208912" cy="1815882"/>
          </a:xfrm>
        </p:spPr>
        <p:txBody>
          <a:bodyPr/>
          <a:lstStyle/>
          <a:p>
            <a:pPr lvl="0" algn="l"/>
            <a:r>
              <a:rPr lang="zh-TW" altLang="zh-TW" sz="2800" dirty="0">
                <a:effectLst/>
              </a:rPr>
              <a:t>複製</a:t>
            </a:r>
            <a:r>
              <a:rPr lang="en-US" altLang="zh-TW" sz="2800" dirty="0">
                <a:effectLst/>
              </a:rPr>
              <a:t>AP</a:t>
            </a:r>
            <a:r>
              <a:rPr lang="zh-TW" altLang="zh-TW" sz="2800" dirty="0" smtClean="0">
                <a:effectLst/>
              </a:rPr>
              <a:t>主機</a:t>
            </a:r>
            <a:r>
              <a:rPr lang="en-US" altLang="zh-TW" sz="2800" dirty="0" smtClean="0">
                <a:effectLst/>
              </a:rPr>
              <a:t>D</a:t>
            </a:r>
            <a:r>
              <a:rPr lang="en-US" altLang="zh-TW" sz="2800" dirty="0">
                <a:effectLst/>
              </a:rPr>
              <a:t>:\</a:t>
            </a:r>
            <a:r>
              <a:rPr lang="en-US" altLang="zh-TW" sz="2800" dirty="0" smtClean="0">
                <a:effectLst/>
              </a:rPr>
              <a:t>EasyFlow\EFNET</a:t>
            </a:r>
            <a:br>
              <a:rPr lang="en-US" altLang="zh-TW" sz="2800" dirty="0">
                <a:effectLst/>
              </a:rPr>
            </a:br>
            <a:r>
              <a:rPr lang="en-US" altLang="zh-TW" sz="2800" dirty="0" smtClean="0">
                <a:effectLst/>
              </a:rPr>
              <a:t>C</a:t>
            </a:r>
            <a:r>
              <a:rPr lang="en-US" altLang="zh-TW" sz="2800" dirty="0">
                <a:effectLst/>
              </a:rPr>
              <a:t>:\inetpub\wwwroot\webctrl_client</a:t>
            </a:r>
            <a:br>
              <a:rPr lang="zh-TW" altLang="zh-TW" sz="2800" dirty="0">
                <a:effectLst/>
              </a:rPr>
            </a:br>
            <a:r>
              <a:rPr lang="en-US" altLang="zh-TW" sz="2800" dirty="0">
                <a:effectLst/>
              </a:rPr>
              <a:t>D:\EasyFlow\Tools\RegCOMPlus</a:t>
            </a:r>
            <a:br>
              <a:rPr lang="zh-TW" altLang="zh-TW" sz="2800" dirty="0">
                <a:effectLst/>
              </a:rPr>
            </a:br>
            <a:r>
              <a:rPr lang="en-US" altLang="zh-TW" sz="2800" dirty="0">
                <a:effectLst/>
              </a:rPr>
              <a:t>D:\</a:t>
            </a:r>
            <a:r>
              <a:rPr lang="en-US" altLang="zh-TW" sz="2800" dirty="0" smtClean="0">
                <a:effectLst/>
              </a:rPr>
              <a:t>EasyFlow\Tools\RegTool</a:t>
            </a:r>
            <a:r>
              <a:rPr lang="zh-TW" altLang="en-US" sz="2800" dirty="0" smtClean="0">
                <a:effectLst/>
              </a:rPr>
              <a:t>至發開機相應位置</a:t>
            </a:r>
            <a:endParaRPr lang="zh-TW" altLang="zh-TW" sz="2800" dirty="0">
              <a:effectLst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348880"/>
            <a:ext cx="8124548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077072"/>
            <a:ext cx="8124548" cy="2522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523220"/>
          </a:xfrm>
        </p:spPr>
        <p:txBody>
          <a:bodyPr/>
          <a:lstStyle/>
          <a:p>
            <a:pPr algn="l"/>
            <a:r>
              <a:rPr lang="zh-TW" altLang="zh-TW" sz="2800" dirty="0">
                <a:effectLst/>
              </a:rPr>
              <a:t>建立本機</a:t>
            </a:r>
            <a:r>
              <a:rPr lang="en-US" altLang="zh-TW" sz="2800" dirty="0">
                <a:effectLst/>
              </a:rPr>
              <a:t>EFNET</a:t>
            </a:r>
            <a:r>
              <a:rPr lang="zh-TW" altLang="zh-TW" sz="2800" dirty="0">
                <a:effectLst/>
              </a:rPr>
              <a:t>應用程式集區，並修改集區設定</a:t>
            </a:r>
            <a:endParaRPr lang="zh-TW" altLang="en-US" sz="2800" dirty="0"/>
          </a:p>
        </p:txBody>
      </p:sp>
      <p:pic>
        <p:nvPicPr>
          <p:cNvPr id="8196" name="Picture 4" descr="C:\Users\Administrator\Desktop\授權主(開發)\2016-05-04_135808.png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60" t="3046" r="23689" b="12268"/>
          <a:stretch>
            <a:fillRect/>
          </a:stretch>
        </p:blipFill>
        <p:spPr bwMode="auto">
          <a:xfrm>
            <a:off x="179512" y="1228298"/>
            <a:ext cx="4189578" cy="3928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7" name="Picture 5" descr="C:\Users\Administrator\Desktop\授權主(開發)\IIS進階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21" r="8837" b="4068"/>
          <a:stretch>
            <a:fillRect/>
          </a:stretch>
        </p:blipFill>
        <p:spPr bwMode="auto">
          <a:xfrm>
            <a:off x="4369090" y="1217704"/>
            <a:ext cx="4476087" cy="545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953135"/>
          </a:xfrm>
        </p:spPr>
        <p:txBody>
          <a:bodyPr/>
          <a:lstStyle/>
          <a:p>
            <a:pPr algn="l"/>
            <a:r>
              <a:rPr lang="zh-TW" altLang="zh-TW" sz="2800" dirty="0">
                <a:effectLst/>
              </a:rPr>
              <a:t>系統版</a:t>
            </a:r>
            <a:r>
              <a:rPr lang="en-US" altLang="zh-TW" sz="2800" dirty="0">
                <a:effectLst/>
              </a:rPr>
              <a:t>6.6</a:t>
            </a:r>
            <a:r>
              <a:rPr sz="2800" dirty="0">
                <a:effectLst/>
              </a:rPr>
              <a:t>以上，</a:t>
            </a:r>
            <a:r>
              <a:rPr lang="zh-TW" altLang="zh-TW" sz="2800" dirty="0">
                <a:effectLst/>
              </a:rPr>
              <a:t>建立本機</a:t>
            </a:r>
            <a:r>
              <a:rPr lang="en-US" altLang="zh-TW" sz="2800" dirty="0">
                <a:effectLst/>
              </a:rPr>
              <a:t>EFNET</a:t>
            </a:r>
            <a:r>
              <a:rPr lang="zh-TW" altLang="zh-TW" sz="2800" dirty="0">
                <a:effectLst/>
              </a:rPr>
              <a:t>應用程式集區</a:t>
            </a:r>
            <a:br>
              <a:rPr lang="zh-TW" altLang="zh-TW" sz="2800" dirty="0">
                <a:effectLst/>
              </a:rPr>
            </a:br>
            <a:r>
              <a:rPr lang="zh-TW" altLang="zh-TW" sz="2800" dirty="0">
                <a:effectLst/>
              </a:rPr>
              <a:t>.</a:t>
            </a:r>
            <a:r>
              <a:rPr lang="en-US" altLang="zh-TW" sz="2800" dirty="0">
                <a:effectLst/>
              </a:rPr>
              <a:t>NET</a:t>
            </a:r>
            <a:r>
              <a:rPr sz="2800" dirty="0">
                <a:effectLst/>
              </a:rPr>
              <a:t>版本為</a:t>
            </a:r>
            <a:r>
              <a:rPr lang="en-US" altLang="zh-TW" sz="2800" dirty="0">
                <a:effectLst/>
              </a:rPr>
              <a:t>V4</a:t>
            </a:r>
            <a:r>
              <a:rPr sz="2800" dirty="0">
                <a:effectLst/>
              </a:rPr>
              <a:t>，管線模式為整合式</a:t>
            </a:r>
            <a:endParaRPr sz="2800" dirty="0">
              <a:effectLst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8530" y="1711960"/>
            <a:ext cx="3793490" cy="3434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646331"/>
          </a:xfrm>
        </p:spPr>
        <p:txBody>
          <a:bodyPr/>
          <a:lstStyle/>
          <a:p>
            <a:pPr algn="l"/>
            <a:r>
              <a:rPr lang="zh-TW" altLang="zh-TW" dirty="0">
                <a:effectLst/>
              </a:rPr>
              <a:t>建立本機應用程式</a:t>
            </a:r>
            <a:r>
              <a:rPr lang="en-US" altLang="zh-TW" dirty="0">
                <a:effectLst/>
              </a:rPr>
              <a:t>EFNET</a:t>
            </a:r>
            <a:endParaRPr lang="zh-TW" altLang="en-US" dirty="0"/>
          </a:p>
        </p:txBody>
      </p:sp>
      <p:pic>
        <p:nvPicPr>
          <p:cNvPr id="9218" name="Picture 2" descr="C:\Users\Administrator\Desktop\授權主(開發)\應用程式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" y="1484784"/>
            <a:ext cx="9132888" cy="409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179512" y="764704"/>
            <a:ext cx="8496944" cy="576064"/>
          </a:xfrm>
        </p:spPr>
        <p:txBody>
          <a:bodyPr/>
          <a:lstStyle/>
          <a:p>
            <a:pPr algn="l"/>
            <a:r>
              <a:rPr lang="zh-TW" altLang="zh-TW" sz="2400" dirty="0">
                <a:effectLst/>
              </a:rPr>
              <a:t>若使用</a:t>
            </a:r>
            <a:r>
              <a:rPr lang="en-US" altLang="zh-TW" sz="2400" dirty="0">
                <a:effectLst/>
              </a:rPr>
              <a:t>AD</a:t>
            </a:r>
            <a:r>
              <a:rPr lang="zh-TW" altLang="zh-TW" sz="2400" dirty="0">
                <a:effectLst/>
              </a:rPr>
              <a:t>帳號登入請確認</a:t>
            </a:r>
            <a:r>
              <a:rPr lang="en-US" altLang="zh-TW" sz="2400" dirty="0">
                <a:effectLst/>
              </a:rPr>
              <a:t>Windows</a:t>
            </a:r>
            <a:r>
              <a:rPr lang="zh-TW" altLang="zh-TW" sz="2400" dirty="0">
                <a:effectLst/>
              </a:rPr>
              <a:t>驗證有開啟，並停用匿名驗證</a:t>
            </a:r>
            <a:endParaRPr lang="zh-TW" altLang="en-US" sz="24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860" y="1958330"/>
            <a:ext cx="8494604" cy="2982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523220"/>
          </a:xfrm>
        </p:spPr>
        <p:txBody>
          <a:bodyPr/>
          <a:lstStyle/>
          <a:p>
            <a:pPr algn="l"/>
            <a:r>
              <a:rPr lang="zh-TW" altLang="zh-TW" sz="2800" dirty="0">
                <a:effectLst/>
              </a:rPr>
              <a:t>開啟本機</a:t>
            </a:r>
            <a:r>
              <a:rPr lang="en-US" altLang="zh-TW" sz="2800" dirty="0" err="1">
                <a:effectLst/>
              </a:rPr>
              <a:t>Web.Config</a:t>
            </a:r>
            <a:r>
              <a:rPr lang="zh-TW" altLang="zh-TW" sz="2800" dirty="0">
                <a:effectLst/>
              </a:rPr>
              <a:t>檔</a:t>
            </a:r>
            <a:endParaRPr lang="zh-TW" altLang="en-US" sz="2800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32656"/>
          </a:xfrm>
        </p:spPr>
        <p:txBody>
          <a:bodyPr/>
          <a:lstStyle/>
          <a:p>
            <a:r>
              <a:rPr lang="zh-TW" altLang="zh-TW" sz="2400" dirty="0"/>
              <a:t>新增</a:t>
            </a:r>
            <a:r>
              <a:rPr lang="en-US" altLang="zh-TW" sz="2400" dirty="0" err="1"/>
              <a:t>AuthorizationIP</a:t>
            </a:r>
            <a:r>
              <a:rPr lang="en-US" altLang="zh-TW" sz="2400" dirty="0"/>
              <a:t> </a:t>
            </a:r>
            <a:r>
              <a:rPr lang="zh-TW" altLang="zh-TW" sz="2400" dirty="0"/>
              <a:t>授權主機</a:t>
            </a:r>
            <a:r>
              <a:rPr lang="en-US" altLang="zh-TW" sz="2400" dirty="0"/>
              <a:t>URL</a:t>
            </a:r>
            <a:r>
              <a:rPr lang="zh-TW" altLang="zh-TW" sz="2400" dirty="0"/>
              <a:t>位置</a:t>
            </a:r>
            <a:endParaRPr lang="zh-TW" altLang="en-US" sz="2400" dirty="0"/>
          </a:p>
        </p:txBody>
      </p:sp>
      <p:pic>
        <p:nvPicPr>
          <p:cNvPr id="11266" name="Picture 2" descr="C:\Users\Administrator\Desktop\授權主(開發)\Webconig.png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412"/>
          <a:stretch>
            <a:fillRect/>
          </a:stretch>
        </p:blipFill>
        <p:spPr bwMode="auto">
          <a:xfrm>
            <a:off x="467544" y="1603094"/>
            <a:ext cx="7589833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523220"/>
          </a:xfrm>
        </p:spPr>
        <p:txBody>
          <a:bodyPr/>
          <a:lstStyle/>
          <a:p>
            <a:pPr algn="l"/>
            <a:r>
              <a:rPr lang="zh-TW" altLang="zh-TW" sz="2800" dirty="0">
                <a:effectLst/>
              </a:rPr>
              <a:t>確認本機連線資訊與主機的</a:t>
            </a:r>
            <a:r>
              <a:rPr lang="en-US" altLang="zh-TW" sz="2800" dirty="0" err="1">
                <a:effectLst/>
              </a:rPr>
              <a:t>SecurityWS</a:t>
            </a:r>
            <a:r>
              <a:rPr lang="zh-TW" altLang="zh-TW" sz="2800" dirty="0">
                <a:effectLst/>
              </a:rPr>
              <a:t>一致</a:t>
            </a:r>
            <a:endParaRPr lang="zh-TW" altLang="en-US" sz="2800" dirty="0"/>
          </a:p>
        </p:txBody>
      </p:sp>
      <p:pic>
        <p:nvPicPr>
          <p:cNvPr id="12290" name="Picture 2" descr="C:\Users\Administrator\Desktop\授權主(開發)\DB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268760"/>
            <a:ext cx="8501353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523220"/>
          </a:xfrm>
        </p:spPr>
        <p:txBody>
          <a:bodyPr/>
          <a:lstStyle/>
          <a:p>
            <a:pPr algn="l"/>
            <a:r>
              <a:rPr lang="zh-TW" altLang="zh-TW" sz="2800" dirty="0">
                <a:effectLst/>
              </a:rPr>
              <a:t>註冊加解密元件</a:t>
            </a:r>
            <a:endParaRPr lang="zh-TW" altLang="en-US" sz="2800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57200" y="1124745"/>
            <a:ext cx="8229600" cy="864096"/>
          </a:xfrm>
        </p:spPr>
        <p:txBody>
          <a:bodyPr/>
          <a:lstStyle/>
          <a:p>
            <a:r>
              <a:rPr lang="zh-TW" altLang="zh-TW" sz="2400" dirty="0"/>
              <a:t>記得要使用</a:t>
            </a:r>
            <a:r>
              <a:rPr lang="en-US" altLang="zh-TW" sz="2400" dirty="0"/>
              <a:t>Administrator</a:t>
            </a:r>
            <a:r>
              <a:rPr lang="zh-TW" altLang="zh-TW" sz="2400" dirty="0"/>
              <a:t>身分開啟工具，避免權限不足的問題，先反註冊再註冊</a:t>
            </a:r>
            <a:endParaRPr lang="zh-TW" altLang="en-US" sz="2400" dirty="0"/>
          </a:p>
        </p:txBody>
      </p:sp>
      <p:pic>
        <p:nvPicPr>
          <p:cNvPr id="13314" name="Picture 2" descr="C:\Users\Administrator\Desktop\授權主(開發)\COMPlus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988840"/>
            <a:ext cx="7840389" cy="446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IE</a:t>
            </a:r>
            <a:r>
              <a:rPr lang="zh-TW" altLang="en-US" dirty="0" smtClean="0"/>
              <a:t>設定</a:t>
            </a:r>
            <a:r>
              <a:rPr lang="en-US" altLang="zh-TW" dirty="0" smtClean="0"/>
              <a:t>-</a:t>
            </a:r>
            <a:r>
              <a:rPr lang="zh-TW" altLang="en-US" dirty="0" smtClean="0"/>
              <a:t>檢查儲存的畫面是否有較新的版本</a:t>
            </a:r>
            <a:endParaRPr lang="zh-TW" altLang="en-US" dirty="0"/>
          </a:p>
        </p:txBody>
      </p:sp>
      <p:pic>
        <p:nvPicPr>
          <p:cNvPr id="14338" name="Picture 2" descr="C:\Users\Administrator\Desktop\授權主(開發)\IE設定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260078"/>
            <a:ext cx="8278218" cy="511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 smtClean="0"/>
              <a:t>IE</a:t>
            </a:r>
            <a:r>
              <a:rPr lang="zh-TW" altLang="en-US" dirty="0" smtClean="0"/>
              <a:t>設定</a:t>
            </a:r>
            <a:r>
              <a:rPr lang="en-US" altLang="zh-TW" dirty="0" smtClean="0"/>
              <a:t>-</a:t>
            </a:r>
            <a:r>
              <a:rPr lang="zh-TW" altLang="en-US" dirty="0" smtClean="0"/>
              <a:t>相容性檢視</a:t>
            </a:r>
            <a:endParaRPr lang="zh-TW" alt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96752"/>
            <a:ext cx="3267075" cy="515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1196752"/>
            <a:ext cx="4104456" cy="4608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036" y="1916832"/>
            <a:ext cx="3724275" cy="414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/>
              <a:t>IE</a:t>
            </a:r>
            <a:r>
              <a:rPr lang="zh-TW" altLang="en-US" dirty="0"/>
              <a:t>設定</a:t>
            </a:r>
            <a:r>
              <a:rPr lang="en-US" altLang="zh-TW" dirty="0" smtClean="0"/>
              <a:t>-</a:t>
            </a:r>
            <a:r>
              <a:rPr lang="zh-TW" altLang="en-US" dirty="0" smtClean="0"/>
              <a:t>安全</a:t>
            </a:r>
            <a:r>
              <a:rPr lang="zh-TW" altLang="en-US" dirty="0"/>
              <a:t>性</a:t>
            </a:r>
            <a:endParaRPr lang="zh-TW" alt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268760"/>
            <a:ext cx="5391150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279192"/>
            <a:ext cx="4475154" cy="3950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523220"/>
          </a:xfrm>
        </p:spPr>
        <p:txBody>
          <a:bodyPr/>
          <a:lstStyle/>
          <a:p>
            <a:pPr algn="l"/>
            <a:r>
              <a:rPr lang="en-US" altLang="zh-TW" sz="2800" dirty="0" smtClean="0"/>
              <a:t>Visual Studio</a:t>
            </a:r>
            <a:r>
              <a:rPr lang="zh-TW" altLang="en-US" sz="2800" dirty="0" smtClean="0"/>
              <a:t>使用</a:t>
            </a:r>
            <a:endParaRPr lang="zh-TW" altLang="en-US" sz="2800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67544" y="1124745"/>
            <a:ext cx="8229600" cy="432048"/>
          </a:xfrm>
        </p:spPr>
        <p:txBody>
          <a:bodyPr/>
          <a:lstStyle/>
          <a:p>
            <a:r>
              <a:rPr lang="zh-TW" altLang="en-US" sz="2800" dirty="0" smtClean="0"/>
              <a:t>開啟網站</a:t>
            </a:r>
            <a:endParaRPr lang="zh-TW" altLang="en-US" sz="2800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" y="1628775"/>
            <a:ext cx="4573270" cy="363029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340" y="3284855"/>
            <a:ext cx="5113020" cy="369189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 smtClean="0"/>
              <a:t>開啟網站提示訊息</a:t>
            </a:r>
            <a:endParaRPr lang="zh-TW" altLang="en-US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28" y="1196752"/>
            <a:ext cx="5730933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43" y="3817014"/>
            <a:ext cx="7458493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 smtClean="0"/>
              <a:t>將</a:t>
            </a:r>
            <a:r>
              <a:rPr lang="en-US" altLang="zh-TW" dirty="0" smtClean="0"/>
              <a:t>Default.htm</a:t>
            </a:r>
            <a:r>
              <a:rPr lang="zh-TW" altLang="en-US" dirty="0" smtClean="0"/>
              <a:t>設定為起始頁</a:t>
            </a:r>
            <a:endParaRPr lang="zh-TW" altLang="en-US" dirty="0"/>
          </a:p>
        </p:txBody>
      </p:sp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412776"/>
            <a:ext cx="2952328" cy="5258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 smtClean="0"/>
              <a:t>設定建置起始動作</a:t>
            </a:r>
            <a:endParaRPr lang="zh-TW" alt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84784"/>
            <a:ext cx="3490265" cy="5081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56"/>
          <a:stretch>
            <a:fillRect/>
          </a:stretch>
        </p:blipFill>
        <p:spPr bwMode="auto">
          <a:xfrm>
            <a:off x="2108133" y="2234142"/>
            <a:ext cx="7035867" cy="2714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523220"/>
          </a:xfrm>
        </p:spPr>
        <p:txBody>
          <a:bodyPr/>
          <a:lstStyle/>
          <a:p>
            <a:pPr algn="l"/>
            <a:r>
              <a:rPr lang="zh-TW" altLang="en-US" sz="2800" dirty="0" smtClean="0"/>
              <a:t>一般設定</a:t>
            </a:r>
            <a:r>
              <a:rPr lang="en-US" altLang="zh-TW" sz="2800" dirty="0" smtClean="0"/>
              <a:t>-</a:t>
            </a:r>
            <a:r>
              <a:rPr lang="zh-TW" altLang="en-US" sz="2800" dirty="0" smtClean="0"/>
              <a:t>放出行號</a:t>
            </a:r>
            <a:endParaRPr lang="zh-TW" altLang="en-US" sz="2800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99" y="1124744"/>
            <a:ext cx="7986429" cy="5616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523220"/>
          </a:xfrm>
        </p:spPr>
        <p:txBody>
          <a:bodyPr/>
          <a:lstStyle/>
          <a:p>
            <a:pPr algn="l"/>
            <a:r>
              <a:rPr lang="zh-TW" altLang="en-US" sz="2800" dirty="0" smtClean="0"/>
              <a:t>一般設定</a:t>
            </a:r>
            <a:r>
              <a:rPr lang="en-US" altLang="zh-TW" sz="2800" dirty="0" smtClean="0"/>
              <a:t>-</a:t>
            </a:r>
            <a:r>
              <a:rPr lang="zh-TW" altLang="en-US" sz="2800" dirty="0" smtClean="0"/>
              <a:t>改變字型大小</a:t>
            </a:r>
            <a:endParaRPr lang="zh-TW" altLang="en-US" sz="2800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159660"/>
            <a:ext cx="8352928" cy="4357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523220"/>
          </a:xfrm>
        </p:spPr>
        <p:txBody>
          <a:bodyPr/>
          <a:lstStyle/>
          <a:p>
            <a:pPr algn="l"/>
            <a:r>
              <a:rPr lang="zh-TW" altLang="en-US" sz="2800" dirty="0" smtClean="0"/>
              <a:t>如何下中斷點</a:t>
            </a:r>
            <a:endParaRPr lang="zh-TW" altLang="en-US" sz="2800" dirty="0"/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662" y="1844824"/>
            <a:ext cx="8565104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347264" y="1196753"/>
            <a:ext cx="8229600" cy="504056"/>
          </a:xfrm>
        </p:spPr>
        <p:txBody>
          <a:bodyPr/>
          <a:lstStyle/>
          <a:p>
            <a:r>
              <a:rPr lang="zh-TW" altLang="en-US" sz="2400" dirty="0" smtClean="0"/>
              <a:t>在要檢視的行號前點一下</a:t>
            </a:r>
            <a:endParaRPr lang="zh-TW" alt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1"/>
          <a:srcRect r="25593"/>
          <a:stretch>
            <a:fillRect/>
          </a:stretch>
        </p:blipFill>
        <p:spPr>
          <a:xfrm>
            <a:off x="539115" y="1628775"/>
            <a:ext cx="7284720" cy="1000125"/>
          </a:xfrm>
          <a:prstGeom prst="rect">
            <a:avLst/>
          </a:prstGeom>
        </p:spPr>
      </p:pic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TW" altLang="en-US" dirty="0" smtClean="0"/>
              <a:t>偵錯工具列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3851880" y="3213246"/>
            <a:ext cx="1512168" cy="4616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停止偵錯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7" name="直線單箭頭接點 6"/>
          <p:cNvCxnSpPr/>
          <p:nvPr/>
        </p:nvCxnSpPr>
        <p:spPr>
          <a:xfrm flipV="1">
            <a:off x="4572000" y="2492375"/>
            <a:ext cx="467360" cy="72009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/>
          <p:cNvSpPr txBox="1"/>
          <p:nvPr/>
        </p:nvSpPr>
        <p:spPr>
          <a:xfrm>
            <a:off x="2267858" y="2852365"/>
            <a:ext cx="1512168" cy="4616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繼續偵錯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0" name="直線單箭頭接點 9"/>
          <p:cNvCxnSpPr>
            <a:stCxn id="9" idx="0"/>
          </p:cNvCxnSpPr>
          <p:nvPr/>
        </p:nvCxnSpPr>
        <p:spPr>
          <a:xfrm flipV="1">
            <a:off x="3023870" y="2564765"/>
            <a:ext cx="1548130" cy="28765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內容版面配置區 3"/>
          <p:cNvSpPr>
            <a:spLocks noGrp="1"/>
          </p:cNvSpPr>
          <p:nvPr>
            <p:ph idx="1"/>
          </p:nvPr>
        </p:nvSpPr>
        <p:spPr>
          <a:xfrm>
            <a:off x="385192" y="4437112"/>
            <a:ext cx="8229600" cy="1296144"/>
          </a:xfrm>
        </p:spPr>
        <p:txBody>
          <a:bodyPr/>
          <a:lstStyle/>
          <a:p>
            <a:r>
              <a:rPr lang="zh-TW" altLang="en-US" sz="2400" dirty="0" smtClean="0"/>
              <a:t>快捷鍵</a:t>
            </a:r>
            <a:endParaRPr lang="en-US" altLang="zh-TW" sz="2400" dirty="0" smtClean="0"/>
          </a:p>
          <a:p>
            <a:r>
              <a:rPr lang="en-US" altLang="zh-TW" sz="2400" dirty="0" smtClean="0"/>
              <a:t>F10-</a:t>
            </a:r>
            <a:r>
              <a:rPr lang="zh-TW" altLang="en-US" sz="2400" dirty="0" smtClean="0"/>
              <a:t>逐一執行程式碼</a:t>
            </a:r>
            <a:endParaRPr lang="en-US" altLang="zh-TW" sz="2400" dirty="0" smtClean="0"/>
          </a:p>
          <a:p>
            <a:r>
              <a:rPr lang="en-US" altLang="zh-TW" sz="2400" dirty="0" smtClean="0"/>
              <a:t>F5-</a:t>
            </a:r>
            <a:r>
              <a:rPr lang="zh-TW" altLang="en-US" sz="2400" dirty="0" smtClean="0"/>
              <a:t>跳到下一個中斷點</a:t>
            </a:r>
            <a:endParaRPr lang="zh-TW" altLang="en-US" sz="24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5579745" y="3500755"/>
            <a:ext cx="2015490" cy="4845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p>
            <a:r>
              <a:rPr lang="zh-TW" altLang="en-US" sz="24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重新啟動偵錯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11" name="直線單箭頭接點 10"/>
          <p:cNvCxnSpPr>
            <a:stCxn id="6" idx="0"/>
          </p:cNvCxnSpPr>
          <p:nvPr/>
        </p:nvCxnSpPr>
        <p:spPr>
          <a:xfrm flipH="1" flipV="1">
            <a:off x="5435600" y="2564765"/>
            <a:ext cx="1151890" cy="93599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8A2679-4D56-4A69-AC7C-10199940E943}" type="slidenum">
              <a:rPr lang="en-US" altLang="zh-TW" smtClean="0"/>
            </a:fld>
            <a:endParaRPr lang="en-US" altLang="zh-TW"/>
          </a:p>
        </p:txBody>
      </p:sp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523220"/>
          </a:xfrm>
        </p:spPr>
        <p:txBody>
          <a:bodyPr/>
          <a:lstStyle/>
          <a:p>
            <a:pPr algn="l"/>
            <a:r>
              <a:rPr lang="zh-TW" altLang="en-US" sz="2800" dirty="0" smtClean="0"/>
              <a:t>如何使用監看式</a:t>
            </a:r>
            <a:endParaRPr lang="zh-TW" altLang="en-US" sz="2800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57200" y="1124745"/>
            <a:ext cx="8229600" cy="432048"/>
          </a:xfrm>
        </p:spPr>
        <p:txBody>
          <a:bodyPr/>
          <a:lstStyle/>
          <a:p>
            <a:r>
              <a:rPr lang="zh-TW" altLang="en-US" sz="2400" dirty="0" smtClean="0"/>
              <a:t>選取參數按右鍵</a:t>
            </a:r>
            <a:endParaRPr lang="zh-TW" altLang="en-US" sz="2400" dirty="0"/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4847435"/>
            <a:ext cx="4543425" cy="201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9" y="1556792"/>
            <a:ext cx="7422807" cy="3543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3068960"/>
            <a:ext cx="8229600" cy="2016223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TW" sz="4000" b="1" i="1" dirty="0" smtClean="0"/>
              <a:t>The End</a:t>
            </a:r>
            <a:endParaRPr lang="en-US" altLang="zh-TW" sz="4000" b="1" i="1" dirty="0" smtClean="0"/>
          </a:p>
          <a:p>
            <a:pPr marL="0" indent="0" algn="ctr">
              <a:buNone/>
            </a:pPr>
            <a:endParaRPr lang="en-US" altLang="zh-TW" b="1" i="1" dirty="0" smtClean="0"/>
          </a:p>
          <a:p>
            <a:pPr marL="0" indent="0" algn="r">
              <a:buNone/>
            </a:pPr>
            <a:endParaRPr lang="zh-TW" altLang="en-US" b="1" i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自訂設計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831</Words>
  <Application>WPS Presentation</Application>
  <PresentationFormat>如螢幕大小 (4:3)</PresentationFormat>
  <Paragraphs>162</Paragraphs>
  <Slides>32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3" baseType="lpstr">
      <vt:lpstr>Arial</vt:lpstr>
      <vt:lpstr>新細明體</vt:lpstr>
      <vt:lpstr>Wingdings</vt:lpstr>
      <vt:lpstr>新細明體</vt:lpstr>
      <vt:lpstr>微軟正黑體</vt:lpstr>
      <vt:lpstr>Calibri</vt:lpstr>
      <vt:lpstr>Microsoft YaHei</vt:lpstr>
      <vt:lpstr>SimSun</vt:lpstr>
      <vt:lpstr>Arial Unicode MS</vt:lpstr>
      <vt:lpstr>自訂設計</vt:lpstr>
      <vt:lpstr>Office 佈景主題</vt:lpstr>
      <vt:lpstr>授權主機設定與 Visual  Studio使用</vt:lpstr>
      <vt:lpstr>大綱</vt:lpstr>
      <vt:lpstr>授權主機架構示意圖</vt:lpstr>
      <vt:lpstr>授權主機設定 (AP、Server)</vt:lpstr>
      <vt:lpstr>IIS設定-應用程式集區</vt:lpstr>
      <vt:lpstr>PowerPoint 演示文稿</vt:lpstr>
      <vt:lpstr>註冊SecurityWs序號</vt:lpstr>
      <vt:lpstr>註冊SecurityWS DB資訊</vt:lpstr>
      <vt:lpstr>於IIS選應用程式切內容檢視頁籤-Service.aspmx</vt:lpstr>
      <vt:lpstr>測試SecurityWS是否正常</vt:lpstr>
      <vt:lpstr>開發機設定 (本機)</vt:lpstr>
      <vt:lpstr>複製AP主機D:\EasyFlow\EFNET C:\inetpub\wwwroot\webctrl_client D:\EasyFlow\Tools\RegCOMPlus D:\EasyFlow\Tools\RegTool至發開機相應位置</vt:lpstr>
      <vt:lpstr>建立本機EFNET應用程式集區，並修改集區設定</vt:lpstr>
      <vt:lpstr>建立本機EFNET應用程式集區，並修改集區設定</vt:lpstr>
      <vt:lpstr>建立本機應用程式EFNET</vt:lpstr>
      <vt:lpstr>若使用AD帳號登入請確認Windows驗證有開啟，並停用匿名驗證</vt:lpstr>
      <vt:lpstr>開啟本機Web.Config檔</vt:lpstr>
      <vt:lpstr>確認本機連線資訊與主機的SecurityWS一致</vt:lpstr>
      <vt:lpstr>註冊加解密元件</vt:lpstr>
      <vt:lpstr>IE設定-檢查儲存的畫面是否有較新的版本</vt:lpstr>
      <vt:lpstr>IE設定-相容性檢視</vt:lpstr>
      <vt:lpstr>IE設定-安全性</vt:lpstr>
      <vt:lpstr>Visual Studio使用</vt:lpstr>
      <vt:lpstr>開啟網站提示訊息</vt:lpstr>
      <vt:lpstr>將Default.htm設定為起始頁</vt:lpstr>
      <vt:lpstr>設定建置起始動作</vt:lpstr>
      <vt:lpstr>一般設定-放出行號</vt:lpstr>
      <vt:lpstr>一般設定-改變字型大小</vt:lpstr>
      <vt:lpstr>如何下中斷點</vt:lpstr>
      <vt:lpstr>偵錯工具列</vt:lpstr>
      <vt:lpstr>如何使用監看式</vt:lpstr>
      <vt:lpstr>PowerPoint 演示文稿</vt:lpstr>
    </vt:vector>
  </TitlesOfParts>
  <Company>dsc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ella</dc:creator>
  <cp:lastModifiedBy>Administrator</cp:lastModifiedBy>
  <cp:revision>1610</cp:revision>
  <dcterms:created xsi:type="dcterms:W3CDTF">2008-10-15T09:32:00Z</dcterms:created>
  <dcterms:modified xsi:type="dcterms:W3CDTF">2021-02-22T07:26:23Z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1028-10.8.2.6633</vt:lpwstr>
  </property>
</Properties>
</file>