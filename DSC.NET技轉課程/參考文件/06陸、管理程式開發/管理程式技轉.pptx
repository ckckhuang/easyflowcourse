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54"/>
  </p:handoutMasterIdLst>
  <p:sldIdLst>
    <p:sldId id="622" r:id="rId4"/>
    <p:sldId id="668" r:id="rId6"/>
    <p:sldId id="718" r:id="rId7"/>
    <p:sldId id="815" r:id="rId8"/>
    <p:sldId id="721" r:id="rId9"/>
    <p:sldId id="816" r:id="rId10"/>
    <p:sldId id="677" r:id="rId11"/>
    <p:sldId id="749" r:id="rId12"/>
    <p:sldId id="817" r:id="rId13"/>
    <p:sldId id="683" r:id="rId14"/>
    <p:sldId id="678" r:id="rId15"/>
    <p:sldId id="679" r:id="rId16"/>
    <p:sldId id="680" r:id="rId17"/>
    <p:sldId id="681" r:id="rId18"/>
    <p:sldId id="682" r:id="rId19"/>
    <p:sldId id="684" r:id="rId20"/>
    <p:sldId id="748" r:id="rId21"/>
    <p:sldId id="818" r:id="rId22"/>
    <p:sldId id="820" r:id="rId23"/>
    <p:sldId id="821" r:id="rId24"/>
    <p:sldId id="823" r:id="rId25"/>
    <p:sldId id="824" r:id="rId26"/>
    <p:sldId id="692" r:id="rId27"/>
    <p:sldId id="693" r:id="rId28"/>
    <p:sldId id="825" r:id="rId29"/>
    <p:sldId id="695" r:id="rId30"/>
    <p:sldId id="696" r:id="rId31"/>
    <p:sldId id="862" r:id="rId32"/>
    <p:sldId id="694" r:id="rId33"/>
    <p:sldId id="826" r:id="rId34"/>
    <p:sldId id="704" r:id="rId35"/>
    <p:sldId id="827" r:id="rId36"/>
    <p:sldId id="829" r:id="rId37"/>
    <p:sldId id="830" r:id="rId38"/>
    <p:sldId id="725" r:id="rId39"/>
    <p:sldId id="831" r:id="rId40"/>
    <p:sldId id="727" r:id="rId41"/>
    <p:sldId id="728" r:id="rId42"/>
    <p:sldId id="832" r:id="rId43"/>
    <p:sldId id="786" r:id="rId44"/>
    <p:sldId id="787" r:id="rId45"/>
    <p:sldId id="788" r:id="rId46"/>
    <p:sldId id="789" r:id="rId47"/>
    <p:sldId id="855" r:id="rId48"/>
    <p:sldId id="856" r:id="rId49"/>
    <p:sldId id="857" r:id="rId50"/>
    <p:sldId id="859" r:id="rId51"/>
    <p:sldId id="858" r:id="rId52"/>
    <p:sldId id="676" r:id="rId53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D25"/>
    <a:srgbClr val="A31515"/>
    <a:srgbClr val="2B91AF"/>
    <a:srgbClr val="008000"/>
    <a:srgbClr val="FF7C80"/>
    <a:srgbClr val="3C8C93"/>
    <a:srgbClr val="E2F1F2"/>
    <a:srgbClr val="D1DCEE"/>
    <a:srgbClr val="D0EAEC"/>
    <a:srgbClr val="C9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29" autoAdjust="0"/>
    <p:restoredTop sz="92580" autoAdjust="0"/>
  </p:normalViewPr>
  <p:slideViewPr>
    <p:cSldViewPr>
      <p:cViewPr>
        <p:scale>
          <a:sx n="80" d="100"/>
          <a:sy n="80" d="100"/>
        </p:scale>
        <p:origin x="-1290" y="-150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itchFamily="2" charset="2"/>
              <a:buChar char="n"/>
              <a:defRPr b="1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 b="1">
                <a:latin typeface="微軟正黑體" pitchFamily="34" charset="-120"/>
                <a:ea typeface="微軟正黑體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 b="1">
                <a:latin typeface="微軟正黑體" pitchFamily="34" charset="-120"/>
                <a:ea typeface="微軟正黑體" pitchFamily="34" charset="-120"/>
              </a:defRPr>
            </a:lvl4pPr>
            <a:lvl5pPr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9.jpe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500298" y="1357298"/>
            <a:ext cx="6192688" cy="1569660"/>
          </a:xfrm>
        </p:spPr>
        <p:txBody>
          <a:bodyPr/>
          <a:lstStyle/>
          <a:p>
            <a:br>
              <a:rPr lang="en-US" altLang="zh-TW" dirty="0" smtClean="0"/>
            </a:br>
            <a:endParaRPr lang="zh-TW" altLang="en-US" sz="36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555776" y="5143512"/>
            <a:ext cx="4536504" cy="1428760"/>
          </a:xfrm>
        </p:spPr>
        <p:txBody>
          <a:bodyPr/>
          <a:lstStyle/>
          <a:p>
            <a:r>
              <a:rPr lang="zh-TW" altLang="en-US" sz="2800" smtClean="0"/>
              <a:t>吳俐君</a:t>
            </a:r>
            <a:endParaRPr lang="en-US" altLang="zh-TW" sz="2800" dirty="0" smtClean="0"/>
          </a:p>
          <a:p>
            <a:r>
              <a:rPr lang="zh-TW" altLang="en-US" sz="2000" dirty="0" smtClean="0"/>
              <a:t>鼎新電腦</a:t>
            </a:r>
            <a:endParaRPr lang="zh-TW" altLang="en-US" sz="2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857488" y="2000240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 smtClean="0">
                <a:latin typeface="微軟正黑體" pitchFamily="34" charset="-120"/>
                <a:ea typeface="微軟正黑體" pitchFamily="34" charset="-120"/>
              </a:rPr>
              <a:t>管理程式技轉</a:t>
            </a:r>
            <a:endParaRPr lang="zh-TW" altLang="en-US" sz="66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808220" cy="517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en-US" altLang="zh-TW" sz="2000" b="1" dirty="0" smtClean="0">
              <a:latin typeface="微軟正黑體" charset="0"/>
              <a:ea typeface="微軟正黑體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管理程式位置</a:t>
            </a: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/>
              <a:t>位置：</a:t>
            </a:r>
            <a:r>
              <a:rPr lang="zh-TW" altLang="en-US" sz="2800">
                <a:solidFill>
                  <a:srgbClr val="FF0000"/>
                </a:solidFill>
              </a:rPr>
              <a:t>EasyFlow\EFNET\src\PRM</a:t>
            </a:r>
            <a:endParaRPr lang="zh-TW" altLang="en-US" sz="2800">
              <a:solidFill>
                <a:srgbClr val="FF0000"/>
              </a:solidFill>
            </a:endParaRPr>
          </a:p>
          <a:p>
            <a:r>
              <a:rPr lang="zh-TW" altLang="en-US" sz="2800">
                <a:solidFill>
                  <a:schemeClr val="tx1"/>
                </a:solidFill>
              </a:rPr>
              <a:t>複製至開發機相同路徑</a:t>
            </a:r>
            <a:endParaRPr lang="zh-TW" altLang="en-US" sz="2800">
              <a:solidFill>
                <a:schemeClr val="tx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64765"/>
            <a:ext cx="6814820" cy="3776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360" y="476885"/>
            <a:ext cx="3397885" cy="680720"/>
          </a:xfrm>
        </p:spPr>
        <p:txBody>
          <a:bodyPr wrap="square"/>
          <a:lstStyle/>
          <a:p>
            <a:r>
              <a:rPr dirty="0" smtClean="0">
                <a:sym typeface="+mn-ea"/>
              </a:rPr>
              <a:t>管理程式</a:t>
            </a:r>
            <a:r>
              <a:rPr lang="en-US" altLang="zh-TW" dirty="0" smtClean="0">
                <a:sym typeface="+mn-ea"/>
              </a:rPr>
              <a:t>UI</a:t>
            </a:r>
            <a:r>
              <a:rPr dirty="0" smtClean="0">
                <a:sym typeface="+mn-ea"/>
              </a:rPr>
              <a:t>設計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>
          <a:xfrm>
            <a:off x="457200" y="1026160"/>
            <a:ext cx="8229600" cy="4525963"/>
          </a:xfrm>
        </p:spPr>
        <p:txBody>
          <a:bodyPr/>
          <a:p>
            <a:r>
              <a:rPr lang="zh-TW" altLang="en-US" sz="2800">
                <a:solidFill>
                  <a:schemeClr val="tx1"/>
                </a:solidFill>
              </a:rPr>
              <a:t>精靈產出已是</a:t>
            </a:r>
            <a:r>
              <a:rPr lang="en-US" altLang="zh-TW" sz="2800">
                <a:solidFill>
                  <a:schemeClr val="tx1"/>
                </a:solidFill>
              </a:rPr>
              <a:t>Table</a:t>
            </a:r>
            <a:r>
              <a:rPr lang="zh-TW" altLang="en-US" sz="2800">
                <a:solidFill>
                  <a:schemeClr val="tx1"/>
                </a:solidFill>
              </a:rPr>
              <a:t>排版</a:t>
            </a:r>
            <a:endParaRPr lang="zh-TW" altLang="en-US" sz="2800">
              <a:solidFill>
                <a:schemeClr val="tx1"/>
              </a:solidFill>
            </a:endParaRPr>
          </a:p>
          <a:p>
            <a:r>
              <a:rPr lang="zh-TW" altLang="en-US" sz="2800">
                <a:solidFill>
                  <a:schemeClr val="tx1"/>
                </a:solidFill>
              </a:rPr>
              <a:t>置換欄位順序直接拖拉</a:t>
            </a:r>
            <a:endParaRPr lang="zh-TW" altLang="en-US" sz="2800">
              <a:solidFill>
                <a:schemeClr val="tx1"/>
              </a:solidFill>
            </a:endParaRPr>
          </a:p>
          <a:p>
            <a:r>
              <a:rPr lang="zh-TW" altLang="en-US" sz="2800">
                <a:solidFill>
                  <a:schemeClr val="tx1"/>
                </a:solidFill>
              </a:rPr>
              <a:t>如果要變更控制項找表單</a:t>
            </a:r>
            <a:endParaRPr lang="zh-TW" altLang="en-US" sz="2800">
              <a:solidFill>
                <a:schemeClr val="tx1"/>
              </a:solidFill>
            </a:endParaRPr>
          </a:p>
          <a:p>
            <a:r>
              <a:rPr lang="zh-TW" altLang="en-US" sz="2800">
                <a:solidFill>
                  <a:schemeClr val="tx1"/>
                </a:solidFill>
              </a:rPr>
              <a:t>將</a:t>
            </a:r>
            <a:r>
              <a:rPr lang="en-US" altLang="zh-TW" sz="2800">
                <a:solidFill>
                  <a:schemeClr val="tx1"/>
                </a:solidFill>
              </a:rPr>
              <a:t>ID</a:t>
            </a:r>
            <a:r>
              <a:rPr lang="zh-TW" altLang="en-US" sz="2800">
                <a:solidFill>
                  <a:schemeClr val="tx1"/>
                </a:solidFill>
              </a:rPr>
              <a:t>、繫結換掉</a:t>
            </a:r>
            <a:endParaRPr lang="zh-TW" altLang="en-US" sz="2800">
              <a:solidFill>
                <a:schemeClr val="tx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4940935"/>
            <a:ext cx="8799830" cy="132016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5" y="908685"/>
            <a:ext cx="3942715" cy="3961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dirty="0" smtClean="0"/>
              <a:t>管理程式差異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</p:nvPr>
        </p:nvGraphicFramePr>
        <p:xfrm>
          <a:off x="179705" y="4004310"/>
          <a:ext cx="8832850" cy="17849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89710"/>
                <a:gridCol w="3671570"/>
                <a:gridCol w="3671570"/>
              </a:tblGrid>
              <a:tr h="59499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表單管理程式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建檔管理程式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5949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SQL Table</a:t>
                      </a:r>
                      <a:endParaRPr lang="en-US" altLang="zh-TW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與表單吃同一張</a:t>
                      </a:r>
                      <a:r>
                        <a:rPr lang="en-US" altLang="zh-TW" sz="1400" dirty="0" smtClean="0"/>
                        <a:t>Table</a:t>
                      </a:r>
                      <a:endParaRPr lang="zh-TW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獨立一張</a:t>
                      </a:r>
                      <a:r>
                        <a:rPr lang="en-US" altLang="zh-TW" sz="1400" dirty="0" smtClean="0"/>
                        <a:t>Table</a:t>
                      </a:r>
                      <a:endParaRPr lang="zh-TW" altLang="en-US" sz="1400" dirty="0" smtClean="0"/>
                    </a:p>
                  </a:txBody>
                  <a:tcPr anchor="ctr"/>
                </a:tc>
              </a:tr>
              <a:tr h="5949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按鈕功能</a:t>
                      </a:r>
                      <a:endParaRPr lang="zh-TW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只能有查詢</a:t>
                      </a:r>
                      <a:endParaRPr lang="zh-TW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可以查詢、新增、修改、刪除</a:t>
                      </a:r>
                      <a:endParaRPr lang="zh-TW" altLang="en-US" sz="1400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graphicFrame>
        <p:nvGraphicFramePr>
          <p:cNvPr id="7" name="圓桌 6"/>
          <p:cNvGraphicFramePr>
            <a:graphicFrameLocks noGrp="1"/>
          </p:cNvGraphicFramePr>
          <p:nvPr/>
        </p:nvGraphicFramePr>
        <p:xfrm>
          <a:off x="179705" y="1700530"/>
          <a:ext cx="8855710" cy="20821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88365"/>
                <a:gridCol w="4486275"/>
                <a:gridCol w="3481070"/>
              </a:tblGrid>
              <a:tr h="610870">
                <a:tc>
                  <a:txBody>
                    <a:bodyPr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zh-TW" altLang="en-US" sz="2400" dirty="0" smtClean="0"/>
                        <a:t>表單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zh-TW" altLang="en-US" sz="2400" dirty="0" smtClean="0"/>
                        <a:t>管理程式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556895">
                <a:tc>
                  <a:txBody>
                    <a:bodyPr/>
                    <a:p>
                      <a:pPr algn="ctr"/>
                      <a:r>
                        <a:rPr lang="en-US" altLang="zh-TW" sz="1400" b="0">
                          <a:solidFill>
                            <a:schemeClr val="tx1"/>
                          </a:solidFill>
                          <a:sym typeface="+mn-ea"/>
                        </a:rPr>
                        <a:t>JS</a:t>
                      </a:r>
                      <a:r>
                        <a:rPr lang="zh-TW" altLang="en-US" sz="1400" b="0">
                          <a:solidFill>
                            <a:schemeClr val="tx1"/>
                          </a:solidFill>
                          <a:sym typeface="+mn-ea"/>
                        </a:rPr>
                        <a:t>欄位</a:t>
                      </a:r>
                      <a:r>
                        <a:rPr lang="en-US" altLang="zh-TW" sz="1400" b="0">
                          <a:solidFill>
                            <a:schemeClr val="tx1"/>
                          </a:solidFill>
                          <a:sym typeface="+mn-ea"/>
                        </a:rPr>
                        <a:t>ID</a:t>
                      </a:r>
                      <a:endParaRPr lang="en-US" altLang="zh-TW" sz="14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sz="1400" dirty="0" smtClean="0"/>
                        <a:t>MasterPage_MasterPageContent_</a:t>
                      </a:r>
                      <a:r>
                        <a:rPr lang="zh-TW" sz="1400" dirty="0" smtClean="0"/>
                        <a:t>欄位</a:t>
                      </a:r>
                      <a:r>
                        <a:rPr lang="en-US" altLang="zh-TW" sz="1400" dirty="0" smtClean="0"/>
                        <a:t>ID.txt</a:t>
                      </a:r>
                      <a:endParaRPr lang="en-US" altLang="zh-TW" sz="1400" dirty="0" smtClean="0"/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zh-TW" sz="1400" dirty="0" smtClean="0">
                          <a:sym typeface="+mn-ea"/>
                        </a:rPr>
                        <a:t>欄位</a:t>
                      </a:r>
                      <a:r>
                        <a:rPr lang="en-US" altLang="zh-TW" sz="1400" dirty="0" smtClean="0">
                          <a:sym typeface="+mn-ea"/>
                        </a:rPr>
                        <a:t>ID.txt</a:t>
                      </a:r>
                      <a:endParaRPr lang="zh-TW" altLang="en-US" sz="1400" dirty="0" smtClean="0">
                        <a:sym typeface="+mn-ea"/>
                      </a:endParaRP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sym typeface="+mn-ea"/>
                        </a:rPr>
                        <a:t>UniID</a:t>
                      </a:r>
                      <a:endParaRPr lang="en-US" altLang="zh-TW" sz="1400" b="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TW" sz="1400" dirty="0">
                          <a:latin typeface="Arial" charset="0"/>
                          <a:ea typeface="新細明體" pitchFamily="18" charset="-120"/>
                          <a:sym typeface="+mn-ea"/>
                        </a:rPr>
                        <a:t>document.getElementById(“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latin typeface="Arial" charset="0"/>
                          <a:ea typeface="新細明體" pitchFamily="18" charset="-120"/>
                          <a:sym typeface="+mn-ea"/>
                        </a:rPr>
                        <a:t>MasterPage_universalID</a:t>
                      </a:r>
                      <a:r>
                        <a:rPr lang="en-US" altLang="zh-TW" sz="1400" dirty="0">
                          <a:latin typeface="Arial" charset="0"/>
                          <a:ea typeface="新細明體" pitchFamily="18" charset="-120"/>
                          <a:sym typeface="+mn-ea"/>
                        </a:rPr>
                        <a:t>”).value</a:t>
                      </a:r>
                      <a:endParaRPr lang="en-US" altLang="zh-TW" sz="1400" dirty="0" smtClean="0">
                        <a:latin typeface="Arial" charset="0"/>
                        <a:ea typeface="新細明體" pitchFamily="18" charset="-120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TW" sz="1400" dirty="0">
                          <a:latin typeface="Arial" charset="0"/>
                          <a:ea typeface="新細明體" pitchFamily="18" charset="-120"/>
                          <a:sym typeface="+mn-ea"/>
                        </a:rPr>
                        <a:t>document.getElementById(“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latin typeface="Arial" charset="0"/>
                          <a:ea typeface="新細明體" pitchFamily="18" charset="-120"/>
                          <a:sym typeface="+mn-ea"/>
                        </a:rPr>
                        <a:t>universalID</a:t>
                      </a:r>
                      <a:r>
                        <a:rPr lang="en-US" altLang="zh-TW" sz="1400" dirty="0">
                          <a:latin typeface="Arial" charset="0"/>
                          <a:ea typeface="新細明體" pitchFamily="18" charset="-120"/>
                          <a:sym typeface="+mn-ea"/>
                        </a:rPr>
                        <a:t>”).value</a:t>
                      </a:r>
                      <a:endParaRPr lang="en-US" altLang="zh-TW" sz="1400" dirty="0">
                        <a:latin typeface="Arial" charset="0"/>
                        <a:ea typeface="新細明體" pitchFamily="18" charset="-120"/>
                        <a:sym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" y="476250"/>
            <a:ext cx="3148965" cy="549910"/>
          </a:xfrm>
        </p:spPr>
        <p:txBody>
          <a:bodyPr wrap="square"/>
          <a:lstStyle/>
          <a:p>
            <a:r>
              <a:rPr sz="2800" dirty="0">
                <a:solidFill>
                  <a:srgbClr val="FF0000"/>
                </a:solidFill>
                <a:sym typeface="+mn-ea"/>
              </a:rPr>
              <a:t>【</a:t>
            </a:r>
            <a:r>
              <a:rPr lang="en-US" altLang="zh-TW" sz="2800" dirty="0">
                <a:solidFill>
                  <a:srgbClr val="FF0000"/>
                </a:solidFill>
                <a:sym typeface="+mn-ea"/>
              </a:rPr>
              <a:t>DSCDataObj</a:t>
            </a:r>
            <a:r>
              <a:rPr sz="2800" dirty="0">
                <a:solidFill>
                  <a:srgbClr val="FF0000"/>
                </a:solidFill>
                <a:sym typeface="+mn-ea"/>
              </a:rPr>
              <a:t>】</a:t>
            </a:r>
            <a:endParaRPr sz="2800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323850" y="1196340"/>
            <a:ext cx="8702675" cy="4526280"/>
          </a:xfrm>
        </p:spPr>
        <p:txBody>
          <a:bodyPr/>
          <a:p>
            <a:pPr marL="0" lvl="0" indent="0" eaLnBrk="1" hangingPunct="1">
              <a:lnSpc>
                <a:spcPct val="150000"/>
              </a:lnSpc>
              <a:buClrTx/>
              <a:buFont typeface="+mj-lt"/>
              <a:buNone/>
            </a:pPr>
            <a:r>
              <a:rPr lang="en-US" altLang="zh-TW" sz="2000" dirty="0">
                <a:sym typeface="+mn-ea"/>
              </a:rPr>
              <a:t>1.</a:t>
            </a:r>
            <a:r>
              <a:rPr lang="zh-TW" altLang="en-US" sz="2000" dirty="0">
                <a:sym typeface="+mn-ea"/>
              </a:rPr>
              <a:t>取得某單身的資料</a:t>
            </a: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masterObj.DetailObjs[0]</a:t>
            </a:r>
            <a:r>
              <a:rPr lang="zh-TW" altLang="en-US" sz="2000" dirty="0">
                <a:latin typeface="Arial" charset="0"/>
                <a:ea typeface="新細明體" pitchFamily="18" charset="-120"/>
                <a:sym typeface="+mn-ea"/>
              </a:rPr>
              <a:t> </a:t>
            </a: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//index</a:t>
            </a:r>
            <a:r>
              <a:rPr lang="zh-TW" altLang="en-US" sz="2000" dirty="0">
                <a:latin typeface="Arial" charset="0"/>
                <a:ea typeface="新細明體" pitchFamily="18" charset="-120"/>
                <a:sym typeface="+mn-ea"/>
              </a:rPr>
              <a:t>從</a:t>
            </a: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0</a:t>
            </a:r>
            <a:r>
              <a:rPr lang="zh-TW" altLang="en-US" sz="2000" dirty="0">
                <a:latin typeface="Arial" charset="0"/>
                <a:ea typeface="新細明體" pitchFamily="18" charset="-120"/>
                <a:sym typeface="+mn-ea"/>
              </a:rPr>
              <a:t>開始</a:t>
            </a:r>
            <a:endParaRPr lang="en-US" altLang="zh-TW" sz="2000" dirty="0">
              <a:latin typeface="Arial" charset="0"/>
              <a:ea typeface="新細明體" pitchFamily="18" charset="-120"/>
            </a:endParaRPr>
          </a:p>
          <a:p>
            <a:pPr marL="0" lvl="0" indent="0" eaLnBrk="1" hangingPunct="1">
              <a:lnSpc>
                <a:spcPct val="150000"/>
              </a:lnSpc>
              <a:buClrTx/>
              <a:buFont typeface="+mj-lt"/>
              <a:buNone/>
            </a:pPr>
            <a:r>
              <a:rPr lang="en-US" altLang="zh-TW" sz="2000" dirty="0">
                <a:sym typeface="+mn-ea"/>
              </a:rPr>
              <a:t>2.</a:t>
            </a:r>
            <a:r>
              <a:rPr lang="zh-TW" altLang="en-US" sz="2000" dirty="0">
                <a:sym typeface="+mn-ea"/>
              </a:rPr>
              <a:t>取得某單身資料的資料列</a:t>
            </a:r>
            <a:endParaRPr lang="en-US" altLang="zh-TW" sz="2000" dirty="0">
              <a:latin typeface="微軟正黑體" pitchFamily="34" charset="-120"/>
              <a:ea typeface="微軟正黑體" pitchFamily="34" charset="-120"/>
            </a:endParaRP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masterObj.DetailObjs[0].NewRows  //</a:t>
            </a:r>
            <a:r>
              <a:rPr lang="zh-TW" altLang="en-US" sz="2000" dirty="0">
                <a:latin typeface="Arial" charset="0"/>
                <a:ea typeface="新細明體" pitchFamily="18" charset="-120"/>
                <a:sym typeface="+mn-ea"/>
              </a:rPr>
              <a:t>目前新增的資料列，尚未更新到資料庫</a:t>
            </a:r>
            <a:endParaRPr lang="en-US" altLang="zh-TW" sz="2000" dirty="0">
              <a:latin typeface="Arial" charset="0"/>
              <a:ea typeface="新細明體" pitchFamily="18" charset="-120"/>
            </a:endParaRP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masterObj.DetailObjs[0].Rows          //</a:t>
            </a:r>
            <a:r>
              <a:rPr lang="zh-TW" altLang="en-US" sz="2000" dirty="0">
                <a:latin typeface="Arial" charset="0"/>
                <a:ea typeface="新細明體" pitchFamily="18" charset="-120"/>
                <a:sym typeface="+mn-ea"/>
              </a:rPr>
              <a:t>已存在資料庫的資料列</a:t>
            </a:r>
            <a:endParaRPr lang="en-US" altLang="zh-TW" sz="2000" dirty="0">
              <a:latin typeface="Arial" charset="0"/>
              <a:ea typeface="新細明體" pitchFamily="18" charset="-120"/>
            </a:endParaRP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US" altLang="zh-TW" sz="2000" dirty="0">
                <a:sym typeface="+mn-ea"/>
              </a:rPr>
              <a:t>3.</a:t>
            </a:r>
            <a:r>
              <a:rPr lang="zh-TW" altLang="en-US" sz="2000" dirty="0">
                <a:sym typeface="+mn-ea"/>
              </a:rPr>
              <a:t>取得某單身資料某資料列的欄位值</a:t>
            </a:r>
            <a:endParaRPr lang="en-US" altLang="zh-TW" sz="2000" dirty="0">
              <a:latin typeface="微軟正黑體" pitchFamily="34" charset="-120"/>
              <a:ea typeface="微軟正黑體" pitchFamily="34" charset="-120"/>
            </a:endParaRP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masterObj.DetailObjs[0].NewRows[0][“Name”].Value //</a:t>
            </a:r>
            <a:r>
              <a:rPr lang="zh-TW" altLang="en-US" sz="2000" dirty="0">
                <a:latin typeface="Arial" charset="0"/>
                <a:ea typeface="新細明體" pitchFamily="18" charset="-120"/>
                <a:sym typeface="+mn-ea"/>
              </a:rPr>
              <a:t>型態是</a:t>
            </a: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object</a:t>
            </a:r>
            <a:endParaRPr lang="en-US" altLang="zh-TW" sz="2000" dirty="0">
              <a:latin typeface="Arial" charset="0"/>
              <a:ea typeface="新細明體" pitchFamily="18" charset="-120"/>
              <a:sym typeface="+mn-ea"/>
            </a:endParaRP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masterObj.DetailObjs[0].Rows[0][“Name”].Value //</a:t>
            </a:r>
            <a:r>
              <a:rPr lang="zh-TW" altLang="en-US" sz="2000" dirty="0">
                <a:latin typeface="Arial" charset="0"/>
                <a:ea typeface="新細明體" pitchFamily="18" charset="-120"/>
                <a:sym typeface="+mn-ea"/>
              </a:rPr>
              <a:t>型態是</a:t>
            </a:r>
            <a:r>
              <a:rPr lang="en-US" altLang="zh-TW" sz="2000" dirty="0">
                <a:latin typeface="Arial" charset="0"/>
                <a:ea typeface="新細明體" pitchFamily="18" charset="-120"/>
                <a:sym typeface="+mn-ea"/>
              </a:rPr>
              <a:t>object</a:t>
            </a:r>
            <a:endParaRPr lang="zh-TW" altLang="en-US" sz="2000"/>
          </a:p>
          <a:p>
            <a:pPr marL="0" lvl="0" indent="0" eaLnBrk="1" hangingPunct="1">
              <a:lnSpc>
                <a:spcPct val="150000"/>
              </a:lnSpc>
              <a:buNone/>
            </a:pPr>
            <a:endParaRPr lang="zh-TW" altLang="en-US" sz="200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管理程式五大狀態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323820" y="1988810"/>
          <a:ext cx="8472519" cy="2712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28695"/>
                <a:gridCol w="3429024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kern="1200" dirty="0" smtClean="0"/>
                        <a:t>類型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kern="1200" dirty="0" smtClean="0"/>
                        <a:t>狀態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kern="1200" dirty="0" smtClean="0"/>
                        <a:t>說明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smtClean="0"/>
                        <a:t>Type2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/>
                        <a:t>ACT_DEFAULT_BLANK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/>
                        <a:t>點選作業後的預設畫面，所有控制項唯獨。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/>
                        <a:t>ACT_QBE_BTN_PRESSED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/>
                        <a:t>點選放大鏡查詢後的畫面。</a:t>
                      </a:r>
                      <a:endParaRPr lang="zh-TW" sz="1600" kern="10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/>
                        <a:t>ACT_ONE_ROW_OF_QBE_GRID_CLICKED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/>
                        <a:t>點選某一筆查詢結果的畫面。</a:t>
                      </a:r>
                      <a:endParaRPr lang="zh-TW" sz="1600" kern="10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/>
                        <a:t>ACT_MODIFY_BTN_PRESSED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/>
                        <a:t>按下單頭編輯按鈕後的畫面。</a:t>
                      </a:r>
                      <a:endParaRPr lang="zh-TW" sz="1600" kern="10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/>
                        <a:t>ACT_NEW_BTN_PRESSED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/>
                        <a:t>按下單頭新增按鈕後的畫面。</a:t>
                      </a:r>
                      <a:endParaRPr lang="zh-TW" sz="1600" kern="10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/>
                        <a:t>ACT_SAVE2_BTN_PRESSED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EF</a:t>
                      </a:r>
                      <a:r>
                        <a:rPr lang="zh-TW" sz="1600" kern="100" dirty="0"/>
                        <a:t>管理程式無此狀態。</a:t>
                      </a:r>
                      <a:endParaRPr lang="zh-TW" sz="1600" kern="100" dirty="0">
                        <a:latin typeface="Times New Roman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7" name="文字方塊 6"/>
          <p:cNvSpPr txBox="1"/>
          <p:nvPr/>
        </p:nvSpPr>
        <p:spPr>
          <a:xfrm>
            <a:off x="107919" y="1556372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【</a:t>
            </a:r>
            <a:r>
              <a:rPr lang="zh-TW" altLang="en-US" sz="2000" b="1" dirty="0" smtClean="0">
                <a:solidFill>
                  <a:srgbClr val="FF0000"/>
                </a:solidFill>
              </a:rPr>
              <a:t>狀態說明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】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	</a:t>
            </a:r>
            <a:endParaRPr lang="zh-TW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540039" y="1629077"/>
            <a:ext cx="8229600" cy="3920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214282" y="642918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【</a:t>
            </a:r>
            <a:r>
              <a:rPr lang="en-US" sz="2000" b="1" kern="0" dirty="0" smtClean="0">
                <a:solidFill>
                  <a:srgbClr val="FF0000"/>
                </a:solidFill>
                <a:latin typeface="細明體"/>
                <a:ea typeface="新細明體"/>
                <a:cs typeface="Times New Roman"/>
              </a:rPr>
              <a:t> ACT_DEFAULT_BLANK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】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539721" y="1772269"/>
            <a:ext cx="8229600" cy="2922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214282" y="642918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【</a:t>
            </a:r>
            <a:r>
              <a:rPr lang="en-US" sz="2000" b="1" kern="0" dirty="0" smtClean="0">
                <a:solidFill>
                  <a:srgbClr val="FF0000"/>
                </a:solidFill>
                <a:latin typeface="細明體"/>
                <a:ea typeface="新細明體"/>
                <a:cs typeface="Times New Roman"/>
              </a:rPr>
              <a:t> ACT_QBE_BTN_PRESSED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】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395893" y="1629077"/>
            <a:ext cx="8229600" cy="4176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214282" y="642918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【</a:t>
            </a:r>
            <a:r>
              <a:rPr lang="en-US" sz="2000" b="1" kern="0" dirty="0" smtClean="0">
                <a:solidFill>
                  <a:srgbClr val="FF0000"/>
                </a:solidFill>
                <a:latin typeface="細明體"/>
                <a:ea typeface="新細明體"/>
                <a:cs typeface="Times New Roman"/>
              </a:rPr>
              <a:t> ACT_ONE_ROW_OF_QBE_GRID_CLICKED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】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395893" y="1629077"/>
            <a:ext cx="8229600" cy="4083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214282" y="642918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【</a:t>
            </a:r>
            <a:r>
              <a:rPr lang="en-US" sz="2000" b="1" kern="0" dirty="0" smtClean="0">
                <a:solidFill>
                  <a:srgbClr val="FF0000"/>
                </a:solidFill>
                <a:latin typeface="細明體"/>
                <a:ea typeface="新細明體"/>
                <a:cs typeface="Times New Roman"/>
              </a:rPr>
              <a:t> ACT_MODIFY_BTN_PRESSED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】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468283" y="1556686"/>
            <a:ext cx="8229600" cy="4349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214282" y="642918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【</a:t>
            </a:r>
            <a:r>
              <a:rPr lang="en-US" sz="2000" b="1" kern="0" dirty="0" smtClean="0">
                <a:solidFill>
                  <a:srgbClr val="FF0000"/>
                </a:solidFill>
                <a:latin typeface="細明體"/>
                <a:ea typeface="新細明體"/>
                <a:cs typeface="Times New Roman"/>
              </a:rPr>
              <a:t> ACT_NEW_BTN_PRESSED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】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80720"/>
          </a:xfrm>
        </p:spPr>
        <p:txBody>
          <a:bodyPr/>
          <a:lstStyle/>
          <a:p>
            <a:r>
              <a:rPr altLang="en-US" dirty="0" smtClean="0"/>
              <a:t>如何取得管理程式狀態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4525963"/>
          </a:xfrm>
        </p:spPr>
        <p:txBody>
          <a:bodyPr/>
          <a:lstStyle/>
          <a:p>
            <a:pPr lvl="0"/>
            <a:r>
              <a:rPr lang="en-US" sz="1800" dirty="0" err="1" smtClean="0"/>
              <a:t>EasyFlow</a:t>
            </a:r>
            <a:r>
              <a:rPr lang="en-US" sz="1800" dirty="0" smtClean="0"/>
              <a:t> 3X</a:t>
            </a:r>
            <a:r>
              <a:rPr lang="zh-TW" altLang="en-US" sz="1800" dirty="0" smtClean="0"/>
              <a:t>的管理程式為</a:t>
            </a:r>
            <a:r>
              <a:rPr lang="en-US" sz="1800" dirty="0" smtClean="0"/>
              <a:t>Type2</a:t>
            </a:r>
            <a:r>
              <a:rPr lang="zh-TW" altLang="en-US" sz="1800" dirty="0" smtClean="0"/>
              <a:t>類型</a:t>
            </a:r>
            <a:br>
              <a:rPr lang="en-US" sz="1800" dirty="0" smtClean="0"/>
            </a:br>
            <a:r>
              <a:rPr lang="zh-TW" altLang="en-US" sz="1800" dirty="0" smtClean="0"/>
              <a:t>狀態取得方式有兩種</a:t>
            </a:r>
            <a:br>
              <a:rPr lang="en-US" sz="1800" dirty="0" smtClean="0"/>
            </a:br>
            <a:r>
              <a:rPr lang="en-US" sz="1800" dirty="0" smtClean="0"/>
              <a:t>1.  </a:t>
            </a:r>
            <a:r>
              <a:rPr lang="en-US" sz="1800" dirty="0" err="1" smtClean="0"/>
              <a:t>base._action</a:t>
            </a:r>
            <a:endParaRPr lang="zh-TW" altLang="en-US" sz="1800" dirty="0" smtClean="0"/>
          </a:p>
          <a:p>
            <a:r>
              <a:rPr lang="en-US" sz="1800" dirty="0" smtClean="0"/>
              <a:t>2.  </a:t>
            </a:r>
            <a:r>
              <a:rPr lang="en-US" sz="1800" dirty="0" err="1" smtClean="0"/>
              <a:t>DscSession</a:t>
            </a:r>
            <a:r>
              <a:rPr lang="en-US" sz="1800" dirty="0" smtClean="0"/>
              <a:t>[</a:t>
            </a:r>
            <a:r>
              <a:rPr lang="en-US" sz="1800" dirty="0" err="1" smtClean="0"/>
              <a:t>TaskId</a:t>
            </a:r>
            <a:r>
              <a:rPr lang="en-US" sz="1800" dirty="0" smtClean="0"/>
              <a:t> + "_action"].</a:t>
            </a:r>
            <a:r>
              <a:rPr lang="en-US" sz="1800" dirty="0" err="1" smtClean="0"/>
              <a:t>ToString</a:t>
            </a:r>
            <a:r>
              <a:rPr lang="en-US" sz="1800" dirty="0" smtClean="0"/>
              <a:t>()</a:t>
            </a:r>
            <a:r>
              <a:rPr lang="zh-TW" altLang="en-US" sz="1800" dirty="0" smtClean="0"/>
              <a:t>型態皆為</a:t>
            </a:r>
            <a:r>
              <a:rPr lang="en-US" sz="1800" dirty="0" smtClean="0"/>
              <a:t>String</a:t>
            </a:r>
            <a:r>
              <a:rPr lang="zh-TW" altLang="en-US" sz="1800" dirty="0" smtClean="0"/>
              <a:t>，需注意在</a:t>
            </a:r>
            <a:r>
              <a:rPr lang="en-US" sz="1800" dirty="0" err="1" smtClean="0"/>
              <a:t>Page_Load</a:t>
            </a:r>
            <a:r>
              <a:rPr lang="zh-TW" altLang="en-US" sz="1800" dirty="0" smtClean="0"/>
              <a:t>中皆未初始化，應寫在 </a:t>
            </a:r>
            <a:r>
              <a:rPr lang="en-US" sz="1800" dirty="0" smtClean="0"/>
              <a:t>_</a:t>
            </a:r>
            <a:r>
              <a:rPr lang="en-US" sz="1800" dirty="0" err="1" smtClean="0"/>
              <a:t>Page_PreRender</a:t>
            </a:r>
            <a:r>
              <a:rPr lang="zh-TW" altLang="en-US" sz="1800" dirty="0" smtClean="0"/>
              <a:t>中。</a:t>
            </a:r>
            <a:endParaRPr lang="zh-TW" altLang="en-US" sz="1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24138" y="2708906"/>
            <a:ext cx="8286808" cy="393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protected override void </a:t>
            </a:r>
            <a:r>
              <a:rPr lang="en-US" altLang="zh-TW" dirty="0" smtClean="0">
                <a:solidFill>
                  <a:srgbClr val="FF0000"/>
                </a:solidFill>
              </a:rPr>
              <a:t>_</a:t>
            </a:r>
            <a:r>
              <a:rPr lang="en-US" altLang="zh-TW" dirty="0" err="1" smtClean="0">
                <a:solidFill>
                  <a:srgbClr val="FF0000"/>
                </a:solidFill>
              </a:rPr>
              <a:t>Page_PreRender</a:t>
            </a:r>
            <a:r>
              <a:rPr lang="en-US" altLang="zh-TW" dirty="0" smtClean="0"/>
              <a:t>(object sender, </a:t>
            </a:r>
            <a:r>
              <a:rPr lang="en-US" altLang="zh-TW" dirty="0" err="1" smtClean="0"/>
              <a:t>System.EventArgs</a:t>
            </a:r>
            <a:r>
              <a:rPr lang="en-US" altLang="zh-TW" dirty="0" smtClean="0"/>
              <a:t> e)</a:t>
            </a:r>
            <a:endParaRPr lang="en-US" altLang="zh-TW" dirty="0" smtClean="0"/>
          </a:p>
          <a:p>
            <a:r>
              <a:rPr lang="en-US" altLang="zh-TW" dirty="0" smtClean="0"/>
              <a:t>{</a:t>
            </a:r>
            <a:endParaRPr lang="en-US" altLang="zh-TW" dirty="0" smtClean="0"/>
          </a:p>
          <a:p>
            <a:r>
              <a:rPr lang="en-US" altLang="zh-TW" dirty="0" smtClean="0"/>
              <a:t>      if(</a:t>
            </a:r>
            <a:r>
              <a:rPr lang="en-US" altLang="zh-TW" dirty="0" err="1" smtClean="0"/>
              <a:t>DscSession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TaskId</a:t>
            </a:r>
            <a:r>
              <a:rPr lang="en-US" altLang="zh-TW" dirty="0" smtClean="0"/>
              <a:t>+”_action”] != null)</a:t>
            </a:r>
            <a:endParaRPr lang="en-US" altLang="zh-TW" dirty="0" smtClean="0"/>
          </a:p>
          <a:p>
            <a:r>
              <a:rPr lang="en-US" altLang="zh-TW" dirty="0" smtClean="0"/>
              <a:t>      {</a:t>
            </a:r>
            <a:endParaRPr lang="en-US" altLang="zh-TW" dirty="0" smtClean="0"/>
          </a:p>
          <a:p>
            <a:r>
              <a:rPr lang="en-US" altLang="zh-TW" dirty="0" smtClean="0"/>
              <a:t>              string action=</a:t>
            </a:r>
            <a:r>
              <a:rPr lang="en-US" altLang="zh-TW" dirty="0" err="1" smtClean="0"/>
              <a:t>DscSession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TasKId</a:t>
            </a:r>
            <a:r>
              <a:rPr lang="en-US" altLang="zh-TW" dirty="0" smtClean="0"/>
              <a:t>+”_action”].</a:t>
            </a:r>
            <a:r>
              <a:rPr lang="en-US" altLang="zh-TW" dirty="0" err="1" smtClean="0"/>
              <a:t>ToString</a:t>
            </a:r>
            <a:r>
              <a:rPr lang="en-US" altLang="zh-TW" dirty="0" smtClean="0"/>
              <a:t>();</a:t>
            </a:r>
            <a:endParaRPr lang="en-US" altLang="zh-TW" dirty="0" smtClean="0"/>
          </a:p>
          <a:p>
            <a:r>
              <a:rPr lang="en-US" altLang="zh-TW" dirty="0" smtClean="0"/>
              <a:t>               </a:t>
            </a:r>
            <a:r>
              <a:rPr lang="en-US" altLang="zh-TW" dirty="0" smtClean="0">
                <a:solidFill>
                  <a:srgbClr val="00B050"/>
                </a:solidFill>
              </a:rPr>
              <a:t>//string action=</a:t>
            </a:r>
            <a:r>
              <a:rPr lang="en-US" altLang="zh-TW" dirty="0" err="1" smtClean="0">
                <a:solidFill>
                  <a:srgbClr val="00B050"/>
                </a:solidFill>
              </a:rPr>
              <a:t>base._action</a:t>
            </a:r>
            <a:r>
              <a:rPr lang="en-US" altLang="zh-TW" dirty="0" smtClean="0">
                <a:solidFill>
                  <a:srgbClr val="00B050"/>
                </a:solidFill>
              </a:rPr>
              <a:t>;  </a:t>
            </a:r>
            <a:r>
              <a:rPr lang="zh-TW" altLang="en-US" dirty="0" smtClean="0">
                <a:solidFill>
                  <a:srgbClr val="00B050"/>
                </a:solidFill>
              </a:rPr>
              <a:t>第二種取法</a:t>
            </a:r>
            <a:endParaRPr lang="en-US" altLang="zh-TW" dirty="0" smtClean="0">
              <a:solidFill>
                <a:srgbClr val="00B050"/>
              </a:solidFill>
            </a:endParaRPr>
          </a:p>
          <a:p>
            <a:r>
              <a:rPr lang="en-US" altLang="zh-TW" dirty="0" smtClean="0"/>
              <a:t>	if(action==</a:t>
            </a:r>
            <a:r>
              <a:rPr lang="en-US" altLang="zh-TW" dirty="0" err="1" smtClean="0"/>
              <a:t>base.ACT_DEFAULT_BLANK</a:t>
            </a:r>
            <a:r>
              <a:rPr lang="en-US" altLang="zh-TW" dirty="0" smtClean="0"/>
              <a:t>){}</a:t>
            </a:r>
            <a:endParaRPr lang="en-US" altLang="zh-TW" dirty="0" smtClean="0"/>
          </a:p>
          <a:p>
            <a:r>
              <a:rPr lang="en-US" altLang="zh-TW" dirty="0" smtClean="0"/>
              <a:t>               else if(action==base. ACT_QBE_BTN_PRESSED){}</a:t>
            </a:r>
            <a:endParaRPr lang="en-US" altLang="zh-TW" dirty="0" smtClean="0"/>
          </a:p>
          <a:p>
            <a:r>
              <a:rPr lang="en-US" altLang="zh-TW" dirty="0" smtClean="0"/>
              <a:t>	else if(action==base. ACT_ONE_ROW_OF_QBE_GRID_CLICKED){}</a:t>
            </a:r>
            <a:endParaRPr lang="en-US" altLang="zh-TW" dirty="0" smtClean="0"/>
          </a:p>
          <a:p>
            <a:r>
              <a:rPr lang="en-US" altLang="zh-TW" dirty="0" smtClean="0"/>
              <a:t> 	else if(action==base. ACT_MODIFY_BTN_PRESSED){}</a:t>
            </a:r>
            <a:endParaRPr lang="en-US" altLang="zh-TW" dirty="0" smtClean="0"/>
          </a:p>
          <a:p>
            <a:r>
              <a:rPr lang="en-US" altLang="zh-TW" dirty="0" smtClean="0"/>
              <a:t> 	else if(action==base. ACT_NEW_BTN_PRESSED){}</a:t>
            </a:r>
            <a:endParaRPr lang="en-US" altLang="zh-TW" dirty="0" smtClean="0"/>
          </a:p>
          <a:p>
            <a:r>
              <a:rPr lang="en-US" altLang="zh-TW" dirty="0" smtClean="0"/>
              <a:t>       }</a:t>
            </a:r>
            <a:endParaRPr lang="en-US" altLang="zh-TW" dirty="0" smtClean="0"/>
          </a:p>
          <a:p>
            <a:r>
              <a:rPr lang="en-US" altLang="zh-TW" dirty="0" smtClean="0"/>
              <a:t>}</a:t>
            </a:r>
            <a:endParaRPr lang="en-US" altLang="zh-TW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_</a:t>
            </a:r>
            <a:r>
              <a:rPr lang="en-US" dirty="0" err="1" smtClean="0">
                <a:solidFill>
                  <a:srgbClr val="FF0000"/>
                </a:solidFill>
              </a:rPr>
              <a:t>Page_PreRender</a:t>
            </a:r>
            <a:r>
              <a:rPr lang="zh-TW" altLang="en-US" dirty="0" smtClean="0">
                <a:solidFill>
                  <a:srgbClr val="FF0000"/>
                </a:solidFill>
              </a:rPr>
              <a:t>中才會有值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67360" y="620395"/>
            <a:ext cx="5483860" cy="680720"/>
          </a:xfrm>
        </p:spPr>
        <p:txBody>
          <a:bodyPr wrap="square"/>
          <a:lstStyle/>
          <a:p>
            <a:r>
              <a:rPr lang="zh-TW" altLang="en-US" dirty="0"/>
              <a:t>欄位控制判斷狀態不可異動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 dirty="0"/>
          </a:p>
        </p:txBody>
      </p:sp>
      <p:pic>
        <p:nvPicPr>
          <p:cNvPr id="3" name="內容版面配置區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1460" y="1268730"/>
            <a:ext cx="5562600" cy="2857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4220845"/>
            <a:ext cx="5553075" cy="16510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rcRect l="7037"/>
          <a:stretch>
            <a:fillRect/>
          </a:stretch>
        </p:blipFill>
        <p:spPr>
          <a:xfrm>
            <a:off x="3996055" y="4940935"/>
            <a:ext cx="5108575" cy="1743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2">
                  <a:lumMod val="60000"/>
                  <a:lumOff val="40000"/>
                </a:schemeClr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註冊</a:t>
            </a:r>
            <a:r>
              <a:rPr sz="2400">
                <a:latin typeface="微軟正黑體" charset="0"/>
                <a:ea typeface="微軟正黑體" charset="0"/>
                <a:sym typeface="+mn-ea"/>
              </a:rPr>
              <a:t>按鈕</a:t>
            </a:r>
            <a:r>
              <a:rPr sz="2400"/>
              <a:t>事件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467995" y="1340485"/>
            <a:ext cx="7263130" cy="17583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ClrTx/>
              <a:buFont typeface="Wingdings" charset="0"/>
              <a:buChar char="l"/>
            </a:pP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在</a:t>
            </a:r>
            <a:r>
              <a:rPr lang="en-US" altLang="zh-TW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_page_pender</a:t>
            </a: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下註冊按鈕事件</a:t>
            </a:r>
            <a:endParaRPr lang="zh-TW" altLang="en-US" sz="18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285750" indent="-285750">
              <a:buClrTx/>
              <a:buFont typeface="Wingdings" charset="0"/>
              <a:buChar char="l"/>
            </a:pPr>
            <a:endParaRPr lang="zh-TW" altLang="en-US" sz="18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0" indent="0">
              <a:buClrTx/>
              <a:buFont typeface="Wingdings" charset="0"/>
              <a:buNone/>
            </a:pPr>
            <a:r>
              <a:rPr lang="zh-TW" altLang="en-US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已</a:t>
            </a:r>
            <a:r>
              <a:rPr lang="en-US" altLang="zh-TW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BtnDelete</a:t>
            </a:r>
            <a:r>
              <a:rPr lang="zh-TW" altLang="en-US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為例</a:t>
            </a:r>
            <a:endParaRPr lang="zh-TW" altLang="en-US" sz="1800" b="1">
              <a:solidFill>
                <a:srgbClr val="FF0000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0" indent="0">
              <a:buClrTx/>
              <a:buFont typeface="Wingdings" charset="0"/>
              <a:buNone/>
            </a:pPr>
            <a:r>
              <a:rPr lang="zh-TW" altLang="en-US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為防止蓋掉按鈕原有的事件，故會先</a:t>
            </a:r>
            <a:r>
              <a:rPr lang="en-US" altLang="zh-TW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base._BtnDelete.Attributes[“onclick”]</a:t>
            </a:r>
            <a:r>
              <a:rPr lang="zh-TW" altLang="en-US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取得原有事件，再加上新增的事件</a:t>
            </a:r>
            <a:endParaRPr lang="zh-TW" altLang="en-US" sz="1800" b="1">
              <a:solidFill>
                <a:srgbClr val="FF0000"/>
              </a:solidFill>
              <a:latin typeface="微軟正黑體" charset="0"/>
              <a:ea typeface="微軟正黑體" charset="0"/>
              <a:sym typeface="+mn-ea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3140710"/>
            <a:ext cx="7533640" cy="175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[isDeleted</a:t>
            </a:r>
            <a:r>
              <a:rPr sz="2400"/>
              <a:t>狀態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文字方塊 5"/>
          <p:cNvSpPr txBox="1"/>
          <p:nvPr/>
        </p:nvSpPr>
        <p:spPr>
          <a:xfrm>
            <a:off x="539750" y="1269365"/>
            <a:ext cx="7679690" cy="935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ClrTx/>
              <a:buFont typeface="Wingdings" charset="0"/>
              <a:buChar char="l"/>
            </a:pPr>
            <a:r>
              <a:rPr lang="zh-TW" altLang="en-US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已存在資料庫單身資料，再做單身刪除動作時，並非直接刪除該筆資料，而是先將該筆資料的</a:t>
            </a:r>
            <a:r>
              <a:rPr lang="en-US" altLang="zh-TW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isDeleted</a:t>
            </a:r>
            <a:r>
              <a:rPr lang="zh-TW" altLang="en-US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狀態改為</a:t>
            </a:r>
            <a:r>
              <a:rPr lang="en-US" altLang="zh-TW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true</a:t>
            </a:r>
            <a:r>
              <a:rPr lang="zh-TW" altLang="en-US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，故若有做資料檢查，需排除已刪除資料。</a:t>
            </a:r>
            <a:endParaRPr lang="zh-TW" altLang="en-US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1"/>
          <a:srcRect b="54536"/>
          <a:stretch>
            <a:fillRect/>
          </a:stretch>
        </p:blipFill>
        <p:spPr>
          <a:xfrm>
            <a:off x="683260" y="3141345"/>
            <a:ext cx="7665085" cy="28130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666750" y="2687955"/>
            <a:ext cx="767969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※刪除</a:t>
            </a:r>
            <a:r>
              <a:rPr lang="zh-TW" altLang="en-US" sz="1800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的資料</a:t>
            </a:r>
            <a:r>
              <a:rPr lang="en-US" altLang="zh-TW" sz="1800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isDel</a:t>
            </a:r>
            <a:r>
              <a:rPr lang="en-US" altLang="zh-TW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eted</a:t>
            </a:r>
            <a:r>
              <a:rPr lang="zh-TW" altLang="en-US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狀態為</a:t>
            </a:r>
            <a:r>
              <a:rPr lang="en-US" altLang="zh-TW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true</a:t>
            </a:r>
            <a:endParaRPr lang="en-US" altLang="zh-TW" b="1">
              <a:solidFill>
                <a:srgbClr val="FF0000"/>
              </a:solidFill>
              <a:latin typeface="SimSun" charset="0"/>
              <a:ea typeface="SimSun" charset="0"/>
              <a:sym typeface="+mn-ea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364355"/>
            <a:ext cx="6095365" cy="1521460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793750" y="3891280"/>
            <a:ext cx="767969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※只找</a:t>
            </a:r>
            <a:r>
              <a:rPr lang="en-US" altLang="zh-TW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IsDeleted</a:t>
            </a:r>
            <a:r>
              <a:rPr lang="zh-TW" altLang="en-US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狀態為</a:t>
            </a:r>
            <a:r>
              <a:rPr lang="en-US" altLang="zh-TW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false</a:t>
            </a:r>
            <a:r>
              <a:rPr lang="zh-TW" altLang="en-US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的單身資料</a:t>
            </a:r>
            <a:r>
              <a:rPr lang="en-US" altLang="zh-TW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(</a:t>
            </a:r>
            <a:r>
              <a:rPr lang="zh-TW" altLang="en-US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未被刪除資料</a:t>
            </a:r>
            <a:r>
              <a:rPr lang="en-US" altLang="zh-TW" b="1">
                <a:solidFill>
                  <a:srgbClr val="FF0000"/>
                </a:solidFill>
                <a:latin typeface="SimSun" charset="0"/>
                <a:ea typeface="SimSun" charset="0"/>
                <a:sym typeface="+mn-ea"/>
              </a:rPr>
              <a:t>)</a:t>
            </a:r>
            <a:endParaRPr lang="en-US" altLang="zh-TW" b="1">
              <a:solidFill>
                <a:srgbClr val="FF0000"/>
              </a:solidFill>
              <a:latin typeface="SimSun" charset="0"/>
              <a:ea typeface="SimSun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80720"/>
          </a:xfrm>
        </p:spPr>
        <p:txBody>
          <a:bodyPr/>
          <a:p>
            <a:pPr algn="l"/>
            <a:r>
              <a:rPr altLang="zh-TW"/>
              <a:t>單頭欄位預設值</a:t>
            </a:r>
            <a:endParaRPr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9" name="內容版面配置區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1460" y="1844675"/>
            <a:ext cx="7611110" cy="119888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85" y="3644900"/>
            <a:ext cx="7114540" cy="2124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395789" y="548933"/>
            <a:ext cx="8208912" cy="680720"/>
          </a:xfrm>
        </p:spPr>
        <p:txBody>
          <a:bodyPr/>
          <a:p>
            <a:pPr algn="l"/>
            <a:r>
              <a:rPr lang="zh-TW" altLang="en-US"/>
              <a:t>單身欄位預設值</a:t>
            </a:r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4292600"/>
            <a:ext cx="8545195" cy="212280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1196340"/>
            <a:ext cx="6800215" cy="2942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80720"/>
          </a:xfrm>
        </p:spPr>
        <p:txBody>
          <a:bodyPr/>
          <a:p>
            <a:pPr algn="l"/>
            <a:r>
              <a:rPr lang="en-US" altLang="zh-TW"/>
              <a:t>[QBE-</a:t>
            </a:r>
            <a:r>
              <a:t>一般選項</a:t>
            </a:r>
            <a:r>
              <a:rPr lang="en-US" altLang="zh-TW"/>
              <a:t>]</a:t>
            </a:r>
            <a:endParaRPr lang="en-US" altLang="zh-TW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3" name="內容版面配置區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9750" y="1340485"/>
            <a:ext cx="3977640" cy="4526280"/>
          </a:xfrm>
          <a:prstGeom prst="rect">
            <a:avLst/>
          </a:prstGeom>
        </p:spPr>
      </p:pic>
      <p:pic>
        <p:nvPicPr>
          <p:cNvPr id="9" name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1772285"/>
            <a:ext cx="3986530" cy="4526280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764540"/>
            <a:ext cx="3066415" cy="514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477178"/>
            <a:ext cx="8208912" cy="680720"/>
          </a:xfrm>
        </p:spPr>
        <p:txBody>
          <a:bodyPr/>
          <a:p>
            <a:pPr algn="l"/>
            <a:r>
              <a:rPr lang="en-US" altLang="zh-TW">
                <a:sym typeface="+mn-ea"/>
              </a:rPr>
              <a:t>[QBE-</a:t>
            </a:r>
            <a:r>
              <a:rPr>
                <a:sym typeface="+mn-ea"/>
              </a:rPr>
              <a:t>一般選項</a:t>
            </a:r>
            <a:r>
              <a:rPr lang="en-US" altLang="zh-TW">
                <a:sym typeface="+mn-ea"/>
              </a:rPr>
              <a:t>]</a:t>
            </a:r>
            <a:endParaRPr sz="2400">
              <a:sym typeface="+mn-ea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467995" y="1125220"/>
            <a:ext cx="8229600" cy="4525963"/>
          </a:xfrm>
        </p:spPr>
        <p:txBody>
          <a:bodyPr/>
          <a:p>
            <a:r>
              <a:rPr lang="en-US" altLang="zh-TW" sz="2000">
                <a:sym typeface="+mn-ea"/>
              </a:rPr>
              <a:t>檔</a:t>
            </a:r>
            <a:r>
              <a:rPr sz="2000">
                <a:sym typeface="+mn-ea"/>
              </a:rPr>
              <a:t>案路徑：src\_Common\JS</a:t>
            </a:r>
            <a:r>
              <a:rPr lang="en-US" altLang="zh-TW" sz="2000">
                <a:sym typeface="+mn-ea"/>
              </a:rPr>
              <a:t>\CusQBE.js</a:t>
            </a:r>
            <a:r>
              <a:rPr sz="2000">
                <a:sym typeface="+mn-ea"/>
              </a:rPr>
              <a:t>複製重新命名</a:t>
            </a:r>
            <a:r>
              <a:rPr lang="en-US" altLang="zh-TW" sz="2000">
                <a:sym typeface="+mn-ea"/>
              </a:rPr>
              <a:t>CusQBE_M.js</a:t>
            </a:r>
            <a:endParaRPr sz="2000">
              <a:sym typeface="+mn-ea"/>
            </a:endParaRPr>
          </a:p>
          <a:p>
            <a:endParaRPr lang="zh-TW" altLang="en-US" sz="20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1844675"/>
            <a:ext cx="7904480" cy="154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80720"/>
          </a:xfrm>
        </p:spPr>
        <p:txBody>
          <a:bodyPr/>
          <a:p>
            <a:pPr algn="l"/>
            <a:r>
              <a:rPr lang="en-US" altLang="zh-TW"/>
              <a:t>[QBE-</a:t>
            </a:r>
            <a:r>
              <a:t>一般選項將</a:t>
            </a:r>
            <a:r>
              <a:rPr lang="en-US" altLang="zh-TW"/>
              <a:t>Key</a:t>
            </a:r>
            <a:r>
              <a:t>隱藏</a:t>
            </a:r>
            <a:r>
              <a:rPr lang="en-US" altLang="zh-TW"/>
              <a:t>]</a:t>
            </a:r>
            <a:endParaRPr lang="en-US" altLang="zh-TW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101" name="文字方塊 100"/>
          <p:cNvSpPr txBox="1"/>
          <p:nvPr/>
        </p:nvSpPr>
        <p:spPr>
          <a:xfrm>
            <a:off x="467995" y="4364990"/>
            <a:ext cx="6552565" cy="53403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p>
            <a:pPr marL="304800" indent="-304800"/>
            <a:r>
              <a:rPr lang="en-US" altLang="zh-TW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Wingdings" charset="0"/>
              </a:rPr>
              <a:t> </a:t>
            </a:r>
            <a:r>
              <a:rPr lang="zh-TW" altLang="en-US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新細明體" charset="0"/>
              </a:rPr>
              <a:t>開啟自定義的</a:t>
            </a:r>
            <a:r>
              <a:rPr lang="en-US" altLang="zh-TW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Verdana" charset="0"/>
              </a:rPr>
              <a:t>CusQBE.js</a:t>
            </a:r>
            <a:r>
              <a:rPr lang="en-US" altLang="zh-TW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新細明體" charset="0"/>
              </a:rPr>
              <a:t>, </a:t>
            </a:r>
            <a:r>
              <a:rPr lang="zh-TW" altLang="en-US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新細明體" charset="0"/>
              </a:rPr>
              <a:t>加入隱藏的程式碼</a:t>
            </a:r>
            <a:r>
              <a:rPr lang="en-US" altLang="zh-TW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Verdana" charset="0"/>
              </a:rPr>
              <a:t>, </a:t>
            </a:r>
            <a:r>
              <a:rPr lang="zh-TW" altLang="en-US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新細明體" charset="0"/>
              </a:rPr>
              <a:t>給欄位</a:t>
            </a:r>
            <a:r>
              <a:rPr lang="en-US" altLang="zh-TW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Verdana" charset="0"/>
              </a:rPr>
              <a:t>ID</a:t>
            </a:r>
            <a:r>
              <a:rPr lang="zh-TW" altLang="en-US" sz="1400" b="0" u="none">
                <a:solidFill>
                  <a:schemeClr val="tx1"/>
                </a:solidFill>
                <a:latin typeface="微軟正黑體" charset="0"/>
                <a:ea typeface="微軟正黑體" charset="0"/>
                <a:cs typeface="新細明體" charset="0"/>
              </a:rPr>
              <a:t>即可。</a:t>
            </a:r>
            <a:r>
              <a:rPr lang="en-US" altLang="zh-TW" sz="1400" b="0" u="none">
                <a:solidFill>
                  <a:schemeClr val="tx1"/>
                </a:solidFill>
                <a:highlight>
                  <a:srgbClr val="000000"/>
                </a:highlight>
                <a:latin typeface="微軟正黑體" charset="0"/>
                <a:ea typeface="微軟正黑體" charset="0"/>
                <a:cs typeface="Verdana" charset="0"/>
              </a:rPr>
              <a:t>EBCAI002_</a:t>
            </a:r>
            <a:r>
              <a:rPr lang="en-US" altLang="zh-TW" sz="1400" b="0" u="none">
                <a:solidFill>
                  <a:srgbClr val="FF0000"/>
                </a:solidFill>
                <a:highlight>
                  <a:srgbClr val="000000"/>
                </a:highlight>
                <a:latin typeface="微軟正黑體" charset="0"/>
                <a:ea typeface="微軟正黑體" charset="0"/>
                <a:cs typeface="Verdana" charset="0"/>
              </a:rPr>
              <a:t>HiddenFields</a:t>
            </a:r>
            <a:r>
              <a:rPr lang="en-US" altLang="zh-TW" sz="1400" b="0" u="none">
                <a:solidFill>
                  <a:schemeClr val="tx1"/>
                </a:solidFill>
                <a:highlight>
                  <a:srgbClr val="000000"/>
                </a:highlight>
                <a:latin typeface="微軟正黑體" charset="0"/>
                <a:ea typeface="微軟正黑體" charset="0"/>
                <a:cs typeface="Verdana" charset="0"/>
              </a:rPr>
              <a:t> = "FID,ITEM";</a:t>
            </a:r>
            <a:endParaRPr lang="en-US" altLang="zh-TW" sz="1400" b="0" u="none">
              <a:solidFill>
                <a:schemeClr val="tx1"/>
              </a:solidFill>
              <a:highlight>
                <a:srgbClr val="000000"/>
              </a:highlight>
              <a:latin typeface="微軟正黑體" charset="0"/>
              <a:ea typeface="微軟正黑體" charset="0"/>
              <a:cs typeface="Verdana" charset="0"/>
            </a:endParaRPr>
          </a:p>
        </p:txBody>
      </p:sp>
      <p:pic>
        <p:nvPicPr>
          <p:cNvPr id="3" name="內容版面配置區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7995" y="1268730"/>
            <a:ext cx="7267575" cy="2981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80720"/>
          </a:xfrm>
        </p:spPr>
        <p:txBody>
          <a:bodyPr/>
          <a:p>
            <a:pPr algn="l"/>
            <a:r>
              <a:rPr lang="en-US" altLang="zh-TW"/>
              <a:t>[QBE-</a:t>
            </a:r>
            <a:r>
              <a:t>進階選項</a:t>
            </a:r>
            <a:r>
              <a:rPr lang="en-US" altLang="zh-TW"/>
              <a:t>]</a:t>
            </a:r>
            <a:endParaRPr lang="en-US" altLang="zh-TW"/>
          </a:p>
        </p:txBody>
      </p:sp>
      <p:pic>
        <p:nvPicPr>
          <p:cNvPr id="6" name="內容版面配置區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0" y="3500755"/>
            <a:ext cx="4314825" cy="2095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412240"/>
            <a:ext cx="4018915" cy="452374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en-US" altLang="zh-TW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80720"/>
          </a:xfrm>
        </p:spPr>
        <p:txBody>
          <a:bodyPr/>
          <a:p>
            <a:pPr algn="l"/>
            <a:r>
              <a:rPr lang="zh-TW" altLang="en-US"/>
              <a:t>單頭</a:t>
            </a:r>
            <a:r>
              <a:rPr lang="en-US" altLang="zh-TW"/>
              <a:t>GRID</a:t>
            </a:r>
            <a:endParaRPr lang="en-US" altLang="zh-TW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3" name="內容版面配置區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5605" y="1268730"/>
            <a:ext cx="8229600" cy="19050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2132330"/>
            <a:ext cx="7493000" cy="4484370"/>
          </a:xfrm>
          <a:prstGeom prst="rect">
            <a:avLst/>
          </a:prstGeom>
        </p:spPr>
      </p:pic>
      <p:sp>
        <p:nvSpPr>
          <p:cNvPr id="100" name="文字方塊 99"/>
          <p:cNvSpPr txBox="1"/>
          <p:nvPr/>
        </p:nvSpPr>
        <p:spPr>
          <a:xfrm>
            <a:off x="3418840" y="6021070"/>
            <a:ext cx="5377180" cy="51816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p>
            <a:pPr marL="0" indent="0"/>
            <a:r>
              <a:rPr lang="zh-TW" altLang="en-US" sz="2800" b="0" u="none">
                <a:solidFill>
                  <a:srgbClr val="FF0000"/>
                </a:solidFill>
                <a:latin typeface="SimSun" charset="0"/>
                <a:ea typeface="SimSun" charset="0"/>
                <a:cs typeface="新細明體" charset="0"/>
              </a:rPr>
              <a:t>※</a:t>
            </a:r>
            <a:r>
              <a:rPr lang="zh-TW" altLang="en-US" sz="28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若沒設定，所有欄位都不顯示</a:t>
            </a:r>
            <a:endParaRPr lang="zh-TW" altLang="en-US" sz="2800" b="0" u="none">
              <a:solidFill>
                <a:srgbClr val="FF0000"/>
              </a:solidFill>
              <a:latin typeface="新細明體" charset="0"/>
              <a:ea typeface="新細明體" charset="0"/>
              <a:cs typeface="新細明體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solidFill>
                <a:schemeClr val="tx2">
                  <a:lumMod val="60000"/>
                  <a:lumOff val="40000"/>
                </a:schemeClr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lang="en-US" altLang="zh-TW" sz="2400">
                <a:latin typeface="微軟正黑體" charset="0"/>
                <a:ea typeface="微軟正黑體" charset="0"/>
                <a:sym typeface="+mn-ea"/>
              </a:rPr>
              <a:t>_Page_PreRender </a:t>
            </a:r>
            <a:r>
              <a:rPr sz="2400">
                <a:latin typeface="微軟正黑體" charset="0"/>
                <a:ea typeface="微軟正黑體" charset="0"/>
                <a:sym typeface="+mn-ea"/>
              </a:rPr>
              <a:t>下加入指令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899795" y="3932555"/>
            <a:ext cx="7263130" cy="386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ClrTx/>
              <a:buFont typeface="Wingdings" charset="0"/>
              <a:buNone/>
            </a:pPr>
            <a:r>
              <a:rPr lang="zh-TW" altLang="en-US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此段需寫在</a:t>
            </a:r>
            <a:r>
              <a:rPr lang="en-US" altLang="zh-TW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”base._Page_PreRender(sender, e);”</a:t>
            </a:r>
            <a:r>
              <a:rPr lang="zh-TW" altLang="en-US" sz="1800" b="1">
                <a:solidFill>
                  <a:srgbClr val="FF0000"/>
                </a:solidFill>
                <a:latin typeface="微軟正黑體" charset="0"/>
                <a:ea typeface="微軟正黑體" charset="0"/>
                <a:sym typeface="+mn-ea"/>
              </a:rPr>
              <a:t>前，才有效果</a:t>
            </a:r>
            <a:endParaRPr lang="zh-TW" altLang="en-US" sz="1800" b="1">
              <a:solidFill>
                <a:srgbClr val="FF0000"/>
              </a:solidFill>
              <a:latin typeface="微軟正黑體" charset="0"/>
              <a:ea typeface="微軟正黑體" charset="0"/>
              <a:sym typeface="+mn-ea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4509135"/>
            <a:ext cx="5840095" cy="190881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1196340"/>
            <a:ext cx="6360160" cy="2201545"/>
          </a:xfrm>
          <a:prstGeom prst="rect">
            <a:avLst/>
          </a:prstGeom>
        </p:spPr>
      </p:pic>
      <p:sp>
        <p:nvSpPr>
          <p:cNvPr id="5" name="向右箭號 4"/>
          <p:cNvSpPr/>
          <p:nvPr/>
        </p:nvSpPr>
        <p:spPr>
          <a:xfrm rot="2820000">
            <a:off x="4165600" y="3567430"/>
            <a:ext cx="504190" cy="28829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動態新增SYSDataSource,TSQLSelect欄位的where條件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-2147482623" name="內容版面配置區 -2147482624"/>
          <p:cNvPicPr>
            <a:picLocks noChangeAspect="1"/>
          </p:cNvPicPr>
          <p:nvPr>
            <p:ph idx="1"/>
          </p:nvPr>
        </p:nvPicPr>
        <p:blipFill>
          <a:blip r:embed="rId1"/>
          <a:srcRect b="17556"/>
          <a:stretch>
            <a:fillRect/>
          </a:stretch>
        </p:blipFill>
        <p:spPr>
          <a:xfrm>
            <a:off x="539750" y="1124585"/>
            <a:ext cx="8139430" cy="254508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3" name="文字方塊 2"/>
          <p:cNvSpPr txBox="1"/>
          <p:nvPr/>
        </p:nvSpPr>
        <p:spPr>
          <a:xfrm>
            <a:off x="94615" y="3806190"/>
            <a:ext cx="8952865" cy="246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sz="1200">
                <a:solidFill>
                  <a:srgbClr val="008000"/>
                </a:solidFill>
              </a:rPr>
              <a:t>//動態調整DataSource的WHERE內容</a:t>
            </a:r>
            <a:endParaRPr lang="zh-TW" altLang="en-US" sz="1200">
              <a:solidFill>
                <a:srgbClr val="008000"/>
              </a:solidFill>
            </a:endParaRPr>
          </a:p>
          <a:p>
            <a:r>
              <a:rPr lang="zh-TW" altLang="en-US" sz="1200">
                <a:solidFill>
                  <a:srgbClr val="0000CC"/>
                </a:solidFill>
                <a:uFillTx/>
              </a:rPr>
              <a:t>protected override</a:t>
            </a:r>
            <a:r>
              <a:rPr lang="zh-TW" altLang="en-US" sz="1200"/>
              <a:t> </a:t>
            </a:r>
            <a:r>
              <a:rPr lang="zh-TW" altLang="en-US" sz="1200">
                <a:solidFill>
                  <a:srgbClr val="0000CC"/>
                </a:solidFill>
                <a:uFillTx/>
              </a:rPr>
              <a:t>void</a:t>
            </a:r>
            <a:r>
              <a:rPr lang="zh-TW" altLang="en-US" sz="1200"/>
              <a:t> InitDataObj()</a:t>
            </a:r>
            <a:endParaRPr lang="zh-TW" altLang="en-US" sz="1200"/>
          </a:p>
          <a:p>
            <a:r>
              <a:rPr lang="zh-TW" altLang="en-US" sz="1200"/>
              <a:t>{</a:t>
            </a:r>
            <a:endParaRPr lang="zh-TW" altLang="en-US" sz="1200"/>
          </a:p>
          <a:p>
            <a:r>
              <a:rPr lang="zh-TW" altLang="en-US" sz="1200"/>
              <a:t>　</a:t>
            </a:r>
            <a:r>
              <a:rPr lang="zh-TW" altLang="en-US" sz="1200">
                <a:solidFill>
                  <a:srgbClr val="0000CC"/>
                </a:solidFill>
                <a:uFillTx/>
              </a:rPr>
              <a:t>base.</a:t>
            </a:r>
            <a:r>
              <a:rPr lang="zh-TW" altLang="en-US" sz="1200"/>
              <a:t>InitDataObj();</a:t>
            </a:r>
            <a:endParaRPr lang="zh-TW" altLang="en-US" sz="1200"/>
          </a:p>
          <a:p>
            <a:r>
              <a:rPr lang="zh-TW" altLang="en-US" sz="1200"/>
              <a:t>　</a:t>
            </a:r>
            <a:r>
              <a:rPr lang="zh-TW" altLang="en-US" sz="1200">
                <a:solidFill>
                  <a:srgbClr val="008000"/>
                </a:solidFill>
              </a:rPr>
              <a:t>//若不為SuperUser才做此限制。</a:t>
            </a:r>
            <a:endParaRPr lang="zh-TW" altLang="en-US" sz="1200">
              <a:solidFill>
                <a:srgbClr val="008000"/>
              </a:solidFill>
            </a:endParaRPr>
          </a:p>
          <a:p>
            <a:r>
              <a:rPr lang="zh-TW" altLang="en-US" sz="1200"/>
              <a:t>　</a:t>
            </a:r>
            <a:r>
              <a:rPr lang="zh-TW" altLang="en-US" sz="1200">
                <a:solidFill>
                  <a:srgbClr val="0000CC"/>
                </a:solidFill>
              </a:rPr>
              <a:t>if </a:t>
            </a:r>
            <a:r>
              <a:rPr lang="zh-TW" altLang="en-US" sz="1200"/>
              <a:t>(!UserInfo.SuperUser)</a:t>
            </a:r>
            <a:endParaRPr lang="zh-TW" altLang="en-US" sz="1200"/>
          </a:p>
          <a:p>
            <a:r>
              <a:rPr lang="zh-TW" altLang="en-US" sz="1200"/>
              <a:t>　{</a:t>
            </a:r>
            <a:endParaRPr lang="zh-TW" altLang="en-US" sz="1200"/>
          </a:p>
          <a:p>
            <a:r>
              <a:rPr lang="zh-TW" altLang="en-US" sz="1200"/>
              <a:t>　　</a:t>
            </a:r>
            <a:r>
              <a:rPr lang="zh-TW" altLang="en-US" sz="1200">
                <a:solidFill>
                  <a:srgbClr val="2B91AF"/>
                </a:solidFill>
              </a:rPr>
              <a:t>StringBuilder</a:t>
            </a:r>
            <a:r>
              <a:rPr lang="zh-TW" altLang="en-US" sz="1200"/>
              <a:t> tSQL = </a:t>
            </a:r>
            <a:r>
              <a:rPr lang="zh-TW" altLang="en-US" sz="1200">
                <a:solidFill>
                  <a:srgbClr val="0000CC"/>
                </a:solidFill>
              </a:rPr>
              <a:t>new</a:t>
            </a:r>
            <a:r>
              <a:rPr lang="zh-TW" altLang="en-US" sz="1200"/>
              <a:t> </a:t>
            </a:r>
            <a:r>
              <a:rPr lang="zh-TW" altLang="en-US" sz="1200">
                <a:solidFill>
                  <a:srgbClr val="2B91AF"/>
                </a:solidFill>
              </a:rPr>
              <a:t>StringBuilder</a:t>
            </a:r>
            <a:r>
              <a:rPr lang="zh-TW" altLang="en-US" sz="1200"/>
              <a:t>();</a:t>
            </a:r>
            <a:endParaRPr lang="zh-TW" altLang="en-US" sz="1200"/>
          </a:p>
          <a:p>
            <a:r>
              <a:rPr lang="zh-TW" altLang="en-US" sz="1200"/>
              <a:t>　　tSQL.AppendFormat(</a:t>
            </a:r>
            <a:r>
              <a:rPr lang="zh-TW" altLang="en-US" sz="1200">
                <a:solidFill>
                  <a:srgbClr val="A31515"/>
                </a:solidFill>
              </a:rPr>
              <a:t>"odm3909e002='{0}' OR odm3909e003 like '%{0}%' OR odm3909e003 like '{0}%' OR odm3909e003 like '%{0}'"</a:t>
            </a:r>
            <a:r>
              <a:rPr lang="zh-TW" altLang="en-US" sz="1200"/>
              <a:t>,UserInfo.LoginId.Trim());</a:t>
            </a:r>
            <a:endParaRPr lang="zh-TW" altLang="en-US" sz="1200"/>
          </a:p>
          <a:p>
            <a:r>
              <a:rPr lang="zh-TW" altLang="en-US" sz="1200"/>
              <a:t>　　</a:t>
            </a:r>
            <a:r>
              <a:rPr lang="zh-TW" altLang="en-US" sz="1200">
                <a:solidFill>
                  <a:srgbClr val="0000CC"/>
                </a:solidFill>
              </a:rPr>
              <a:t>base</a:t>
            </a:r>
            <a:r>
              <a:rPr lang="zh-TW" altLang="en-US" sz="1200"/>
              <a:t>.masterObj.CustomerizedWhereStr = tSQL.ToString().Trim();</a:t>
            </a:r>
            <a:endParaRPr lang="zh-TW" altLang="en-US" sz="1200"/>
          </a:p>
          <a:p>
            <a:r>
              <a:rPr lang="zh-TW" altLang="en-US" sz="1200"/>
              <a:t>　}</a:t>
            </a:r>
            <a:endParaRPr lang="zh-TW" altLang="en-US" sz="1200"/>
          </a:p>
          <a:p>
            <a:r>
              <a:rPr lang="zh-TW" altLang="en-US" sz="1200"/>
              <a:t>}</a:t>
            </a:r>
            <a:endParaRPr lang="zh-TW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-214748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kumimoji="0" lang="zh-TW" altLang="en-US" sz="20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放出存檔後檢視按鈕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5" name="內容版面配置區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1460" y="1052195"/>
            <a:ext cx="8742045" cy="124523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-2147482622" name="圖片 -21474826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2420620"/>
            <a:ext cx="8076565" cy="419544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-214748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放出存檔後檢視按鈕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-2147482621" name="內容版面配置區 -21474826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4485" y="1196340"/>
            <a:ext cx="8582660" cy="178943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3" name="文字方塊 2"/>
          <p:cNvSpPr txBox="1"/>
          <p:nvPr/>
        </p:nvSpPr>
        <p:spPr>
          <a:xfrm>
            <a:off x="323850" y="3140710"/>
            <a:ext cx="44069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TW" altLang="en-US" b="1">
                <a:solidFill>
                  <a:srgbClr val="FF0000"/>
                </a:solidFill>
                <a:latin typeface="SimSun" charset="0"/>
                <a:ea typeface="SimSun" charset="0"/>
              </a:rPr>
              <a:t>※注意修改</a:t>
            </a:r>
            <a:r>
              <a:rPr lang="en-US" altLang="zh-TW" b="1">
                <a:solidFill>
                  <a:srgbClr val="FF0000"/>
                </a:solidFill>
                <a:latin typeface="SimSun" charset="0"/>
                <a:ea typeface="SimSun" charset="0"/>
              </a:rPr>
              <a:t>web.config</a:t>
            </a:r>
            <a:r>
              <a:rPr lang="zh-TW" altLang="en-US" b="1">
                <a:solidFill>
                  <a:srgbClr val="FF0000"/>
                </a:solidFill>
                <a:latin typeface="SimSun" charset="0"/>
                <a:ea typeface="PMingLiU" charset="0"/>
              </a:rPr>
              <a:t>會影響線上使用者</a:t>
            </a:r>
            <a:endParaRPr lang="zh-TW" altLang="en-US" b="1">
              <a:solidFill>
                <a:srgbClr val="FF0000"/>
              </a:solidFill>
              <a:latin typeface="SimSun" charset="0"/>
              <a:ea typeface="PMingLiU" charset="0"/>
            </a:endParaRPr>
          </a:p>
        </p:txBody>
      </p:sp>
      <p:pic>
        <p:nvPicPr>
          <p:cNvPr id="-2147482620" name="圖片 -21474826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3572510"/>
            <a:ext cx="4933315" cy="12954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-2147482619" name="圖片 -21474826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4364990"/>
            <a:ext cx="4888230" cy="121285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-214748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-214748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-214748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TW"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軟正黑體" charset="0"/>
                <a:ea typeface="微軟正黑體" charset="0"/>
                <a:sym typeface="+mn-ea"/>
              </a:rPr>
              <a:t>註冊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管理程式傳入</a:t>
            </a:r>
            <a:r>
              <a:rPr lang="en-US" altLang="zh-TW" sz="2000" b="1">
                <a:latin typeface="微軟正黑體" charset="0"/>
                <a:ea typeface="微軟正黑體" charset="0"/>
                <a:sym typeface="+mn-ea"/>
              </a:rPr>
              <a:t>KeyValue</a:t>
            </a:r>
            <a:endParaRPr lang="zh-TW" altLang="en-US" sz="2000" b="1"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建檔管理程式建立 </a:t>
            </a:r>
            <a:r>
              <a:rPr lang="en-US" altLang="zh-TW" sz="2400"/>
              <a:t>MIMJ.aspx  &amp;  MIMJ.aspx.cs]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467995" y="1340485"/>
            <a:ext cx="8401685" cy="1575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ClrTx/>
              <a:buFont typeface="Wingdings" charset="0"/>
              <a:buChar char="l"/>
            </a:pPr>
            <a:r>
              <a:rPr lang="zh-TW" altLang="en-US" sz="1800" b="1">
                <a:latin typeface="微軟正黑體" charset="0"/>
                <a:ea typeface="微軟正黑體" charset="0"/>
              </a:rPr>
              <a:t>建檔管理程式用精靈產出後，並無</a:t>
            </a:r>
            <a:r>
              <a:rPr lang="en-US" altLang="zh-TW" sz="1800" b="1">
                <a:latin typeface="微軟正黑體" charset="0"/>
                <a:ea typeface="微軟正黑體" charset="0"/>
              </a:rPr>
              <a:t>MIMJ.aspx  &amp;  MIMJ.aspx.cs</a:t>
            </a:r>
            <a:endParaRPr lang="en-US" altLang="zh-TW" sz="1800" b="1"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r>
              <a:rPr lang="en-US" altLang="zh-TW" sz="1800" b="1">
                <a:latin typeface="微軟正黑體" charset="0"/>
                <a:ea typeface="微軟正黑體" charset="0"/>
              </a:rPr>
              <a:t>   </a:t>
            </a:r>
            <a:r>
              <a:rPr lang="zh-TW" altLang="en-US" sz="1800" b="1">
                <a:latin typeface="微軟正黑體" charset="0"/>
                <a:ea typeface="微軟正黑體" charset="0"/>
              </a:rPr>
              <a:t>故需自行建立</a:t>
            </a:r>
            <a:endParaRPr lang="zh-TW" altLang="en-US" sz="1800" b="1"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lang="zh-TW" altLang="en-US" sz="2400"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r>
              <a:rPr lang="en-US" altLang="zh-TW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1. </a:t>
            </a:r>
            <a:r>
              <a:rPr lang="zh-TW" altLang="en-US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複製表單程式的</a:t>
            </a:r>
            <a:r>
              <a:rPr lang="en-US" altLang="zh-TW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MIMJ.aspx  &amp;  MIMJ.aspx.cs </a:t>
            </a:r>
            <a:r>
              <a:rPr lang="zh-TW" altLang="en-US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檔</a:t>
            </a: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2733040"/>
            <a:ext cx="8559800" cy="2269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建檔管理程式建立 </a:t>
            </a:r>
            <a:r>
              <a:rPr lang="en-US" altLang="zh-TW" sz="2400"/>
              <a:t>MIMJ.aspx  &amp;  MIMJ.aspx.cs]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467995" y="1340485"/>
            <a:ext cx="7263130" cy="661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ClrTx/>
              <a:buFont typeface="Wingdings" charset="0"/>
              <a:buNone/>
            </a:pPr>
            <a:r>
              <a:rPr lang="en-US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2. </a:t>
            </a:r>
            <a:r>
              <a:rPr lang="zh-TW" altLang="en-US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修改檔名，管理程式代號</a:t>
            </a:r>
            <a:r>
              <a:rPr lang="en-US" altLang="zh-TW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_MIMJ.aspx / </a:t>
            </a:r>
            <a:r>
              <a:rPr lang="zh-TW" altLang="en-US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管理程式代號</a:t>
            </a:r>
            <a:r>
              <a:rPr lang="en-US" altLang="zh-TW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_MIMJ.aspx.cs</a:t>
            </a:r>
            <a:endParaRPr lang="en-US" altLang="zh-TW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1844675"/>
            <a:ext cx="5800090" cy="1314450"/>
          </a:xfrm>
          <a:prstGeom prst="rect">
            <a:avLst/>
          </a:prstGeom>
        </p:spPr>
      </p:pic>
      <p:sp>
        <p:nvSpPr>
          <p:cNvPr id="6" name="向下箭號 5"/>
          <p:cNvSpPr/>
          <p:nvPr/>
        </p:nvSpPr>
        <p:spPr>
          <a:xfrm>
            <a:off x="2555875" y="3068955"/>
            <a:ext cx="360045" cy="50355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3644900"/>
            <a:ext cx="5828665" cy="1133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建檔管理程式建立 </a:t>
            </a:r>
            <a:r>
              <a:rPr lang="en-US" altLang="zh-TW" sz="2400"/>
              <a:t>MIMJ.aspx  &amp;  MIMJ.aspx.cs]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467995" y="1196975"/>
            <a:ext cx="7263130" cy="661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ClrTx/>
              <a:buFont typeface="Wingdings" charset="0"/>
              <a:buNone/>
            </a:pPr>
            <a:r>
              <a:rPr lang="en-US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3. </a:t>
            </a:r>
            <a:r>
              <a:rPr lang="zh-TW" altLang="en-US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修改兩支檔案內容的管理程式代號</a:t>
            </a: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834515"/>
            <a:ext cx="7203440" cy="25876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155" y="3860800"/>
            <a:ext cx="5093335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註冊MIMJ事件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467995" y="1340485"/>
            <a:ext cx="7263130" cy="148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ClrTx/>
              <a:buFont typeface="Wingdings" charset="0"/>
              <a:buChar char="l"/>
            </a:pP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在</a:t>
            </a:r>
            <a:r>
              <a:rPr lang="en-US" altLang="zh-TW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settingClientFunction</a:t>
            </a: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下註冊</a:t>
            </a:r>
            <a:r>
              <a:rPr lang="en-US" altLang="zh-TW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MIMJ</a:t>
            </a: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事件</a:t>
            </a:r>
            <a:endParaRPr lang="zh-TW" altLang="en-US" sz="18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285750" indent="-285750">
              <a:buClrTx/>
              <a:buFont typeface="Wingdings" charset="0"/>
              <a:buChar char="l"/>
            </a:pPr>
            <a:endParaRPr lang="zh-TW" altLang="en-US" sz="18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285750" indent="-285750">
              <a:buClrTx/>
              <a:buFont typeface="Wingdings" charset="0"/>
              <a:buChar char="l"/>
            </a:pPr>
            <a:endParaRPr lang="zh-TW" altLang="en-US" sz="18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285750" indent="-285750">
              <a:buClrTx/>
              <a:buFont typeface="Wingdings" charset="0"/>
              <a:buChar char="l"/>
            </a:pPr>
            <a:endParaRPr lang="zh-TW" altLang="en-US" sz="18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285750" indent="-285750">
              <a:buClrTx/>
              <a:buFont typeface="Wingdings" charset="0"/>
              <a:buChar char="l"/>
            </a:pP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並在</a:t>
            </a:r>
            <a:r>
              <a:rPr lang="en-US" altLang="zh-TW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_MIMJ.aspx.cs</a:t>
            </a: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</a:t>
            </a:r>
            <a:r>
              <a:rPr lang="en-US" altLang="zh-TW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MI</a:t>
            </a: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及</a:t>
            </a:r>
            <a:r>
              <a:rPr lang="en-US" altLang="zh-TW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MJ</a:t>
            </a:r>
            <a:r>
              <a:rPr lang="zh-TW" altLang="en-US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的</a:t>
            </a:r>
            <a:r>
              <a:rPr lang="en-US" altLang="zh-TW" sz="18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case</a:t>
            </a:r>
            <a:endParaRPr lang="en-US" altLang="zh-TW" sz="18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789430"/>
            <a:ext cx="8392160" cy="506095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2852420"/>
            <a:ext cx="4144010" cy="2186305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10" y="3860800"/>
            <a:ext cx="4848860" cy="2642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Agenda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4989195" cy="480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管理程式位置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UI</a:t>
            </a: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調整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表單、建檔管理程式差異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管理程式五大狀態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新增、存檔、刪除前檢查</a:t>
            </a:r>
            <a:endParaRPr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charset="0"/>
                <a:ea typeface="微軟正黑體" charset="0"/>
                <a:sym typeface="+mn-ea"/>
              </a:rPr>
              <a:t>排除單身已刪除資料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單頭、單身預設值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QBE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單頭</a:t>
            </a:r>
            <a:r>
              <a:rPr kumimoji="0" lang="en-US" altLang="zh-TW" sz="20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GRID</a:t>
            </a:r>
            <a:endParaRPr kumimoji="0" lang="en-US" altLang="zh-TW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預設顯示查詢列表</a:t>
            </a:r>
            <a:endParaRPr lang="zh-TW" altLang="en-US"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控管查詢權限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0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存檔後檢視按鈕</a:t>
            </a:r>
            <a:endParaRPr kumimoji="0" lang="zh-TW" altLang="en-US" sz="20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zh-TW" altLang="en-US" sz="2000" b="1">
                <a:latin typeface="微軟正黑體" charset="0"/>
                <a:ea typeface="微軟正黑體" charset="0"/>
                <a:sym typeface="+mn-ea"/>
              </a:rPr>
              <a:t>MIMJ註冊</a:t>
            </a:r>
            <a:endParaRPr lang="zh-TW" altLang="en-US" sz="2000" b="1">
              <a:solidFill>
                <a:schemeClr val="tx1"/>
              </a:solidFill>
              <a:latin typeface="微軟正黑體" charset="0"/>
              <a:ea typeface="微軟正黑體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4" name="文字方塊 3"/>
          <p:cNvSpPr txBox="1"/>
          <p:nvPr/>
        </p:nvSpPr>
        <p:spPr>
          <a:xfrm>
            <a:off x="4284980" y="1628775"/>
            <a:ext cx="3565525" cy="4191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742950" lvl="1" indent="-285750" algn="l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軟正黑體" charset="0"/>
                <a:ea typeface="微軟正黑體" charset="0"/>
                <a:sym typeface="+mn-ea"/>
              </a:rPr>
              <a:t>管理程式傳入KeyValue</a:t>
            </a:r>
            <a:endParaRPr sz="2000" b="1">
              <a:solidFill>
                <a:schemeClr val="tx2">
                  <a:lumMod val="60000"/>
                  <a:lumOff val="40000"/>
                </a:schemeClr>
              </a:solidFill>
              <a:latin typeface="微軟正黑體" charset="0"/>
              <a:ea typeface="微軟正黑體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484505"/>
          </a:xfrm>
        </p:spPr>
        <p:txBody>
          <a:bodyPr/>
          <a:p>
            <a:pPr algn="l"/>
            <a:r>
              <a:rPr lang="en-US" altLang="zh-TW" sz="2400"/>
              <a:t>[</a:t>
            </a:r>
            <a:r>
              <a:rPr sz="2400"/>
              <a:t>如何在表單直接開啟管理程式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1412240"/>
            <a:ext cx="7360920" cy="4107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395605" y="2992755"/>
            <a:ext cx="8411845" cy="17583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ClrTx/>
              <a:buFont typeface="Wingdings" charset="0"/>
              <a:buChar char="l"/>
            </a:pPr>
            <a:r>
              <a:rPr sz="1800" b="1">
                <a:latin typeface="微軟正黑體" charset="0"/>
                <a:ea typeface="微軟正黑體" charset="0"/>
              </a:rPr>
              <a:t>[單檔管理程式] .CS 在settingClientFunction() 註冊按鈕的onclick前端事件。</a:t>
            </a:r>
            <a:endParaRPr sz="1800" b="1"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sz="1800" b="1"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sz="1800" b="1"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lang="en-US" altLang="zh-TW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r>
              <a:rPr lang="en-US" altLang="zh-TW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1. </a:t>
            </a:r>
            <a:r>
              <a:rPr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JS 撰寫事件。Mode=Browser</a:t>
            </a:r>
            <a:endParaRPr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</p:txBody>
      </p:sp>
      <p:sp>
        <p:nvSpPr>
          <p:cNvPr id="6" name="標題 3"/>
          <p:cNvSpPr>
            <a:spLocks noGrp="1"/>
          </p:cNvSpPr>
          <p:nvPr/>
        </p:nvSpPr>
        <p:spPr>
          <a:xfrm>
            <a:off x="467544" y="620688"/>
            <a:ext cx="8208912" cy="4845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l"/>
            <a:r>
              <a:rPr lang="en-US" altLang="zh-TW" sz="2400"/>
              <a:t>[</a:t>
            </a:r>
            <a:r>
              <a:rPr sz="2400"/>
              <a:t>如何在表單直接開啟管理程式</a:t>
            </a:r>
            <a:r>
              <a:rPr lang="en-US" altLang="zh-TW" sz="2400"/>
              <a:t>]</a:t>
            </a:r>
            <a:endParaRPr lang="en-US" altLang="zh-TW" sz="2400"/>
          </a:p>
        </p:txBody>
      </p:sp>
      <p:sp>
        <p:nvSpPr>
          <p:cNvPr id="7" name="文字方塊 6"/>
          <p:cNvSpPr txBox="1"/>
          <p:nvPr/>
        </p:nvSpPr>
        <p:spPr>
          <a:xfrm>
            <a:off x="611505" y="3425190"/>
            <a:ext cx="7594600" cy="661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b="1">
                <a:latin typeface="微軟正黑體" charset="0"/>
                <a:ea typeface="微軟正黑體" charset="0"/>
                <a:sym typeface="+mn-ea"/>
              </a:rPr>
              <a:t>btnEngineeringTable.Attributes.Add("onclick", "OpenEngineering();</a:t>
            </a:r>
            <a:endParaRPr b="1">
              <a:latin typeface="微軟正黑體" charset="0"/>
              <a:ea typeface="微軟正黑體" charset="0"/>
              <a:sym typeface="+mn-ea"/>
            </a:endParaRPr>
          </a:p>
          <a:p>
            <a:pPr algn="l"/>
            <a:r>
              <a:rPr b="1">
                <a:latin typeface="微軟正黑體" charset="0"/>
                <a:ea typeface="微軟正黑體" charset="0"/>
                <a:sym typeface="+mn-ea"/>
              </a:rPr>
              <a:t>return false;");</a:t>
            </a:r>
            <a:endParaRPr lang="zh-TW" altLang="en-US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4432935"/>
            <a:ext cx="8311515" cy="115951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01" name="文字方塊 100"/>
          <p:cNvSpPr txBox="1"/>
          <p:nvPr/>
        </p:nvSpPr>
        <p:spPr>
          <a:xfrm>
            <a:off x="323215" y="1052830"/>
            <a:ext cx="8770620" cy="520065"/>
          </a:xfrm>
          <a:prstGeom prst="rect">
            <a:avLst/>
          </a:prstGeom>
          <a:noFill/>
          <a:ln w="9525" cap="flat" cmpd="sng">
            <a:noFill/>
            <a:prstDash val="solid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p>
            <a:pPr marL="304800" indent="-304800"/>
            <a:r>
              <a:rPr lang="zh-TW" altLang="en-US" sz="1400" b="0" u="none">
                <a:latin typeface="Verdana" charset="0"/>
                <a:ea typeface="Verdana" charset="0"/>
                <a:cs typeface="Verdana" charset="0"/>
              </a:rPr>
              <a:t>寫法</a:t>
            </a:r>
            <a:r>
              <a:rPr lang="en-US" altLang="zh-TW" sz="1400" b="0" u="none">
                <a:latin typeface="Verdana" charset="0"/>
                <a:ea typeface="Verdana" charset="0"/>
                <a:cs typeface="Verdana" charset="0"/>
              </a:rPr>
              <a:t>: </a:t>
            </a:r>
            <a:endParaRPr lang="en-US" altLang="zh-TW" sz="1400" b="0" u="none">
              <a:latin typeface="Verdana" charset="0"/>
              <a:ea typeface="Verdana" charset="0"/>
              <a:cs typeface="Verdana" charset="0"/>
            </a:endParaRPr>
          </a:p>
          <a:p>
            <a:pPr marL="304800" indent="-304800"/>
            <a:r>
              <a:rPr lang="en-US" altLang="zh-TW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?keyValue=</a:t>
            </a:r>
            <a:r>
              <a:rPr lang="zh-TW" altLang="en-US" sz="1400" b="0" u="none">
                <a:solidFill>
                  <a:srgbClr val="FF0000"/>
                </a:solidFill>
                <a:latin typeface="微軟正黑體" charset="0"/>
                <a:ea typeface="微軟正黑體" charset="0"/>
                <a:cs typeface="新細明體" charset="0"/>
              </a:rPr>
              <a:t>管理</a:t>
            </a:r>
            <a:r>
              <a:rPr lang="zh-TW" altLang="en-US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程式</a:t>
            </a:r>
            <a:r>
              <a:rPr lang="en-US" altLang="zh-TW" sz="1400" b="0" u="none">
                <a:solidFill>
                  <a:srgbClr val="FF0000"/>
                </a:solidFill>
                <a:latin typeface="Verdana" charset="0"/>
                <a:ea typeface="Verdana" charset="0"/>
                <a:cs typeface="Verdana" charset="0"/>
              </a:rPr>
              <a:t>PRIMARY KEY 1</a:t>
            </a:r>
            <a:r>
              <a:rPr lang="en-US" altLang="zh-TW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,</a:t>
            </a:r>
            <a:r>
              <a:rPr lang="zh-TW" altLang="en-US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表單欄位傳過去的值</a:t>
            </a:r>
            <a:r>
              <a:rPr lang="en-US" altLang="zh-TW" sz="1400" b="0" u="none">
                <a:solidFill>
                  <a:srgbClr val="FF0000"/>
                </a:solidFill>
                <a:latin typeface="Verdana" charset="0"/>
                <a:ea typeface="Verdana" charset="0"/>
                <a:cs typeface="Verdana" charset="0"/>
              </a:rPr>
              <a:t>1</a:t>
            </a:r>
            <a:r>
              <a:rPr lang="en-US" altLang="zh-TW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,</a:t>
            </a:r>
            <a:r>
              <a:rPr lang="zh-TW" altLang="en-US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管理程式</a:t>
            </a:r>
            <a:r>
              <a:rPr lang="en-US" altLang="zh-TW" sz="1400" b="0" u="none">
                <a:solidFill>
                  <a:srgbClr val="FF0000"/>
                </a:solidFill>
                <a:latin typeface="Verdana" charset="0"/>
                <a:ea typeface="Verdana" charset="0"/>
                <a:cs typeface="Verdana" charset="0"/>
              </a:rPr>
              <a:t>PRIMARY KEY 2</a:t>
            </a:r>
            <a:r>
              <a:rPr lang="en-US" altLang="zh-TW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,</a:t>
            </a:r>
            <a:r>
              <a:rPr lang="zh-TW" altLang="en-US" sz="1400" b="0" u="none">
                <a:solidFill>
                  <a:srgbClr val="FF0000"/>
                </a:solidFill>
                <a:latin typeface="新細明體" charset="0"/>
                <a:ea typeface="新細明體" charset="0"/>
                <a:cs typeface="新細明體" charset="0"/>
              </a:rPr>
              <a:t>表單欄位傳過去的值</a:t>
            </a:r>
            <a:r>
              <a:rPr lang="en-US" altLang="zh-TW" sz="1400" b="0" u="none">
                <a:solidFill>
                  <a:srgbClr val="FF0000"/>
                </a:solidFill>
                <a:latin typeface="Verdana" charset="0"/>
                <a:ea typeface="Verdana" charset="0"/>
                <a:cs typeface="Verdana" charset="0"/>
              </a:rPr>
              <a:t>2</a:t>
            </a:r>
            <a:r>
              <a:rPr lang="zh-TW" altLang="en-US" sz="1400" b="0" u="none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zh-TW" altLang="en-US" sz="1400" b="0" u="none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323850" y="1556385"/>
            <a:ext cx="8249920" cy="12350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p>
            <a:pPr marL="304800" indent="-304800"/>
            <a:r>
              <a:rPr lang="zh-TW" altLang="en-US" sz="1400" b="0" u="none">
                <a:latin typeface="微軟正黑體" charset="0"/>
                <a:ea typeface="微軟正黑體" charset="0"/>
                <a:cs typeface="新細明體" charset="0"/>
              </a:rPr>
              <a:t>呈現樣子</a:t>
            </a:r>
            <a:r>
              <a:rPr lang="en-US" altLang="zh-TW" sz="1400" b="0" u="none">
                <a:latin typeface="微軟正黑體" charset="0"/>
                <a:ea typeface="微軟正黑體" charset="0"/>
                <a:cs typeface="Verdana" charset="0"/>
              </a:rPr>
              <a:t>:</a:t>
            </a:r>
            <a:endParaRPr lang="en-US" altLang="zh-TW" sz="1600" b="0" u="none">
              <a:solidFill>
                <a:srgbClr val="0000FF"/>
              </a:solidFill>
              <a:latin typeface="微軟正黑體" charset="0"/>
              <a:ea typeface="微軟正黑體" charset="0"/>
              <a:cs typeface="Verdana" charset="0"/>
            </a:endParaRPr>
          </a:p>
          <a:p>
            <a:pPr marL="304800" indent="-304800"/>
            <a:r>
              <a:rPr lang="en-US" altLang="zh-TW" sz="1400" b="0" u="none">
                <a:solidFill>
                  <a:srgbClr val="0000FF"/>
                </a:solidFill>
                <a:latin typeface="微軟正黑體" charset="0"/>
                <a:ea typeface="微軟正黑體" charset="0"/>
                <a:cs typeface="新細明體" charset="0"/>
              </a:rPr>
              <a:t>[</a:t>
            </a:r>
            <a:r>
              <a:rPr lang="zh-TW" altLang="en-US" sz="1400" b="0" u="none">
                <a:solidFill>
                  <a:srgbClr val="0000FF"/>
                </a:solidFill>
                <a:latin typeface="微軟正黑體" charset="0"/>
                <a:ea typeface="微軟正黑體" charset="0"/>
                <a:cs typeface="新細明體" charset="0"/>
              </a:rPr>
              <a:t>單檔</a:t>
            </a:r>
            <a:r>
              <a:rPr lang="en-US" altLang="zh-TW" sz="1600" b="0" u="none">
                <a:solidFill>
                  <a:srgbClr val="0000FF"/>
                </a:solidFill>
                <a:latin typeface="微軟正黑體" charset="0"/>
                <a:ea typeface="微軟正黑體" charset="0"/>
                <a:cs typeface="Verdana" charset="0"/>
              </a:rPr>
              <a:t>]</a:t>
            </a:r>
            <a:endParaRPr lang="en-US" altLang="zh-TW" sz="1600" b="0" u="none">
              <a:solidFill>
                <a:srgbClr val="0000FF"/>
              </a:solidFill>
              <a:latin typeface="微軟正黑體" charset="0"/>
              <a:ea typeface="微軟正黑體" charset="0"/>
              <a:cs typeface="Verdana" charset="0"/>
            </a:endParaRPr>
          </a:p>
          <a:p>
            <a:pPr marL="304800" indent="-304800"/>
            <a:r>
              <a:rPr lang="en-US" altLang="zh-TW" sz="1400" b="0" u="none">
                <a:latin typeface="微軟正黑體" charset="0"/>
                <a:ea typeface="微軟正黑體" charset="0"/>
                <a:cs typeface="Verdana" charset="0"/>
              </a:rPr>
              <a:t>../../../../src/EBC/EBCAI003/EBCAI003.aspx?keyValue=ebctg003,20160814B&amp;</a:t>
            </a:r>
            <a:r>
              <a:rPr lang="en-US" altLang="zh-TW" sz="1400" b="0" u="none">
                <a:highlight>
                  <a:srgbClr val="FFFF00"/>
                </a:highlight>
                <a:latin typeface="微軟正黑體" charset="0"/>
                <a:ea typeface="微軟正黑體" charset="0"/>
                <a:cs typeface="Verdana" charset="0"/>
              </a:rPr>
              <a:t>Mode=Browser</a:t>
            </a:r>
            <a:endParaRPr lang="en-US" altLang="zh-TW" sz="1600" b="0" u="none">
              <a:solidFill>
                <a:srgbClr val="0000FF"/>
              </a:solidFill>
              <a:highlight>
                <a:srgbClr val="FFFF00"/>
              </a:highlight>
              <a:latin typeface="微軟正黑體" charset="0"/>
              <a:ea typeface="微軟正黑體" charset="0"/>
              <a:cs typeface="Verdana" charset="0"/>
            </a:endParaRPr>
          </a:p>
          <a:p>
            <a:pPr marL="304800" indent="-304800"/>
            <a:r>
              <a:rPr lang="en-US" altLang="zh-TW" sz="1400" b="0" u="none">
                <a:solidFill>
                  <a:srgbClr val="0000FF"/>
                </a:solidFill>
                <a:latin typeface="微軟正黑體" charset="0"/>
                <a:ea typeface="微軟正黑體" charset="0"/>
                <a:cs typeface="新細明體" charset="0"/>
              </a:rPr>
              <a:t>[</a:t>
            </a:r>
            <a:r>
              <a:rPr lang="zh-TW" altLang="en-US" sz="1400" b="0" u="none">
                <a:solidFill>
                  <a:srgbClr val="0000FF"/>
                </a:solidFill>
                <a:latin typeface="微軟正黑體" charset="0"/>
                <a:ea typeface="微軟正黑體" charset="0"/>
                <a:cs typeface="新細明體" charset="0"/>
              </a:rPr>
              <a:t>雙檔</a:t>
            </a:r>
            <a:r>
              <a:rPr lang="en-US" altLang="zh-TW" sz="1600" b="0" u="none">
                <a:solidFill>
                  <a:srgbClr val="0000FF"/>
                </a:solidFill>
                <a:latin typeface="微軟正黑體" charset="0"/>
                <a:ea typeface="微軟正黑體" charset="0"/>
                <a:cs typeface="Verdana" charset="0"/>
              </a:rPr>
              <a:t>]</a:t>
            </a:r>
            <a:endParaRPr lang="en-US" altLang="zh-TW" sz="1600" b="0" u="none">
              <a:solidFill>
                <a:srgbClr val="0000FF"/>
              </a:solidFill>
              <a:latin typeface="微軟正黑體" charset="0"/>
              <a:ea typeface="微軟正黑體" charset="0"/>
              <a:cs typeface="Verdana" charset="0"/>
            </a:endParaRPr>
          </a:p>
          <a:p>
            <a:pPr marL="304800" indent="-304800"/>
            <a:r>
              <a:rPr lang="en-US" altLang="zh-TW" sz="1400" b="0" u="none">
                <a:latin typeface="微軟正黑體" charset="0"/>
                <a:ea typeface="微軟正黑體" charset="0"/>
                <a:cs typeface="Verdana" charset="0"/>
              </a:rPr>
              <a:t>../../../../src/EBC/EBCAI003/EBCAI003.aspx?keyValue=ebctg003,20160814B&amp;</a:t>
            </a:r>
            <a:r>
              <a:rPr lang="en-US" altLang="zh-TW" sz="1400" b="0" u="none">
                <a:highlight>
                  <a:srgbClr val="FFFF00"/>
                </a:highlight>
                <a:latin typeface="微軟正黑體" charset="0"/>
                <a:ea typeface="微軟正黑體" charset="0"/>
                <a:cs typeface="Verdana" charset="0"/>
              </a:rPr>
              <a:t>Mode=</a:t>
            </a:r>
            <a:r>
              <a:rPr lang="en-US" altLang="zh-TW" sz="1400" b="0" u="none">
                <a:highlight>
                  <a:srgbClr val="FFFF00"/>
                </a:highlight>
                <a:latin typeface="微軟正黑體" charset="0"/>
                <a:ea typeface="微軟正黑體" charset="0"/>
                <a:cs typeface="微軟正黑體" charset="0"/>
              </a:rPr>
              <a:t>Modify</a:t>
            </a:r>
            <a:endParaRPr lang="en-US" altLang="zh-TW" sz="1400" b="0" u="none">
              <a:highlight>
                <a:srgbClr val="FFFF00"/>
              </a:highlight>
              <a:latin typeface="微軟正黑體" charset="0"/>
              <a:ea typeface="微軟正黑體" charset="0"/>
              <a:cs typeface="微軟正黑體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2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323850" y="1196340"/>
            <a:ext cx="8411845" cy="935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ClrTx/>
              <a:buFont typeface="Wingdings" charset="0"/>
              <a:buChar char="l"/>
            </a:pPr>
            <a:r>
              <a:rPr sz="1800" b="1">
                <a:latin typeface="微軟正黑體" charset="0"/>
                <a:ea typeface="微軟正黑體" charset="0"/>
              </a:rPr>
              <a:t>[</a:t>
            </a:r>
            <a:r>
              <a:rPr sz="1800" b="1">
                <a:latin typeface="微軟正黑體" charset="0"/>
                <a:ea typeface="微軟正黑體" charset="0"/>
                <a:sym typeface="+mn-ea"/>
              </a:rPr>
              <a:t>雙檔管理程式</a:t>
            </a:r>
            <a:r>
              <a:rPr sz="1800" b="1">
                <a:latin typeface="微軟正黑體" charset="0"/>
                <a:ea typeface="微軟正黑體" charset="0"/>
              </a:rPr>
              <a:t>] .CS 在settingClientFunction() 註冊按鈕的onclick前端事件。</a:t>
            </a:r>
            <a:endParaRPr sz="1800" b="1"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endParaRPr lang="en-US" altLang="zh-TW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  <a:p>
            <a:pPr marL="0" indent="0">
              <a:buClrTx/>
              <a:buFont typeface="Wingdings" charset="0"/>
              <a:buNone/>
            </a:pPr>
            <a:r>
              <a:rPr lang="en-US" altLang="zh-TW"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1. </a:t>
            </a:r>
            <a:r>
              <a:rPr sz="1800">
                <a:solidFill>
                  <a:srgbClr val="FF0000"/>
                </a:solidFill>
                <a:latin typeface="微軟正黑體" charset="0"/>
                <a:ea typeface="微軟正黑體" charset="0"/>
              </a:rPr>
              <a:t>JS 撰寫事件。Mode=Modify</a:t>
            </a: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</p:txBody>
      </p:sp>
      <p:sp>
        <p:nvSpPr>
          <p:cNvPr id="6" name="標題 3"/>
          <p:cNvSpPr>
            <a:spLocks noGrp="1"/>
          </p:cNvSpPr>
          <p:nvPr/>
        </p:nvSpPr>
        <p:spPr>
          <a:xfrm>
            <a:off x="467544" y="620688"/>
            <a:ext cx="8208912" cy="4845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l"/>
            <a:r>
              <a:rPr lang="en-US" altLang="zh-TW" sz="2400"/>
              <a:t>[</a:t>
            </a:r>
            <a:r>
              <a:rPr sz="2400"/>
              <a:t>如何在表單直接開啟管理程式</a:t>
            </a:r>
            <a:r>
              <a:rPr lang="en-US" altLang="zh-TW" sz="2400"/>
              <a:t>]</a:t>
            </a:r>
            <a:endParaRPr lang="en-US" altLang="zh-TW" sz="240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2348865"/>
            <a:ext cx="8822055" cy="147447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2" name="文字方塊 1"/>
          <p:cNvSpPr txBox="1"/>
          <p:nvPr/>
        </p:nvSpPr>
        <p:spPr>
          <a:xfrm>
            <a:off x="323850" y="1124585"/>
            <a:ext cx="8411845" cy="386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ClrTx/>
              <a:buFont typeface="Wingdings" charset="0"/>
              <a:buChar char="l"/>
            </a:pPr>
            <a:r>
              <a:rPr sz="1800" b="1">
                <a:latin typeface="微軟正黑體" charset="0"/>
                <a:ea typeface="微軟正黑體" charset="0"/>
              </a:rPr>
              <a:t>[雙檔管理程式] .CS _Page_PreRender 修改。</a:t>
            </a:r>
            <a:endParaRPr lang="zh-TW" altLang="en-US" sz="1800">
              <a:solidFill>
                <a:srgbClr val="FF0000"/>
              </a:solidFill>
              <a:latin typeface="微軟正黑體" charset="0"/>
              <a:ea typeface="微軟正黑體" charset="0"/>
            </a:endParaRPr>
          </a:p>
        </p:txBody>
      </p:sp>
      <p:sp>
        <p:nvSpPr>
          <p:cNvPr id="6" name="標題 3"/>
          <p:cNvSpPr>
            <a:spLocks noGrp="1"/>
          </p:cNvSpPr>
          <p:nvPr/>
        </p:nvSpPr>
        <p:spPr>
          <a:xfrm>
            <a:off x="467544" y="620688"/>
            <a:ext cx="8208912" cy="4845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l"/>
            <a:r>
              <a:rPr lang="en-US" altLang="zh-TW" sz="2400"/>
              <a:t>[</a:t>
            </a:r>
            <a:r>
              <a:rPr sz="2400"/>
              <a:t>如何在表單直接開啟管理程式</a:t>
            </a:r>
            <a:r>
              <a:rPr lang="en-US" altLang="zh-TW" sz="2400"/>
              <a:t>]</a:t>
            </a:r>
            <a:endParaRPr lang="en-US" altLang="zh-TW" sz="2400"/>
          </a:p>
        </p:txBody>
      </p:sp>
      <p:pic>
        <p:nvPicPr>
          <p:cNvPr id="3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557020"/>
            <a:ext cx="6257290" cy="510921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5229</Words>
  <Application>WPS Presentation</Application>
  <PresentationFormat>如螢幕大小 (4:3)</PresentationFormat>
  <Paragraphs>605</Paragraphs>
  <Slides>49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1" baseType="lpstr">
      <vt:lpstr>自訂設計</vt:lpstr>
      <vt:lpstr>Office 佈景主題</vt:lpstr>
      <vt:lpstr> </vt:lpstr>
      <vt:lpstr>Agenda</vt:lpstr>
      <vt:lpstr>管理程式位置</vt:lpstr>
      <vt:lpstr>Agenda</vt:lpstr>
      <vt:lpstr>管理程式UI設計</vt:lpstr>
      <vt:lpstr>Agenda</vt:lpstr>
      <vt:lpstr>管理程式差異</vt:lpstr>
      <vt:lpstr>【DSCDataObj】</vt:lpstr>
      <vt:lpstr>Agenda</vt:lpstr>
      <vt:lpstr>管理程式五大狀態</vt:lpstr>
      <vt:lpstr>	</vt:lpstr>
      <vt:lpstr>PowerPoint 演示文稿</vt:lpstr>
      <vt:lpstr>PowerPoint 演示文稿</vt:lpstr>
      <vt:lpstr>PowerPoint 演示文稿</vt:lpstr>
      <vt:lpstr>PowerPoint 演示文稿</vt:lpstr>
      <vt:lpstr>如何取得管理程式狀態</vt:lpstr>
      <vt:lpstr>欄位控制判斷狀態不可異動</vt:lpstr>
      <vt:lpstr>Agenda</vt:lpstr>
      <vt:lpstr>[註冊按鈕事件]</vt:lpstr>
      <vt:lpstr>Agenda</vt:lpstr>
      <vt:lpstr>[isDeleted狀態]</vt:lpstr>
      <vt:lpstr>Agenda</vt:lpstr>
      <vt:lpstr>單頭欄位預設值</vt:lpstr>
      <vt:lpstr>單身欄位預設值</vt:lpstr>
      <vt:lpstr>Agenda</vt:lpstr>
      <vt:lpstr>[QBE-一般選項]</vt:lpstr>
      <vt:lpstr>[QBE-一般選項]</vt:lpstr>
      <vt:lpstr>[QBE-一般選項將Key隱藏]</vt:lpstr>
      <vt:lpstr>[QBE-進階選項]</vt:lpstr>
      <vt:lpstr>Agenda</vt:lpstr>
      <vt:lpstr>單頭GRID</vt:lpstr>
      <vt:lpstr>Agenda</vt:lpstr>
      <vt:lpstr>[_Page_PreRender 下加入指令]</vt:lpstr>
      <vt:lpstr>Agenda</vt:lpstr>
      <vt:lpstr>[動態新增SYSDataSource,TSQLSelect欄位的where條件]</vt:lpstr>
      <vt:lpstr>Agenda</vt:lpstr>
      <vt:lpstr>[放出存檔後檢視按鈕]</vt:lpstr>
      <vt:lpstr>[放出存檔後檢視按鈕]</vt:lpstr>
      <vt:lpstr>Agenda</vt:lpstr>
      <vt:lpstr>[建檔管理程式建立 MIMJ.aspx  &amp;  MIMJ.aspx.cs]</vt:lpstr>
      <vt:lpstr>[建檔管理程式建立 MIMJ.aspx  &amp;  MIMJ.aspx.cs]</vt:lpstr>
      <vt:lpstr>[建檔管理程式建立 MIMJ.aspx  &amp;  MIMJ.aspx.cs]</vt:lpstr>
      <vt:lpstr>[註冊MIMJ事件]</vt:lpstr>
      <vt:lpstr>Agenda</vt:lpstr>
      <vt:lpstr>[如何在表單直接開啟管理程式]</vt:lpstr>
      <vt:lpstr>PowerPoint 演示文稿</vt:lpstr>
      <vt:lpstr>PowerPoint 演示文稿</vt:lpstr>
      <vt:lpstr>PowerPoint 演示文稿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1694</cp:revision>
  <dcterms:created xsi:type="dcterms:W3CDTF">2008-10-15T09:32:00Z</dcterms:created>
  <dcterms:modified xsi:type="dcterms:W3CDTF">2016-10-12T06:35:50Z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