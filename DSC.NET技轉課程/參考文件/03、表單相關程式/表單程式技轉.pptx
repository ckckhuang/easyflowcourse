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28"/>
  </p:notesMasterIdLst>
  <p:handoutMasterIdLst>
    <p:handoutMasterId r:id="rId66"/>
  </p:handoutMasterIdLst>
  <p:sldIdLst>
    <p:sldId id="622" r:id="rId4"/>
    <p:sldId id="668" r:id="rId5"/>
    <p:sldId id="677" r:id="rId6"/>
    <p:sldId id="678" r:id="rId7"/>
    <p:sldId id="679" r:id="rId8"/>
    <p:sldId id="680" r:id="rId9"/>
    <p:sldId id="681" r:id="rId10"/>
    <p:sldId id="682" r:id="rId11"/>
    <p:sldId id="683" r:id="rId12"/>
    <p:sldId id="684" r:id="rId13"/>
    <p:sldId id="685" r:id="rId14"/>
    <p:sldId id="686" r:id="rId15"/>
    <p:sldId id="687" r:id="rId16"/>
    <p:sldId id="688" r:id="rId17"/>
    <p:sldId id="689" r:id="rId18"/>
    <p:sldId id="690" r:id="rId19"/>
    <p:sldId id="691" r:id="rId20"/>
    <p:sldId id="692" r:id="rId21"/>
    <p:sldId id="693" r:id="rId22"/>
    <p:sldId id="694" r:id="rId23"/>
    <p:sldId id="695" r:id="rId24"/>
    <p:sldId id="696" r:id="rId25"/>
    <p:sldId id="697" r:id="rId26"/>
    <p:sldId id="698" r:id="rId27"/>
    <p:sldId id="699" r:id="rId29"/>
    <p:sldId id="700" r:id="rId30"/>
    <p:sldId id="701" r:id="rId31"/>
    <p:sldId id="702" r:id="rId32"/>
    <p:sldId id="703" r:id="rId33"/>
    <p:sldId id="704" r:id="rId34"/>
    <p:sldId id="705" r:id="rId35"/>
    <p:sldId id="706" r:id="rId36"/>
    <p:sldId id="707" r:id="rId37"/>
    <p:sldId id="708" r:id="rId38"/>
    <p:sldId id="709" r:id="rId39"/>
    <p:sldId id="710" r:id="rId40"/>
    <p:sldId id="711" r:id="rId41"/>
    <p:sldId id="712" r:id="rId42"/>
    <p:sldId id="713" r:id="rId43"/>
    <p:sldId id="714" r:id="rId44"/>
    <p:sldId id="715" r:id="rId45"/>
    <p:sldId id="716" r:id="rId46"/>
    <p:sldId id="718" r:id="rId47"/>
    <p:sldId id="719" r:id="rId48"/>
    <p:sldId id="720" r:id="rId49"/>
    <p:sldId id="721" r:id="rId50"/>
    <p:sldId id="722" r:id="rId51"/>
    <p:sldId id="723" r:id="rId52"/>
    <p:sldId id="724" r:id="rId53"/>
    <p:sldId id="726" r:id="rId54"/>
    <p:sldId id="727" r:id="rId55"/>
    <p:sldId id="728" r:id="rId56"/>
    <p:sldId id="729" r:id="rId57"/>
    <p:sldId id="730" r:id="rId58"/>
    <p:sldId id="731" r:id="rId59"/>
    <p:sldId id="735" r:id="rId60"/>
    <p:sldId id="734" r:id="rId61"/>
    <p:sldId id="733" r:id="rId62"/>
    <p:sldId id="736" r:id="rId63"/>
    <p:sldId id="737" r:id="rId64"/>
    <p:sldId id="676" r:id="rId65"/>
  </p:sldIdLst>
  <p:sldSz cx="9144000" cy="6858000" type="screen4x3"/>
  <p:notesSz cx="6833870" cy="99790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1063cindychen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3C8C93"/>
    <a:srgbClr val="E2F1F2"/>
    <a:srgbClr val="D1DCEE"/>
    <a:srgbClr val="D0EAEC"/>
    <a:srgbClr val="C9E7E9"/>
    <a:srgbClr val="E7F4F5"/>
    <a:srgbClr val="0000CC"/>
    <a:srgbClr val="DCDEF4"/>
    <a:srgbClr val="EBE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129" autoAdjust="0"/>
    <p:restoredTop sz="92580" autoAdjust="0"/>
  </p:normalViewPr>
  <p:slideViewPr>
    <p:cSldViewPr>
      <p:cViewPr>
        <p:scale>
          <a:sx n="80" d="100"/>
          <a:sy n="80" d="100"/>
        </p:scale>
        <p:origin x="-1290" y="-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5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2" d="100"/>
        <a:sy n="9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0" Type="http://schemas.openxmlformats.org/officeDocument/2006/relationships/commentAuthors" Target="commentAuthors.xml"/><Relationship Id="rId7" Type="http://schemas.openxmlformats.org/officeDocument/2006/relationships/slide" Target="slides/slide4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handoutMaster" Target="handoutMasters/handoutMaster1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48930-57E6-4F24-A2EE-754E3BB2D090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BCFE1-B21C-4E68-8F53-FCA888565152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eaLnBrk="0" hangingPunct="0"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algn="r" eaLnBrk="0" hangingPunct="0"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5AFCBC85-116C-4042-82A0-EF8BD8001D3D}" type="datetimeFigureOut">
              <a:rPr lang="zh-TW" altLang="en-US"/>
            </a:fld>
            <a:endParaRPr lang="en-US" altLang="zh-TW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47713"/>
            <a:ext cx="4989512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4213" y="4740275"/>
            <a:ext cx="5467350" cy="4491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/>
          <a:p>
            <a:pPr lvl="0"/>
            <a:r>
              <a:rPr lang="zh-CN" altLang="en-US" noProof="0" smtClean="0"/>
              <a:t>单击以编辑母片</a:t>
            </a:r>
            <a:endParaRPr lang="zh-TW" altLang="en-US" noProof="0" smtClean="0"/>
          </a:p>
          <a:p>
            <a:pPr lvl="1"/>
            <a:r>
              <a:rPr lang="zh-TW" altLang="en-US" noProof="0" smtClean="0"/>
              <a:t>第二层</a:t>
            </a:r>
            <a:endParaRPr lang="zh-TW" altLang="en-US" noProof="0" smtClean="0"/>
          </a:p>
          <a:p>
            <a:pPr lvl="2"/>
            <a:r>
              <a:rPr lang="zh-TW" altLang="en-US" noProof="0" smtClean="0"/>
              <a:t>第三层</a:t>
            </a:r>
            <a:endParaRPr lang="zh-TW" altLang="en-US" noProof="0" smtClean="0"/>
          </a:p>
          <a:p>
            <a:pPr lvl="3"/>
            <a:r>
              <a:rPr lang="zh-TW" altLang="en-US" noProof="0" smtClean="0"/>
              <a:t>第四层</a:t>
            </a:r>
            <a:endParaRPr lang="zh-TW" altLang="en-US" noProof="0" smtClean="0"/>
          </a:p>
          <a:p>
            <a:pPr lvl="4"/>
            <a:r>
              <a:rPr lang="zh-TW" altLang="en-US" noProof="0" smtClean="0"/>
              <a:t>第五层</a:t>
            </a:r>
            <a:endParaRPr lang="zh-TW" altLang="en-US" noProof="0" smtClean="0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eaLnBrk="0" hangingPunct="0"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algn="r" eaLnBrk="0" hangingPunct="0"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r>
              <a:rPr lang="zh-TW" altLang="en-US"/>
              <a:t>五大</a:t>
            </a:r>
            <a:r>
              <a:rPr lang="en-US" altLang="zh-TW"/>
              <a:t>Table</a:t>
            </a:r>
            <a:r>
              <a:rPr lang="zh-TW" altLang="en-US"/>
              <a:t>工具介紹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r>
              <a:rPr lang="en-US" altLang="zh-TW"/>
              <a:t>MIMJ</a:t>
            </a:r>
            <a:r>
              <a:rPr lang="zh-TW" altLang="en-US"/>
              <a:t>工具介紹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DAB0E-E1AC-46DA-A9EC-548034A1FB9F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785794"/>
            <a:ext cx="8229600" cy="868363"/>
          </a:xfrm>
        </p:spPr>
        <p:txBody>
          <a:bodyPr/>
          <a:lstStyle>
            <a:lvl1pPr>
              <a:defRPr sz="4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34" y="1928802"/>
            <a:ext cx="8229600" cy="4065588"/>
          </a:xfrm>
        </p:spPr>
        <p:txBody>
          <a:bodyPr/>
          <a:lstStyle>
            <a:lvl1pPr>
              <a:buFont typeface="Wingdings" panose="05000000000000000000" pitchFamily="2" charset="2"/>
              <a:buChar char="n"/>
              <a:defRPr b="1">
                <a:solidFill>
                  <a:srgbClr val="0000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b="1">
                <a:solidFill>
                  <a:srgbClr val="66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endParaRPr lang="en-US" altLang="zh-TW"/>
          </a:p>
          <a:p>
            <a:pPr>
              <a:defRPr/>
            </a:pPr>
            <a:endParaRPr lang="en-US" altLang="zh-TW"/>
          </a:p>
          <a:p>
            <a:pPr>
              <a:defRPr/>
            </a:pPr>
            <a:fld id="{6F8F4BC0-65D6-45C0-95FE-854F8F2BD9F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E2AB8-31FC-468B-AE37-ABE5C8C2A0C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9DB8A-6EC4-4D79-AD14-FE7C9DFF587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52CE6-C213-46A8-84F7-C371EF093858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05AAD-0BA9-43D2-A48E-D7F91AEB675B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0B806-3AE1-4F93-9E96-89D6A14B6A3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7EF79-B625-4ABD-994A-D02D50832F6E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C9E8C-55E2-4C6E-8287-1A65335C65B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55A53-5CAC-48E3-808E-56106F08AE1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981075"/>
            <a:ext cx="2057400" cy="5145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19800" cy="5145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91D19-2EC9-44B1-8A50-42D6FD8F1F8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首頁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ctrTitle" hasCustomPrompt="1"/>
          </p:nvPr>
        </p:nvSpPr>
        <p:spPr>
          <a:xfrm>
            <a:off x="2555776" y="1988840"/>
            <a:ext cx="6192688" cy="193899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6000" b="1" kern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r>
              <a:rPr lang="zh-CN" altLang="en-US" dirty="0" smtClean="0"/>
              <a:t>单击以编辑母片标题样式</a:t>
            </a:r>
            <a:endParaRPr lang="zh-TW" altLang="en-US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2555776" y="4437112"/>
            <a:ext cx="4536504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单击以编辑母片副标题样式</a:t>
            </a:r>
            <a:endParaRPr lang="zh-TW" alt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4937" y="964629"/>
            <a:ext cx="648072" cy="179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1" name="Picture 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63594" y="988542"/>
            <a:ext cx="797719" cy="146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043608" y="2348880"/>
            <a:ext cx="70202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44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2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981075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060575"/>
            <a:ext cx="8229600" cy="4065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6221C-E86A-49BC-B566-D20161E0AE5A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image" Target="../media/image9.jpeg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1" descr="ppt_B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-4763" y="-1588"/>
            <a:ext cx="9153526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981075"/>
            <a:ext cx="8229600" cy="868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smtClean="0"/>
              <a:t>按一下以編輯母片標題樣式</a:t>
            </a:r>
            <a:endParaRPr lang="zh-TW" altLang="en-US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060575"/>
            <a:ext cx="8229600" cy="40655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smtClean="0"/>
              <a:t>按一下以編輯母片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1BAA6A6A-B44F-4E1B-A333-ADD46CF30C79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ll dir="r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圖片 6" descr="1007簡報內頁.jpg"/>
          <p:cNvPicPr>
            <a:picLocks noChangeAspect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63" y="0"/>
            <a:ext cx="91344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5.emf"/><Relationship Id="rId1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" Target="slide11.xml"/><Relationship Id="rId1" Type="http://schemas.openxmlformats.org/officeDocument/2006/relationships/slide" Target="slide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hyperlink" Target="&#25511;&#21046;&#38917;&#20803;&#20214;&#23660;&#24615;&#35373;&#23450;&#35498;&#26126;&#25991;&#20214;.doc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1.png"/><Relationship Id="rId1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4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hyperlink" Target="20130720%20(3.x)%20&#22914;&#20309;&#20351;&#29992;Ajax&#21450;&#27880;&#24847;&#20107;&#38917;.doc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hyperlink" Target="20120228%20(3x)%20DBCommand&#24179;&#21488;&#36039;&#26009;&#24235;&#30456;&#38364;&#29992;&#27861;.doc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hyperlink" Target="20121219(3.x)&#34920;&#21934;&#36865;&#21934;&#12289;&#31805;&#26680;&#12289;&#25277;&#21934;&#34389;&#29702;&#20989;&#25976;.doc" TargetMode="Externa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>
          <a:xfrm>
            <a:off x="2500298" y="1357298"/>
            <a:ext cx="6192688" cy="1569660"/>
          </a:xfrm>
        </p:spPr>
        <p:txBody>
          <a:bodyPr/>
          <a:lstStyle/>
          <a:p>
            <a:br>
              <a:rPr lang="en-US" altLang="zh-TW" dirty="0" smtClean="0"/>
            </a:br>
            <a:endParaRPr lang="zh-TW" altLang="en-US" sz="3600" dirty="0"/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>
          <a:xfrm>
            <a:off x="2555776" y="5143512"/>
            <a:ext cx="4536504" cy="1428760"/>
          </a:xfrm>
        </p:spPr>
        <p:txBody>
          <a:bodyPr/>
          <a:lstStyle/>
          <a:p>
            <a:r>
              <a:rPr lang="zh-TW" altLang="en-US" sz="2800" smtClean="0"/>
              <a:t>吳俐君</a:t>
            </a:r>
            <a:endParaRPr lang="en-US" altLang="zh-TW" sz="2800" dirty="0" smtClean="0"/>
          </a:p>
          <a:p>
            <a:r>
              <a:rPr lang="zh-TW" altLang="en-US" sz="2000" dirty="0" smtClean="0"/>
              <a:t>鼎新電腦</a:t>
            </a:r>
            <a:endParaRPr lang="zh-TW" altLang="en-US" sz="2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857488" y="2000240"/>
            <a:ext cx="52629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表單程式技轉</a:t>
            </a:r>
            <a:endParaRPr lang="zh-TW" altLang="en-US" sz="6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dirty="0" smtClean="0"/>
              <a:t>大綱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lvl="1"/>
            <a:endParaRPr lang="en-US" altLang="zh-TW" sz="2400" smtClean="0"/>
          </a:p>
          <a:p>
            <a:pPr lvl="1"/>
            <a:endParaRPr lang="en-US" altLang="zh-TW" sz="24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6" name="內容版面配置區 2"/>
          <p:cNvSpPr txBox="1"/>
          <p:nvPr/>
        </p:nvSpPr>
        <p:spPr bwMode="auto">
          <a:xfrm>
            <a:off x="611188" y="1484313"/>
            <a:ext cx="8072437" cy="52149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目錄結構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、資料庫結構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kumimoji="0"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安裝後的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EasyFlow.net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目錄架構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及資料庫介紹</a:t>
            </a:r>
            <a:endParaRPr kumimoji="0"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程式架構 </a:t>
            </a:r>
            <a:endParaRPr kumimoji="0"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單檔及雙檔的區別及各自的程式說明。</a:t>
            </a:r>
            <a:endParaRPr kumimoji="0"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五大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 </a:t>
            </a:r>
            <a:endParaRPr kumimoji="0"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表單精靈除了產生表單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 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，也會分別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五大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必要資料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kumimoji="0" lang="zh-TW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程式設計開發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＊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表單由開單到填單至簽核時的資料流程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及原稿資料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匣的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控制，並在當中介紹常用範例說明與練習 。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endParaRPr kumimoji="0"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kumimoji="0"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＊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自製開窗帶值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(MI)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及填值驗證</a:t>
            </a:r>
            <a:r>
              <a:rPr kumimoji="0"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(MJ)</a:t>
            </a:r>
            <a:r>
              <a:rPr kumimoji="0"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的作法。</a:t>
            </a:r>
            <a:endParaRPr kumimoji="0"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8"/>
          <p:cNvSpPr txBox="1">
            <a:spLocks noGrp="1" noChangeArrowheads="1"/>
          </p:cNvSpPr>
          <p:nvPr>
            <p:ph idx="1"/>
          </p:nvPr>
        </p:nvSpPr>
        <p:spPr bwMode="auto">
          <a:xfrm>
            <a:off x="428596" y="2857496"/>
            <a:ext cx="8229600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目錄結構</a:t>
            </a:r>
            <a:endParaRPr lang="en-US" altLang="zh-TW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642910" y="1714488"/>
            <a:ext cx="790575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642966" y="4071942"/>
            <a:ext cx="8001000" cy="258532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AppData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 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存放表單附件、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WF  ERP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憑證圖檔、個人簽名圖檔、表單精靈範例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 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記錄。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———————————————————————————————</a:t>
            </a:r>
            <a:endParaRPr lang="en-US" altLang="zh-TW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EFNET: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系統程式位置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———————————————————————————————</a:t>
            </a:r>
            <a:endParaRPr lang="en-US" altLang="zh-TW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Tools: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TW" altLang="en-US" dirty="0">
                <a:latin typeface="Calibri" panose="020F0502020204030204" pitchFamily="34" charset="0"/>
              </a:rPr>
              <a:t>系統工具程式存放區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285720" y="642918"/>
            <a:ext cx="21209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AppData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6"/>
          <p:cNvSpPr txBox="1">
            <a:spLocks noChangeArrowheads="1"/>
          </p:cNvSpPr>
          <p:nvPr/>
        </p:nvSpPr>
        <p:spPr bwMode="auto">
          <a:xfrm>
            <a:off x="2285970" y="1208107"/>
            <a:ext cx="6526212" cy="5078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Board</a:t>
            </a:r>
            <a:endParaRPr kumimoji="0"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公佈欄上傳的附件 </a:t>
            </a:r>
            <a:r>
              <a:rPr kumimoji="0" lang="en-US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kumimoji="0"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底下的目錄結構以公佈欄類別先分類，</a:t>
            </a:r>
            <a:endParaRPr kumimoji="0"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再以此公告的主鍵值為資料夾的名稱。</a:t>
            </a:r>
            <a:r>
              <a:rPr kumimoji="0"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(EF3X</a:t>
            </a: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附件改存到資料庫中</a:t>
            </a:r>
            <a:r>
              <a:rPr kumimoji="0"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0"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endParaRPr kumimoji="0" lang="en-US" altLang="zh-TW" sz="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en-US" altLang="zh-TW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ERPPic</a:t>
            </a:r>
            <a:endParaRPr kumimoji="0"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ERP</a:t>
            </a: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整合表單憑證圖檔路徑。</a:t>
            </a:r>
            <a:endParaRPr kumimoji="0"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endParaRPr kumimoji="0" lang="en-US" altLang="en-US" sz="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en-US" altLang="zh-TW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ErrorLog</a:t>
            </a:r>
            <a:endParaRPr kumimoji="0"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紀錄錯誤訊息 </a:t>
            </a:r>
            <a:r>
              <a:rPr kumimoji="0" lang="en-US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kumimoji="0"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底下分</a:t>
            </a:r>
            <a:r>
              <a:rPr kumimoji="0"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DSC.NET</a:t>
            </a: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平台的錯誤訊息及</a:t>
            </a:r>
            <a:r>
              <a:rPr kumimoji="0"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EasyFlow</a:t>
            </a:r>
            <a:r>
              <a:rPr kumimoji="0"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Engine</a:t>
            </a: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endParaRPr kumimoji="0"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錯誤訊息。</a:t>
            </a:r>
            <a:endParaRPr kumimoji="0"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endParaRPr kumimoji="0" lang="en-US" altLang="zh-TW" sz="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en-US" altLang="zh-TW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LogInfo</a:t>
            </a:r>
            <a:endParaRPr kumimoji="0"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EasyFlow</a:t>
            </a:r>
            <a:r>
              <a:rPr kumimoji="0"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Engine</a:t>
            </a: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紀錄訊息檔案的存放路徑。</a:t>
            </a:r>
            <a:endParaRPr kumimoji="0"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endParaRPr kumimoji="0" lang="en-US" altLang="zh-TW" sz="5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en-US" altLang="zh-TW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Maillog</a:t>
            </a:r>
            <a:endParaRPr kumimoji="0"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紀錄信件訊息 。</a:t>
            </a:r>
            <a:endParaRPr kumimoji="0"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00032" y="1357293"/>
            <a:ext cx="1836738" cy="292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 dirty="0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582639" y="714356"/>
            <a:ext cx="21209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AppData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6"/>
          <p:cNvSpPr txBox="1">
            <a:spLocks noChangeArrowheads="1"/>
          </p:cNvSpPr>
          <p:nvPr/>
        </p:nvSpPr>
        <p:spPr bwMode="auto">
          <a:xfrm>
            <a:off x="2582889" y="1292243"/>
            <a:ext cx="5775325" cy="4708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OA</a:t>
            </a:r>
            <a:endParaRPr kumimoji="0"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OA</a:t>
            </a: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模組使用</a:t>
            </a:r>
            <a:r>
              <a:rPr kumimoji="0"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附件、圖檔存放區</a:t>
            </a:r>
            <a:r>
              <a:rPr kumimoji="0"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0" lang="en-US" altLang="zh-TW" sz="16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endParaRPr kumimoji="0" lang="en-US" altLang="zh-TW" sz="5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Personal</a:t>
            </a:r>
            <a:endParaRPr kumimoji="0"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個人簽名檔的存放路徑，以帳號作區別。</a:t>
            </a:r>
            <a:endParaRPr kumimoji="0"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endParaRPr kumimoji="0" lang="en-US" altLang="zh-TW" sz="5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en-US" altLang="zh-TW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SampleForm</a:t>
            </a:r>
            <a:endParaRPr kumimoji="0"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表單範例 </a:t>
            </a:r>
            <a:r>
              <a:rPr kumimoji="0" lang="en-US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kumimoji="0"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電子表單精靈參考樣版。</a:t>
            </a:r>
            <a:endParaRPr kumimoji="0"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endParaRPr kumimoji="0" lang="en-US" altLang="zh-TW" sz="5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Server</a:t>
            </a:r>
            <a:endParaRPr kumimoji="0"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表單附件的存放路徑 ，此存放已傳送表單的檔案。</a:t>
            </a:r>
            <a:endParaRPr kumimoji="0"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endParaRPr kumimoji="0" lang="en-US" altLang="zh-TW" sz="5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USERS</a:t>
            </a:r>
            <a:endParaRPr kumimoji="0"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r>
              <a:rPr kumimoji="0"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表單附件的存放路徑 ，此路徑僅存放尚未傳送表單的暫存檔。</a:t>
            </a:r>
            <a:endParaRPr kumimoji="0" lang="en-US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50000"/>
              </a:spcBef>
            </a:pPr>
            <a:endParaRPr kumimoji="0"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96951" y="1428731"/>
            <a:ext cx="1836738" cy="292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58825" y="1142984"/>
            <a:ext cx="1357313" cy="545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357188" y="642938"/>
            <a:ext cx="1744662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EFNET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6" name="群組 47"/>
          <p:cNvGrpSpPr/>
          <p:nvPr/>
        </p:nvGrpSpPr>
        <p:grpSpPr bwMode="auto">
          <a:xfrm>
            <a:off x="928688" y="2093897"/>
            <a:ext cx="7546975" cy="1463675"/>
            <a:chOff x="928688" y="2357438"/>
            <a:chExt cx="7546975" cy="1464282"/>
          </a:xfrm>
        </p:grpSpPr>
        <p:sp>
          <p:nvSpPr>
            <p:cNvPr id="7" name="矩形 6"/>
            <p:cNvSpPr/>
            <p:nvPr/>
          </p:nvSpPr>
          <p:spPr>
            <a:xfrm>
              <a:off x="928688" y="3384976"/>
              <a:ext cx="1214437" cy="214402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928688" y="3607318"/>
              <a:ext cx="1214437" cy="214402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9" name="文字方塊 6"/>
            <p:cNvSpPr txBox="1">
              <a:spLocks noChangeArrowheads="1"/>
            </p:cNvSpPr>
            <p:nvPr/>
          </p:nvSpPr>
          <p:spPr bwMode="auto">
            <a:xfrm>
              <a:off x="3357563" y="2357438"/>
              <a:ext cx="5118100" cy="9001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TW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ETI</a:t>
              </a:r>
              <a:r>
                <a:rPr kumimoji="0" lang="en-US" altLang="zh-TW" sz="160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kumimoji="0" lang="zh-TW" altLang="en-US" sz="160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　</a:t>
              </a:r>
              <a:r>
                <a:rPr kumimoji="0" lang="zh-TW" altLang="en-US" sz="160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  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放置</a:t>
              </a:r>
              <a:r>
                <a:rPr kumimoji="0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EasyFlow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→</a:t>
              </a:r>
              <a:r>
                <a:rPr kumimoji="0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TipTop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的表單程式。</a:t>
              </a:r>
              <a:endParaRPr kumimoji="0"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Bef>
                  <a:spcPct val="50000"/>
                </a:spcBef>
              </a:pPr>
              <a:endParaRPr kumimoji="0" lang="en-US" altLang="zh-TW" sz="5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Bef>
                  <a:spcPct val="50000"/>
                </a:spcBef>
              </a:pPr>
              <a:r>
                <a:rPr kumimoji="0" lang="en-US" altLang="zh-TW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EWI</a:t>
              </a:r>
              <a:r>
                <a:rPr kumimoji="0" lang="zh-TW" altLang="en-US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　   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放置</a:t>
              </a:r>
              <a:r>
                <a:rPr kumimoji="0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EasyFlow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→</a:t>
              </a:r>
              <a:r>
                <a:rPr kumimoji="0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WorkFlow ERP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的表單程式。</a:t>
              </a:r>
              <a:endParaRPr kumimoji="0" lang="en-US" altLang="zh-TW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0" name="直線單箭頭接點 9"/>
            <p:cNvCxnSpPr>
              <a:stCxn id="7" idx="3"/>
              <a:endCxn id="9" idx="1"/>
            </p:cNvCxnSpPr>
            <p:nvPr/>
          </p:nvCxnSpPr>
          <p:spPr>
            <a:xfrm flipV="1">
              <a:off x="2143125" y="2806886"/>
              <a:ext cx="1214438" cy="686084"/>
            </a:xfrm>
            <a:prstGeom prst="straightConnector1">
              <a:avLst/>
            </a:prstGeom>
            <a:ln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>
              <a:stCxn id="8" idx="3"/>
              <a:endCxn id="9" idx="1"/>
            </p:cNvCxnSpPr>
            <p:nvPr/>
          </p:nvCxnSpPr>
          <p:spPr>
            <a:xfrm flipV="1">
              <a:off x="2143125" y="2806886"/>
              <a:ext cx="1214438" cy="908427"/>
            </a:xfrm>
            <a:prstGeom prst="straightConnector1">
              <a:avLst/>
            </a:prstGeom>
            <a:ln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群組 51"/>
          <p:cNvGrpSpPr/>
          <p:nvPr/>
        </p:nvGrpSpPr>
        <p:grpSpPr bwMode="auto">
          <a:xfrm>
            <a:off x="928688" y="4879959"/>
            <a:ext cx="6989762" cy="1116013"/>
            <a:chOff x="928688" y="5143500"/>
            <a:chExt cx="6989762" cy="1116013"/>
          </a:xfrm>
        </p:grpSpPr>
        <p:sp>
          <p:nvSpPr>
            <p:cNvPr id="13" name="矩形 12"/>
            <p:cNvSpPr/>
            <p:nvPr/>
          </p:nvSpPr>
          <p:spPr>
            <a:xfrm>
              <a:off x="928688" y="5843588"/>
              <a:ext cx="1214437" cy="214312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928688" y="6045200"/>
              <a:ext cx="1214437" cy="214313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5" name="文字方塊 6"/>
            <p:cNvSpPr txBox="1">
              <a:spLocks noChangeArrowheads="1"/>
            </p:cNvSpPr>
            <p:nvPr/>
          </p:nvSpPr>
          <p:spPr bwMode="auto">
            <a:xfrm>
              <a:off x="3378200" y="5143500"/>
              <a:ext cx="4540250" cy="9001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TW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TEI</a:t>
              </a:r>
              <a:r>
                <a:rPr kumimoji="0" lang="en-US" altLang="zh-TW" sz="160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kumimoji="0" lang="zh-TW" altLang="en-US" sz="160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　   </a:t>
              </a:r>
              <a:r>
                <a:rPr kumimoji="0" lang="zh-TW" altLang="en-US" sz="160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放置</a:t>
              </a:r>
              <a:r>
                <a:rPr kumimoji="0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TipTop 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→</a:t>
              </a:r>
              <a:r>
                <a:rPr kumimoji="0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EasyFlow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的表單程式。</a:t>
              </a:r>
              <a:endParaRPr kumimoji="0"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Bef>
                  <a:spcPct val="50000"/>
                </a:spcBef>
              </a:pPr>
              <a:endParaRPr kumimoji="0" lang="en-US" altLang="zh-TW" sz="5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Bef>
                  <a:spcPct val="50000"/>
                </a:spcBef>
              </a:pPr>
              <a:r>
                <a:rPr kumimoji="0" lang="en-US" altLang="zh-TW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WEI</a:t>
              </a:r>
              <a:r>
                <a:rPr kumimoji="0" lang="zh-TW" altLang="en-US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　   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放置</a:t>
              </a:r>
              <a:r>
                <a:rPr kumimoji="0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ERP 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→</a:t>
              </a:r>
              <a:r>
                <a:rPr kumimoji="0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EasyFlow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的表單程式。</a:t>
              </a:r>
              <a:endParaRPr kumimoji="0" lang="en-US" altLang="zh-TW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6" name="直線單箭頭接點 15"/>
            <p:cNvCxnSpPr>
              <a:stCxn id="13" idx="3"/>
              <a:endCxn id="15" idx="1"/>
            </p:cNvCxnSpPr>
            <p:nvPr/>
          </p:nvCxnSpPr>
          <p:spPr>
            <a:xfrm flipV="1">
              <a:off x="2143125" y="5594350"/>
              <a:ext cx="1235075" cy="357188"/>
            </a:xfrm>
            <a:prstGeom prst="straightConnector1">
              <a:avLst/>
            </a:prstGeom>
            <a:ln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14" idx="3"/>
              <a:endCxn id="15" idx="1"/>
            </p:cNvCxnSpPr>
            <p:nvPr/>
          </p:nvCxnSpPr>
          <p:spPr>
            <a:xfrm flipV="1">
              <a:off x="2143125" y="5594350"/>
              <a:ext cx="1235075" cy="557213"/>
            </a:xfrm>
            <a:prstGeom prst="straightConnector1">
              <a:avLst/>
            </a:prstGeom>
            <a:ln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群組 52"/>
          <p:cNvGrpSpPr/>
          <p:nvPr/>
        </p:nvGrpSpPr>
        <p:grpSpPr bwMode="auto">
          <a:xfrm>
            <a:off x="928688" y="5951522"/>
            <a:ext cx="5603875" cy="369887"/>
            <a:chOff x="928688" y="6215063"/>
            <a:chExt cx="5603875" cy="369887"/>
          </a:xfrm>
        </p:grpSpPr>
        <p:sp>
          <p:nvSpPr>
            <p:cNvPr id="19" name="矩形 18"/>
            <p:cNvSpPr/>
            <p:nvPr/>
          </p:nvSpPr>
          <p:spPr>
            <a:xfrm>
              <a:off x="928688" y="6242050"/>
              <a:ext cx="1214437" cy="2143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cxnSp>
          <p:nvCxnSpPr>
            <p:cNvPr id="20" name="直線單箭頭接點 19"/>
            <p:cNvCxnSpPr>
              <a:stCxn id="19" idx="3"/>
              <a:endCxn id="21" idx="1"/>
            </p:cNvCxnSpPr>
            <p:nvPr/>
          </p:nvCxnSpPr>
          <p:spPr>
            <a:xfrm>
              <a:off x="2143125" y="6348413"/>
              <a:ext cx="1285875" cy="508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6"/>
            <p:cNvSpPr txBox="1">
              <a:spLocks noChangeArrowheads="1"/>
            </p:cNvSpPr>
            <p:nvPr/>
          </p:nvSpPr>
          <p:spPr bwMode="auto">
            <a:xfrm>
              <a:off x="3429000" y="6215063"/>
              <a:ext cx="3103563" cy="3698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TW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WRP</a:t>
              </a:r>
              <a:r>
                <a:rPr kumimoji="0" lang="en-US" altLang="zh-TW" sz="160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kumimoji="0" lang="zh-TW" altLang="en-US" sz="160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　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報表程式。</a:t>
              </a:r>
              <a:r>
                <a:rPr kumimoji="0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(HTML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報表</a:t>
              </a:r>
              <a:r>
                <a:rPr kumimoji="0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kumimoji="0"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2" name="群組 45"/>
          <p:cNvGrpSpPr/>
          <p:nvPr/>
        </p:nvGrpSpPr>
        <p:grpSpPr bwMode="auto">
          <a:xfrm>
            <a:off x="785813" y="1308084"/>
            <a:ext cx="6262687" cy="369888"/>
            <a:chOff x="785813" y="1571625"/>
            <a:chExt cx="6262687" cy="369888"/>
          </a:xfrm>
        </p:grpSpPr>
        <p:sp>
          <p:nvSpPr>
            <p:cNvPr id="23" name="矩形 22"/>
            <p:cNvSpPr/>
            <p:nvPr/>
          </p:nvSpPr>
          <p:spPr>
            <a:xfrm>
              <a:off x="785813" y="1603375"/>
              <a:ext cx="1214437" cy="2143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4" name="文字方塊 6"/>
            <p:cNvSpPr txBox="1">
              <a:spLocks noChangeArrowheads="1"/>
            </p:cNvSpPr>
            <p:nvPr/>
          </p:nvSpPr>
          <p:spPr bwMode="auto">
            <a:xfrm>
              <a:off x="3357563" y="1571625"/>
              <a:ext cx="3690937" cy="3698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TW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bin</a:t>
              </a:r>
              <a:r>
                <a:rPr kumimoji="0" lang="en-US" altLang="zh-TW" sz="160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kumimoji="0" lang="zh-TW" altLang="en-US" sz="1600">
                  <a:solidFill>
                    <a:srgbClr val="FFC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　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放置站台的</a:t>
              </a:r>
              <a:r>
                <a:rPr kumimoji="0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dll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，程式動態連結檔</a:t>
              </a:r>
              <a:endParaRPr kumimoji="0"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5" name="直線單箭頭接點 24"/>
            <p:cNvCxnSpPr>
              <a:stCxn id="23" idx="3"/>
              <a:endCxn id="24" idx="1"/>
            </p:cNvCxnSpPr>
            <p:nvPr/>
          </p:nvCxnSpPr>
          <p:spPr>
            <a:xfrm>
              <a:off x="2000250" y="1711325"/>
              <a:ext cx="1357313" cy="4445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群組 46"/>
          <p:cNvGrpSpPr/>
          <p:nvPr/>
        </p:nvGrpSpPr>
        <p:grpSpPr bwMode="auto">
          <a:xfrm>
            <a:off x="900113" y="1652572"/>
            <a:ext cx="4776787" cy="339725"/>
            <a:chOff x="899592" y="1916832"/>
            <a:chExt cx="4777629" cy="338554"/>
          </a:xfrm>
        </p:grpSpPr>
        <p:sp>
          <p:nvSpPr>
            <p:cNvPr id="27" name="矩形 26"/>
            <p:cNvSpPr/>
            <p:nvPr/>
          </p:nvSpPr>
          <p:spPr>
            <a:xfrm>
              <a:off x="899592" y="1989605"/>
              <a:ext cx="1214651" cy="2135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cxnSp>
          <p:nvCxnSpPr>
            <p:cNvPr id="28" name="直線單箭頭接點 27"/>
            <p:cNvCxnSpPr>
              <a:stCxn id="27" idx="3"/>
              <a:endCxn id="29" idx="1"/>
            </p:cNvCxnSpPr>
            <p:nvPr/>
          </p:nvCxnSpPr>
          <p:spPr>
            <a:xfrm flipV="1">
              <a:off x="2114243" y="2086109"/>
              <a:ext cx="1305155" cy="949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6"/>
            <p:cNvSpPr txBox="1">
              <a:spLocks noChangeArrowheads="1"/>
            </p:cNvSpPr>
            <p:nvPr/>
          </p:nvSpPr>
          <p:spPr bwMode="auto">
            <a:xfrm>
              <a:off x="3419872" y="1916832"/>
              <a:ext cx="2257349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TW" sz="160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_Common </a:t>
              </a:r>
              <a:r>
                <a:rPr kumimoji="0" lang="zh-TW" altLang="en-US" sz="160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　</a:t>
              </a:r>
              <a:r>
                <a:rPr kumimoji="0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公用程式</a:t>
              </a:r>
              <a:endParaRPr kumimoji="0"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33" name="群組 50"/>
          <p:cNvGrpSpPr/>
          <p:nvPr/>
        </p:nvGrpSpPr>
        <p:grpSpPr bwMode="auto">
          <a:xfrm>
            <a:off x="914400" y="3071810"/>
            <a:ext cx="8462963" cy="1857375"/>
            <a:chOff x="914400" y="3357563"/>
            <a:chExt cx="8462963" cy="1857375"/>
          </a:xfrm>
        </p:grpSpPr>
        <p:sp>
          <p:nvSpPr>
            <p:cNvPr id="34" name="矩形 33"/>
            <p:cNvSpPr/>
            <p:nvPr/>
          </p:nvSpPr>
          <p:spPr>
            <a:xfrm>
              <a:off x="928688" y="3862388"/>
              <a:ext cx="1214437" cy="2143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914400" y="4614863"/>
              <a:ext cx="1214438" cy="2143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914400" y="5000625"/>
              <a:ext cx="1214438" cy="2143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7" name="文字方塊 6"/>
            <p:cNvSpPr txBox="1">
              <a:spLocks noChangeArrowheads="1"/>
            </p:cNvSpPr>
            <p:nvPr/>
          </p:nvSpPr>
          <p:spPr bwMode="auto">
            <a:xfrm>
              <a:off x="3357563" y="3357563"/>
              <a:ext cx="6019800" cy="168433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TW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FRM</a:t>
              </a:r>
              <a:r>
                <a:rPr kumimoji="0" lang="zh-TW" altLang="en-US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　  </a:t>
              </a:r>
              <a:r>
                <a:rPr kumimoji="0"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所有表單程式</a:t>
              </a:r>
              <a:r>
                <a:rPr kumimoji="0"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 </a:t>
              </a:r>
              <a:r>
                <a:rPr kumimoji="0" lang="en-US" altLang="zh-TW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kumimoji="0"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所有開發的表單放置處</a:t>
              </a:r>
              <a:r>
                <a:rPr kumimoji="0" lang="en-US" altLang="zh-TW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kumimoji="0"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Bef>
                  <a:spcPct val="50000"/>
                </a:spcBef>
              </a:pPr>
              <a:r>
                <a:rPr kumimoji="0"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　　  　</a:t>
              </a:r>
              <a:r>
                <a:rPr kumimoji="0" lang="en-US" altLang="zh-TW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【</a:t>
              </a:r>
              <a:r>
                <a:rPr kumimoji="0" lang="zh-TW" altLang="en-US" sz="15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表單如果沒有放在此資料夾，就不能在原稿收件夾打開</a:t>
              </a:r>
              <a:r>
                <a:rPr kumimoji="0" lang="en-US" altLang="zh-TW" sz="15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】</a:t>
              </a:r>
              <a:endPara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Bef>
                  <a:spcPct val="50000"/>
                </a:spcBef>
              </a:pPr>
              <a:r>
                <a:rPr kumimoji="0" lang="en-US" altLang="zh-TW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PRM</a:t>
              </a:r>
              <a:r>
                <a:rPr kumimoji="0" lang="zh-TW" altLang="en-US" sz="1600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　   </a:t>
              </a:r>
              <a:r>
                <a:rPr kumimoji="0"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所有管理程式。</a:t>
              </a:r>
              <a:endParaRPr kumimoji="0"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Bef>
                  <a:spcPct val="50000"/>
                </a:spcBef>
              </a:pPr>
              <a:endParaRPr kumimoji="0" lang="en-US" altLang="zh-TW" sz="5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Bef>
                  <a:spcPct val="50000"/>
                </a:spcBef>
              </a:pPr>
              <a:r>
                <a:rPr kumimoji="0" lang="en-US" altLang="zh-TW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RPT</a:t>
              </a:r>
              <a:r>
                <a:rPr kumimoji="0" lang="zh-TW" altLang="en-US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　 </a:t>
              </a:r>
              <a:r>
                <a:rPr kumimoji="0"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所有報表程式</a:t>
              </a:r>
              <a:r>
                <a:rPr kumimoji="0"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</a:t>
              </a:r>
              <a:r>
                <a:rPr kumimoji="0" lang="en-US" altLang="zh-TW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(Reporting Services)</a:t>
              </a:r>
              <a:endParaRPr kumimoji="0"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38" name="直線單箭頭接點 37"/>
            <p:cNvCxnSpPr>
              <a:stCxn id="34" idx="3"/>
              <a:endCxn id="37" idx="1"/>
            </p:cNvCxnSpPr>
            <p:nvPr/>
          </p:nvCxnSpPr>
          <p:spPr>
            <a:xfrm>
              <a:off x="2143125" y="3970338"/>
              <a:ext cx="1214438" cy="23018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>
              <a:stCxn id="35" idx="3"/>
              <a:endCxn id="37" idx="1"/>
            </p:cNvCxnSpPr>
            <p:nvPr/>
          </p:nvCxnSpPr>
          <p:spPr>
            <a:xfrm flipV="1">
              <a:off x="2128838" y="4200525"/>
              <a:ext cx="1228725" cy="5222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36" idx="3"/>
              <a:endCxn id="37" idx="1"/>
            </p:cNvCxnSpPr>
            <p:nvPr/>
          </p:nvCxnSpPr>
          <p:spPr>
            <a:xfrm flipV="1">
              <a:off x="2128838" y="4200525"/>
              <a:ext cx="1228725" cy="90805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693025" y="6445250"/>
            <a:ext cx="1450975" cy="412750"/>
          </a:xfrm>
        </p:spPr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8"/>
          <p:cNvSpPr txBox="1">
            <a:spLocks noChangeArrowheads="1"/>
          </p:cNvSpPr>
          <p:nvPr/>
        </p:nvSpPr>
        <p:spPr bwMode="auto">
          <a:xfrm>
            <a:off x="1357313" y="2851155"/>
            <a:ext cx="6858000" cy="1292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資料庫結構</a:t>
            </a:r>
            <a:endParaRPr lang="en-US" altLang="zh-TW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　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EF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主要的資料庫：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EFNETSYS(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系統別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EFNETDB(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公司別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5" name="Picture 2" descr="C:\Users\Administrator\Desktop\ppt\ppt\2011-07-10_001252.bmp"/>
          <p:cNvPicPr>
            <a:picLocks noChangeAspect="1" noChangeArrowheads="1"/>
          </p:cNvPicPr>
          <p:nvPr/>
        </p:nvPicPr>
        <p:blipFill>
          <a:blip r:embed="rId1"/>
          <a:srcRect t="27438"/>
          <a:stretch>
            <a:fillRect/>
          </a:stretch>
        </p:blipFill>
        <p:spPr bwMode="auto">
          <a:xfrm>
            <a:off x="500063" y="1357313"/>
            <a:ext cx="7751762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字方塊 5"/>
          <p:cNvSpPr txBox="1"/>
          <p:nvPr/>
        </p:nvSpPr>
        <p:spPr>
          <a:xfrm>
            <a:off x="357188" y="500063"/>
            <a:ext cx="428625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ea typeface="新細明體" panose="02020500000000000000" charset="-120"/>
              </a:rPr>
              <a:t>【EFNETSYS】</a:t>
            </a:r>
            <a:r>
              <a:rPr lang="zh-TW" altLang="en-US" sz="2400" dirty="0">
                <a:ea typeface="新細明體" panose="02020500000000000000" charset="-120"/>
              </a:rPr>
              <a:t>系統別資料庫</a:t>
            </a:r>
            <a:endParaRPr lang="zh-TW" altLang="en-US" sz="2400" dirty="0">
              <a:ea typeface="新細明體" panose="02020500000000000000" charset="-120"/>
            </a:endParaRPr>
          </a:p>
        </p:txBody>
      </p:sp>
      <p:pic>
        <p:nvPicPr>
          <p:cNvPr id="7" name="Picture 3" descr="C:\Users\Administrator\Desktop\ppt\ppt\2011-07-10_001321.bmp"/>
          <p:cNvPicPr>
            <a:picLocks noChangeAspect="1" noChangeArrowheads="1"/>
          </p:cNvPicPr>
          <p:nvPr/>
        </p:nvPicPr>
        <p:blipFill>
          <a:blip r:embed="rId2"/>
          <a:srcRect t="19424"/>
          <a:stretch>
            <a:fillRect/>
          </a:stretch>
        </p:blipFill>
        <p:spPr bwMode="auto">
          <a:xfrm>
            <a:off x="500063" y="4929188"/>
            <a:ext cx="7789862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 descr="C:\Users\Administrator\Desktop\ppt\ppt\2011-07-10_001957.bmp"/>
          <p:cNvPicPr>
            <a:picLocks noChangeAspect="1" noChangeArrowheads="1"/>
          </p:cNvPicPr>
          <p:nvPr/>
        </p:nvPicPr>
        <p:blipFill>
          <a:blip r:embed="rId3"/>
          <a:srcRect t="22322"/>
          <a:stretch>
            <a:fillRect/>
          </a:stretch>
        </p:blipFill>
        <p:spPr bwMode="auto">
          <a:xfrm>
            <a:off x="500063" y="3000375"/>
            <a:ext cx="7780337" cy="1243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" descr="C:\Users\Administrator\Desktop\ppt\ppt\2011-07-10_080522.bmp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57750" y="2214563"/>
            <a:ext cx="41052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6" descr="C:\Users\Administrator\Desktop\ppt\ppt\2011-07-10_080627.bmp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57775" y="3857625"/>
            <a:ext cx="40862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7" descr="C:\Users\Administrator\Desktop\ppt\ppt\2011-07-10_080654.bmp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00625" y="5815013"/>
            <a:ext cx="32289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群組 16"/>
          <p:cNvGrpSpPr/>
          <p:nvPr/>
        </p:nvGrpSpPr>
        <p:grpSpPr bwMode="auto">
          <a:xfrm>
            <a:off x="6643688" y="6000750"/>
            <a:ext cx="2143125" cy="665163"/>
            <a:chOff x="6643688" y="6000750"/>
            <a:chExt cx="2143125" cy="665163"/>
          </a:xfrm>
        </p:grpSpPr>
        <p:cxnSp>
          <p:nvCxnSpPr>
            <p:cNvPr id="13" name="直線單箭頭接點 12"/>
            <p:cNvCxnSpPr/>
            <p:nvPr/>
          </p:nvCxnSpPr>
          <p:spPr>
            <a:xfrm rot="16200000" flipV="1">
              <a:off x="7500938" y="6000750"/>
              <a:ext cx="357188" cy="35718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6643688" y="6357938"/>
              <a:ext cx="2143125" cy="30797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MB003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$$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轉換依據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5" name="群組 13"/>
          <p:cNvGrpSpPr/>
          <p:nvPr/>
        </p:nvGrpSpPr>
        <p:grpSpPr bwMode="auto">
          <a:xfrm>
            <a:off x="6143625" y="4500563"/>
            <a:ext cx="2214563" cy="307975"/>
            <a:chOff x="6143625" y="4500563"/>
            <a:chExt cx="2214563" cy="307975"/>
          </a:xfrm>
        </p:grpSpPr>
        <p:sp>
          <p:nvSpPr>
            <p:cNvPr id="16" name="文字方塊 15"/>
            <p:cNvSpPr txBox="1"/>
            <p:nvPr/>
          </p:nvSpPr>
          <p:spPr>
            <a:xfrm>
              <a:off x="6143625" y="4500563"/>
              <a:ext cx="1800225" cy="30797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密碼會經過加密處理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7" name="直線單箭頭接點 16"/>
            <p:cNvCxnSpPr>
              <a:stCxn id="16" idx="3"/>
            </p:cNvCxnSpPr>
            <p:nvPr/>
          </p:nvCxnSpPr>
          <p:spPr>
            <a:xfrm flipV="1">
              <a:off x="7943850" y="4500563"/>
              <a:ext cx="414338" cy="15398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8" name="文字方塊 17"/>
          <p:cNvSpPr txBox="1"/>
          <p:nvPr/>
        </p:nvSpPr>
        <p:spPr>
          <a:xfrm>
            <a:off x="571500" y="1000125"/>
            <a:ext cx="7286625" cy="42465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US" altLang="zh-TW" dirty="0">
                <a:ea typeface="新細明體" panose="02020500000000000000" charset="-120"/>
              </a:rPr>
              <a:t>CRMZZ</a:t>
            </a: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　使用者登入歷程</a:t>
            </a:r>
            <a:endParaRPr lang="en-US" altLang="zh-TW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en-US" altLang="zh-TW" dirty="0">
                <a:ea typeface="新細明體" panose="02020500000000000000" charset="-120"/>
              </a:rPr>
              <a:t>DSCMA</a:t>
            </a: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　登入者帳號設定檔</a:t>
            </a:r>
            <a:endParaRPr lang="en-US" altLang="zh-TW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en-US" altLang="zh-TW" dirty="0">
                <a:ea typeface="新細明體" panose="02020500000000000000" charset="-120"/>
              </a:rPr>
              <a:t>DSCMB</a:t>
            </a: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　多公司</a:t>
            </a:r>
            <a:r>
              <a:rPr lang="zh-TW" altLang="en-US" dirty="0">
                <a:ea typeface="新細明體" panose="02020500000000000000" charset="-120"/>
              </a:rPr>
              <a:t>資料庫</a:t>
            </a: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設定檔</a:t>
            </a:r>
            <a:endParaRPr lang="zh-TW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zh-TW" altLang="en-US" dirty="0">
              <a:ea typeface="新細明體" panose="02020500000000000000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4"/>
          <p:cNvSpPr txBox="1"/>
          <p:nvPr/>
        </p:nvSpPr>
        <p:spPr>
          <a:xfrm>
            <a:off x="571500" y="925532"/>
            <a:ext cx="2928938" cy="2862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zh-TW" altLang="en-US" dirty="0">
                <a:latin typeface="+mn-lt"/>
                <a:ea typeface="新細明體" panose="02020500000000000000" charset="-120"/>
              </a:rPr>
              <a:t>系統參數設定檔 </a:t>
            </a:r>
            <a:r>
              <a:rPr lang="en-US" altLang="zh-TW" dirty="0">
                <a:latin typeface="+mn-lt"/>
                <a:ea typeface="新細明體" panose="02020500000000000000" charset="-120"/>
              </a:rPr>
              <a:t>(</a:t>
            </a:r>
            <a:r>
              <a:rPr lang="en-US" altLang="zh-TW" dirty="0" err="1">
                <a:latin typeface="+mn-lt"/>
                <a:ea typeface="新細明體" panose="02020500000000000000" charset="-120"/>
              </a:rPr>
              <a:t>sysba</a:t>
            </a:r>
            <a:r>
              <a:rPr lang="en-US" altLang="zh-TW" dirty="0">
                <a:latin typeface="+mn-lt"/>
                <a:ea typeface="新細明體" panose="02020500000000000000" charset="-120"/>
              </a:rPr>
              <a:t>)</a:t>
            </a:r>
            <a:endParaRPr lang="en-US" altLang="zh-TW" dirty="0">
              <a:latin typeface="+mn-lt"/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latin typeface="+mn-lt"/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latin typeface="+mn-lt"/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latin typeface="+mn-lt"/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latin typeface="+mn-lt"/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latin typeface="+mn-lt"/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latin typeface="+mn-lt"/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latin typeface="+mn-lt"/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 lang="en-US" altLang="zh-TW" dirty="0">
              <a:latin typeface="+mn-lt"/>
              <a:ea typeface="新細明體" panose="02020500000000000000" charset="-120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zh-TW" altLang="en-US" dirty="0">
                <a:ea typeface="新細明體" panose="02020500000000000000" charset="-120"/>
              </a:rPr>
              <a:t>表單性質定義檔 </a:t>
            </a:r>
            <a:r>
              <a:rPr lang="en-US" altLang="zh-TW" dirty="0">
                <a:ea typeface="新細明體" panose="02020500000000000000" charset="-120"/>
              </a:rPr>
              <a:t>(</a:t>
            </a:r>
            <a:r>
              <a:rPr lang="en-US" altLang="zh-TW" dirty="0" err="1">
                <a:ea typeface="新細明體" panose="02020500000000000000" charset="-120"/>
              </a:rPr>
              <a:t>resca</a:t>
            </a:r>
            <a:r>
              <a:rPr lang="en-US" altLang="zh-TW" dirty="0">
                <a:ea typeface="新細明體" panose="02020500000000000000" charset="-120"/>
              </a:rPr>
              <a:t>)</a:t>
            </a:r>
            <a:endParaRPr lang="zh-TW" altLang="en-US" dirty="0">
              <a:latin typeface="+mn-lt"/>
              <a:ea typeface="新細明體" panose="02020500000000000000" charset="-120"/>
            </a:endParaRPr>
          </a:p>
        </p:txBody>
      </p:sp>
      <p:pic>
        <p:nvPicPr>
          <p:cNvPr id="6" name="Picture 3" descr="C:\Users\Administrator\Desktop\ppt\ppt\2011-07-10_095324.bmp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42938" y="1354157"/>
            <a:ext cx="8332787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6"/>
          <p:cNvSpPr txBox="1"/>
          <p:nvPr/>
        </p:nvSpPr>
        <p:spPr>
          <a:xfrm>
            <a:off x="5643563" y="2568595"/>
            <a:ext cx="3249612" cy="923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zh-TW" dirty="0"/>
              <a:t>sysba001</a:t>
            </a:r>
            <a:r>
              <a:rPr lang="zh-TW" altLang="en-US" dirty="0"/>
              <a:t>：參數代號</a:t>
            </a:r>
            <a:endParaRPr lang="en-US" altLang="zh-TW" dirty="0"/>
          </a:p>
          <a:p>
            <a:pPr>
              <a:defRPr/>
            </a:pPr>
            <a:r>
              <a:rPr lang="en-US" altLang="zh-TW" dirty="0"/>
              <a:t>sysba002</a:t>
            </a:r>
            <a:r>
              <a:rPr lang="zh-TW" altLang="en-US" dirty="0"/>
              <a:t>：參數內容</a:t>
            </a:r>
            <a:endParaRPr lang="zh-TW" altLang="en-US" dirty="0"/>
          </a:p>
          <a:p>
            <a:pPr>
              <a:defRPr/>
            </a:pPr>
            <a:r>
              <a:rPr lang="en-US" altLang="zh-TW" dirty="0"/>
              <a:t>sysba003</a:t>
            </a:r>
            <a:r>
              <a:rPr lang="zh-TW" altLang="en-US" dirty="0"/>
              <a:t>：參數繁體中文說明</a:t>
            </a:r>
            <a:endParaRPr lang="zh-TW" altLang="en-US" dirty="0"/>
          </a:p>
        </p:txBody>
      </p:sp>
      <p:pic>
        <p:nvPicPr>
          <p:cNvPr id="8" name="Picture 4" descr="C:\Users\Administrator\Desktop\ppt\ppt\2011-07-10_095802.bmp"/>
          <p:cNvPicPr>
            <a:picLocks noChangeAspect="1" noChangeArrowheads="1"/>
          </p:cNvPicPr>
          <p:nvPr/>
        </p:nvPicPr>
        <p:blipFill>
          <a:blip r:embed="rId2"/>
          <a:srcRect r="42307"/>
          <a:stretch>
            <a:fillRect/>
          </a:stretch>
        </p:blipFill>
        <p:spPr bwMode="auto">
          <a:xfrm>
            <a:off x="642938" y="3854470"/>
            <a:ext cx="7786687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字方塊 8"/>
          <p:cNvSpPr txBox="1"/>
          <p:nvPr/>
        </p:nvSpPr>
        <p:spPr>
          <a:xfrm>
            <a:off x="5715000" y="4211657"/>
            <a:ext cx="2178050" cy="923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zh-TW" dirty="0"/>
              <a:t>resca001</a:t>
            </a:r>
            <a:r>
              <a:rPr lang="zh-TW" altLang="en-US" dirty="0"/>
              <a:t>：表單代號</a:t>
            </a:r>
            <a:endParaRPr lang="en-US" altLang="zh-TW" dirty="0"/>
          </a:p>
          <a:p>
            <a:pPr>
              <a:defRPr/>
            </a:pPr>
            <a:r>
              <a:rPr lang="en-US" altLang="zh-TW" dirty="0"/>
              <a:t>resca002</a:t>
            </a:r>
            <a:r>
              <a:rPr lang="zh-TW" altLang="en-US" dirty="0"/>
              <a:t>：表單簡稱</a:t>
            </a:r>
            <a:endParaRPr lang="zh-TW" altLang="en-US" dirty="0"/>
          </a:p>
          <a:p>
            <a:pPr>
              <a:defRPr/>
            </a:pPr>
            <a:r>
              <a:rPr lang="en-US" altLang="zh-TW" dirty="0"/>
              <a:t>resca003</a:t>
            </a:r>
            <a:r>
              <a:rPr lang="zh-TW" altLang="en-US" dirty="0"/>
              <a:t>：表單名稱</a:t>
            </a:r>
            <a:endParaRPr lang="zh-TW" altLang="en-US" dirty="0"/>
          </a:p>
        </p:txBody>
      </p:sp>
      <p:sp>
        <p:nvSpPr>
          <p:cNvPr id="11" name="文字方塊 9"/>
          <p:cNvSpPr txBox="1">
            <a:spLocks noChangeArrowheads="1"/>
          </p:cNvSpPr>
          <p:nvPr/>
        </p:nvSpPr>
        <p:spPr bwMode="auto">
          <a:xfrm>
            <a:off x="500063" y="5568970"/>
            <a:ext cx="6340262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dirty="0"/>
              <a:t>※</a:t>
            </a:r>
            <a:r>
              <a:rPr lang="zh-TW" altLang="en-US" dirty="0"/>
              <a:t>查詢</a:t>
            </a:r>
            <a:r>
              <a:rPr lang="en-US" altLang="zh-TW" dirty="0"/>
              <a:t>Table Schema</a:t>
            </a:r>
            <a:r>
              <a:rPr lang="zh-TW" altLang="en-US" dirty="0"/>
              <a:t>的方式：開啟</a:t>
            </a:r>
            <a:r>
              <a:rPr lang="en-US" altLang="zh-TW" dirty="0" err="1"/>
              <a:t>EasyFlow</a:t>
            </a:r>
            <a:r>
              <a:rPr lang="zh-TW" altLang="en-US" dirty="0"/>
              <a:t>站台，點選</a:t>
            </a:r>
            <a:r>
              <a:rPr lang="zh-TW" altLang="en-US" dirty="0" smtClean="0"/>
              <a:t>下方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/>
              <a:t>			</a:t>
            </a:r>
            <a:r>
              <a:rPr lang="zh-TW" altLang="en-US" dirty="0"/>
              <a:t>　  點選「資料庫結構」即可查詢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357188" y="500063"/>
            <a:ext cx="428625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ea typeface="新細明體" panose="02020500000000000000" charset="-120"/>
              </a:rPr>
              <a:t>【 EFNETDB】</a:t>
            </a:r>
            <a:r>
              <a:rPr lang="zh-TW" altLang="en-US" sz="2400" dirty="0">
                <a:ea typeface="新細明體" panose="02020500000000000000" charset="-120"/>
              </a:rPr>
              <a:t>公司別資料庫</a:t>
            </a:r>
            <a:endParaRPr lang="zh-TW" altLang="en-US" sz="2400" dirty="0">
              <a:ea typeface="新細明體" panose="02020500000000000000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5929330"/>
            <a:ext cx="75914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693025" y="6445250"/>
            <a:ext cx="1450975" cy="412750"/>
          </a:xfrm>
        </p:spPr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文字方塊 8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043608" y="2730997"/>
            <a:ext cx="7020272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TW" altLang="en-US" sz="60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程式架構</a:t>
            </a:r>
            <a:endParaRPr lang="en-US" altLang="zh-TW" sz="6000" b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6015038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單檔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一個表單只對應一個資料表  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ex: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簽呈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55650" y="1268413"/>
            <a:ext cx="7515225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6399213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雙檔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一個表單對應兩個資料表   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ex: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雜項請購單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69925" y="1385888"/>
            <a:ext cx="8143875" cy="482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693025" y="6445250"/>
            <a:ext cx="1450975" cy="412750"/>
          </a:xfrm>
        </p:spPr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文字方塊 8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28662" y="3270593"/>
            <a:ext cx="7020272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TW" altLang="en-US" sz="60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單檔</a:t>
            </a:r>
            <a:endParaRPr lang="en-US" altLang="zh-TW" sz="6000" b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1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4282" y="1500174"/>
            <a:ext cx="7072362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/>
            <a:r>
              <a:rPr lang="en-US" altLang="zh-TW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單檔</a:t>
            </a:r>
            <a:r>
              <a:rPr lang="en-US" altLang="zh-TW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表單精靈產出以下檔案</a:t>
            </a:r>
            <a:endParaRPr lang="en-US" altLang="zh-TW" sz="2400" b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en-US" altLang="zh-TW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   路徑</a:t>
            </a:r>
            <a:r>
              <a:rPr lang="en-US" altLang="zh-TW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D:\EasyFlow\EFNET\src\FRM\FormID</a:t>
            </a:r>
            <a:endParaRPr lang="en-US" altLang="zh-TW" sz="2400" b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44864" y="2500306"/>
            <a:ext cx="8199102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39878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單檔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】UI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結構：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FormID.aspx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539750" y="893763"/>
            <a:ext cx="8507413" cy="5678487"/>
            <a:chOff x="539750" y="893763"/>
            <a:chExt cx="8507413" cy="5678487"/>
          </a:xfrm>
        </p:grpSpPr>
        <p:graphicFrame>
          <p:nvGraphicFramePr>
            <p:cNvPr id="6" name="Object 16"/>
            <p:cNvGraphicFramePr>
              <a:graphicFrameLocks noChangeAspect="1"/>
            </p:cNvGraphicFramePr>
            <p:nvPr/>
          </p:nvGraphicFramePr>
          <p:xfrm>
            <a:off x="4140200" y="893763"/>
            <a:ext cx="4906963" cy="5678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1" imgW="8173085" imgH="9460230" progId="">
                    <p:embed/>
                  </p:oleObj>
                </mc:Choice>
                <mc:Fallback>
                  <p:oleObj name="" r:id="rId1" imgW="8173085" imgH="9460230" progId="">
                    <p:embed/>
                    <p:pic>
                      <p:nvPicPr>
                        <p:cNvPr id="0" name="Object 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140200" y="893763"/>
                          <a:ext cx="4906963" cy="567848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文字方塊 6"/>
            <p:cNvSpPr txBox="1">
              <a:spLocks noChangeArrowheads="1"/>
            </p:cNvSpPr>
            <p:nvPr/>
          </p:nvSpPr>
          <p:spPr bwMode="auto">
            <a:xfrm>
              <a:off x="539750" y="1989138"/>
              <a:ext cx="2482850" cy="36988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  <p:txBody>
            <a:bodyPr>
              <a:spAutoFit/>
            </a:bodyPr>
            <a:lstStyle/>
            <a:p>
              <a:r>
                <a:rPr lang="zh-TW" altLang="en-US"/>
                <a:t>位置</a:t>
              </a:r>
              <a:r>
                <a:rPr lang="en-US" altLang="zh-TW"/>
                <a:t>1</a:t>
              </a:r>
              <a:r>
                <a:rPr lang="zh-TW" altLang="en-US"/>
                <a:t>：單頭頁籤</a:t>
              </a:r>
              <a:endParaRPr lang="zh-TW" altLang="en-US"/>
            </a:p>
          </p:txBody>
        </p:sp>
        <p:sp>
          <p:nvSpPr>
            <p:cNvPr id="8" name="文字方塊 13"/>
            <p:cNvSpPr txBox="1">
              <a:spLocks noChangeArrowheads="1"/>
            </p:cNvSpPr>
            <p:nvPr/>
          </p:nvSpPr>
          <p:spPr bwMode="auto">
            <a:xfrm>
              <a:off x="539750" y="3284538"/>
              <a:ext cx="2416175" cy="36988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  <p:txBody>
            <a:bodyPr>
              <a:spAutoFit/>
            </a:bodyPr>
            <a:lstStyle/>
            <a:p>
              <a:r>
                <a:rPr lang="zh-TW" altLang="en-US"/>
                <a:t>位置</a:t>
              </a:r>
              <a:r>
                <a:rPr lang="en-US" altLang="zh-TW"/>
                <a:t>2</a:t>
              </a:r>
              <a:r>
                <a:rPr lang="zh-TW" altLang="en-US"/>
                <a:t>：單頭頁籤畫面</a:t>
              </a:r>
              <a:endParaRPr lang="en-US" altLang="zh-TW"/>
            </a:p>
          </p:txBody>
        </p:sp>
        <p:sp>
          <p:nvSpPr>
            <p:cNvPr id="9" name="文字方塊 17"/>
            <p:cNvSpPr txBox="1">
              <a:spLocks noChangeArrowheads="1"/>
            </p:cNvSpPr>
            <p:nvPr/>
          </p:nvSpPr>
          <p:spPr bwMode="auto">
            <a:xfrm>
              <a:off x="539750" y="4508500"/>
              <a:ext cx="2376488" cy="36988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  <p:txBody>
            <a:bodyPr>
              <a:spAutoFit/>
            </a:bodyPr>
            <a:lstStyle/>
            <a:p>
              <a:r>
                <a:rPr lang="zh-TW" altLang="en-US"/>
                <a:t>位置</a:t>
              </a:r>
              <a:r>
                <a:rPr lang="en-US" altLang="zh-TW"/>
                <a:t>3</a:t>
              </a:r>
              <a:r>
                <a:rPr lang="zh-TW" altLang="en-US"/>
                <a:t>：隱藏區</a:t>
              </a:r>
              <a:endParaRPr lang="en-US" altLang="zh-TW"/>
            </a:p>
          </p:txBody>
        </p:sp>
        <p:cxnSp>
          <p:nvCxnSpPr>
            <p:cNvPr id="10" name="直線單箭頭接點 9"/>
            <p:cNvCxnSpPr>
              <a:stCxn id="9" idx="3"/>
            </p:cNvCxnSpPr>
            <p:nvPr/>
          </p:nvCxnSpPr>
          <p:spPr>
            <a:xfrm flipV="1">
              <a:off x="2916238" y="4508500"/>
              <a:ext cx="1511300" cy="18573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>
              <a:stCxn id="9" idx="3"/>
            </p:cNvCxnSpPr>
            <p:nvPr/>
          </p:nvCxnSpPr>
          <p:spPr>
            <a:xfrm>
              <a:off x="2916238" y="4694238"/>
              <a:ext cx="1511300" cy="53498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" name="直線單箭頭接點 11"/>
            <p:cNvCxnSpPr>
              <a:stCxn id="8" idx="3"/>
            </p:cNvCxnSpPr>
            <p:nvPr/>
          </p:nvCxnSpPr>
          <p:spPr>
            <a:xfrm>
              <a:off x="2955925" y="3470275"/>
              <a:ext cx="1616075" cy="3016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>
              <a:stCxn id="7" idx="3"/>
            </p:cNvCxnSpPr>
            <p:nvPr/>
          </p:nvCxnSpPr>
          <p:spPr>
            <a:xfrm>
              <a:off x="3022600" y="2173288"/>
              <a:ext cx="1404938" cy="17621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39878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單檔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】UI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結構：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FormID.aspx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21"/>
          <p:cNvSpPr txBox="1">
            <a:spLocks noChangeArrowheads="1"/>
          </p:cNvSpPr>
          <p:nvPr/>
        </p:nvSpPr>
        <p:spPr bwMode="auto">
          <a:xfrm>
            <a:off x="571500" y="1143000"/>
            <a:ext cx="4786313" cy="36988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>
            <a:spAutoFit/>
          </a:bodyPr>
          <a:lstStyle/>
          <a:p>
            <a:r>
              <a:rPr lang="zh-TW" altLang="en-US"/>
              <a:t>位置</a:t>
            </a:r>
            <a:r>
              <a:rPr lang="en-US" altLang="zh-TW"/>
              <a:t>2</a:t>
            </a:r>
            <a:r>
              <a:rPr lang="zh-TW" altLang="en-US"/>
              <a:t>：單頭頁籤畫面</a:t>
            </a:r>
            <a:r>
              <a:rPr lang="en-US" altLang="zh-TW"/>
              <a:t>DSC</a:t>
            </a:r>
            <a:r>
              <a:rPr lang="zh-TW" altLang="en-US"/>
              <a:t>控制項放置處</a:t>
            </a:r>
            <a:endParaRPr lang="en-US" altLang="zh-TW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71500" y="1643063"/>
            <a:ext cx="7858125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5"/>
          <p:cNvSpPr txBox="1">
            <a:spLocks noChangeArrowheads="1"/>
          </p:cNvSpPr>
          <p:nvPr/>
        </p:nvSpPr>
        <p:spPr bwMode="auto">
          <a:xfrm>
            <a:off x="642938" y="1143000"/>
            <a:ext cx="8215312" cy="646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　初始化設定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Page_Load()</a:t>
            </a:r>
            <a:endParaRPr lang="en-US" altLang="zh-TW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46386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單檔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後端程式：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FormID.aspx.cs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5"/>
          <p:cNvSpPr txBox="1">
            <a:spLocks noChangeArrowheads="1"/>
          </p:cNvSpPr>
          <p:nvPr/>
        </p:nvSpPr>
        <p:spPr bwMode="auto">
          <a:xfrm>
            <a:off x="642938" y="2000250"/>
            <a:ext cx="8215312" cy="646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TW" altLang="en-US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¤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基本設定　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設定表單屬性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setBasicInfo()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6"/>
          <p:cNvSpPr txBox="1">
            <a:spLocks noChangeArrowheads="1"/>
          </p:cNvSpPr>
          <p:nvPr/>
        </p:nvSpPr>
        <p:spPr bwMode="auto">
          <a:xfrm>
            <a:off x="642938" y="2857500"/>
            <a:ext cx="7143750" cy="646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　單頭預設值</a:t>
            </a:r>
            <a:endParaRPr lang="zh-TW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TW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SetDefaultValue()</a:t>
            </a:r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7"/>
          <p:cNvSpPr txBox="1">
            <a:spLocks noChangeArrowheads="1"/>
          </p:cNvSpPr>
          <p:nvPr/>
        </p:nvSpPr>
        <p:spPr bwMode="auto">
          <a:xfrm>
            <a:off x="642938" y="3644900"/>
            <a:ext cx="7143750" cy="646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　控制項前端屬性註冊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settingClientFunction()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8"/>
          <p:cNvSpPr txBox="1">
            <a:spLocks noChangeArrowheads="1"/>
          </p:cNvSpPr>
          <p:nvPr/>
        </p:nvSpPr>
        <p:spPr bwMode="auto">
          <a:xfrm>
            <a:off x="642938" y="4508500"/>
            <a:ext cx="7143750" cy="646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　自動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MIMJ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註冊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buildMiMjManager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8"/>
          <p:cNvSpPr txBox="1">
            <a:spLocks noChangeArrowheads="1"/>
          </p:cNvSpPr>
          <p:nvPr/>
        </p:nvSpPr>
        <p:spPr bwMode="auto">
          <a:xfrm>
            <a:off x="623888" y="5373688"/>
            <a:ext cx="7143750" cy="646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呈現至前端前最後執行的函數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Page_Prender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24257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單檔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FormID.js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>
            <a:spLocks noChangeArrowheads="1"/>
          </p:cNvSpPr>
          <p:nvPr/>
        </p:nvSpPr>
        <p:spPr bwMode="auto">
          <a:xfrm>
            <a:off x="642938" y="1143000"/>
            <a:ext cx="8215312" cy="3416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單頭自訂驗證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CustomerSaveCheck_Head</a:t>
            </a:r>
            <a:r>
              <a:rPr lang="en-US" altLang="zh-TW" dirty="0"/>
              <a:t>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(tStatus)</a:t>
            </a:r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表單主旨自動產生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SetCustomSubject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CheckBox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RadioButton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觸發必填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TextBox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chkTriggerFieldNull_Head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欄位運算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domath_</a:t>
            </a:r>
            <a:r>
              <a:rPr lang="zh-TW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欄位代號</a:t>
            </a:r>
            <a:r>
              <a:rPr lang="zh-TW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endParaRPr lang="zh-TW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693025" y="6445250"/>
            <a:ext cx="1450975" cy="412750"/>
          </a:xfrm>
        </p:spPr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文字方塊 8"/>
          <p:cNvSpPr txBox="1">
            <a:spLocks noChangeArrowheads="1"/>
          </p:cNvSpPr>
          <p:nvPr/>
        </p:nvSpPr>
        <p:spPr bwMode="auto">
          <a:xfrm>
            <a:off x="1143000" y="3143250"/>
            <a:ext cx="6858000" cy="101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雙檔</a:t>
            </a:r>
            <a:endParaRPr lang="en-US" altLang="zh-TW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1"/>
          <p:cNvSpPr txBox="1">
            <a:spLocks noChangeArrowheads="1"/>
          </p:cNvSpPr>
          <p:nvPr/>
        </p:nvSpPr>
        <p:spPr bwMode="auto">
          <a:xfrm>
            <a:off x="428596" y="571480"/>
            <a:ext cx="7456488" cy="892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雙檔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表單精靈產出以下檔案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路徑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D:\EasyFlow\EFNET\src\FRM\FormID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8" name="群組 27"/>
          <p:cNvGrpSpPr/>
          <p:nvPr/>
        </p:nvGrpSpPr>
        <p:grpSpPr>
          <a:xfrm>
            <a:off x="684213" y="1773238"/>
            <a:ext cx="7934325" cy="3671887"/>
            <a:chOff x="684213" y="1773238"/>
            <a:chExt cx="7934325" cy="3671887"/>
          </a:xfrm>
        </p:grpSpPr>
        <p:pic>
          <p:nvPicPr>
            <p:cNvPr id="13" name="Picture 21"/>
            <p:cNvPicPr>
              <a:picLocks noChangeAspect="1" noChangeArrowheads="1"/>
            </p:cNvPicPr>
            <p:nvPr/>
          </p:nvPicPr>
          <p:blipFill>
            <a:blip r:embed="rId1"/>
            <a:srcRect b="10982"/>
            <a:stretch>
              <a:fillRect/>
            </a:stretch>
          </p:blipFill>
          <p:spPr bwMode="auto">
            <a:xfrm>
              <a:off x="684213" y="1773238"/>
              <a:ext cx="7934325" cy="3671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矩形 13"/>
            <p:cNvSpPr/>
            <p:nvPr/>
          </p:nvSpPr>
          <p:spPr>
            <a:xfrm>
              <a:off x="785813" y="4143375"/>
              <a:ext cx="2071687" cy="50006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cxnSp>
          <p:nvCxnSpPr>
            <p:cNvPr id="15" name="直線單箭頭接點 14"/>
            <p:cNvCxnSpPr/>
            <p:nvPr/>
          </p:nvCxnSpPr>
          <p:spPr>
            <a:xfrm>
              <a:off x="2357438" y="3286125"/>
              <a:ext cx="785812" cy="1588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單箭頭接點 15"/>
            <p:cNvCxnSpPr/>
            <p:nvPr/>
          </p:nvCxnSpPr>
          <p:spPr>
            <a:xfrm>
              <a:off x="2428875" y="3571875"/>
              <a:ext cx="857250" cy="1588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/>
            <p:nvPr/>
          </p:nvCxnSpPr>
          <p:spPr>
            <a:xfrm>
              <a:off x="2286000" y="4000500"/>
              <a:ext cx="1143000" cy="1588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/>
            <p:nvPr/>
          </p:nvCxnSpPr>
          <p:spPr>
            <a:xfrm>
              <a:off x="2786063" y="5070475"/>
              <a:ext cx="1143000" cy="1588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3071813" y="3162300"/>
              <a:ext cx="1398587" cy="33813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TW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表單畫面</a:t>
              </a:r>
              <a:r>
                <a:rPr lang="en-US" altLang="zh-TW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(UI) </a:t>
              </a:r>
              <a:endParaRPr lang="zh-TW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3214688" y="3429000"/>
              <a:ext cx="5108575" cy="33813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TW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初始值設定、語系、元件事件、欄位控制、資料更新</a:t>
              </a:r>
              <a:r>
                <a:rPr lang="en-US" altLang="zh-TW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…</a:t>
              </a:r>
              <a:endParaRPr lang="zh-TW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3429000" y="3857625"/>
              <a:ext cx="2852738" cy="33813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TW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欄位檢查、運算、自訂主旨</a:t>
              </a:r>
              <a:r>
                <a:rPr lang="en-US" altLang="zh-TW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…</a:t>
              </a:r>
              <a:endParaRPr lang="zh-TW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3929063" y="4857750"/>
              <a:ext cx="3149600" cy="33813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TW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呼叫</a:t>
              </a:r>
              <a:r>
                <a:rPr lang="en-US" altLang="zh-TW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MI</a:t>
              </a:r>
              <a:r>
                <a:rPr lang="zh-TW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</a:t>
              </a:r>
              <a:r>
                <a:rPr lang="en-US" altLang="zh-TW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MJ</a:t>
              </a:r>
              <a:r>
                <a:rPr lang="zh-TW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所對應的組別與組數</a:t>
              </a:r>
              <a:endParaRPr lang="zh-TW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3" name="直線單箭頭接點 22"/>
            <p:cNvCxnSpPr/>
            <p:nvPr/>
          </p:nvCxnSpPr>
          <p:spPr>
            <a:xfrm>
              <a:off x="2857500" y="4429125"/>
              <a:ext cx="1143000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文字方塊 23"/>
            <p:cNvSpPr txBox="1"/>
            <p:nvPr/>
          </p:nvSpPr>
          <p:spPr>
            <a:xfrm>
              <a:off x="4000500" y="4286250"/>
              <a:ext cx="2236788" cy="338138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由精靈產生，但無作用</a:t>
              </a:r>
              <a:endPara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85813" y="3663950"/>
              <a:ext cx="2071687" cy="2143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cxnSp>
          <p:nvCxnSpPr>
            <p:cNvPr id="26" name="直線單箭頭接點 25"/>
            <p:cNvCxnSpPr>
              <a:stCxn id="25" idx="3"/>
            </p:cNvCxnSpPr>
            <p:nvPr/>
          </p:nvCxnSpPr>
          <p:spPr>
            <a:xfrm>
              <a:off x="2857500" y="3771900"/>
              <a:ext cx="1143000" cy="1587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文字方塊 26"/>
            <p:cNvSpPr txBox="1"/>
            <p:nvPr/>
          </p:nvSpPr>
          <p:spPr>
            <a:xfrm>
              <a:off x="4000500" y="3624263"/>
              <a:ext cx="2251075" cy="33813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於</a:t>
              </a:r>
              <a:r>
                <a:rPr lang="en-US" altLang="zh-TW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3x</a:t>
              </a:r>
              <a:r>
                <a:rPr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版本產生，無作用</a:t>
              </a:r>
              <a:endPara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grpSp>
        <p:nvGrpSpPr>
          <p:cNvPr id="16" name="群組 15"/>
          <p:cNvGrpSpPr/>
          <p:nvPr/>
        </p:nvGrpSpPr>
        <p:grpSpPr>
          <a:xfrm>
            <a:off x="428625" y="642938"/>
            <a:ext cx="8572500" cy="6215062"/>
            <a:chOff x="428625" y="642938"/>
            <a:chExt cx="8572500" cy="6215062"/>
          </a:xfrm>
        </p:grpSpPr>
        <p:pic>
          <p:nvPicPr>
            <p:cNvPr id="5" name="圖片 5" descr="圖片7.jpg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429125" y="765175"/>
              <a:ext cx="4572000" cy="6092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文字方塊 1"/>
            <p:cNvSpPr txBox="1">
              <a:spLocks noChangeArrowheads="1"/>
            </p:cNvSpPr>
            <p:nvPr/>
          </p:nvSpPr>
          <p:spPr bwMode="auto">
            <a:xfrm>
              <a:off x="428625" y="642938"/>
              <a:ext cx="3987800" cy="4619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TW" sz="2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【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雙檔</a:t>
              </a:r>
              <a:r>
                <a:rPr lang="en-US" altLang="zh-TW" sz="2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】UI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結構：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FormID.aspx</a:t>
              </a:r>
              <a:endPara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文字方塊 6"/>
            <p:cNvSpPr txBox="1">
              <a:spLocks noChangeArrowheads="1"/>
            </p:cNvSpPr>
            <p:nvPr/>
          </p:nvSpPr>
          <p:spPr bwMode="auto">
            <a:xfrm>
              <a:off x="611188" y="2420938"/>
              <a:ext cx="3494087" cy="36988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  <p:txBody>
            <a:bodyPr>
              <a:spAutoFit/>
            </a:bodyPr>
            <a:lstStyle/>
            <a:p>
              <a:r>
                <a:rPr lang="zh-TW" altLang="en-US"/>
                <a:t>位置</a:t>
              </a:r>
              <a:r>
                <a:rPr lang="en-US" altLang="zh-TW"/>
                <a:t>1</a:t>
              </a:r>
              <a:r>
                <a:rPr lang="zh-TW" altLang="en-US"/>
                <a:t>：單頭頁籤與畫面</a:t>
              </a:r>
              <a:endParaRPr lang="zh-TW" altLang="en-US"/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611188" y="5589588"/>
              <a:ext cx="3498850" cy="36988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TW" altLang="en-US" dirty="0">
                  <a:ea typeface="新細明體" panose="02020500000000000000" charset="-120"/>
                </a:rPr>
                <a:t>位置</a:t>
              </a:r>
              <a:r>
                <a:rPr lang="en-US" altLang="zh-TW" dirty="0">
                  <a:ea typeface="新細明體" panose="02020500000000000000" charset="-120"/>
                </a:rPr>
                <a:t>3</a:t>
              </a:r>
              <a:r>
                <a:rPr lang="zh-TW" altLang="en-US" dirty="0">
                  <a:ea typeface="新細明體" panose="02020500000000000000" charset="-120"/>
                </a:rPr>
                <a:t>：隱藏區</a:t>
              </a:r>
              <a:endParaRPr lang="en-US" altLang="zh-TW" sz="1600" dirty="0">
                <a:latin typeface="+mn-lt"/>
                <a:ea typeface="新細明體" panose="02020500000000000000" charset="-120"/>
              </a:endParaRPr>
            </a:p>
          </p:txBody>
        </p:sp>
        <p:cxnSp>
          <p:nvCxnSpPr>
            <p:cNvPr id="9" name="直線單箭頭接點 8"/>
            <p:cNvCxnSpPr>
              <a:stCxn id="14" idx="3"/>
            </p:cNvCxnSpPr>
            <p:nvPr/>
          </p:nvCxnSpPr>
          <p:spPr>
            <a:xfrm flipV="1">
              <a:off x="4105275" y="3644900"/>
              <a:ext cx="1042988" cy="47307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>
              <a:stCxn id="14" idx="3"/>
            </p:cNvCxnSpPr>
            <p:nvPr/>
          </p:nvCxnSpPr>
          <p:spPr>
            <a:xfrm>
              <a:off x="4105275" y="4117975"/>
              <a:ext cx="1006475" cy="88741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>
              <a:stCxn id="8" idx="3"/>
            </p:cNvCxnSpPr>
            <p:nvPr/>
          </p:nvCxnSpPr>
          <p:spPr>
            <a:xfrm flipV="1">
              <a:off x="4110038" y="5445125"/>
              <a:ext cx="893762" cy="32861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" name="直線單箭頭接點 11"/>
            <p:cNvCxnSpPr>
              <a:stCxn id="7" idx="3"/>
            </p:cNvCxnSpPr>
            <p:nvPr/>
          </p:nvCxnSpPr>
          <p:spPr>
            <a:xfrm flipV="1">
              <a:off x="4105275" y="2062163"/>
              <a:ext cx="969963" cy="54451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>
              <a:stCxn id="7" idx="3"/>
            </p:cNvCxnSpPr>
            <p:nvPr/>
          </p:nvCxnSpPr>
          <p:spPr>
            <a:xfrm>
              <a:off x="4105275" y="2606675"/>
              <a:ext cx="969963" cy="3190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4" name="文字方塊 6"/>
            <p:cNvSpPr txBox="1">
              <a:spLocks noChangeArrowheads="1"/>
            </p:cNvSpPr>
            <p:nvPr/>
          </p:nvSpPr>
          <p:spPr bwMode="auto">
            <a:xfrm>
              <a:off x="611188" y="3933825"/>
              <a:ext cx="3494087" cy="3683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  <p:txBody>
            <a:bodyPr>
              <a:spAutoFit/>
            </a:bodyPr>
            <a:lstStyle/>
            <a:p>
              <a:r>
                <a:rPr lang="zh-TW" altLang="en-US"/>
                <a:t>位置</a:t>
              </a:r>
              <a:r>
                <a:rPr lang="en-US" altLang="zh-TW"/>
                <a:t>2</a:t>
              </a:r>
              <a:r>
                <a:rPr lang="zh-TW" altLang="en-US"/>
                <a:t>：單身頁籤與畫面</a:t>
              </a:r>
              <a:endParaRPr lang="zh-TW" altLang="en-US"/>
            </a:p>
          </p:txBody>
        </p:sp>
        <p:cxnSp>
          <p:nvCxnSpPr>
            <p:cNvPr id="15" name="直線單箭頭接點 14"/>
            <p:cNvCxnSpPr>
              <a:stCxn id="8" idx="3"/>
            </p:cNvCxnSpPr>
            <p:nvPr/>
          </p:nvCxnSpPr>
          <p:spPr>
            <a:xfrm>
              <a:off x="4110038" y="5775325"/>
              <a:ext cx="822325" cy="39052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5"/>
          <p:cNvSpPr txBox="1">
            <a:spLocks noChangeArrowheads="1"/>
          </p:cNvSpPr>
          <p:nvPr/>
        </p:nvSpPr>
        <p:spPr bwMode="auto">
          <a:xfrm>
            <a:off x="642938" y="1143000"/>
            <a:ext cx="8215312" cy="5078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初始化設定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Page_Load()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基本設定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setBasicInfo()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單頭預設值</a:t>
            </a:r>
            <a:endParaRPr lang="zh-TW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TW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SetDefaultValue()</a:t>
            </a:r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控制項前端屬性註冊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settingClientFunction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自動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MIMJ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buildMiMjManager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呈現至前端前最後執行的函數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Page_Prender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¤　顯示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Grid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欄位設定</a:t>
            </a: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en-US" noProof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  settingHeaderShown()</a:t>
            </a:r>
            <a:endParaRPr lang="en-US" altLang="zh-TW" noProof="1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zh-TW" altLang="en-US" noProof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單身</a:t>
            </a:r>
            <a:r>
              <a:rPr lang="en-US" altLang="zh-TW" noProof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Grid</a:t>
            </a:r>
            <a:r>
              <a:rPr lang="zh-TW" altLang="en-US" noProof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欄位預設值</a:t>
            </a:r>
            <a:endParaRPr lang="zh-TW" altLang="zh-TW" noProof="1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TW" altLang="zh-TW" noProof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noProof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en-US" altLang="zh-TW" noProof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SetDetailDefaultValue()</a:t>
            </a:r>
            <a:endParaRPr lang="en-US" altLang="zh-TW" noProof="1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¤    設定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Grid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masterObj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的關係</a:t>
            </a: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r>
              <a:rPr lang="en-US" altLang="zh-TW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setGridFormate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4560888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雙檔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後端程式：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FormID.aspx.cs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141605" y="642938"/>
            <a:ext cx="47910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雙檔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後端程式：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FormID.aspx.cs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>
            <a:spLocks noChangeArrowheads="1"/>
          </p:cNvSpPr>
          <p:nvPr/>
        </p:nvSpPr>
        <p:spPr bwMode="auto">
          <a:xfrm>
            <a:off x="422910" y="1499870"/>
            <a:ext cx="8469630" cy="37674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protected override void </a:t>
            </a:r>
            <a:r>
              <a:rPr lang="en-US" altLang="zh-TW" sz="16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settingHeaderShown()</a:t>
            </a:r>
            <a:endParaRPr lang="en-US" altLang="zh-TW" sz="160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GridUserControl1.ShowColumns("odm002004", 70);        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GridUserControl1.ShowColumns("odm002005", 70);        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GridUserControl1.ShowColumns("odm002006", 120)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Grid Format</a:t>
            </a:r>
            <a:endParaRPr lang="en-US" altLang="zh-TW" sz="160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¤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顯示格式：數字三位一撇，小數位保留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GridUserControl1.ShowColumns("欄位名稱", gridUserControl.GridColumnType.Money);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¤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顯示格式：轉換成日期格式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GridUserControl1.ShowColumns("欄位名稱", gridUserControl.GridColumnType.DateTime,"yyyy/MM/dd");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/>
          <p:cNvSpPr txBox="1">
            <a:spLocks noChangeArrowheads="1"/>
          </p:cNvSpPr>
          <p:nvPr/>
        </p:nvSpPr>
        <p:spPr bwMode="auto">
          <a:xfrm>
            <a:off x="355918" y="1143000"/>
            <a:ext cx="7143750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TW" altLang="en-US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¤　顯示</a:t>
            </a:r>
            <a:r>
              <a:rPr lang="en-US" altLang="zh-TW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Grid</a:t>
            </a:r>
            <a:r>
              <a:rPr lang="zh-TW" altLang="en-US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欄位設定</a:t>
            </a:r>
            <a:endParaRPr lang="zh-TW" altLang="zh-TW" noProof="1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47910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雙檔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後端程式：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FormID.aspx.cs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>
            <a:spLocks noChangeArrowheads="1"/>
          </p:cNvSpPr>
          <p:nvPr/>
        </p:nvSpPr>
        <p:spPr bwMode="auto">
          <a:xfrm>
            <a:off x="714375" y="1682750"/>
            <a:ext cx="8215313" cy="2246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protected override void </a:t>
            </a:r>
            <a:r>
              <a:rPr lang="en-US" altLang="zh-TW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SetDetailDefaultValue</a:t>
            </a:r>
            <a:b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System.Collections.Generic.Dictionary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&lt;string, string&gt; 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dictDetail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//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必要，帶入欄位關聯預設值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dictDetail.Add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("odm002b001",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formID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);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dictDetail.Add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("odm002b002",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SheetNo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);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dictDetail.Add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("odm002005", "100");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85813" y="3929063"/>
            <a:ext cx="58769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285875" y="4754563"/>
            <a:ext cx="3000375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9" name="文字方塊 8"/>
          <p:cNvSpPr txBox="1">
            <a:spLocks noChangeArrowheads="1"/>
          </p:cNvSpPr>
          <p:nvPr/>
        </p:nvSpPr>
        <p:spPr bwMode="auto">
          <a:xfrm>
            <a:off x="642938" y="1143000"/>
            <a:ext cx="7143750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¤　單身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Grid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欄位預設值</a:t>
            </a:r>
            <a:endParaRPr lang="zh-TW" altLang="zh-TW" noProof="1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357158" y="428604"/>
            <a:ext cx="24257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雙檔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FormID.js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>
            <a:spLocks noChangeArrowheads="1"/>
          </p:cNvSpPr>
          <p:nvPr/>
        </p:nvSpPr>
        <p:spPr bwMode="auto">
          <a:xfrm>
            <a:off x="500034" y="1028905"/>
            <a:ext cx="8215312" cy="61863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單頭自訂驗證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CustomerSaveCheck_Head</a:t>
            </a:r>
            <a:r>
              <a:rPr lang="en-US" altLang="zh-TW" dirty="0"/>
              <a:t>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(tStatus)</a:t>
            </a:r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表單主旨自動產生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SetCustomSubject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CheckBox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RadioButton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觸發必填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TextBox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chkTriggerFieldNull_Head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欄位運算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domath_</a:t>
            </a:r>
            <a:r>
              <a:rPr lang="zh-TW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欄位代號</a:t>
            </a:r>
            <a:r>
              <a:rPr lang="zh-TW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endParaRPr lang="zh-TW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單身自訂驗證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觸發點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單筆存檔時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CustomerSaveCheck_Body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tStatus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單身自訂驗證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觸發點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送單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簽核時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CustomerSaveCheck_DetailAllData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pFormId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pUniversalId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noProof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檢查單身筆數 </a:t>
            </a:r>
            <a:endParaRPr lang="zh-TW" altLang="zh-TW" noProof="1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TW" altLang="zh-TW" noProof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ajaxCheckDetialRowCountInCreate</a:t>
            </a:r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693025" y="6445250"/>
            <a:ext cx="1450975" cy="412750"/>
          </a:xfrm>
        </p:spPr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8"/>
          <p:cNvSpPr txBox="1">
            <a:spLocks noChangeArrowheads="1"/>
          </p:cNvSpPr>
          <p:nvPr/>
        </p:nvSpPr>
        <p:spPr bwMode="auto">
          <a:xfrm>
            <a:off x="1000100" y="3000372"/>
            <a:ext cx="6858000" cy="101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表單三大狀態</a:t>
            </a:r>
            <a:endParaRPr lang="en-US" altLang="zh-TW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grpSp>
        <p:nvGrpSpPr>
          <p:cNvPr id="5" name="群組 39"/>
          <p:cNvGrpSpPr/>
          <p:nvPr/>
        </p:nvGrpSpPr>
        <p:grpSpPr bwMode="auto">
          <a:xfrm>
            <a:off x="0" y="428625"/>
            <a:ext cx="9124950" cy="6153150"/>
            <a:chOff x="91441" y="561743"/>
            <a:chExt cx="9123997" cy="6153405"/>
          </a:xfrm>
        </p:grpSpPr>
        <p:grpSp>
          <p:nvGrpSpPr>
            <p:cNvPr id="6" name="群組 38"/>
            <p:cNvGrpSpPr/>
            <p:nvPr/>
          </p:nvGrpSpPr>
          <p:grpSpPr bwMode="auto">
            <a:xfrm>
              <a:off x="285720" y="5500702"/>
              <a:ext cx="8929718" cy="1214446"/>
              <a:chOff x="285720" y="5500702"/>
              <a:chExt cx="8929718" cy="1214446"/>
            </a:xfrm>
          </p:grpSpPr>
          <p:sp>
            <p:nvSpPr>
              <p:cNvPr id="33" name="圓角矩形 32"/>
              <p:cNvSpPr/>
              <p:nvPr/>
            </p:nvSpPr>
            <p:spPr>
              <a:xfrm>
                <a:off x="285720" y="5572116"/>
                <a:ext cx="8715436" cy="1143032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en-US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4" name="文字方塊 33"/>
              <p:cNvSpPr txBox="1"/>
              <p:nvPr/>
            </p:nvSpPr>
            <p:spPr>
              <a:xfrm>
                <a:off x="357158" y="5500702"/>
                <a:ext cx="8858280" cy="461684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2400" dirty="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Calibri" panose="020F0502020204030204" pitchFamily="34" charset="0"/>
                    <a:ea typeface="微軟正黑體" panose="020B0604030504040204" pitchFamily="34" charset="-120"/>
                  </a:rPr>
                  <a:t>FormID.js</a:t>
                </a:r>
                <a:r>
                  <a:rPr kumimoji="0" lang="zh-TW" altLang="en-US" sz="2400" dirty="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Calibri" panose="020F0502020204030204" pitchFamily="34" charset="0"/>
                    <a:ea typeface="微軟正黑體" panose="020B0604030504040204" pitchFamily="34" charset="-120"/>
                  </a:rPr>
                  <a:t>／</a:t>
                </a:r>
                <a:r>
                  <a:rPr kumimoji="0" lang="en-US" altLang="zh-TW" sz="2400" dirty="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Calibri" panose="020F0502020204030204" pitchFamily="34" charset="0"/>
                    <a:ea typeface="微軟正黑體" panose="020B0604030504040204" pitchFamily="34" charset="-120"/>
                  </a:rPr>
                  <a:t>FormID_MIMJ.aspx</a:t>
                </a:r>
                <a:r>
                  <a:rPr kumimoji="0" lang="zh-TW" altLang="en-US" sz="2400" dirty="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Calibri" panose="020F0502020204030204" pitchFamily="34" charset="0"/>
                    <a:ea typeface="微軟正黑體" panose="020B0604030504040204" pitchFamily="34" charset="-120"/>
                  </a:rPr>
                  <a:t>／</a:t>
                </a:r>
                <a:r>
                  <a:rPr kumimoji="0" lang="en-US" altLang="zh-TW" sz="2400" dirty="0" err="1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Calibri" panose="020F0502020204030204" pitchFamily="34" charset="0"/>
                    <a:ea typeface="微軟正黑體" panose="020B0604030504040204" pitchFamily="34" charset="-120"/>
                  </a:rPr>
                  <a:t>FormID_MIMJ.aspx.cs</a:t>
                </a:r>
                <a:endParaRPr kumimoji="0" lang="zh-TW" altLang="en-US" sz="2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5" name="文字方塊 34"/>
              <p:cNvSpPr txBox="1"/>
              <p:nvPr/>
            </p:nvSpPr>
            <p:spPr>
              <a:xfrm>
                <a:off x="399384" y="6273805"/>
                <a:ext cx="2671484" cy="36990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zh-TW" altLang="en-US" dirty="0">
                    <a:ea typeface="微軟正黑體" panose="020B0604030504040204" pitchFamily="34" charset="-120"/>
                  </a:rPr>
                  <a:t>主旨</a:t>
                </a:r>
                <a:r>
                  <a:rPr kumimoji="0" lang="en-US" altLang="zh-TW" dirty="0">
                    <a:ea typeface="微軟正黑體" panose="020B0604030504040204" pitchFamily="34" charset="-120"/>
                  </a:rPr>
                  <a:t>/</a:t>
                </a:r>
                <a:r>
                  <a:rPr kumimoji="0" lang="zh-TW" altLang="en-US" dirty="0">
                    <a:ea typeface="微軟正黑體" panose="020B0604030504040204" pitchFamily="34" charset="-120"/>
                  </a:rPr>
                  <a:t>欄位計算</a:t>
                </a:r>
                <a:r>
                  <a:rPr kumimoji="0" lang="en-US" altLang="zh-TW" dirty="0">
                    <a:ea typeface="微軟正黑體" panose="020B0604030504040204" pitchFamily="34" charset="-120"/>
                  </a:rPr>
                  <a:t>/</a:t>
                </a:r>
                <a:r>
                  <a:rPr kumimoji="0" lang="zh-TW" altLang="en-US" dirty="0">
                    <a:ea typeface="微軟正黑體" panose="020B0604030504040204" pitchFamily="34" charset="-120"/>
                  </a:rPr>
                  <a:t>欄位驗証</a:t>
                </a:r>
                <a:endParaRPr kumimoji="0" lang="zh-TW" altLang="en-US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6" name="文字方塊 35"/>
              <p:cNvSpPr txBox="1"/>
              <p:nvPr/>
            </p:nvSpPr>
            <p:spPr>
              <a:xfrm>
                <a:off x="4805824" y="6273805"/>
                <a:ext cx="1338123" cy="36990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zh-TW" altLang="en-US" dirty="0">
                    <a:ea typeface="微軟正黑體" panose="020B0604030504040204" pitchFamily="34" charset="-120"/>
                  </a:rPr>
                  <a:t>開窗加驗証</a:t>
                </a:r>
                <a:endParaRPr kumimoji="0" lang="zh-TW" altLang="en-US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7" name="Line 23"/>
              <p:cNvSpPr>
                <a:spLocks noChangeShapeType="1"/>
              </p:cNvSpPr>
              <p:nvPr/>
            </p:nvSpPr>
            <p:spPr bwMode="auto">
              <a:xfrm>
                <a:off x="1500188" y="5929313"/>
                <a:ext cx="0" cy="2857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8" name="Line 31"/>
              <p:cNvSpPr>
                <a:spLocks noChangeShapeType="1"/>
              </p:cNvSpPr>
              <p:nvPr/>
            </p:nvSpPr>
            <p:spPr bwMode="auto">
              <a:xfrm>
                <a:off x="3571875" y="6000750"/>
                <a:ext cx="1071563" cy="214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9" name="Line 31"/>
              <p:cNvSpPr>
                <a:spLocks noChangeShapeType="1"/>
              </p:cNvSpPr>
              <p:nvPr/>
            </p:nvSpPr>
            <p:spPr bwMode="auto">
              <a:xfrm flipH="1">
                <a:off x="6286500" y="5929313"/>
                <a:ext cx="1071563" cy="2857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7" name="群組 37"/>
            <p:cNvGrpSpPr/>
            <p:nvPr/>
          </p:nvGrpSpPr>
          <p:grpSpPr bwMode="auto">
            <a:xfrm>
              <a:off x="91441" y="561743"/>
              <a:ext cx="8909707" cy="830997"/>
              <a:chOff x="91441" y="561743"/>
              <a:chExt cx="8909707" cy="830997"/>
            </a:xfrm>
          </p:grpSpPr>
          <p:sp>
            <p:nvSpPr>
              <p:cNvPr id="30" name="圓角矩形 29"/>
              <p:cNvSpPr/>
              <p:nvPr/>
            </p:nvSpPr>
            <p:spPr>
              <a:xfrm>
                <a:off x="285096" y="642709"/>
                <a:ext cx="8716052" cy="714404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en-US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1" name="文字方塊 30"/>
              <p:cNvSpPr txBox="1"/>
              <p:nvPr/>
            </p:nvSpPr>
            <p:spPr>
              <a:xfrm>
                <a:off x="91441" y="561743"/>
                <a:ext cx="3714744" cy="830997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4800" dirty="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Calibri" panose="020F0502020204030204" pitchFamily="34" charset="0"/>
                    <a:ea typeface="微軟正黑體" panose="020B0604030504040204" pitchFamily="34" charset="-120"/>
                  </a:rPr>
                  <a:t>FormID.aspx</a:t>
                </a:r>
                <a:endParaRPr kumimoji="0" lang="zh-TW" altLang="en-US" sz="48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2" name="文字方塊 38"/>
              <p:cNvSpPr txBox="1">
                <a:spLocks noChangeArrowheads="1"/>
              </p:cNvSpPr>
              <p:nvPr/>
            </p:nvSpPr>
            <p:spPr bwMode="auto">
              <a:xfrm>
                <a:off x="3714750" y="701675"/>
                <a:ext cx="2714625" cy="5842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zh-TW" altLang="en-US" sz="320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進入表單程式</a:t>
                </a:r>
                <a:endParaRPr lang="zh-TW" altLang="en-US" sz="320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8" name="群組 44"/>
            <p:cNvGrpSpPr/>
            <p:nvPr/>
          </p:nvGrpSpPr>
          <p:grpSpPr bwMode="auto">
            <a:xfrm>
              <a:off x="107504" y="1556792"/>
              <a:ext cx="8858312" cy="3929090"/>
              <a:chOff x="142844" y="1500150"/>
              <a:chExt cx="8858312" cy="3929090"/>
            </a:xfrm>
          </p:grpSpPr>
          <p:sp>
            <p:nvSpPr>
              <p:cNvPr id="9" name="圓角矩形 8"/>
              <p:cNvSpPr/>
              <p:nvPr/>
            </p:nvSpPr>
            <p:spPr>
              <a:xfrm>
                <a:off x="285720" y="1500150"/>
                <a:ext cx="8715436" cy="3929090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en-US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0" name="Text Box 14"/>
              <p:cNvSpPr txBox="1">
                <a:spLocks noChangeArrowheads="1"/>
              </p:cNvSpPr>
              <p:nvPr/>
            </p:nvSpPr>
            <p:spPr bwMode="auto">
              <a:xfrm>
                <a:off x="500063" y="4403725"/>
                <a:ext cx="2670175" cy="630238"/>
              </a:xfrm>
              <a:prstGeom prst="rect">
                <a:avLst/>
              </a:prstGeom>
              <a:solidFill>
                <a:srgbClr val="FC9ACD"/>
              </a:solidFill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TW" sz="140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Page_Prender()</a:t>
                </a:r>
                <a:endParaRPr kumimoji="0" lang="en-US" altLang="zh-TW" sz="140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>
                  <a:spcBef>
                    <a:spcPct val="50000"/>
                  </a:spcBef>
                </a:pPr>
                <a:r>
                  <a:rPr kumimoji="0" lang="en-US" altLang="zh-TW" sz="1400" b="1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</a:t>
                </a:r>
                <a:r>
                  <a:rPr kumimoji="0" lang="en-US" altLang="zh-TW" sz="140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settingClientFunction()</a:t>
                </a:r>
                <a:r>
                  <a:rPr kumimoji="0" lang="en-US" altLang="zh-TW" sz="1400" b="1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 </a:t>
                </a:r>
                <a:endParaRPr kumimoji="0" lang="en-US" altLang="zh-TW" sz="1400" b="1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1" name="Text Box 15"/>
              <p:cNvSpPr txBox="1">
                <a:spLocks noChangeArrowheads="1"/>
              </p:cNvSpPr>
              <p:nvPr/>
            </p:nvSpPr>
            <p:spPr bwMode="auto">
              <a:xfrm>
                <a:off x="3349625" y="4403725"/>
                <a:ext cx="2651125" cy="630238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TW" sz="140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Page_Prender()</a:t>
                </a:r>
                <a:endParaRPr kumimoji="0" lang="en-US" altLang="zh-TW" sz="140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>
                  <a:spcBef>
                    <a:spcPct val="50000"/>
                  </a:spcBef>
                </a:pPr>
                <a:r>
                  <a:rPr kumimoji="0" lang="en-US" altLang="zh-TW" sz="1400" b="1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</a:t>
                </a:r>
                <a:r>
                  <a:rPr kumimoji="0" lang="en-US" altLang="zh-TW" sz="140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settingClientFunction()</a:t>
                </a:r>
                <a:r>
                  <a:rPr kumimoji="0" lang="en-US" altLang="zh-TW" sz="1400" b="1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 </a:t>
                </a:r>
                <a:endParaRPr kumimoji="0" lang="en-US" altLang="zh-TW" sz="1400" b="1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2" name="Text Box 15"/>
              <p:cNvSpPr txBox="1">
                <a:spLocks noChangeArrowheads="1"/>
              </p:cNvSpPr>
              <p:nvPr/>
            </p:nvSpPr>
            <p:spPr bwMode="auto">
              <a:xfrm>
                <a:off x="6144365" y="4404162"/>
                <a:ext cx="2650848" cy="95412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400" dirty="0" err="1">
                    <a:latin typeface="Calibri" panose="020F0502020204030204" pitchFamily="34" charset="0"/>
                    <a:ea typeface="微軟正黑體" panose="020B0604030504040204" pitchFamily="34" charset="-120"/>
                  </a:rPr>
                  <a:t>Page_Prender</a:t>
                </a:r>
                <a:r>
                  <a:rPr kumimoji="0" lang="en-US" altLang="zh-TW" sz="1400" dirty="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()</a:t>
                </a:r>
                <a:endParaRPr kumimoji="0" lang="en-US" altLang="zh-TW" sz="1400" dirty="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400" dirty="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</a:t>
                </a:r>
                <a:r>
                  <a:rPr kumimoji="0" lang="en-US" altLang="zh-TW" sz="1400" dirty="0" err="1">
                    <a:latin typeface="Calibri" panose="020F0502020204030204" pitchFamily="34" charset="0"/>
                    <a:ea typeface="微軟正黑體" panose="020B0604030504040204" pitchFamily="34" charset="-120"/>
                  </a:rPr>
                  <a:t>settingClientFunction</a:t>
                </a:r>
                <a:r>
                  <a:rPr kumimoji="0" lang="en-US" altLang="zh-TW" sz="1400" dirty="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()</a:t>
                </a:r>
                <a:endParaRPr kumimoji="0" lang="en-US" altLang="zh-TW" sz="1400" dirty="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400" dirty="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 </a:t>
                </a:r>
                <a:r>
                  <a:rPr kumimoji="0" lang="en-US" altLang="zh-TW" sz="1400" dirty="0" err="1">
                    <a:latin typeface="Calibri" panose="020F0502020204030204" pitchFamily="34" charset="0"/>
                    <a:ea typeface="微軟正黑體" panose="020B0604030504040204" pitchFamily="34" charset="-120"/>
                  </a:rPr>
                  <a:t>BeforePrint</a:t>
                </a:r>
                <a:r>
                  <a:rPr kumimoji="0" lang="en-US" altLang="zh-TW" sz="1400" dirty="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()    </a:t>
                </a:r>
                <a:endParaRPr kumimoji="0" lang="en-US" altLang="zh-TW" sz="1400" dirty="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3" name="圓角矩形 12"/>
              <p:cNvSpPr/>
              <p:nvPr/>
            </p:nvSpPr>
            <p:spPr>
              <a:xfrm>
                <a:off x="499805" y="4715325"/>
                <a:ext cx="8287472" cy="357203"/>
              </a:xfrm>
              <a:prstGeom prst="round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en-US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4" name="Text Box 6"/>
              <p:cNvSpPr txBox="1">
                <a:spLocks noChangeArrowheads="1"/>
              </p:cNvSpPr>
              <p:nvPr/>
            </p:nvSpPr>
            <p:spPr bwMode="auto">
              <a:xfrm>
                <a:off x="3786188" y="1716088"/>
                <a:ext cx="1652587" cy="784225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accent1"/>
                </a:solidFill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TW">
                    <a:latin typeface="Calibri" panose="020F0502020204030204" pitchFamily="34" charset="0"/>
                    <a:ea typeface="微軟正黑體" panose="020B0604030504040204" pitchFamily="34" charset="-120"/>
                  </a:rPr>
                  <a:t>setBasicInfo()</a:t>
                </a:r>
                <a:endParaRPr kumimoji="0" lang="en-US" altLang="zh-TW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>
                  <a:spcBef>
                    <a:spcPct val="50000"/>
                  </a:spcBef>
                </a:pPr>
                <a:r>
                  <a:rPr kumimoji="0" lang="en-US" altLang="zh-TW">
                    <a:latin typeface="Calibri" panose="020F0502020204030204" pitchFamily="34" charset="0"/>
                    <a:ea typeface="微軟正黑體" panose="020B0604030504040204" pitchFamily="34" charset="-120"/>
                  </a:rPr>
                  <a:t>OnInit()</a:t>
                </a:r>
                <a:endParaRPr kumimoji="0" lang="en-US" altLang="zh-TW" b="1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5" name="Text Box 8"/>
              <p:cNvSpPr txBox="1">
                <a:spLocks noChangeArrowheads="1"/>
              </p:cNvSpPr>
              <p:nvPr/>
            </p:nvSpPr>
            <p:spPr bwMode="auto">
              <a:xfrm>
                <a:off x="500063" y="2928938"/>
                <a:ext cx="2643187" cy="1277937"/>
              </a:xfrm>
              <a:prstGeom prst="rect">
                <a:avLst/>
              </a:prstGeom>
              <a:solidFill>
                <a:srgbClr val="FC9ACD"/>
              </a:solidFill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TW" sz="140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Page_Load( )</a:t>
                </a:r>
                <a:endParaRPr kumimoji="0" lang="en-US" altLang="zh-TW" sz="140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>
                  <a:spcBef>
                    <a:spcPct val="50000"/>
                  </a:spcBef>
                </a:pPr>
                <a:r>
                  <a:rPr kumimoji="0" lang="en-US" altLang="zh-TW" sz="140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CreateInit()</a:t>
                </a:r>
                <a:endParaRPr kumimoji="0" lang="en-US" altLang="zh-TW" sz="140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>
                  <a:spcBef>
                    <a:spcPct val="50000"/>
                  </a:spcBef>
                </a:pPr>
                <a:r>
                  <a:rPr kumimoji="0" lang="en-US" altLang="zh-TW" sz="140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SetDefaultValue()</a:t>
                </a:r>
                <a:endParaRPr kumimoji="0" lang="en-US" altLang="zh-TW" sz="140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>
                  <a:spcBef>
                    <a:spcPct val="50000"/>
                  </a:spcBef>
                </a:pPr>
                <a:r>
                  <a:rPr kumimoji="0" lang="en-US" altLang="zh-TW" sz="140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buildMiMjManager()</a:t>
                </a:r>
                <a:endParaRPr kumimoji="0" lang="en-US" altLang="zh-TW" sz="1400" b="1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6" name="Text Box 10"/>
              <p:cNvSpPr txBox="1">
                <a:spLocks noChangeArrowheads="1"/>
              </p:cNvSpPr>
              <p:nvPr/>
            </p:nvSpPr>
            <p:spPr bwMode="auto">
              <a:xfrm>
                <a:off x="6144365" y="2929314"/>
                <a:ext cx="2642911" cy="127799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400" dirty="0" err="1">
                    <a:latin typeface="Calibri" panose="020F0502020204030204" pitchFamily="34" charset="0"/>
                    <a:ea typeface="微軟正黑體" panose="020B0604030504040204" pitchFamily="34" charset="-120"/>
                  </a:rPr>
                  <a:t>Page_Load</a:t>
                </a:r>
                <a:r>
                  <a:rPr kumimoji="0" lang="en-US" altLang="zh-TW" sz="1400" dirty="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( )</a:t>
                </a:r>
                <a:endParaRPr kumimoji="0" lang="en-US" altLang="zh-TW" sz="1400" dirty="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400" dirty="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 </a:t>
                </a:r>
                <a:r>
                  <a:rPr kumimoji="0" lang="en-US" altLang="zh-TW" sz="1400" dirty="0" err="1">
                    <a:latin typeface="Calibri" panose="020F0502020204030204" pitchFamily="34" charset="0"/>
                    <a:ea typeface="微軟正黑體" panose="020B0604030504040204" pitchFamily="34" charset="-120"/>
                  </a:rPr>
                  <a:t>DisplayInit</a:t>
                </a:r>
                <a:r>
                  <a:rPr kumimoji="0" lang="en-US" altLang="zh-TW" sz="1400" dirty="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()</a:t>
                </a:r>
                <a:endParaRPr kumimoji="0" lang="en-US" altLang="zh-TW" sz="1400" dirty="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400" dirty="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 </a:t>
                </a:r>
                <a:r>
                  <a:rPr kumimoji="0" lang="en-US" altLang="zh-TW" sz="1400" dirty="0" err="1">
                    <a:latin typeface="Calibri" panose="020F0502020204030204" pitchFamily="34" charset="0"/>
                    <a:ea typeface="微軟正黑體" panose="020B0604030504040204" pitchFamily="34" charset="-120"/>
                  </a:rPr>
                  <a:t>ShowFieldValue</a:t>
                </a:r>
                <a:r>
                  <a:rPr kumimoji="0" lang="en-US" altLang="zh-TW" sz="1400" dirty="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()</a:t>
                </a:r>
                <a:endParaRPr kumimoji="0" lang="en-US" altLang="zh-TW" sz="1400" dirty="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400" dirty="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 </a:t>
                </a:r>
                <a:r>
                  <a:rPr kumimoji="0" lang="en-US" altLang="zh-TW" sz="1400" dirty="0" err="1">
                    <a:latin typeface="Calibri" panose="020F0502020204030204" pitchFamily="34" charset="0"/>
                    <a:ea typeface="微軟正黑體" panose="020B0604030504040204" pitchFamily="34" charset="-120"/>
                  </a:rPr>
                  <a:t>buildMiMjManager</a:t>
                </a:r>
                <a:r>
                  <a:rPr kumimoji="0" lang="en-US" altLang="zh-TW" sz="1400" dirty="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()</a:t>
                </a:r>
                <a:endParaRPr kumimoji="0" lang="en-US" altLang="zh-TW" sz="1400" b="1" dirty="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7" name="Text Box 13"/>
              <p:cNvSpPr txBox="1">
                <a:spLocks noChangeArrowheads="1"/>
              </p:cNvSpPr>
              <p:nvPr/>
            </p:nvSpPr>
            <p:spPr bwMode="auto">
              <a:xfrm>
                <a:off x="3349625" y="2928938"/>
                <a:ext cx="2643188" cy="1277937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TW" sz="140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Page_Load( )</a:t>
                </a:r>
                <a:endParaRPr kumimoji="0" lang="en-US" altLang="zh-TW" sz="140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>
                  <a:spcBef>
                    <a:spcPct val="50000"/>
                  </a:spcBef>
                </a:pPr>
                <a:r>
                  <a:rPr kumimoji="0" lang="en-US" altLang="zh-TW" sz="140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 ApproveInit()</a:t>
                </a:r>
                <a:endParaRPr kumimoji="0" lang="en-US" altLang="zh-TW" sz="140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>
                  <a:spcBef>
                    <a:spcPct val="50000"/>
                  </a:spcBef>
                </a:pPr>
                <a:r>
                  <a:rPr kumimoji="0" lang="en-US" altLang="zh-TW" sz="140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 ShowFieldValue()</a:t>
                </a:r>
                <a:endParaRPr kumimoji="0" lang="en-US" altLang="zh-TW" sz="1400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  <a:p>
                <a:pPr>
                  <a:spcBef>
                    <a:spcPct val="50000"/>
                  </a:spcBef>
                </a:pPr>
                <a:r>
                  <a:rPr kumimoji="0" lang="en-US" altLang="zh-TW" sz="1400">
                    <a:latin typeface="Calibri" panose="020F0502020204030204" pitchFamily="34" charset="0"/>
                    <a:ea typeface="微軟正黑體" panose="020B0604030504040204" pitchFamily="34" charset="-120"/>
                  </a:rPr>
                  <a:t>    buildMiMjManager()</a:t>
                </a:r>
                <a:endParaRPr kumimoji="0" lang="en-US" altLang="zh-TW" sz="1400" b="1"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8" name="Line 17"/>
              <p:cNvSpPr>
                <a:spLocks noChangeShapeType="1"/>
              </p:cNvSpPr>
              <p:nvPr/>
            </p:nvSpPr>
            <p:spPr bwMode="auto">
              <a:xfrm flipH="1">
                <a:off x="2357438" y="2500313"/>
                <a:ext cx="1214437" cy="3571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" name="Line 18"/>
              <p:cNvSpPr>
                <a:spLocks noChangeShapeType="1"/>
              </p:cNvSpPr>
              <p:nvPr/>
            </p:nvSpPr>
            <p:spPr bwMode="auto">
              <a:xfrm flipH="1">
                <a:off x="4572000" y="2571750"/>
                <a:ext cx="0" cy="2857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Line 19"/>
              <p:cNvSpPr>
                <a:spLocks noChangeShapeType="1"/>
              </p:cNvSpPr>
              <p:nvPr/>
            </p:nvSpPr>
            <p:spPr bwMode="auto">
              <a:xfrm>
                <a:off x="5643563" y="2500313"/>
                <a:ext cx="1143000" cy="2857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Line 23"/>
              <p:cNvSpPr>
                <a:spLocks noChangeShapeType="1"/>
              </p:cNvSpPr>
              <p:nvPr/>
            </p:nvSpPr>
            <p:spPr bwMode="auto">
              <a:xfrm>
                <a:off x="1785938" y="4227513"/>
                <a:ext cx="0" cy="2857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2" name="Line 24"/>
              <p:cNvSpPr>
                <a:spLocks noChangeShapeType="1"/>
              </p:cNvSpPr>
              <p:nvPr/>
            </p:nvSpPr>
            <p:spPr bwMode="auto">
              <a:xfrm>
                <a:off x="4714875" y="4227513"/>
                <a:ext cx="0" cy="2857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Line 24"/>
              <p:cNvSpPr>
                <a:spLocks noChangeShapeType="1"/>
              </p:cNvSpPr>
              <p:nvPr/>
            </p:nvSpPr>
            <p:spPr bwMode="auto">
              <a:xfrm>
                <a:off x="7572375" y="4227513"/>
                <a:ext cx="0" cy="2857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圓角矩形 23"/>
              <p:cNvSpPr/>
              <p:nvPr/>
            </p:nvSpPr>
            <p:spPr>
              <a:xfrm>
                <a:off x="499805" y="3870740"/>
                <a:ext cx="8287472" cy="285762"/>
              </a:xfrm>
              <a:prstGeom prst="round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en-US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5" name="圓角矩形 24"/>
              <p:cNvSpPr/>
              <p:nvPr/>
            </p:nvSpPr>
            <p:spPr>
              <a:xfrm>
                <a:off x="499805" y="3584978"/>
                <a:ext cx="2642911" cy="285762"/>
              </a:xfrm>
              <a:prstGeom prst="round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en-US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6" name="文字方塊 25"/>
              <p:cNvSpPr txBox="1"/>
              <p:nvPr/>
            </p:nvSpPr>
            <p:spPr>
              <a:xfrm>
                <a:off x="142844" y="1714488"/>
                <a:ext cx="3714744" cy="64635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3600" dirty="0" err="1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Calibri" panose="020F0502020204030204" pitchFamily="34" charset="0"/>
                    <a:ea typeface="微軟正黑體" panose="020B0604030504040204" pitchFamily="34" charset="-120"/>
                  </a:rPr>
                  <a:t>FormID.aspx.cs</a:t>
                </a:r>
                <a:endParaRPr kumimoji="0" lang="zh-TW" altLang="en-US" sz="36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7" name="Text Box 5"/>
              <p:cNvSpPr txBox="1">
                <a:spLocks noChangeArrowheads="1"/>
              </p:cNvSpPr>
              <p:nvPr/>
            </p:nvSpPr>
            <p:spPr bwMode="auto">
              <a:xfrm>
                <a:off x="1795069" y="3215076"/>
                <a:ext cx="1500030" cy="338151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kumimoji="0" lang="zh-TW" altLang="en-US" sz="1600" b="1" dirty="0">
                    <a:ea typeface="微軟正黑體" panose="020B0604030504040204" pitchFamily="34" charset="-120"/>
                  </a:rPr>
                  <a:t>開單  </a:t>
                </a:r>
                <a:r>
                  <a:rPr kumimoji="0" lang="en-US" altLang="zh-TW" sz="1600" dirty="0">
                    <a:ea typeface="微軟正黑體" panose="020B0604030504040204" pitchFamily="34" charset="-120"/>
                  </a:rPr>
                  <a:t>CREATE</a:t>
                </a:r>
                <a:endParaRPr kumimoji="0" lang="en-US" altLang="zh-TW" sz="1600" b="1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8" name="Text Box 26">
                <a:hlinkClick r:id="rId1" action="ppaction://hlinksldjump"/>
              </p:cNvPr>
              <p:cNvSpPr txBox="1">
                <a:spLocks noChangeArrowheads="1"/>
              </p:cNvSpPr>
              <p:nvPr/>
            </p:nvSpPr>
            <p:spPr bwMode="auto">
              <a:xfrm>
                <a:off x="4572904" y="3215076"/>
                <a:ext cx="1542889" cy="3381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kumimoji="0" lang="zh-TW" altLang="en-US" sz="1600" b="1" dirty="0">
                    <a:ea typeface="微軟正黑體" panose="020B0604030504040204" pitchFamily="34" charset="-120"/>
                  </a:rPr>
                  <a:t>簽核  </a:t>
                </a:r>
                <a:r>
                  <a:rPr kumimoji="0" lang="en-US" altLang="zh-TW" sz="1600" dirty="0">
                    <a:ea typeface="微軟正黑體" panose="020B0604030504040204" pitchFamily="34" charset="-120"/>
                  </a:rPr>
                  <a:t>APPROVE</a:t>
                </a:r>
                <a:endParaRPr kumimoji="0" lang="en-US" altLang="zh-TW" sz="1600" b="1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9" name="Text Box 27">
                <a:hlinkClick r:id="rId2" action="ppaction://hlinksldjump"/>
              </p:cNvPr>
              <p:cNvSpPr txBox="1">
                <a:spLocks noChangeArrowheads="1"/>
              </p:cNvSpPr>
              <p:nvPr/>
            </p:nvSpPr>
            <p:spPr bwMode="auto">
              <a:xfrm>
                <a:off x="7358676" y="3189675"/>
                <a:ext cx="1585747" cy="338151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0" lang="zh-TW" altLang="en-US" sz="1600" b="1" dirty="0">
                    <a:ea typeface="微軟正黑體" panose="020B0604030504040204" pitchFamily="34" charset="-120"/>
                  </a:rPr>
                  <a:t>原稿  </a:t>
                </a:r>
                <a:r>
                  <a:rPr kumimoji="0" lang="en-US" altLang="zh-TW" sz="1600" dirty="0">
                    <a:ea typeface="微軟正黑體" panose="020B0604030504040204" pitchFamily="34" charset="-120"/>
                  </a:rPr>
                  <a:t>DISPLAY</a:t>
                </a:r>
                <a:endParaRPr kumimoji="0" lang="en-US" altLang="zh-TW" sz="1600" b="1" dirty="0">
                  <a:ea typeface="微軟正黑體" panose="020B0604030504040204" pitchFamily="34" charset="-12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8"/>
          <p:cNvSpPr txBox="1">
            <a:spLocks noChangeArrowheads="1"/>
          </p:cNvSpPr>
          <p:nvPr/>
        </p:nvSpPr>
        <p:spPr bwMode="auto">
          <a:xfrm>
            <a:off x="1143000" y="3143250"/>
            <a:ext cx="6858000" cy="101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kumimoji="0"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kumimoji="0" lang="zh-TW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五大</a:t>
            </a:r>
            <a:r>
              <a:rPr kumimoji="0"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</a:t>
            </a:r>
            <a:r>
              <a:rPr kumimoji="0" lang="zh-TW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</a:t>
            </a:r>
            <a:endParaRPr kumimoji="0" lang="zh-TW" altLang="zh-TW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5"/>
          <p:cNvSpPr txBox="1">
            <a:spLocks noChangeArrowheads="1"/>
          </p:cNvSpPr>
          <p:nvPr/>
        </p:nvSpPr>
        <p:spPr bwMode="auto">
          <a:xfrm>
            <a:off x="642938" y="1143000"/>
            <a:ext cx="5286384" cy="3970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設定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DscPanel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與資料表之間關係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SYSFrmDefine</a:t>
            </a:r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設定表單單頭、單身的資料來源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SYSDataSource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設定單頭與單身關係</a:t>
            </a:r>
            <a:endParaRPr lang="zh-TW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TW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SYSDataRelation</a:t>
            </a:r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欄位相關屬性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SYSFrmFields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多國語系設定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　  SYSComment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216852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五大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Table】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4"/>
          <p:cNvSpPr txBox="1"/>
          <p:nvPr/>
        </p:nvSpPr>
        <p:spPr>
          <a:xfrm>
            <a:off x="285750" y="619125"/>
            <a:ext cx="7715250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【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SYSFrmDefine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】</a:t>
            </a:r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：</a:t>
            </a:r>
            <a:r>
              <a:rPr lang="zh-TW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新細明體" panose="02020500000000000000" charset="-120"/>
              </a:rPr>
              <a:t>設定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新細明體" panose="02020500000000000000" charset="-120"/>
              </a:rPr>
              <a:t>Dsc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新細明體" panose="02020500000000000000" charset="-120"/>
              </a:rPr>
              <a:t> panel</a:t>
            </a:r>
            <a:r>
              <a:rPr lang="zh-TW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新細明體" panose="02020500000000000000" charset="-120"/>
              </a:rPr>
              <a:t>與資料表間關係</a:t>
            </a:r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新細明體" panose="02020500000000000000" charset="-120"/>
            </a:endParaRPr>
          </a:p>
          <a:p>
            <a:pPr>
              <a:defRPr/>
            </a:pP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	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　　　　　　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	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    </a:t>
            </a: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→ 如果表單為雙檔，單頭單身都會有資料</a:t>
            </a:r>
            <a:r>
              <a:rPr lang="en-US" altLang="zh-TW" sz="2400" dirty="0">
                <a:latin typeface="+mn-lt"/>
                <a:ea typeface="新細明體" panose="02020500000000000000" charset="-120"/>
              </a:rPr>
              <a:t>	</a:t>
            </a:r>
            <a:endParaRPr lang="zh-TW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新細明體" panose="02020500000000000000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73075" y="2428875"/>
            <a:ext cx="8528050" cy="35083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BOID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：程式代號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　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雙檔的話會有二筆資料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單頭單身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FrmID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Frm+BOID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FrmType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Query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000125" y="3786188"/>
            <a:ext cx="6956425" cy="8302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&lt;cc1:DscPanel ID=“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ecPnlMaster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 </a:t>
            </a:r>
            <a:b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FrmDefineKeys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-BOID="STD002" 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FrmDefineKeys-FrmID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="FrmSTD002" </a:t>
            </a:r>
            <a:b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FrmDefineKeys-FrmType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="Query" &gt;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1"/>
          <a:srcRect r="37730"/>
          <a:stretch>
            <a:fillRect/>
          </a:stretch>
        </p:blipFill>
        <p:spPr bwMode="auto">
          <a:xfrm>
            <a:off x="500063" y="1500188"/>
            <a:ext cx="3214687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群組 16"/>
          <p:cNvGrpSpPr/>
          <p:nvPr/>
        </p:nvGrpSpPr>
        <p:grpSpPr bwMode="auto">
          <a:xfrm>
            <a:off x="857250" y="1571625"/>
            <a:ext cx="5291138" cy="369888"/>
            <a:chOff x="857224" y="1571612"/>
            <a:chExt cx="5290640" cy="369332"/>
          </a:xfrm>
        </p:grpSpPr>
        <p:sp>
          <p:nvSpPr>
            <p:cNvPr id="10" name="矩形 9"/>
            <p:cNvSpPr/>
            <p:nvPr/>
          </p:nvSpPr>
          <p:spPr>
            <a:xfrm>
              <a:off x="857224" y="1693666"/>
              <a:ext cx="2857231" cy="21399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cxnSp>
          <p:nvCxnSpPr>
            <p:cNvPr id="11" name="直線單箭頭接點 10"/>
            <p:cNvCxnSpPr>
              <a:stCxn id="10" idx="3"/>
              <a:endCxn id="12" idx="1"/>
            </p:cNvCxnSpPr>
            <p:nvPr/>
          </p:nvCxnSpPr>
          <p:spPr>
            <a:xfrm flipV="1">
              <a:off x="3714455" y="1757071"/>
              <a:ext cx="714308" cy="4438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文字方塊 15"/>
            <p:cNvSpPr txBox="1">
              <a:spLocks noChangeArrowheads="1"/>
            </p:cNvSpPr>
            <p:nvPr/>
          </p:nvSpPr>
          <p:spPr bwMode="auto">
            <a:xfrm>
              <a:off x="4429124" y="1571612"/>
              <a:ext cx="1718740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單檔 </a:t>
              </a:r>
              <a:r>
                <a:rPr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(ex </a:t>
              </a: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請假單</a:t>
              </a:r>
              <a:r>
                <a:rPr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3" name="群組 25"/>
          <p:cNvGrpSpPr/>
          <p:nvPr/>
        </p:nvGrpSpPr>
        <p:grpSpPr bwMode="auto">
          <a:xfrm>
            <a:off x="857250" y="1908175"/>
            <a:ext cx="5719763" cy="390525"/>
            <a:chOff x="857224" y="1908020"/>
            <a:chExt cx="5720245" cy="390114"/>
          </a:xfrm>
        </p:grpSpPr>
        <p:sp>
          <p:nvSpPr>
            <p:cNvPr id="14" name="矩形 13"/>
            <p:cNvSpPr/>
            <p:nvPr/>
          </p:nvSpPr>
          <p:spPr>
            <a:xfrm>
              <a:off x="857224" y="1908020"/>
              <a:ext cx="2857741" cy="35681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cxnSp>
          <p:nvCxnSpPr>
            <p:cNvPr id="15" name="直線單箭頭接點 14"/>
            <p:cNvCxnSpPr>
              <a:stCxn id="14" idx="3"/>
              <a:endCxn id="16" idx="1"/>
            </p:cNvCxnSpPr>
            <p:nvPr/>
          </p:nvCxnSpPr>
          <p:spPr>
            <a:xfrm>
              <a:off x="3714965" y="2087219"/>
              <a:ext cx="714435" cy="2695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文字方塊 21"/>
            <p:cNvSpPr txBox="1">
              <a:spLocks noChangeArrowheads="1"/>
            </p:cNvSpPr>
            <p:nvPr/>
          </p:nvSpPr>
          <p:spPr bwMode="auto">
            <a:xfrm>
              <a:off x="4429124" y="1928802"/>
              <a:ext cx="2148345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TW" altLang="en-US"/>
                <a:t>雙檔 </a:t>
              </a:r>
              <a:r>
                <a:rPr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(ex </a:t>
              </a: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雜項請購單</a:t>
              </a:r>
              <a:r>
                <a:rPr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7" name="文字方塊 16"/>
          <p:cNvSpPr txBox="1"/>
          <p:nvPr/>
        </p:nvSpPr>
        <p:spPr>
          <a:xfrm>
            <a:off x="1000125" y="3786188"/>
            <a:ext cx="7942263" cy="206216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&lt;cc1:DscPanel ID="</a:t>
            </a:r>
            <a:r>
              <a:rPr lang="en-US" altLang="zh-TW" sz="1600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ecPnlMaster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 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FrmDefineKeys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-BOID="STD007" 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FrmDefineKeys-FrmID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="FrmSTD007“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FrmDefineKeys-FrmType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="Query”&gt;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&lt;cc1:DscPanel ID="</a:t>
            </a:r>
            <a:r>
              <a:rPr lang="en-US" altLang="zh-TW" sz="1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ecPnlDetail1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 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FrmDefineKeys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-BOID="STD007_d01" 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FrmDefineKeys-FrmID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="FrmSTD007_d01“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FrmDefineKeys-FrmType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="Query“ &gt;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4"/>
          <p:cNvSpPr txBox="1"/>
          <p:nvPr/>
        </p:nvSpPr>
        <p:spPr>
          <a:xfrm>
            <a:off x="214282" y="639763"/>
            <a:ext cx="785812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【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SYSDataSource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 】</a:t>
            </a:r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：</a:t>
            </a:r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設定資料庫與表單間關係</a:t>
            </a:r>
            <a:br>
              <a:rPr lang="en-US" altLang="zh-TW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</a:b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	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　　　　　　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	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 　　 </a:t>
            </a: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→ 如果表單為雙檔，單頭單身都會有資料</a:t>
            </a:r>
            <a:endParaRPr lang="en-US" altLang="zh-TW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細明體" panose="02020500000000000000" charset="-120"/>
              <a:ea typeface="新細明體" panose="02020500000000000000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57157" y="2370138"/>
            <a:ext cx="8501062" cy="3416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SynID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：公司別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BOID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：程式代號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TSQLSelect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Server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OracleSelect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Oracle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指令→目前尚未支援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WriteToTable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：回寫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名稱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KeyField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：唯一值的欄位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SortField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：將組好的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指令後加上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Order By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的語法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*資料表前必須要加上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$$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，表示資料庫前置詞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公司別資料庫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85782" y="3298825"/>
            <a:ext cx="8035925" cy="6461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@Select * From $$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efsti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as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efsti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%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sqlwhere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@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：表示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開始、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sqlwhere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表示結束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80969" y="1428750"/>
            <a:ext cx="862012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>
            <a:off x="2643157" y="1428750"/>
            <a:ext cx="2571750" cy="7858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143594" y="1428750"/>
            <a:ext cx="928688" cy="7858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643032" y="1428750"/>
            <a:ext cx="928687" cy="7858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4"/>
          <p:cNvSpPr txBox="1"/>
          <p:nvPr/>
        </p:nvSpPr>
        <p:spPr>
          <a:xfrm>
            <a:off x="357188" y="619125"/>
            <a:ext cx="8286750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【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SYSDataRelation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 】</a:t>
            </a:r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：</a:t>
            </a:r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設定單頭單身的關係</a:t>
            </a:r>
            <a:endParaRPr lang="en-US" altLang="zh-TW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細明體" panose="02020500000000000000" charset="-120"/>
              <a:ea typeface="新細明體" panose="02020500000000000000" charset="-120"/>
            </a:endParaRPr>
          </a:p>
          <a:p>
            <a:pPr>
              <a:defRPr/>
            </a:pPr>
            <a:r>
              <a:rPr lang="en-US" altLang="zh-TW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			</a:t>
            </a:r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　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　</a:t>
            </a: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→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若表單為單檔，此處不會有資料，也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不需設定</a:t>
            </a:r>
            <a:endParaRPr lang="zh-TW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新細明體" panose="02020500000000000000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71500" y="2143116"/>
            <a:ext cx="5338763" cy="23082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單頭資料：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SynID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BOID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單身資料：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RelSynID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RelBOID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FormFiled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：單頭欄位對應到單身欄位的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Key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Fields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ToFiled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：單身欄位對應到單頭欄位的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Key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Fields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FormFiled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與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ToFiled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兩者互相對應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71500" y="1500188"/>
            <a:ext cx="80200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57375" y="1500188"/>
            <a:ext cx="1000125" cy="4286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786188" y="1500188"/>
            <a:ext cx="1000125" cy="4286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10" name="弧形接點 9"/>
          <p:cNvCxnSpPr>
            <a:stCxn id="8" idx="2"/>
            <a:endCxn id="9" idx="2"/>
          </p:cNvCxnSpPr>
          <p:nvPr/>
        </p:nvCxnSpPr>
        <p:spPr>
          <a:xfrm rot="16200000" flipH="1">
            <a:off x="3321050" y="963613"/>
            <a:ext cx="1588" cy="1928812"/>
          </a:xfrm>
          <a:prstGeom prst="curvedConnector3">
            <a:avLst>
              <a:gd name="adj1" fmla="val 14395466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71472" y="4568619"/>
            <a:ext cx="5357850" cy="17543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FormFiled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</a:t>
            </a:r>
            <a:r>
              <a:rPr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ToFiled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efsti001,efsti002  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FromField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efstj001,efstj002  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ToField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rot="5400000">
            <a:off x="892943" y="5536421"/>
            <a:ext cx="357984" cy="79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rot="5400000">
            <a:off x="1821637" y="5536421"/>
            <a:ext cx="357984" cy="79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28595" y="1231921"/>
            <a:ext cx="8358187" cy="281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字方塊 5"/>
          <p:cNvSpPr txBox="1"/>
          <p:nvPr/>
        </p:nvSpPr>
        <p:spPr>
          <a:xfrm>
            <a:off x="285720" y="454046"/>
            <a:ext cx="8572500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【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SYSFrmFields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】</a:t>
            </a:r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：</a:t>
            </a:r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設定欄位相關屬性</a:t>
            </a:r>
            <a:br>
              <a:rPr lang="en-US" altLang="zh-TW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</a:br>
            <a:r>
              <a:rPr lang="en-US" altLang="zh-TW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	</a:t>
            </a:r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　　　　　　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細明體" panose="02020500000000000000" charset="-120"/>
                <a:ea typeface="新細明體" panose="02020500000000000000" charset="-120"/>
              </a:rPr>
              <a:t>  </a:t>
            </a: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→ 資料會有多筆，單頭單身都會有</a:t>
            </a:r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細明體" panose="02020500000000000000" charset="-120"/>
              <a:ea typeface="新細明體" panose="02020500000000000000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28595" y="4192609"/>
            <a:ext cx="8429625" cy="23082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Key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BOID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FrmID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FeldName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MaxLength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驗證資料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欄位長度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NotNull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驗證資料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是否允許空白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 開啟表單時，若欄位是必填，欄位底色為黃色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ReadOnly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驗證資料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是否唯讀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F0001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F0002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F0003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：多國語系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對應到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SYSComment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85782" y="4621234"/>
            <a:ext cx="8181975" cy="3079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FrmFieldKeys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FrmID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="FrmSTD007" BOID="STD007" 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FieldName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="efstj004"&gt;&lt;/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FrmFieldKeys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15095" y="1203346"/>
            <a:ext cx="2143125" cy="2857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2938" y="1357313"/>
          <a:ext cx="8022090" cy="339162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674030"/>
                <a:gridCol w="2674030"/>
                <a:gridCol w="2674030"/>
              </a:tblGrid>
              <a:tr h="913113">
                <a:tc>
                  <a:txBody>
                    <a:bodyPr/>
                    <a:lstStyle/>
                    <a:p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SYSFrmFields</a:t>
                      </a:r>
                      <a:r>
                        <a:rPr lang="en-US" altLang="zh-TW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br>
                        <a:rPr lang="en-US" altLang="zh-TW" sz="2400" dirty="0" smtClean="0"/>
                      </a:br>
                      <a:r>
                        <a:rPr lang="en-US" altLang="zh-TW" sz="24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Not </a:t>
                      </a:r>
                      <a:r>
                        <a:rPr lang="en-US" altLang="zh-TW" sz="2400" b="0" baseline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Null  = True</a:t>
                      </a:r>
                      <a:endParaRPr lang="en-US" altLang="zh-TW" sz="2400" b="0" baseline="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en-US" altLang="zh-TW" sz="2400" b="0" baseline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2400" b="0" baseline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必填</a:t>
                      </a:r>
                      <a:r>
                        <a:rPr lang="en-US" altLang="zh-TW" sz="2400" b="0" baseline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24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160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SYSFrmFields</a:t>
                      </a:r>
                      <a:r>
                        <a:rPr lang="en-US" altLang="zh-TW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br>
                        <a:rPr lang="en-US" altLang="zh-TW" sz="2400" dirty="0" smtClean="0"/>
                      </a:br>
                      <a:r>
                        <a:rPr lang="en-US" altLang="zh-TW" sz="24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Not </a:t>
                      </a:r>
                      <a:r>
                        <a:rPr lang="en-US" altLang="zh-TW" sz="2400" b="0" baseline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Null  = False</a:t>
                      </a:r>
                      <a:endParaRPr lang="en-US" altLang="zh-TW" sz="2400" b="0" baseline="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b="0" baseline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2400" b="0" baseline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非必填</a:t>
                      </a:r>
                      <a:r>
                        <a:rPr lang="en-US" altLang="zh-TW" sz="2400" b="0" baseline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24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</a:tr>
              <a:tr h="913113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Table Schema</a:t>
                      </a:r>
                      <a:br>
                        <a:rPr lang="en-US" altLang="zh-TW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</a:br>
                      <a:r>
                        <a:rPr lang="en-US" altLang="zh-TW" sz="2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Null=True</a:t>
                      </a:r>
                      <a:br>
                        <a:rPr lang="en-US" altLang="zh-TW" sz="2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2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2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非必填</a:t>
                      </a:r>
                      <a:r>
                        <a:rPr lang="en-US" altLang="zh-TW" sz="2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endParaRPr lang="en-US" altLang="zh-TW" sz="2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</a:tr>
              <a:tr h="11361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Table Schema</a:t>
                      </a:r>
                      <a:br>
                        <a:rPr lang="en-US" altLang="zh-TW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</a:br>
                      <a:r>
                        <a:rPr lang="en-US" altLang="zh-TW" sz="2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Null=False </a:t>
                      </a:r>
                      <a:br>
                        <a:rPr lang="en-US" altLang="zh-TW" sz="2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2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2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必填</a:t>
                      </a:r>
                      <a:r>
                        <a:rPr lang="en-US" altLang="zh-TW" sz="2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 smtClean="0"/>
                    </a:p>
                    <a:p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357188" y="619125"/>
            <a:ext cx="85725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【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NotNull】SYSFrmFields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 &amp; Table Schema</a:t>
            </a:r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細明體" panose="02020500000000000000" charset="-120"/>
              <a:ea typeface="新細明體" panose="02020500000000000000" charset="-120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357438" y="4357688"/>
            <a:ext cx="714375" cy="352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38" y="3143250"/>
            <a:ext cx="733425" cy="38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00938" y="2000250"/>
            <a:ext cx="733425" cy="400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72063" y="2000250"/>
            <a:ext cx="733425" cy="400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1" name="群組 19"/>
          <p:cNvGrpSpPr/>
          <p:nvPr/>
        </p:nvGrpSpPr>
        <p:grpSpPr bwMode="auto">
          <a:xfrm>
            <a:off x="3429000" y="2500313"/>
            <a:ext cx="2062163" cy="1057275"/>
            <a:chOff x="3428992" y="2500306"/>
            <a:chExt cx="2062163" cy="1057280"/>
          </a:xfrm>
        </p:grpSpPr>
        <p:pic>
          <p:nvPicPr>
            <p:cNvPr id="12" name="Picture 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500430" y="3214686"/>
              <a:ext cx="1990725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文字方塊 15"/>
            <p:cNvSpPr txBox="1">
              <a:spLocks noChangeArrowheads="1"/>
            </p:cNvSpPr>
            <p:nvPr/>
          </p:nvSpPr>
          <p:spPr bwMode="auto">
            <a:xfrm>
              <a:off x="3428992" y="2500306"/>
              <a:ext cx="1492716" cy="6463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必填</a:t>
              </a:r>
              <a:endPara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欄位顏色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黃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4" name="群組 20"/>
          <p:cNvGrpSpPr/>
          <p:nvPr/>
        </p:nvGrpSpPr>
        <p:grpSpPr bwMode="auto">
          <a:xfrm>
            <a:off x="3429000" y="3714750"/>
            <a:ext cx="1990725" cy="985838"/>
            <a:chOff x="3428992" y="3714752"/>
            <a:chExt cx="1990725" cy="985842"/>
          </a:xfrm>
        </p:grpSpPr>
        <p:pic>
          <p:nvPicPr>
            <p:cNvPr id="15" name="Picture 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428992" y="4357694"/>
              <a:ext cx="1990725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文字方塊 16"/>
            <p:cNvSpPr txBox="1">
              <a:spLocks noChangeArrowheads="1"/>
            </p:cNvSpPr>
            <p:nvPr/>
          </p:nvSpPr>
          <p:spPr bwMode="auto">
            <a:xfrm>
              <a:off x="3428992" y="3714752"/>
              <a:ext cx="1492716" cy="6463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必填</a:t>
              </a:r>
              <a:endPara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欄位顏色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黃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7" name="群組 22"/>
          <p:cNvGrpSpPr/>
          <p:nvPr/>
        </p:nvGrpSpPr>
        <p:grpSpPr bwMode="auto">
          <a:xfrm>
            <a:off x="6357938" y="3643313"/>
            <a:ext cx="1990725" cy="1057275"/>
            <a:chOff x="6072198" y="3643314"/>
            <a:chExt cx="1990725" cy="1057280"/>
          </a:xfrm>
        </p:grpSpPr>
        <p:pic>
          <p:nvPicPr>
            <p:cNvPr id="18" name="Picture 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072198" y="4357694"/>
              <a:ext cx="1990725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文字方塊 17"/>
            <p:cNvSpPr txBox="1">
              <a:spLocks noChangeArrowheads="1"/>
            </p:cNvSpPr>
            <p:nvPr/>
          </p:nvSpPr>
          <p:spPr bwMode="auto">
            <a:xfrm>
              <a:off x="6072198" y="3643314"/>
              <a:ext cx="1492716" cy="6463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必填</a:t>
              </a:r>
              <a:endPara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欄位顏色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黃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0" name="群組 21"/>
          <p:cNvGrpSpPr/>
          <p:nvPr/>
        </p:nvGrpSpPr>
        <p:grpSpPr bwMode="auto">
          <a:xfrm>
            <a:off x="6286500" y="2428875"/>
            <a:ext cx="1990725" cy="1057275"/>
            <a:chOff x="6072198" y="2500306"/>
            <a:chExt cx="1990725" cy="1057280"/>
          </a:xfrm>
        </p:grpSpPr>
        <p:pic>
          <p:nvPicPr>
            <p:cNvPr id="21" name="Picture 9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072198" y="3214686"/>
              <a:ext cx="1990725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文字方塊 18"/>
            <p:cNvSpPr txBox="1">
              <a:spLocks noChangeArrowheads="1"/>
            </p:cNvSpPr>
            <p:nvPr/>
          </p:nvSpPr>
          <p:spPr bwMode="auto">
            <a:xfrm>
              <a:off x="6072198" y="2500306"/>
              <a:ext cx="1486304" cy="6463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非必填</a:t>
              </a:r>
              <a:endPara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欄位顏色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白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3" name="文字方塊 22"/>
          <p:cNvSpPr txBox="1"/>
          <p:nvPr/>
        </p:nvSpPr>
        <p:spPr>
          <a:xfrm>
            <a:off x="642910" y="5143512"/>
            <a:ext cx="731835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不要在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 Schema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改必填，這樣之前的資料都要補上。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五大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裡的資料只要要更改，就必須</a:t>
            </a:r>
            <a:r>
              <a:rPr lang="zh-TW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重新啟動</a:t>
            </a:r>
            <a:r>
              <a:rPr lang="en-US" altLang="zh-TW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IIS</a:t>
            </a:r>
            <a:endParaRPr lang="en-US" altLang="zh-TW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8">
              <a:buFont typeface="Wingdings" panose="05000000000000000000" pitchFamily="2" charset="2"/>
              <a:buChar char="Ø"/>
              <a:defRPr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開啟命令提示字元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cmd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iisreset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4"/>
          <p:cNvSpPr txBox="1"/>
          <p:nvPr/>
        </p:nvSpPr>
        <p:spPr>
          <a:xfrm>
            <a:off x="357188" y="619125"/>
            <a:ext cx="8143875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【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SYSComment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 】</a:t>
            </a:r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：設定多國語系</a:t>
            </a:r>
            <a:b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</a:b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			</a:t>
            </a: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charset="-120"/>
              </a:rPr>
              <a:t>   → 資料會有多筆，單頭單身都會有</a:t>
            </a:r>
            <a:endParaRPr lang="zh-TW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新細明體" panose="02020500000000000000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71500" y="2786063"/>
            <a:ext cx="5062538" cy="258603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Key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F0001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F0002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F0003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F0001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：型態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Combo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SystemMenu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F0002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：作業代號或是表單代號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F0003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：欄位代號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Lang01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多國語系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繁體中文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Lang02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多國語系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英文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Lang03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多國語系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簡體中文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Lang04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多國語系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保留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Lang05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多國語系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保留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00063" y="1500188"/>
            <a:ext cx="800100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文字方塊 4"/>
          <p:cNvSpPr txBox="1">
            <a:spLocks noChangeArrowheads="1"/>
          </p:cNvSpPr>
          <p:nvPr/>
        </p:nvSpPr>
        <p:spPr bwMode="auto">
          <a:xfrm>
            <a:off x="539750" y="5805488"/>
            <a:ext cx="8505825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取得多國語系的方法：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MultiLanguage.GetComment(F0001,F0002,F0003, Lang)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693025" y="6445250"/>
            <a:ext cx="1450975" cy="412750"/>
          </a:xfrm>
        </p:spPr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文字方塊 8"/>
          <p:cNvSpPr txBox="1">
            <a:spLocks noChangeArrowheads="1"/>
          </p:cNvSpPr>
          <p:nvPr/>
        </p:nvSpPr>
        <p:spPr bwMode="auto">
          <a:xfrm>
            <a:off x="1143000" y="3143250"/>
            <a:ext cx="6858000" cy="101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程式撰寫</a:t>
            </a:r>
            <a:endParaRPr lang="en-US" altLang="zh-TW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5"/>
          <p:cNvSpPr txBox="1">
            <a:spLocks noChangeArrowheads="1"/>
          </p:cNvSpPr>
          <p:nvPr/>
        </p:nvSpPr>
        <p:spPr bwMode="auto">
          <a:xfrm>
            <a:off x="642938" y="1262079"/>
            <a:ext cx="8215312" cy="452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UserInfo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   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DSC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 控制項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    手動新增欄位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MIMJ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開窗驗證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DBCommand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 資料庫物件操作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查詢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刪除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   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DSCDataObj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 物件操作及範例</a:t>
            </a:r>
            <a:endParaRPr lang="zh-TW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   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Ajax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應用及注意事項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   表單送單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簽核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抽單 處理函數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1"/>
          <p:cNvSpPr txBox="1">
            <a:spLocks noChangeArrowheads="1"/>
          </p:cNvSpPr>
          <p:nvPr/>
        </p:nvSpPr>
        <p:spPr bwMode="auto">
          <a:xfrm>
            <a:off x="428625" y="762017"/>
            <a:ext cx="141605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132138" y="668354"/>
            <a:ext cx="5724525" cy="2370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514350" indent="-514350">
              <a:buFont typeface="Arial" panose="020B0604020202020204" pitchFamily="34" charset="0"/>
              <a:buNone/>
              <a:defRPr/>
            </a:pP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※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注意事項</a:t>
            </a: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None/>
              <a:defRPr/>
            </a:pP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　由表單精靈製作出表單以後，如果有對程式碼做過</a:t>
            </a: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None/>
              <a:defRPr/>
            </a:pP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　修改，就</a:t>
            </a:r>
            <a:r>
              <a:rPr lang="zh-TW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不可以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再使用表單精靈重新修改；</a:t>
            </a: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None/>
              <a:defRPr/>
            </a:pP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　若這樣做，會造成修改的程式碼</a:t>
            </a:r>
            <a:r>
              <a:rPr lang="zh-TW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被覆蓋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掉！</a:t>
            </a: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None/>
              <a:defRPr/>
            </a:pP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None/>
              <a:defRPr/>
            </a:pP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　要重新使用表單精靈編輯，可以先備份程式碼，</a:t>
            </a: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None/>
              <a:defRPr/>
            </a:pP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　再將修改的部分還原回去。</a:t>
            </a: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zh-TW" altLang="en-US" dirty="0">
              <a:ea typeface="新細明體" panose="02020500000000000000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58578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【UserInfo </a:t>
            </a:r>
            <a:r>
              <a:rPr lang="en-US" altLang="zh-TW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(EasyFlow</a:t>
            </a:r>
            <a:r>
              <a:rPr lang="zh-TW" altLang="en-US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物件的使用</a:t>
            </a:r>
            <a:r>
              <a:rPr lang="en-US" altLang="zh-TW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160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71563" y="1143000"/>
            <a:ext cx="6376987" cy="530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宣告：</a:t>
            </a:r>
            <a:endParaRPr lang="en-US" altLang="zh-TW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UserInfoClass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tClass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UserInfoClass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)Session["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UserInfo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"];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使用方法：</a:t>
            </a:r>
            <a:endParaRPr lang="en-US" altLang="zh-TW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//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登入的語系</a:t>
            </a:r>
            <a:endParaRPr lang="en-US" altLang="zh-TW" sz="1600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string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tLanguageType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tClass.Language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sz="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//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公司代號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string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tCompany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tClass.Company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sz="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//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公司名稱</a:t>
            </a:r>
            <a:endParaRPr lang="en-US" altLang="zh-TW" sz="1600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string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tCompanyField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tClass.CompanyField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sz="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//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群組代號</a:t>
            </a:r>
            <a:endParaRPr lang="en-US" altLang="zh-TW" sz="1600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string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tDataGroup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tClass.DataGroup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sz="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//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部門代號</a:t>
            </a:r>
            <a:endParaRPr lang="en-US" altLang="zh-TW" sz="1600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string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tDepartmentId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tClass.DepartmentId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sz="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//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部門名稱</a:t>
            </a:r>
            <a:endParaRPr lang="en-US" altLang="zh-TW" sz="1600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string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tDepartmentName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tClass.DepartmentName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58578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【UserInfo </a:t>
            </a:r>
            <a:r>
              <a:rPr lang="en-US" altLang="zh-TW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(EasyFlow</a:t>
            </a:r>
            <a:r>
              <a:rPr lang="zh-TW" altLang="en-US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物件的使用</a:t>
            </a:r>
            <a:r>
              <a:rPr lang="en-US" altLang="zh-TW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160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77913" y="1143000"/>
            <a:ext cx="6723062" cy="43084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宣告：</a:t>
            </a:r>
            <a:endParaRPr lang="en-US" altLang="zh-TW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UserInfoClass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tClass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UserInfoClass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)Session["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UserInfo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"];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使用方法：</a:t>
            </a:r>
            <a:endParaRPr lang="en-US" altLang="zh-TW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ea typeface="新細明體" panose="02020500000000000000" charset="-120"/>
            </a:endParaRPr>
          </a:p>
          <a:p>
            <a:pPr>
              <a:defRPr/>
            </a:pP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//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取得員工工號</a:t>
            </a:r>
            <a:endParaRPr lang="en-US" altLang="zh-TW" sz="1600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string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tEmployeeId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tClass.EmployeeId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sz="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//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取得登入者工號</a:t>
            </a:r>
            <a:endParaRPr lang="en-US" altLang="zh-TW" sz="1600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string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tLoginId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tClass.LoginId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sz="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//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取得登入者姓名</a:t>
            </a:r>
            <a:endParaRPr lang="en-US" altLang="zh-TW" sz="1600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string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tLoginName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tClass.LoginName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若該程式有繼承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DSC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的祖先亦可使用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charset="-120"/>
              </a:rPr>
              <a:t>UserInfo.XXX </a:t>
            </a:r>
            <a:r>
              <a:rPr lang="zh-TW" altLang="en-US" dirty="0">
                <a:solidFill>
                  <a:srgbClr val="FF0000"/>
                </a:solidFill>
                <a:ea typeface="新細明體" panose="02020500000000000000" charset="-120"/>
              </a:rPr>
              <a:t>取得相關資訊</a:t>
            </a: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395288" y="620713"/>
            <a:ext cx="58578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【DSC</a:t>
            </a:r>
            <a:r>
              <a:rPr lang="zh-TW" altLang="en-US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控制項</a:t>
            </a:r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160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74638" y="1125538"/>
            <a:ext cx="8705850" cy="27225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參考附件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" action="ppaction://hlinkfile"/>
              </a:rPr>
              <a:t>控制項元件屬性設定說明文件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" action="ppaction://hlinkfile"/>
              </a:rPr>
              <a:t>.doc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若需使用程式隱藏某個控制項，需使用前端方式隱藏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(style=“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display:none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請勿使用後端方式隱藏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XXX.Visable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=False)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，以免造成前端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異常。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 startAt="3"/>
              <a:defRPr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若需使用程式將某個控制項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強制鎖定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不可異動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可以使用</a:t>
            </a:r>
            <a:r>
              <a:rPr lang="en-US" altLang="zh-TW" dirty="0" err="1">
                <a:solidFill>
                  <a:srgbClr val="FF0000"/>
                </a:solidFill>
                <a:ea typeface="新細明體" panose="02020500000000000000" charset="-120"/>
              </a:rPr>
              <a:t>turningOnOff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charset="-120"/>
              </a:rPr>
              <a:t>("On/Off", </a:t>
            </a:r>
            <a:r>
              <a:rPr lang="en-US" altLang="zh-TW" dirty="0" err="1">
                <a:solidFill>
                  <a:srgbClr val="FF0000"/>
                </a:solidFill>
                <a:ea typeface="新細明體" panose="02020500000000000000" charset="-120"/>
              </a:rPr>
              <a:t>ControlID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charset="-120"/>
              </a:rPr>
              <a:t>)</a:t>
            </a:r>
            <a:r>
              <a:rPr lang="en-US" altLang="zh-TW" dirty="0">
                <a:ea typeface="新細明體" panose="02020500000000000000" charset="-120"/>
              </a:rPr>
              <a:t>;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395288" y="620713"/>
            <a:ext cx="58578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手動新增欄位</a:t>
            </a:r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160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74638" y="1125538"/>
            <a:ext cx="4995862" cy="20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新增實體欄位。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新增五大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FrmFields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修改作業代號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aspx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，增加該控制項並繫結。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根據控制項的類型增加對應的程式碼。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693025" y="6445250"/>
            <a:ext cx="1450975" cy="412750"/>
          </a:xfrm>
        </p:spPr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22796" y="1643050"/>
            <a:ext cx="3508375" cy="379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4838683" y="3949687"/>
            <a:ext cx="3357563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8" name="圖案 7"/>
          <p:cNvCxnSpPr>
            <a:stCxn id="7" idx="1"/>
          </p:cNvCxnSpPr>
          <p:nvPr/>
        </p:nvCxnSpPr>
        <p:spPr>
          <a:xfrm rot="10800000" flipV="1">
            <a:off x="3167046" y="4056050"/>
            <a:ext cx="1671637" cy="803275"/>
          </a:xfrm>
          <a:prstGeom prst="curved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9" name="Picture 8" descr="C:\Users\Administrator\Desktop\ppt\ppt\2011-07-10_105139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4849800"/>
            <a:ext cx="234315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文字方塊 9"/>
          <p:cNvSpPr txBox="1">
            <a:spLocks noChangeArrowheads="1"/>
          </p:cNvSpPr>
          <p:nvPr/>
        </p:nvSpPr>
        <p:spPr bwMode="auto">
          <a:xfrm>
            <a:off x="2686033" y="5653075"/>
            <a:ext cx="4210050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※</a:t>
            </a:r>
            <a:r>
              <a:rPr lang="zh-TW" altLang="en-US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MJ</a:t>
            </a:r>
            <a:r>
              <a:rPr lang="zh-TW" altLang="en-US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主要是為了驗證輸入的值是否正確</a:t>
            </a:r>
            <a:endParaRPr lang="zh-TW" altLang="en-US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780146" y="4940916"/>
            <a:ext cx="285750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12" name="弧形接點 11"/>
          <p:cNvCxnSpPr/>
          <p:nvPr/>
        </p:nvCxnSpPr>
        <p:spPr>
          <a:xfrm rot="16200000" flipH="1">
            <a:off x="5068083" y="4066364"/>
            <a:ext cx="246069" cy="2524118"/>
          </a:xfrm>
          <a:prstGeom prst="curvedConnector3">
            <a:avLst>
              <a:gd name="adj1" fmla="val 192901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" name="圖案 12"/>
          <p:cNvCxnSpPr/>
          <p:nvPr/>
        </p:nvCxnSpPr>
        <p:spPr>
          <a:xfrm rot="5400000" flipH="1" flipV="1">
            <a:off x="3824279" y="4724381"/>
            <a:ext cx="19050" cy="952500"/>
          </a:xfrm>
          <a:prstGeom prst="curvedConnector4">
            <a:avLst>
              <a:gd name="adj1" fmla="val -2233025"/>
              <a:gd name="adj2" fmla="val 109901"/>
            </a:avLst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5" name="文字方塊 8"/>
          <p:cNvSpPr txBox="1">
            <a:spLocks noChangeArrowheads="1"/>
          </p:cNvSpPr>
          <p:nvPr/>
        </p:nvSpPr>
        <p:spPr bwMode="auto">
          <a:xfrm>
            <a:off x="357158" y="1571612"/>
            <a:ext cx="3714750" cy="1262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MIMJ</a:t>
            </a:r>
            <a:endParaRPr lang="en-US" altLang="zh-TW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　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MI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：開窗　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MJ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：驗證</a:t>
            </a:r>
            <a:endParaRPr lang="zh-TW" altLang="en-US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500298" y="500042"/>
            <a:ext cx="4786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MIMJ</a:t>
            </a:r>
            <a:endParaRPr lang="zh-TW" alt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5"/>
          <p:cNvSpPr txBox="1">
            <a:spLocks noChangeArrowheads="1"/>
          </p:cNvSpPr>
          <p:nvPr/>
        </p:nvSpPr>
        <p:spPr bwMode="auto">
          <a:xfrm>
            <a:off x="642938" y="1143000"/>
            <a:ext cx="8215312" cy="2586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MI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 執行動作　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MI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 寫法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 指令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(MI003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MI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 註冊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MI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 執行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24161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【MI】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開窗介紹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68538" y="5157788"/>
            <a:ext cx="138112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3419475" y="5157788"/>
            <a:ext cx="215900" cy="21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19700" y="1916113"/>
            <a:ext cx="3509963" cy="379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圖案 9"/>
          <p:cNvCxnSpPr>
            <a:stCxn id="8" idx="0"/>
          </p:cNvCxnSpPr>
          <p:nvPr/>
        </p:nvCxnSpPr>
        <p:spPr>
          <a:xfrm rot="5400000" flipH="1" flipV="1">
            <a:off x="3653631" y="3663157"/>
            <a:ext cx="1368425" cy="1620838"/>
          </a:xfrm>
          <a:prstGeom prst="curved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4"/>
          <p:cNvSpPr txBox="1"/>
          <p:nvPr/>
        </p:nvSpPr>
        <p:spPr>
          <a:xfrm>
            <a:off x="1835150" y="2636838"/>
            <a:ext cx="4032250" cy="26781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 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MAINSELECT;FormAgent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resak.resak001, resak.resak002, resal.resal001, 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resal.resal002 FROM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$$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resak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as 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resak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LEFT JOIN $$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resal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as 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resal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ON resak.resak015 = resal.resal001 WHERE 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(resak898 &gt; CONVERT(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varchar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(12) , 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getdate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(), 112) OR 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resak898 IS NULL OR resak898 = '‘)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 ORDER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resak001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 RETURN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resak001,resak002,resal001,resal002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 DISPLAY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員工代號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員工名稱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部門代號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部門簡稱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6" name="群組 30"/>
          <p:cNvGrpSpPr/>
          <p:nvPr/>
        </p:nvGrpSpPr>
        <p:grpSpPr bwMode="auto">
          <a:xfrm>
            <a:off x="1404938" y="1771650"/>
            <a:ext cx="2554287" cy="2203450"/>
            <a:chOff x="1404405" y="1771074"/>
            <a:chExt cx="2555019" cy="2204665"/>
          </a:xfrm>
        </p:grpSpPr>
        <p:cxnSp>
          <p:nvCxnSpPr>
            <p:cNvPr id="7" name="圖案 6"/>
            <p:cNvCxnSpPr>
              <a:stCxn id="12" idx="2"/>
              <a:endCxn id="5" idx="1"/>
            </p:cNvCxnSpPr>
            <p:nvPr/>
          </p:nvCxnSpPr>
          <p:spPr>
            <a:xfrm rot="16200000" flipH="1">
              <a:off x="518034" y="2657445"/>
              <a:ext cx="2204665" cy="431924"/>
            </a:xfrm>
            <a:prstGeom prst="curvedConnector2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8" name="文字方塊 25"/>
            <p:cNvSpPr txBox="1">
              <a:spLocks noChangeArrowheads="1"/>
            </p:cNvSpPr>
            <p:nvPr/>
          </p:nvSpPr>
          <p:spPr bwMode="auto">
            <a:xfrm>
              <a:off x="1475862" y="1917205"/>
              <a:ext cx="2483562" cy="6464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TW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依照指定的組別組數</a:t>
              </a:r>
              <a:endPara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defRPr/>
              </a:pPr>
              <a:r>
                <a:rPr lang="zh-TW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找出對應的</a:t>
              </a:r>
              <a:r>
                <a:rPr lang="en-US" altLang="zh-TW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Sql</a:t>
              </a:r>
              <a:r>
                <a:rPr lang="zh-TW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語法</a:t>
              </a:r>
              <a:endPara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9" name="群組 32"/>
          <p:cNvGrpSpPr/>
          <p:nvPr/>
        </p:nvGrpSpPr>
        <p:grpSpPr bwMode="auto">
          <a:xfrm>
            <a:off x="3851275" y="1989138"/>
            <a:ext cx="4321175" cy="1368425"/>
            <a:chOff x="3851919" y="1988840"/>
            <a:chExt cx="4320774" cy="1368153"/>
          </a:xfrm>
        </p:grpSpPr>
        <p:cxnSp>
          <p:nvCxnSpPr>
            <p:cNvPr id="10" name="弧形接點 9"/>
            <p:cNvCxnSpPr>
              <a:stCxn id="5" idx="0"/>
              <a:endCxn id="14" idx="0"/>
            </p:cNvCxnSpPr>
            <p:nvPr/>
          </p:nvCxnSpPr>
          <p:spPr bwMode="auto">
            <a:xfrm rot="16200000" flipH="1">
              <a:off x="5352005" y="1136325"/>
              <a:ext cx="720582" cy="3720755"/>
            </a:xfrm>
            <a:prstGeom prst="curvedConnector3">
              <a:avLst>
                <a:gd name="adj1" fmla="val -31746"/>
              </a:avLst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1" name="文字方塊 32"/>
            <p:cNvSpPr txBox="1">
              <a:spLocks noChangeArrowheads="1"/>
            </p:cNvSpPr>
            <p:nvPr/>
          </p:nvSpPr>
          <p:spPr bwMode="auto">
            <a:xfrm>
              <a:off x="6372635" y="1988840"/>
              <a:ext cx="1800058" cy="6459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TW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找出正確的資料</a:t>
              </a:r>
              <a:endPara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defRPr/>
              </a:pPr>
              <a:r>
                <a:rPr lang="zh-TW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並顯示於畫面上</a:t>
              </a:r>
              <a:endPara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2" name="文字方塊 11"/>
          <p:cNvSpPr txBox="1"/>
          <p:nvPr/>
        </p:nvSpPr>
        <p:spPr>
          <a:xfrm>
            <a:off x="611188" y="1125538"/>
            <a:ext cx="1585912" cy="6461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組別：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RESAK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組數：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03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24923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【MI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執行動作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084888" y="3357563"/>
            <a:ext cx="2974975" cy="3217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5868988" cy="830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【MI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寫法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存放位置：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EFNETSYS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MI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11"/>
          <p:cNvSpPr txBox="1">
            <a:spLocks noChangeArrowheads="1"/>
          </p:cNvSpPr>
          <p:nvPr/>
        </p:nvSpPr>
        <p:spPr bwMode="auto">
          <a:xfrm>
            <a:off x="611188" y="1844675"/>
            <a:ext cx="7704137" cy="3644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MI001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：組別 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建議使用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名稱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MI002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：組數</a:t>
            </a:r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MI003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</a:t>
            </a:r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-- MAINSELECT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：主查詢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SQL(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含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條件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-- ORDER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：主排序欄位</a:t>
            </a:r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-- RETURN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：回傳值欄位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用</a:t>
            </a:r>
            <a:r>
              <a:rPr lang="zh-TW" altLang="en-US" sz="28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逗號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分開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-- DISPLAY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：欄位顯示名稱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用分號分開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MI004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：說明</a:t>
            </a:r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3678238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【Sql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 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(MI003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)】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2"/>
          <p:cNvSpPr txBox="1">
            <a:spLocks noChangeArrowheads="1"/>
          </p:cNvSpPr>
          <p:nvPr/>
        </p:nvSpPr>
        <p:spPr bwMode="auto">
          <a:xfrm>
            <a:off x="693103" y="1268413"/>
            <a:ext cx="5541962" cy="39703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-- MAINSELECT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select resak001,resak002 from </a:t>
            </a:r>
            <a:r>
              <a:rPr lang="en-US" altLang="zh-TW" dirty="0">
                <a:solidFill>
                  <a:srgbClr val="FF0000"/>
                </a:solidFill>
              </a:rPr>
              <a:t>$$</a:t>
            </a:r>
            <a:r>
              <a:rPr lang="en-US" altLang="zh-TW" dirty="0" err="1">
                <a:solidFill>
                  <a:srgbClr val="FF0000"/>
                </a:solidFill>
              </a:rPr>
              <a:t>resak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where </a:t>
            </a:r>
            <a:endParaRPr lang="en-US" altLang="zh-TW" dirty="0"/>
          </a:p>
          <a:p>
            <a:r>
              <a:rPr lang="en-US" altLang="zh-TW" dirty="0"/>
              <a:t>(resak898 IS NULL OR resak898 = '' OR </a:t>
            </a:r>
            <a:endParaRPr lang="en-US" altLang="zh-TW" dirty="0"/>
          </a:p>
          <a:p>
            <a:r>
              <a:rPr lang="en-US" altLang="zh-TW" dirty="0"/>
              <a:t>resak898 &gt; CONVERT(</a:t>
            </a:r>
            <a:r>
              <a:rPr lang="en-US" altLang="zh-TW" dirty="0" err="1"/>
              <a:t>varchar</a:t>
            </a:r>
            <a:r>
              <a:rPr lang="en-US" altLang="zh-TW" dirty="0"/>
              <a:t>(12) , </a:t>
            </a:r>
            <a:r>
              <a:rPr lang="en-US" altLang="zh-TW" dirty="0" err="1"/>
              <a:t>getdate</a:t>
            </a:r>
            <a:r>
              <a:rPr lang="en-US" altLang="zh-TW" dirty="0"/>
              <a:t>(), 112))</a:t>
            </a:r>
            <a:endParaRPr lang="en-US" altLang="zh-TW" dirty="0"/>
          </a:p>
          <a:p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>
                <a:solidFill>
                  <a:srgbClr val="FF0000"/>
                </a:solidFill>
              </a:rPr>
              <a:t>-- ORDER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resak001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FF0000"/>
                </a:solidFill>
              </a:rPr>
              <a:t>-- RETURN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resak001,resak002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FF0000"/>
                </a:solidFill>
              </a:rPr>
              <a:t>-- DISPLAY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員工代號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員工名稱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975225" y="2500313"/>
            <a:ext cx="3989388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468313" y="2428875"/>
            <a:ext cx="867568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自訂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MI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SwitchKey,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回填到畫面上的物件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開窗的類型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711835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【MI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註冊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FormID.aspx.cs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 →  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settingClientFunction()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→</a:t>
            </a:r>
            <a:r>
              <a:rPr lang="en-US" altLang="zh-TW" sz="1600"/>
              <a:t> </a:t>
            </a:r>
            <a:r>
              <a:rPr lang="en-US" altLang="zh-TW" sz="20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onclick</a:t>
            </a:r>
            <a:endParaRPr lang="en-US" altLang="zh-TW" sz="200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785938" y="1785938"/>
            <a:ext cx="3671887" cy="6302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500"/>
              <a:t>getClickParams</a:t>
            </a:r>
            <a:endParaRPr lang="en-US" altLang="zh-TW" sz="3500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468563" y="4357688"/>
            <a:ext cx="3960812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rgbClr val="FF3300"/>
                </a:solidFill>
                <a:latin typeface="+mn-lt"/>
                <a:ea typeface="新細明體" panose="02020500000000000000" charset="-120"/>
              </a:rPr>
              <a:t>, </a:t>
            </a:r>
            <a:r>
              <a:rPr lang="en-US" altLang="zh-TW" dirty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 where</a:t>
            </a:r>
            <a:r>
              <a:rPr lang="zh-TW" altLang="en-US" dirty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條件之參數</a:t>
            </a:r>
            <a:r>
              <a:rPr lang="en-US" altLang="zh-TW" dirty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分號</a:t>
            </a:r>
            <a:r>
              <a:rPr lang="en-US" altLang="zh-TW" dirty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r>
              <a:rPr lang="zh-TW" altLang="en-US" dirty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隔開</a:t>
            </a:r>
            <a:r>
              <a:rPr lang="en-US" altLang="zh-TW" dirty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/>
          <p:cNvSpPr txBox="1">
            <a:spLocks noChangeArrowheads="1"/>
          </p:cNvSpPr>
          <p:nvPr/>
        </p:nvSpPr>
        <p:spPr bwMode="auto">
          <a:xfrm>
            <a:off x="323850" y="2786063"/>
            <a:ext cx="8820150" cy="831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odmc01003.HtmImg.Attributes.Add("onclick", MIMJUtil.</a:t>
            </a:r>
            <a:r>
              <a:rPr lang="en-US" altLang="zh-TW" sz="16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getClickParams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("MasterPage_MasterPageContent_odmc01003_btn", "MasterPage_MasterPageContent_odmc01003_txt", "S"));</a:t>
            </a:r>
            <a:endParaRPr lang="zh-TW" altLang="en-US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/>
          <p:cNvSpPr txBox="1">
            <a:spLocks noChangeArrowheads="1"/>
          </p:cNvSpPr>
          <p:nvPr/>
        </p:nvSpPr>
        <p:spPr bwMode="auto">
          <a:xfrm>
            <a:off x="357188" y="5065713"/>
            <a:ext cx="8286750" cy="1077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odmc01003.HtmImg.Attributes.Add("onclick", MIMJUtil.</a:t>
            </a:r>
            <a:r>
              <a:rPr lang="en-US" altLang="zh-TW" sz="16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getClickParams_Fields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("MasterPage_MasterPageContent_odmc01003_btn", "MasterPage_MasterPageContent_ServerIP</a:t>
            </a:r>
            <a:r>
              <a:rPr lang="en-US" altLang="zh-TW" sz="16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MasterPage_MasterPageContent_Company_ddl", "MasterPage_MasterPageContent_odmc01003_txt", "S"));</a:t>
            </a:r>
            <a:endParaRPr lang="zh-TW" altLang="en-US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>
            <a:spLocks noChangeArrowheads="1"/>
          </p:cNvSpPr>
          <p:nvPr/>
        </p:nvSpPr>
        <p:spPr bwMode="auto">
          <a:xfrm>
            <a:off x="755650" y="1876425"/>
            <a:ext cx="1211263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基本型：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>
            <a:spLocks noChangeArrowheads="1"/>
          </p:cNvSpPr>
          <p:nvPr/>
        </p:nvSpPr>
        <p:spPr bwMode="auto">
          <a:xfrm>
            <a:off x="5357813" y="2786063"/>
            <a:ext cx="3262312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基本型：用來製作</a:t>
            </a:r>
            <a:r>
              <a:rPr lang="zh-TW" altLang="en-US" sz="20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固定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開窗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>
            <a:spLocks noChangeArrowheads="1"/>
          </p:cNvSpPr>
          <p:nvPr/>
        </p:nvSpPr>
        <p:spPr bwMode="auto">
          <a:xfrm>
            <a:off x="428625" y="3714750"/>
            <a:ext cx="1211263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進階型：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/>
          <p:cNvSpPr txBox="1">
            <a:spLocks noChangeArrowheads="1"/>
          </p:cNvSpPr>
          <p:nvPr/>
        </p:nvSpPr>
        <p:spPr bwMode="auto">
          <a:xfrm>
            <a:off x="4856163" y="4957763"/>
            <a:ext cx="4287837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進階型：把畫面上欄位當作</a:t>
            </a:r>
            <a:r>
              <a:rPr lang="zh-TW" altLang="en-US" sz="20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開窗條件</a:t>
            </a:r>
            <a:endParaRPr lang="zh-TW" altLang="en-US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33"/>
          <p:cNvSpPr txBox="1">
            <a:spLocks noChangeArrowheads="1"/>
          </p:cNvSpPr>
          <p:nvPr/>
        </p:nvSpPr>
        <p:spPr bwMode="auto">
          <a:xfrm>
            <a:off x="468313" y="1268413"/>
            <a:ext cx="714057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lvl="1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一般註冊：欄位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ID.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Attributes.Add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(“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onclick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”, “MI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script")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5000625" y="3714750"/>
            <a:ext cx="2520950" cy="630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500">
                <a:solidFill>
                  <a:srgbClr val="FF3300"/>
                </a:solidFill>
              </a:rPr>
              <a:t>_Fields</a:t>
            </a:r>
            <a:endParaRPr lang="en-US" altLang="zh-TW" sz="3500">
              <a:solidFill>
                <a:srgbClr val="FF3300"/>
              </a:solidFill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1571625" y="3714750"/>
            <a:ext cx="3671888" cy="630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500"/>
              <a:t>getClickParams</a:t>
            </a:r>
            <a:endParaRPr lang="en-US" altLang="zh-TW" sz="3500"/>
          </a:p>
        </p:txBody>
      </p: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285750" y="4357688"/>
            <a:ext cx="8675688" cy="646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自訂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MI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SwitchKey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				　　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回填到畫面上的物件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開窗的類型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5" grpId="0"/>
      <p:bldP spid="11" grpId="0"/>
      <p:bldP spid="8" grpId="0" animBg="1"/>
      <p:bldP spid="10" grpId="0"/>
      <p:bldP spid="13" grpId="0"/>
      <p:bldP spid="16" grpId="0"/>
      <p:bldP spid="17" grpId="0"/>
      <p:bldP spid="18" grpId="0"/>
      <p:bldP spid="12" grpId="0"/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5573713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【MI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執行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FormID_MIMJ.aspx.cs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 →</a:t>
            </a:r>
            <a:r>
              <a:rPr lang="zh-TW" altLang="en-US" sz="16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MIFunction()</a:t>
            </a:r>
            <a:endParaRPr lang="en-US" altLang="zh-TW" sz="200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>
            <a:spLocks noChangeArrowheads="1"/>
          </p:cNvSpPr>
          <p:nvPr/>
        </p:nvSpPr>
        <p:spPr bwMode="auto">
          <a:xfrm>
            <a:off x="755650" y="1268413"/>
            <a:ext cx="4672013" cy="1384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lang="en-US" altLang="zh-TW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doMI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(MI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組別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, MI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組數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ex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doMI(“RESAK”,“03");</a:t>
            </a:r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244475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【MJ】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驗證介紹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138488" y="5013325"/>
            <a:ext cx="2449512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87700" y="5013325"/>
            <a:ext cx="2352675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24525" y="5157788"/>
            <a:ext cx="8636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弧形接點 8"/>
          <p:cNvCxnSpPr>
            <a:stCxn id="7" idx="0"/>
            <a:endCxn id="8" idx="0"/>
          </p:cNvCxnSpPr>
          <p:nvPr/>
        </p:nvCxnSpPr>
        <p:spPr>
          <a:xfrm rot="16200000" flipH="1">
            <a:off x="5187950" y="4189413"/>
            <a:ext cx="144463" cy="1792287"/>
          </a:xfrm>
          <a:prstGeom prst="curvedConnector3">
            <a:avLst>
              <a:gd name="adj1" fmla="val -158732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文字方塊 5"/>
          <p:cNvSpPr txBox="1">
            <a:spLocks noChangeArrowheads="1"/>
          </p:cNvSpPr>
          <p:nvPr/>
        </p:nvSpPr>
        <p:spPr bwMode="auto">
          <a:xfrm>
            <a:off x="642938" y="1200152"/>
            <a:ext cx="3286120" cy="286232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MJ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執行動作　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000" noProof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MJ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寫法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指令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(MJ003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MJ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註冊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¤　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MJ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執行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4"/>
          <p:cNvSpPr txBox="1"/>
          <p:nvPr/>
        </p:nvSpPr>
        <p:spPr>
          <a:xfrm>
            <a:off x="1549370" y="3141663"/>
            <a:ext cx="4032250" cy="1600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1400" dirty="0"/>
              <a:t>--MAINSELECT     </a:t>
            </a:r>
            <a:endParaRPr lang="en-US" altLang="zh-TW" sz="1400" dirty="0"/>
          </a:p>
          <a:p>
            <a:pPr>
              <a:defRPr/>
            </a:pPr>
            <a:r>
              <a:rPr lang="en-US" altLang="zh-TW" sz="1400" dirty="0"/>
              <a:t>SELECT resak002, resak002 as resak002C, resal001, resal002FROM $$</a:t>
            </a:r>
            <a:r>
              <a:rPr lang="en-US" altLang="zh-TW" sz="1400" dirty="0" err="1"/>
              <a:t>resak</a:t>
            </a:r>
            <a:r>
              <a:rPr lang="en-US" altLang="zh-TW" sz="1400" dirty="0"/>
              <a:t> as </a:t>
            </a:r>
            <a:r>
              <a:rPr lang="en-US" altLang="zh-TW" sz="1400" dirty="0" err="1"/>
              <a:t>resakLEFT</a:t>
            </a:r>
            <a:r>
              <a:rPr lang="en-US" altLang="zh-TW" sz="1400" dirty="0"/>
              <a:t> JOIN $$</a:t>
            </a:r>
            <a:r>
              <a:rPr lang="en-US" altLang="zh-TW" sz="1400" dirty="0" err="1"/>
              <a:t>resal</a:t>
            </a:r>
            <a:r>
              <a:rPr lang="en-US" altLang="zh-TW" sz="1400" dirty="0"/>
              <a:t> as </a:t>
            </a:r>
            <a:r>
              <a:rPr lang="en-US" altLang="zh-TW" sz="1400" dirty="0" err="1"/>
              <a:t>resal</a:t>
            </a:r>
            <a:r>
              <a:rPr lang="en-US" altLang="zh-TW" sz="1400" dirty="0"/>
              <a:t> on resak015=resal001</a:t>
            </a:r>
            <a:endParaRPr lang="en-US" altLang="zh-TW" sz="1400" dirty="0"/>
          </a:p>
          <a:p>
            <a:pPr>
              <a:defRPr/>
            </a:pPr>
            <a:r>
              <a:rPr lang="en-US" altLang="zh-TW" sz="1400" dirty="0"/>
              <a:t>WHERE resak001=:resak001</a:t>
            </a:r>
            <a:endParaRPr lang="en-US" altLang="zh-TW" sz="1400" dirty="0"/>
          </a:p>
          <a:p>
            <a:pPr>
              <a:defRPr/>
            </a:pPr>
            <a:r>
              <a:rPr lang="en-US" altLang="zh-TW" sz="1400" dirty="0"/>
              <a:t>--RETURN  </a:t>
            </a:r>
            <a:endParaRPr lang="en-US" altLang="zh-TW" sz="1400" dirty="0"/>
          </a:p>
          <a:p>
            <a:pPr>
              <a:defRPr/>
            </a:pPr>
            <a:r>
              <a:rPr lang="en-US" altLang="zh-TW" sz="1400" dirty="0"/>
              <a:t>resak002;resak0091;resak0092</a:t>
            </a:r>
            <a:endParaRPr lang="en-US" altLang="zh-TW" sz="1400" dirty="0"/>
          </a:p>
        </p:txBody>
      </p:sp>
      <p:grpSp>
        <p:nvGrpSpPr>
          <p:cNvPr id="6" name="群組 30"/>
          <p:cNvGrpSpPr/>
          <p:nvPr/>
        </p:nvGrpSpPr>
        <p:grpSpPr bwMode="auto">
          <a:xfrm>
            <a:off x="1261239" y="1771649"/>
            <a:ext cx="2555081" cy="2170113"/>
            <a:chOff x="1403610" y="1771074"/>
            <a:chExt cx="2555814" cy="2170112"/>
          </a:xfrm>
        </p:grpSpPr>
        <p:cxnSp>
          <p:nvCxnSpPr>
            <p:cNvPr id="7" name="圖案 6"/>
            <p:cNvCxnSpPr>
              <a:stCxn id="12" idx="2"/>
              <a:endCxn id="5" idx="1"/>
            </p:cNvCxnSpPr>
            <p:nvPr/>
          </p:nvCxnSpPr>
          <p:spPr>
            <a:xfrm rot="16200000" flipH="1">
              <a:off x="462661" y="2712023"/>
              <a:ext cx="2170112" cy="288214"/>
            </a:xfrm>
            <a:prstGeom prst="curvedConnector2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8" name="文字方塊 25"/>
            <p:cNvSpPr txBox="1">
              <a:spLocks noChangeArrowheads="1"/>
            </p:cNvSpPr>
            <p:nvPr/>
          </p:nvSpPr>
          <p:spPr bwMode="auto">
            <a:xfrm>
              <a:off x="1475862" y="2204463"/>
              <a:ext cx="2483562" cy="6461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TW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依照指定的組別組數</a:t>
              </a:r>
              <a:endPara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defRPr/>
              </a:pPr>
              <a:r>
                <a:rPr lang="zh-TW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找出對應的</a:t>
              </a:r>
              <a:r>
                <a:rPr lang="en-US" altLang="zh-TW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Sql</a:t>
              </a:r>
              <a:r>
                <a:rPr lang="zh-TW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語法</a:t>
              </a:r>
              <a:endPara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9" name="群組 32"/>
          <p:cNvGrpSpPr/>
          <p:nvPr/>
        </p:nvGrpSpPr>
        <p:grpSpPr bwMode="auto">
          <a:xfrm>
            <a:off x="3565494" y="2349500"/>
            <a:ext cx="4335464" cy="1008064"/>
            <a:chOff x="3707902" y="2564904"/>
            <a:chExt cx="4335582" cy="1008113"/>
          </a:xfrm>
        </p:grpSpPr>
        <p:cxnSp>
          <p:nvCxnSpPr>
            <p:cNvPr id="10" name="弧形接點 9"/>
            <p:cNvCxnSpPr>
              <a:stCxn id="5" idx="0"/>
              <a:endCxn id="16" idx="0"/>
            </p:cNvCxnSpPr>
            <p:nvPr/>
          </p:nvCxnSpPr>
          <p:spPr bwMode="auto">
            <a:xfrm rot="16200000" flipH="1">
              <a:off x="5144231" y="1920778"/>
              <a:ext cx="215910" cy="3088567"/>
            </a:xfrm>
            <a:prstGeom prst="curvedConnector3">
              <a:avLst>
                <a:gd name="adj1" fmla="val -105882"/>
              </a:avLst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1" name="文字方塊 32"/>
            <p:cNvSpPr txBox="1">
              <a:spLocks noChangeArrowheads="1"/>
            </p:cNvSpPr>
            <p:nvPr/>
          </p:nvSpPr>
          <p:spPr bwMode="auto">
            <a:xfrm>
              <a:off x="6011429" y="2564904"/>
              <a:ext cx="2032055" cy="36990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TW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驗正資料是否正確</a:t>
              </a:r>
              <a:endPara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2" name="文字方塊 11"/>
          <p:cNvSpPr txBox="1"/>
          <p:nvPr/>
        </p:nvSpPr>
        <p:spPr>
          <a:xfrm>
            <a:off x="468283" y="1125538"/>
            <a:ext cx="1585912" cy="6461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組別：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RESAK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組數：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03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"/>
          <p:cNvSpPr txBox="1">
            <a:spLocks noChangeArrowheads="1"/>
          </p:cNvSpPr>
          <p:nvPr/>
        </p:nvSpPr>
        <p:spPr bwMode="auto">
          <a:xfrm>
            <a:off x="285720" y="642938"/>
            <a:ext cx="2522538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【MJ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執行動作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4" name="群組 19"/>
          <p:cNvGrpSpPr/>
          <p:nvPr/>
        </p:nvGrpSpPr>
        <p:grpSpPr bwMode="auto">
          <a:xfrm>
            <a:off x="5868958" y="3357563"/>
            <a:ext cx="1944687" cy="673100"/>
            <a:chOff x="6012160" y="3356992"/>
            <a:chExt cx="1944216" cy="674365"/>
          </a:xfrm>
        </p:grpSpPr>
        <p:pic>
          <p:nvPicPr>
            <p:cNvPr id="15" name="Picture 3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6108526" y="3717032"/>
              <a:ext cx="1847850" cy="314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文字方塊 17"/>
            <p:cNvSpPr txBox="1">
              <a:spLocks noChangeArrowheads="1"/>
            </p:cNvSpPr>
            <p:nvPr/>
          </p:nvSpPr>
          <p:spPr bwMode="auto">
            <a:xfrm>
              <a:off x="6012160" y="3356992"/>
              <a:ext cx="1569660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正確：帶出值</a:t>
              </a: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7" name="群組 20"/>
          <p:cNvGrpSpPr/>
          <p:nvPr/>
        </p:nvGrpSpPr>
        <p:grpSpPr bwMode="auto">
          <a:xfrm>
            <a:off x="5868958" y="4365625"/>
            <a:ext cx="3132137" cy="2087563"/>
            <a:chOff x="6012160" y="4365104"/>
            <a:chExt cx="3131840" cy="2088233"/>
          </a:xfrm>
        </p:grpSpPr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050704" y="4797153"/>
              <a:ext cx="3093296" cy="1656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文字方塊 18"/>
            <p:cNvSpPr txBox="1">
              <a:spLocks noChangeArrowheads="1"/>
            </p:cNvSpPr>
            <p:nvPr/>
          </p:nvSpPr>
          <p:spPr bwMode="auto">
            <a:xfrm>
              <a:off x="6012160" y="4365104"/>
              <a:ext cx="2262158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錯誤：彈跳錯誤訊息</a:t>
              </a:r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5897563" cy="830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【MJ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寫法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存放位置：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EFNETSYS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MJ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11"/>
          <p:cNvSpPr txBox="1">
            <a:spLocks noChangeArrowheads="1"/>
          </p:cNvSpPr>
          <p:nvPr/>
        </p:nvSpPr>
        <p:spPr bwMode="auto">
          <a:xfrm>
            <a:off x="611188" y="1844675"/>
            <a:ext cx="7794625" cy="289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MJ001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：組別 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建議使用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名稱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MJ002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：組數</a:t>
            </a:r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MJ003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</a:t>
            </a:r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kumimoji="0"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-- MAINSELECT </a:t>
            </a:r>
            <a:r>
              <a:rPr kumimoji="0"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：主查詢</a:t>
            </a:r>
            <a:r>
              <a:rPr kumimoji="0"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SQL(</a:t>
            </a:r>
            <a:r>
              <a:rPr kumimoji="0"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含</a:t>
            </a:r>
            <a:r>
              <a:rPr kumimoji="0"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kumimoji="0"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條件</a:t>
            </a:r>
            <a:r>
              <a:rPr kumimoji="0"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0" lang="en-US" altLang="zh-TW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kumimoji="0"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-- RETURN </a:t>
            </a:r>
            <a:r>
              <a:rPr kumimoji="0"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：回傳值欄位</a:t>
            </a:r>
            <a:r>
              <a:rPr kumimoji="0"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kumimoji="0"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用</a:t>
            </a:r>
            <a:r>
              <a:rPr kumimoji="0" lang="zh-TW" altLang="en-US" sz="28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分號</a:t>
            </a:r>
            <a:r>
              <a:rPr kumimoji="0"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分開</a:t>
            </a:r>
            <a:r>
              <a:rPr kumimoji="0"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0" lang="en-US" altLang="zh-TW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MJ004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：說明</a:t>
            </a:r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3678238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【Sql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 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(MJ003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)】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2"/>
          <p:cNvSpPr txBox="1">
            <a:spLocks noChangeArrowheads="1"/>
          </p:cNvSpPr>
          <p:nvPr/>
        </p:nvSpPr>
        <p:spPr bwMode="auto">
          <a:xfrm>
            <a:off x="684213" y="1268413"/>
            <a:ext cx="8329612" cy="203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--MAINSELECT;  </a:t>
            </a:r>
            <a:endParaRPr lang="en-US" altLang="zh-TW">
              <a:solidFill>
                <a:srgbClr val="FF0000"/>
              </a:solidFill>
            </a:endParaRPr>
          </a:p>
          <a:p>
            <a:r>
              <a:rPr lang="zh-TW" altLang="en-US"/>
              <a:t>   </a:t>
            </a:r>
            <a:r>
              <a:rPr lang="en-US" altLang="zh-TW"/>
              <a:t>SELECT resak002, resak002 as resak002C, resal001, resal002     </a:t>
            </a:r>
            <a:endParaRPr lang="en-US" altLang="zh-TW"/>
          </a:p>
          <a:p>
            <a:r>
              <a:rPr lang="zh-TW" altLang="en-US"/>
              <a:t>   </a:t>
            </a:r>
            <a:r>
              <a:rPr lang="en-US" altLang="zh-TW"/>
              <a:t>FROM $$resak as resak    LEFT JOIN $$resal as resal on resak015=resal001</a:t>
            </a:r>
            <a:endParaRPr lang="en-US" altLang="zh-TW"/>
          </a:p>
          <a:p>
            <a:r>
              <a:rPr lang="zh-TW" altLang="en-US"/>
              <a:t>   </a:t>
            </a:r>
            <a:r>
              <a:rPr lang="en-US" altLang="zh-TW"/>
              <a:t>WHERE resak001=</a:t>
            </a:r>
            <a:r>
              <a:rPr lang="en-US" altLang="zh-TW">
                <a:solidFill>
                  <a:srgbClr val="FF0000"/>
                </a:solidFill>
              </a:rPr>
              <a:t>:resak001  </a:t>
            </a:r>
            <a:endParaRPr lang="en-US" altLang="zh-TW">
              <a:solidFill>
                <a:srgbClr val="FF0000"/>
              </a:solidFill>
            </a:endParaRPr>
          </a:p>
          <a:p>
            <a:endParaRPr lang="en-US" altLang="zh-TW"/>
          </a:p>
          <a:p>
            <a:r>
              <a:rPr lang="en-US" altLang="zh-TW">
                <a:solidFill>
                  <a:srgbClr val="FF0000"/>
                </a:solidFill>
              </a:rPr>
              <a:t>--RETURN  </a:t>
            </a:r>
            <a:endParaRPr lang="en-US" altLang="zh-TW">
              <a:solidFill>
                <a:srgbClr val="FF0000"/>
              </a:solidFill>
            </a:endParaRPr>
          </a:p>
          <a:p>
            <a:r>
              <a:rPr lang="zh-TW" altLang="en-US">
                <a:solidFill>
                  <a:srgbClr val="FF0000"/>
                </a:solidFill>
              </a:rPr>
              <a:t>   </a:t>
            </a:r>
            <a:r>
              <a:rPr lang="en-US" altLang="zh-TW"/>
              <a:t>resak002;resak002C;resal001;resal002</a:t>
            </a: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85629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【MJ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註冊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FormID.aspx.cs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 →  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settingClientFunction()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→</a:t>
            </a:r>
            <a:r>
              <a:rPr lang="en-US" altLang="zh-TW" sz="1600"/>
              <a:t> </a:t>
            </a:r>
            <a:r>
              <a:rPr lang="en-US" altLang="zh-TW" sz="20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onblur</a:t>
            </a:r>
            <a:r>
              <a:rPr lang="zh-TW" altLang="en-US" sz="20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onchange</a:t>
            </a:r>
            <a:endParaRPr lang="en-US" altLang="zh-TW" sz="200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33"/>
          <p:cNvSpPr txBox="1">
            <a:spLocks noChangeArrowheads="1"/>
          </p:cNvSpPr>
          <p:nvPr/>
        </p:nvSpPr>
        <p:spPr bwMode="auto">
          <a:xfrm>
            <a:off x="468313" y="1268413"/>
            <a:ext cx="8305800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lvl="1"/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一般註冊：欄位</a:t>
            </a:r>
            <a:r>
              <a:rPr lang="en-US" altLang="zh-TW" sz="2000"/>
              <a:t>ID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. Attributes.Add(</a:t>
            </a:r>
            <a:r>
              <a:rPr lang="en-US" altLang="zh-TW" sz="2000"/>
              <a:t>"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onblur</a:t>
            </a:r>
            <a:r>
              <a:rPr lang="en-US" altLang="zh-TW" sz="2000"/>
              <a:t> "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en-US" altLang="zh-TW" sz="2000"/>
              <a:t> "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MJ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script")</a:t>
            </a:r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1"/>
            <a:r>
              <a:rPr lang="en-US" altLang="zh-TW" sz="2000">
                <a:solidFill>
                  <a:srgbClr val="9838B2"/>
                </a:solidFill>
              </a:rPr>
              <a:t>	</a:t>
            </a:r>
            <a:r>
              <a:rPr lang="zh-TW" altLang="en-US" sz="2000">
                <a:solidFill>
                  <a:srgbClr val="9838B2"/>
                </a:solidFill>
              </a:rPr>
              <a:t>     </a:t>
            </a:r>
            <a:r>
              <a:rPr lang="zh-TW" altLang="en-US" sz="2000"/>
              <a:t>欄位</a:t>
            </a:r>
            <a:r>
              <a:rPr lang="en-US" altLang="zh-TW" sz="2000"/>
              <a:t>ID. Attributes.Add(" onchange ", "AddtoHash(‘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</a:t>
            </a:r>
            <a:r>
              <a:rPr lang="en-US" altLang="zh-TW" sz="2000"/>
              <a:t>ID’) ")</a:t>
            </a:r>
            <a:endParaRPr lang="en-US" altLang="zh-TW" sz="200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900113" y="2492375"/>
            <a:ext cx="3671887" cy="630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500"/>
              <a:t>getBlurParams</a:t>
            </a:r>
            <a:endParaRPr lang="en-US" altLang="zh-TW" sz="3500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14363" y="3278188"/>
            <a:ext cx="7464425" cy="9540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latin typeface="+mn-lt"/>
                <a:ea typeface="新細明體" panose="02020500000000000000" charset="-120"/>
              </a:rPr>
              <a:t>(</a:t>
            </a:r>
            <a:r>
              <a:rPr lang="zh-TW" altLang="en-US" dirty="0">
                <a:ea typeface="新細明體" panose="02020500000000000000" charset="-120"/>
              </a:rPr>
              <a:t>驗證失敗時要清空欄位</a:t>
            </a:r>
            <a:r>
              <a:rPr lang="en-US" altLang="zh-TW" dirty="0">
                <a:ea typeface="新細明體" panose="02020500000000000000" charset="-120"/>
              </a:rPr>
              <a:t>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自訂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MJ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SwitchKey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名稱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傳到後端用的參數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隔開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/>
          <p:cNvSpPr txBox="1">
            <a:spLocks noChangeArrowheads="1"/>
          </p:cNvSpPr>
          <p:nvPr/>
        </p:nvSpPr>
        <p:spPr bwMode="auto">
          <a:xfrm>
            <a:off x="755650" y="4292600"/>
            <a:ext cx="6492875" cy="323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lvl="1"/>
            <a:r>
              <a:rPr lang="en-US" altLang="zh-TW" sz="1500"/>
              <a:t>getBlurParams("GD003_txt",“DepartmentName","GD003_txt,GD001_ddl")</a:t>
            </a:r>
            <a:endParaRPr lang="en-US" altLang="zh-TW"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4"/>
          <p:cNvSpPr txBox="1">
            <a:spLocks noChangeArrowheads="1"/>
          </p:cNvSpPr>
          <p:nvPr/>
        </p:nvSpPr>
        <p:spPr bwMode="auto">
          <a:xfrm>
            <a:off x="900113" y="1989138"/>
            <a:ext cx="7632700" cy="1200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ex1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doMJ( "RESAK","03", "odmc01014_txt2=resak002");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ex2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doMJ( "RESAK",“80", "odmc01014_txt2=resak002", 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			         "odmc01015_txt2=resak003");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1"/>
          <p:cNvSpPr txBox="1">
            <a:spLocks noChangeArrowheads="1"/>
          </p:cNvSpPr>
          <p:nvPr/>
        </p:nvSpPr>
        <p:spPr bwMode="auto">
          <a:xfrm>
            <a:off x="428625" y="642938"/>
            <a:ext cx="5573713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【MJ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執行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FormID_MIMJ.aspx.cs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 →</a:t>
            </a:r>
            <a:r>
              <a:rPr lang="zh-TW" altLang="en-US" sz="16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MJFunction()</a:t>
            </a:r>
            <a:endParaRPr lang="en-US" altLang="zh-TW" sz="200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/>
          <p:cNvSpPr txBox="1">
            <a:spLocks noChangeArrowheads="1"/>
          </p:cNvSpPr>
          <p:nvPr/>
        </p:nvSpPr>
        <p:spPr bwMode="auto">
          <a:xfrm>
            <a:off x="755650" y="1268413"/>
            <a:ext cx="7335838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doMJ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(MJ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組別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, MJ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組數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回填畫面欄位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資料庫回傳的欄位名稱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27763" y="2852738"/>
            <a:ext cx="1081087" cy="3603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9" name="群組 11"/>
          <p:cNvGrpSpPr/>
          <p:nvPr/>
        </p:nvGrpSpPr>
        <p:grpSpPr bwMode="auto">
          <a:xfrm>
            <a:off x="6227763" y="3213100"/>
            <a:ext cx="2749550" cy="1120775"/>
            <a:chOff x="6228184" y="3212976"/>
            <a:chExt cx="2749471" cy="1120190"/>
          </a:xfrm>
        </p:grpSpPr>
        <p:cxnSp>
          <p:nvCxnSpPr>
            <p:cNvPr id="10" name="直線單箭頭接點 9"/>
            <p:cNvCxnSpPr>
              <a:endCxn id="8" idx="2"/>
            </p:cNvCxnSpPr>
            <p:nvPr/>
          </p:nvCxnSpPr>
          <p:spPr>
            <a:xfrm flipH="1" flipV="1">
              <a:off x="6767918" y="3212976"/>
              <a:ext cx="36511" cy="72034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文字方塊 9"/>
            <p:cNvSpPr txBox="1">
              <a:spLocks noChangeArrowheads="1"/>
            </p:cNvSpPr>
            <p:nvPr/>
          </p:nvSpPr>
          <p:spPr bwMode="auto">
            <a:xfrm>
              <a:off x="6228184" y="3933056"/>
              <a:ext cx="2749471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TW" altLang="en-US" sz="200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回傳的資料庫欄位名稱</a:t>
              </a:r>
              <a:endParaRPr lang="zh-TW" altLang="en-US" sz="20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4211638" y="2824163"/>
            <a:ext cx="1944687" cy="358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13" name="群組 13"/>
          <p:cNvGrpSpPr/>
          <p:nvPr/>
        </p:nvGrpSpPr>
        <p:grpSpPr bwMode="auto">
          <a:xfrm>
            <a:off x="3059113" y="3182938"/>
            <a:ext cx="2173287" cy="1150937"/>
            <a:chOff x="5220072" y="3183480"/>
            <a:chExt cx="2172390" cy="1149686"/>
          </a:xfrm>
        </p:grpSpPr>
        <p:cxnSp>
          <p:nvCxnSpPr>
            <p:cNvPr id="14" name="直線單箭頭接點 13"/>
            <p:cNvCxnSpPr>
              <a:endCxn id="12" idx="2"/>
            </p:cNvCxnSpPr>
            <p:nvPr/>
          </p:nvCxnSpPr>
          <p:spPr>
            <a:xfrm flipV="1">
              <a:off x="7019554" y="3183480"/>
              <a:ext cx="325303" cy="71994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文字方塊 15"/>
            <p:cNvSpPr txBox="1">
              <a:spLocks noChangeArrowheads="1"/>
            </p:cNvSpPr>
            <p:nvPr/>
          </p:nvSpPr>
          <p:spPr bwMode="auto">
            <a:xfrm>
              <a:off x="5220072" y="3933056"/>
              <a:ext cx="217239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TW" sz="200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Client</a:t>
              </a:r>
              <a:r>
                <a:rPr lang="zh-TW" altLang="en-US" sz="200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端控制項</a:t>
              </a:r>
              <a:r>
                <a:rPr lang="en-US" altLang="zh-TW" sz="200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ID</a:t>
              </a:r>
              <a:endParaRPr lang="zh-TW" altLang="en-US" sz="20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395288" y="620713"/>
            <a:ext cx="8424862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Ajax</a:t>
            </a:r>
            <a:r>
              <a:rPr lang="zh-TW" altLang="en-US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應用及注意事項</a:t>
            </a:r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160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>
            <a:spLocks noChangeArrowheads="1"/>
          </p:cNvSpPr>
          <p:nvPr/>
        </p:nvSpPr>
        <p:spPr bwMode="auto">
          <a:xfrm>
            <a:off x="250824" y="981074"/>
            <a:ext cx="8678893" cy="51706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參考文件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" action="ppaction://hlinkfile"/>
              </a:rPr>
              <a:t>20130720 (3.x)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" action="ppaction://hlinkfile"/>
              </a:rPr>
              <a:t>如何使用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" action="ppaction://hlinkfile"/>
              </a:rPr>
              <a:t>Ajax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" action="ppaction://hlinkfile"/>
              </a:rPr>
              <a:t>及注意事項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" action="ppaction://hlinkfile"/>
              </a:rPr>
              <a:t>.doc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Ajax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函數中如需要取得單身資料，必須傳入</a:t>
            </a:r>
            <a:r>
              <a:rPr lang="en-US" altLang="zh-TW" dirty="0" err="1"/>
              <a:t>universalID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</a:pPr>
            <a:endParaRPr lang="en-US" altLang="zh-TW" sz="1400" b="1" dirty="0" smtClean="0"/>
          </a:p>
          <a:p>
            <a:pPr marL="342900" indent="-342900">
              <a:lnSpc>
                <a:spcPct val="150000"/>
              </a:lnSpc>
            </a:pPr>
            <a:r>
              <a:rPr lang="zh-TW" altLang="en-US" sz="1400" b="1" dirty="0" smtClean="0"/>
              <a:t>作業代號</a:t>
            </a:r>
            <a:r>
              <a:rPr lang="en-US" sz="1400" b="1" dirty="0" smtClean="0"/>
              <a:t>.</a:t>
            </a:r>
            <a:r>
              <a:rPr lang="en-US" sz="1400" b="1" dirty="0" err="1" smtClean="0"/>
              <a:t>aspx.cs</a:t>
            </a:r>
            <a:r>
              <a:rPr lang="zh-TW" altLang="en-US" sz="1400" b="1" dirty="0" smtClean="0"/>
              <a:t>檔函數名稱上方需加註為</a:t>
            </a:r>
            <a:r>
              <a:rPr lang="en-US" sz="1400" b="1" dirty="0" smtClean="0"/>
              <a:t>Ajax </a:t>
            </a:r>
            <a:r>
              <a:rPr lang="zh-TW" altLang="en-US" sz="1400" b="1" dirty="0" smtClean="0"/>
              <a:t>函數，</a:t>
            </a:r>
            <a:r>
              <a:rPr lang="en-US" sz="1400" b="1" dirty="0" smtClean="0"/>
              <a:t>JS</a:t>
            </a:r>
            <a:r>
              <a:rPr lang="zh-TW" altLang="en-US" sz="1400" b="1" dirty="0" smtClean="0"/>
              <a:t>檔才可呼叫到，存取權限需為</a:t>
            </a:r>
            <a:r>
              <a:rPr lang="en-US" sz="1400" b="1" dirty="0" smtClean="0"/>
              <a:t>Public</a:t>
            </a:r>
            <a:endParaRPr lang="en-US" altLang="zh-TW" sz="1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[</a:t>
            </a:r>
            <a:r>
              <a:rPr lang="en-US" dirty="0" err="1" smtClean="0">
                <a:solidFill>
                  <a:srgbClr val="FF0000"/>
                </a:solidFill>
              </a:rPr>
              <a:t>AjaxPro.AjaxMethod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 err="1" smtClean="0">
                <a:solidFill>
                  <a:srgbClr val="FF0000"/>
                </a:solidFill>
              </a:rPr>
              <a:t>AjaxPro.HttpSessionStateRequirement.ReadWrite</a:t>
            </a:r>
            <a:r>
              <a:rPr lang="en-US" dirty="0" smtClean="0">
                <a:solidFill>
                  <a:srgbClr val="FF0000"/>
                </a:solidFill>
              </a:rPr>
              <a:t>)]</a:t>
            </a:r>
            <a:endParaRPr lang="zh-TW" alt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public</a:t>
            </a:r>
            <a:r>
              <a:rPr lang="en-US" dirty="0" smtClean="0"/>
              <a:t> </a:t>
            </a:r>
            <a:r>
              <a:rPr lang="en-US" dirty="0" err="1" smtClean="0"/>
              <a:t>DateTime</a:t>
            </a:r>
            <a:r>
              <a:rPr lang="en-US" dirty="0" smtClean="0"/>
              <a:t> </a:t>
            </a:r>
            <a:r>
              <a:rPr lang="en-US" dirty="0" err="1" smtClean="0"/>
              <a:t>GetServerTime</a:t>
            </a:r>
            <a:r>
              <a:rPr lang="en-US" dirty="0" smtClean="0"/>
              <a:t>()</a:t>
            </a:r>
            <a:endParaRPr lang="zh-TW" altLang="en-US" dirty="0" smtClean="0"/>
          </a:p>
          <a:p>
            <a:r>
              <a:rPr lang="en-US" dirty="0" smtClean="0"/>
              <a:t>{</a:t>
            </a:r>
            <a:endParaRPr lang="zh-TW" altLang="en-US" dirty="0" smtClean="0"/>
          </a:p>
          <a:p>
            <a:r>
              <a:rPr lang="en-US" dirty="0" smtClean="0"/>
              <a:t>	return </a:t>
            </a:r>
            <a:r>
              <a:rPr lang="en-US" dirty="0" err="1" smtClean="0"/>
              <a:t>DateTime.Now</a:t>
            </a:r>
            <a:r>
              <a:rPr lang="en-US" dirty="0" smtClean="0"/>
              <a:t>;</a:t>
            </a:r>
            <a:endParaRPr lang="zh-TW" altLang="en-US" dirty="0" smtClean="0"/>
          </a:p>
          <a:p>
            <a:r>
              <a:rPr lang="en-US" dirty="0" smtClean="0"/>
              <a:t>}</a:t>
            </a:r>
            <a:endParaRPr lang="zh-TW" altLang="en-US" dirty="0" smtClean="0"/>
          </a:p>
          <a:p>
            <a:pPr marL="342900" indent="-342900">
              <a:lnSpc>
                <a:spcPct val="150000"/>
              </a:lnSpc>
            </a:pPr>
            <a:r>
              <a:rPr lang="zh-TW" altLang="en-US" b="1" dirty="0" smtClean="0"/>
              <a:t>作業代號</a:t>
            </a:r>
            <a:r>
              <a:rPr lang="en-US" b="1" dirty="0" smtClean="0"/>
              <a:t>.</a:t>
            </a:r>
            <a:r>
              <a:rPr lang="en-US" b="1" dirty="0" err="1" smtClean="0"/>
              <a:t>js</a:t>
            </a:r>
            <a:r>
              <a:rPr lang="zh-TW" altLang="en-US" b="1" dirty="0" smtClean="0"/>
              <a:t>呼叫時需寫上完整的函數名稱</a:t>
            </a:r>
            <a:r>
              <a:rPr lang="en-US" b="1" dirty="0" smtClean="0"/>
              <a:t>(</a:t>
            </a:r>
            <a:r>
              <a:rPr lang="zh-TW" altLang="en-US" b="1" dirty="0" smtClean="0"/>
              <a:t>命名空間</a:t>
            </a:r>
            <a:r>
              <a:rPr lang="en-US" b="1" dirty="0" smtClean="0"/>
              <a:t>+</a:t>
            </a:r>
            <a:r>
              <a:rPr lang="zh-TW" altLang="en-US" b="1" dirty="0" smtClean="0"/>
              <a:t>類別名稱</a:t>
            </a:r>
            <a:r>
              <a:rPr lang="en-US" b="1" dirty="0" smtClean="0"/>
              <a:t>+</a:t>
            </a:r>
            <a:r>
              <a:rPr lang="zh-TW" altLang="en-US" b="1" dirty="0" smtClean="0"/>
              <a:t>函數名稱</a:t>
            </a:r>
            <a:r>
              <a:rPr lang="en-US" b="1" dirty="0" smtClean="0"/>
              <a:t>)</a:t>
            </a:r>
            <a:endParaRPr lang="en-US" b="1" dirty="0" smtClean="0"/>
          </a:p>
          <a:p>
            <a:r>
              <a:rPr lang="en-US" dirty="0" smtClean="0"/>
              <a:t>function </a:t>
            </a:r>
            <a:r>
              <a:rPr lang="en-US" dirty="0" err="1" smtClean="0"/>
              <a:t>getServerTime</a:t>
            </a:r>
            <a:r>
              <a:rPr lang="en-US" dirty="0" smtClean="0"/>
              <a:t>()</a:t>
            </a:r>
            <a:endParaRPr lang="zh-TW" altLang="en-US" dirty="0" smtClean="0"/>
          </a:p>
          <a:p>
            <a:r>
              <a:rPr lang="en-US" dirty="0" smtClean="0"/>
              <a:t>{</a:t>
            </a:r>
            <a:endParaRPr lang="zh-TW" altLang="en-US" dirty="0" smtClean="0"/>
          </a:p>
          <a:p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 err="1" smtClean="0"/>
              <a:t>tServerTime</a:t>
            </a:r>
            <a:r>
              <a:rPr lang="en-US" dirty="0" smtClean="0"/>
              <a:t> =</a:t>
            </a:r>
            <a:r>
              <a:rPr lang="zh-TW" altLang="en-US" dirty="0" smtClean="0">
                <a:solidFill>
                  <a:srgbClr val="FF0000"/>
                </a:solidFill>
              </a:rPr>
              <a:t>命名空間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r>
              <a:rPr lang="zh-TW" altLang="en-US" dirty="0" smtClean="0">
                <a:solidFill>
                  <a:srgbClr val="FF0000"/>
                </a:solidFill>
              </a:rPr>
              <a:t>類別名稱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r>
              <a:rPr lang="en-US" dirty="0" err="1" smtClean="0">
                <a:solidFill>
                  <a:srgbClr val="FF0000"/>
                </a:solidFill>
              </a:rPr>
              <a:t>GetServerTime</a:t>
            </a:r>
            <a:r>
              <a:rPr lang="en-US" dirty="0" smtClean="0">
                <a:solidFill>
                  <a:srgbClr val="FF0000"/>
                </a:solidFill>
              </a:rPr>
              <a:t>().</a:t>
            </a:r>
            <a:r>
              <a:rPr lang="en-US" dirty="0" smtClean="0"/>
              <a:t>value;</a:t>
            </a:r>
            <a:endParaRPr lang="zh-TW" altLang="en-US" dirty="0" smtClean="0"/>
          </a:p>
          <a:p>
            <a:r>
              <a:rPr lang="en-US" dirty="0" smtClean="0"/>
              <a:t>alert(</a:t>
            </a:r>
            <a:r>
              <a:rPr lang="en-US" dirty="0" err="1" smtClean="0"/>
              <a:t>tServerTime</a:t>
            </a:r>
            <a:r>
              <a:rPr lang="en-US" dirty="0" smtClean="0"/>
              <a:t>);</a:t>
            </a:r>
            <a:endParaRPr lang="zh-TW" altLang="en-US" dirty="0" smtClean="0"/>
          </a:p>
          <a:p>
            <a:r>
              <a:rPr lang="en-US" dirty="0" smtClean="0"/>
              <a:t>}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395288" y="500042"/>
            <a:ext cx="8424862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DSCDataObj</a:t>
            </a:r>
            <a:r>
              <a:rPr lang="zh-TW" altLang="en-US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物件操作及範例</a:t>
            </a:r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160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>
            <a:spLocks noChangeArrowheads="1"/>
          </p:cNvSpPr>
          <p:nvPr/>
        </p:nvSpPr>
        <p:spPr bwMode="auto">
          <a:xfrm>
            <a:off x="250825" y="860404"/>
            <a:ext cx="8264525" cy="5908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取得物件方式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a.</a:t>
            </a:r>
            <a:r>
              <a:rPr lang="en-US" altLang="zh-TW" dirty="0"/>
              <a:t> </a:t>
            </a:r>
            <a:r>
              <a:rPr lang="en-US" altLang="zh-TW" dirty="0" err="1"/>
              <a:t>masterObj</a:t>
            </a:r>
            <a:endParaRPr lang="en-US" altLang="zh-TW" dirty="0"/>
          </a:p>
          <a:p>
            <a:pPr marL="342900" indent="-342900">
              <a:lnSpc>
                <a:spcPct val="150000"/>
              </a:lnSpc>
            </a:pPr>
            <a:r>
              <a:rPr lang="en-US" altLang="zh-TW" dirty="0"/>
              <a:t>      </a:t>
            </a:r>
            <a:r>
              <a:rPr lang="en-US" altLang="zh-TW" dirty="0" err="1"/>
              <a:t>b.Session</a:t>
            </a:r>
            <a:r>
              <a:rPr lang="en-US" altLang="zh-TW" dirty="0"/>
              <a:t>[“</a:t>
            </a:r>
            <a:r>
              <a:rPr lang="zh-TW" altLang="en-US" dirty="0"/>
              <a:t>作業代號</a:t>
            </a:r>
            <a:r>
              <a:rPr lang="en-US" altLang="zh-TW" dirty="0"/>
              <a:t>_</a:t>
            </a:r>
            <a:r>
              <a:rPr lang="en-US" altLang="zh-TW" dirty="0" err="1"/>
              <a:t>dataObj</a:t>
            </a:r>
            <a:r>
              <a:rPr lang="en-US" altLang="zh-TW" dirty="0"/>
              <a:t>_” + </a:t>
            </a:r>
            <a:r>
              <a:rPr lang="en-US" altLang="zh-TW" dirty="0" err="1"/>
              <a:t>UniID</a:t>
            </a:r>
            <a:r>
              <a:rPr lang="en-US" altLang="zh-TW" dirty="0"/>
              <a:t>] as </a:t>
            </a:r>
            <a:r>
              <a:rPr lang="en-US" altLang="zh-TW" dirty="0" err="1"/>
              <a:t>DscDataObj</a:t>
            </a:r>
            <a:r>
              <a:rPr lang="en-US" altLang="zh-TW" dirty="0"/>
              <a:t>;</a:t>
            </a:r>
            <a:r>
              <a:rPr lang="zh-TW" altLang="en-US" dirty="0"/>
              <a:t> </a:t>
            </a:r>
            <a:r>
              <a:rPr lang="en-US" altLang="zh-TW" dirty="0"/>
              <a:t>//AJAX</a:t>
            </a:r>
            <a:r>
              <a:rPr lang="zh-TW" altLang="en-US" dirty="0"/>
              <a:t>函數使用</a:t>
            </a:r>
            <a:endParaRPr lang="en-US" altLang="zh-TW" dirty="0"/>
          </a:p>
          <a:p>
            <a:pPr marL="342900" indent="-342900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UniID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為前端傳入可用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en-US" altLang="zh-TW" dirty="0" err="1"/>
              <a:t>document.getElementById</a:t>
            </a:r>
            <a:r>
              <a:rPr lang="en-US" altLang="zh-TW" dirty="0"/>
              <a:t>(“</a:t>
            </a:r>
            <a:r>
              <a:rPr lang="en-US" altLang="zh-TW" dirty="0" err="1"/>
              <a:t>MasterPage_universalID</a:t>
            </a:r>
            <a:r>
              <a:rPr lang="en-US" altLang="zh-TW" dirty="0"/>
              <a:t>”).value</a:t>
            </a:r>
            <a:r>
              <a:rPr lang="zh-TW" altLang="en-US" dirty="0"/>
              <a:t> </a:t>
            </a:r>
            <a:r>
              <a:rPr lang="en-US" altLang="zh-TW" dirty="0"/>
              <a:t>//</a:t>
            </a:r>
            <a:r>
              <a:rPr lang="zh-TW" altLang="en-US" dirty="0"/>
              <a:t>表單</a:t>
            </a:r>
            <a:endParaRPr lang="en-US" altLang="zh-TW" dirty="0"/>
          </a:p>
          <a:p>
            <a:pPr marL="342900" indent="-342900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en-US" altLang="zh-TW" dirty="0" err="1"/>
              <a:t>document.getElementById</a:t>
            </a:r>
            <a:r>
              <a:rPr lang="en-US" altLang="zh-TW" dirty="0"/>
              <a:t>(“</a:t>
            </a:r>
            <a:r>
              <a:rPr lang="en-US" altLang="zh-TW" dirty="0" err="1"/>
              <a:t>universalID</a:t>
            </a:r>
            <a:r>
              <a:rPr lang="en-US" altLang="zh-TW" dirty="0"/>
              <a:t>”).value</a:t>
            </a:r>
            <a:r>
              <a:rPr lang="zh-TW" altLang="en-US" dirty="0"/>
              <a:t> </a:t>
            </a:r>
            <a:r>
              <a:rPr lang="en-US" altLang="zh-TW" dirty="0"/>
              <a:t>//</a:t>
            </a:r>
            <a:r>
              <a:rPr lang="zh-TW" altLang="en-US" dirty="0"/>
              <a:t>管理程式</a:t>
            </a:r>
            <a:endParaRPr lang="en-US" altLang="zh-TW" dirty="0"/>
          </a:p>
          <a:p>
            <a:pPr marL="342900" indent="-342900">
              <a:lnSpc>
                <a:spcPct val="150000"/>
              </a:lnSpc>
            </a:pPr>
            <a:r>
              <a:rPr lang="en-US" altLang="zh-TW" dirty="0"/>
              <a:t>	</a:t>
            </a:r>
            <a:r>
              <a:rPr lang="zh-TW" altLang="en-US" dirty="0"/>
              <a:t>取得。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 startAt="2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取得某單身的資料</a:t>
            </a:r>
            <a:r>
              <a:rPr lang="en-US" altLang="zh-TW" dirty="0" err="1"/>
              <a:t>masterObj.DetailObjs</a:t>
            </a:r>
            <a:r>
              <a:rPr lang="en-US" altLang="zh-TW" dirty="0"/>
              <a:t>[0]</a:t>
            </a:r>
            <a:r>
              <a:rPr lang="zh-TW" altLang="en-US" dirty="0"/>
              <a:t> </a:t>
            </a:r>
            <a:r>
              <a:rPr lang="en-US" altLang="zh-TW" dirty="0"/>
              <a:t>//index</a:t>
            </a:r>
            <a:r>
              <a:rPr lang="zh-TW" altLang="en-US" dirty="0"/>
              <a:t>從</a:t>
            </a:r>
            <a:r>
              <a:rPr lang="en-US" altLang="zh-TW" dirty="0"/>
              <a:t>0</a:t>
            </a:r>
            <a:r>
              <a:rPr lang="zh-TW" altLang="en-US" dirty="0"/>
              <a:t>開始</a:t>
            </a:r>
            <a:endParaRPr lang="en-US" altLang="zh-TW" dirty="0"/>
          </a:p>
          <a:p>
            <a:pPr marL="342900" indent="-342900">
              <a:lnSpc>
                <a:spcPct val="150000"/>
              </a:lnSpc>
              <a:buFontTx/>
              <a:buAutoNum type="arabicPeriod" startAt="2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取得某單身資料的資料列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TW" dirty="0"/>
              <a:t>	</a:t>
            </a:r>
            <a:r>
              <a:rPr lang="en-US" altLang="zh-TW" dirty="0" err="1"/>
              <a:t>masterObj.DetailObjs</a:t>
            </a:r>
            <a:r>
              <a:rPr lang="en-US" altLang="zh-TW" dirty="0"/>
              <a:t>[0].</a:t>
            </a:r>
            <a:r>
              <a:rPr lang="en-US" altLang="zh-TW" dirty="0" err="1"/>
              <a:t>NewRows</a:t>
            </a:r>
            <a:r>
              <a:rPr lang="en-US" altLang="zh-TW" dirty="0"/>
              <a:t>  //</a:t>
            </a:r>
            <a:r>
              <a:rPr lang="zh-TW" altLang="en-US" dirty="0"/>
              <a:t>目前新增的資料列，尚未更新到資料庫</a:t>
            </a:r>
            <a:endParaRPr lang="en-US" altLang="zh-TW" dirty="0"/>
          </a:p>
          <a:p>
            <a:pPr marL="342900" indent="-342900">
              <a:lnSpc>
                <a:spcPct val="150000"/>
              </a:lnSpc>
            </a:pPr>
            <a:r>
              <a:rPr lang="en-US" altLang="zh-TW" dirty="0"/>
              <a:t>	</a:t>
            </a:r>
            <a:r>
              <a:rPr lang="en-US" altLang="zh-TW" dirty="0" err="1"/>
              <a:t>masterObj.DetailObjs</a:t>
            </a:r>
            <a:r>
              <a:rPr lang="en-US" altLang="zh-TW" dirty="0"/>
              <a:t>[0].Rows          //</a:t>
            </a:r>
            <a:r>
              <a:rPr lang="zh-TW" altLang="en-US" dirty="0"/>
              <a:t>已存在資料庫的資料列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表單類程式所有的單身資料都在</a:t>
            </a:r>
            <a:r>
              <a:rPr lang="en-US" altLang="zh-TW" dirty="0" err="1"/>
              <a:t>NewRows</a:t>
            </a:r>
            <a:endParaRPr lang="en-US" altLang="zh-TW" dirty="0"/>
          </a:p>
          <a:p>
            <a:pPr marL="342900" indent="-342900">
              <a:lnSpc>
                <a:spcPct val="150000"/>
              </a:lnSpc>
              <a:buFontTx/>
              <a:buAutoNum type="arabicPeriod" startAt="4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取得某單身資料某資料列的欄位值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TW" dirty="0"/>
              <a:t>	</a:t>
            </a:r>
            <a:r>
              <a:rPr lang="en-US" altLang="zh-TW" dirty="0" err="1"/>
              <a:t>masterObj.DetailObjs</a:t>
            </a:r>
            <a:r>
              <a:rPr lang="en-US" altLang="zh-TW" dirty="0"/>
              <a:t>[0].</a:t>
            </a:r>
            <a:r>
              <a:rPr lang="en-US" altLang="zh-TW" dirty="0" err="1"/>
              <a:t>NewRows</a:t>
            </a:r>
            <a:r>
              <a:rPr lang="en-US" altLang="zh-TW" dirty="0"/>
              <a:t>[0][“Name”].Value //</a:t>
            </a:r>
            <a:r>
              <a:rPr lang="zh-TW" altLang="en-US" dirty="0"/>
              <a:t>型態是</a:t>
            </a:r>
            <a:r>
              <a:rPr lang="en-US" altLang="zh-TW" dirty="0"/>
              <a:t>object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>
            <a:off x="395288" y="620713"/>
            <a:ext cx="8424862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DBCommand</a:t>
            </a:r>
            <a:r>
              <a:rPr lang="zh-TW" altLang="en-US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資料庫物件操作</a:t>
            </a:r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查詢</a:t>
            </a:r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刪除</a:t>
            </a:r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修改</a:t>
            </a:r>
            <a:r>
              <a:rPr lang="en-US" altLang="zh-TW" sz="24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 】</a:t>
            </a:r>
            <a:endParaRPr lang="en-US" altLang="zh-TW" sz="160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>
            <a:spLocks noChangeArrowheads="1"/>
          </p:cNvSpPr>
          <p:nvPr/>
        </p:nvSpPr>
        <p:spPr bwMode="auto">
          <a:xfrm>
            <a:off x="274638" y="1125538"/>
            <a:ext cx="7019925" cy="42473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取得物件方式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en-US" altLang="zh-TW" dirty="0"/>
              <a:t> </a:t>
            </a:r>
            <a:r>
              <a:rPr lang="en-US" altLang="zh-TW" dirty="0" err="1"/>
              <a:t>DBCommand</a:t>
            </a:r>
            <a:r>
              <a:rPr lang="en-US" altLang="zh-TW" dirty="0"/>
              <a:t> </a:t>
            </a:r>
            <a:r>
              <a:rPr lang="en-US" altLang="zh-TW" dirty="0" err="1"/>
              <a:t>cmd</a:t>
            </a:r>
            <a:r>
              <a:rPr lang="en-US" altLang="zh-TW" dirty="0"/>
              <a:t> = </a:t>
            </a:r>
            <a:r>
              <a:rPr lang="en-US" altLang="zh-TW" dirty="0" err="1"/>
              <a:t>DscDBData.GetDataDBCommand</a:t>
            </a:r>
            <a:r>
              <a:rPr lang="en-US" altLang="zh-TW" dirty="0"/>
              <a:t>();</a:t>
            </a:r>
            <a:endParaRPr lang="en-US" altLang="zh-TW" dirty="0"/>
          </a:p>
          <a:p>
            <a:pPr marL="342900" indent="-342900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取得的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Command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連線資料庫為系統別資料庫。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 startAt="2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參考文件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" action="ppaction://hlinkfile"/>
              </a:rPr>
              <a:t>20120228 (3x)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hlinkClick r:id="rId1" action="ppaction://hlinkfile"/>
              </a:rPr>
              <a:t>DBCommand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" action="ppaction://hlinkfile"/>
              </a:rPr>
              <a:t>平台資料庫相關用法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" action="ppaction://hlinkfile"/>
              </a:rPr>
              <a:t>.doc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 startAt="2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語法使用參數寫法，避免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攻擊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 startAt="2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新增多筆資料時，建議使用交易模式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dirty="0" smtClean="0"/>
              <a:t>	</a:t>
            </a:r>
            <a:r>
              <a:rPr lang="en-US" dirty="0" err="1" smtClean="0"/>
              <a:t>beginTransaction</a:t>
            </a:r>
            <a:r>
              <a:rPr lang="en-US" dirty="0" smtClean="0"/>
              <a:t> ()</a:t>
            </a:r>
            <a:r>
              <a:rPr lang="zh-TW" altLang="en-US" dirty="0" smtClean="0"/>
              <a:t>開始交易</a:t>
            </a:r>
            <a:endParaRPr lang="en-US" altLang="zh-TW" dirty="0" smtClean="0"/>
          </a:p>
          <a:p>
            <a:pPr marL="342900" indent="-342900">
              <a:lnSpc>
                <a:spcPct val="150000"/>
              </a:lnSpc>
            </a:pPr>
            <a:r>
              <a:rPr lang="en-US" dirty="0" smtClean="0"/>
              <a:t>	</a:t>
            </a:r>
            <a:r>
              <a:rPr lang="en-US" dirty="0" err="1" smtClean="0"/>
              <a:t>commitTransaction</a:t>
            </a:r>
            <a:r>
              <a:rPr lang="en-US" dirty="0" smtClean="0"/>
              <a:t> ()</a:t>
            </a:r>
            <a:r>
              <a:rPr lang="zh-TW" altLang="en-US" dirty="0" smtClean="0"/>
              <a:t>確認交易</a:t>
            </a:r>
            <a:endParaRPr lang="en-US" dirty="0" smtClean="0"/>
          </a:p>
          <a:p>
            <a:pPr marL="342900" indent="-342900">
              <a:lnSpc>
                <a:spcPct val="150000"/>
              </a:lnSpc>
            </a:pPr>
            <a:r>
              <a:rPr lang="en-US" dirty="0" smtClean="0"/>
              <a:t>	</a:t>
            </a:r>
            <a:r>
              <a:rPr lang="en-US" dirty="0" err="1" smtClean="0"/>
              <a:t>abortTransaction</a:t>
            </a:r>
            <a:r>
              <a:rPr lang="en-US" dirty="0" smtClean="0"/>
              <a:t>()</a:t>
            </a:r>
            <a:r>
              <a:rPr lang="zh-TW" altLang="en-US" dirty="0" smtClean="0"/>
              <a:t>放棄交易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7" name="文字方塊 1"/>
          <p:cNvSpPr txBox="1">
            <a:spLocks noChangeArrowheads="1"/>
          </p:cNvSpPr>
          <p:nvPr/>
        </p:nvSpPr>
        <p:spPr bwMode="auto">
          <a:xfrm>
            <a:off x="395288" y="620713"/>
            <a:ext cx="8424862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表單送單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簽核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抽單 處理函數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16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/>
          <p:cNvSpPr txBox="1">
            <a:spLocks noChangeArrowheads="1"/>
          </p:cNvSpPr>
          <p:nvPr/>
        </p:nvSpPr>
        <p:spPr bwMode="auto">
          <a:xfrm>
            <a:off x="142845" y="981075"/>
            <a:ext cx="8786874" cy="43858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參考文件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" action="ppaction://hlinkfile"/>
              </a:rPr>
              <a:t>20121219(3.x)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" action="ppaction://hlinkfile"/>
              </a:rPr>
              <a:t>表單送單、簽核、抽單處理函數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" action="ppaction://hlinkfile"/>
              </a:rPr>
              <a:t>.doc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若有撰寫此部分的程式，應關閉群簽功能，使用群簽功能不會執行。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若有手機簽核亦不會執行，應改採背景程式處理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r>
              <a:rPr lang="zh-TW" altLang="en-US" b="1" dirty="0" smtClean="0"/>
              <a:t>送</a:t>
            </a:r>
            <a:r>
              <a:rPr lang="en-US" b="1" dirty="0" smtClean="0"/>
              <a:t>(</a:t>
            </a:r>
            <a:r>
              <a:rPr lang="zh-TW" altLang="en-US" b="1" dirty="0" smtClean="0"/>
              <a:t>開</a:t>
            </a:r>
            <a:r>
              <a:rPr lang="en-US" b="1" dirty="0" smtClean="0"/>
              <a:t>)</a:t>
            </a:r>
            <a:r>
              <a:rPr lang="zh-TW" altLang="en-US" b="1" dirty="0" smtClean="0"/>
              <a:t>單處理函數</a:t>
            </a:r>
            <a:endParaRPr lang="en-US" altLang="zh-TW" b="1" dirty="0" smtClean="0"/>
          </a:p>
          <a:p>
            <a:pPr>
              <a:lnSpc>
                <a:spcPct val="150000"/>
              </a:lnSpc>
              <a:buNone/>
            </a:pPr>
            <a:r>
              <a:rPr lang="en-US" altLang="zh-TW" dirty="0" smtClean="0"/>
              <a:t>	</a:t>
            </a:r>
            <a:r>
              <a:rPr lang="zh-TW" altLang="en-US" dirty="0" smtClean="0"/>
              <a:t>送</a:t>
            </a:r>
            <a:r>
              <a:rPr lang="en-US" dirty="0" smtClean="0"/>
              <a:t>(</a:t>
            </a:r>
            <a:r>
              <a:rPr lang="zh-TW" altLang="en-US" dirty="0" smtClean="0"/>
              <a:t>開</a:t>
            </a:r>
            <a:r>
              <a:rPr lang="en-US" dirty="0" smtClean="0"/>
              <a:t>)</a:t>
            </a:r>
            <a:r>
              <a:rPr lang="zh-TW" altLang="en-US" dirty="0" smtClean="0"/>
              <a:t>單</a:t>
            </a:r>
            <a:r>
              <a:rPr lang="zh-TW" altLang="en-US" dirty="0" smtClean="0">
                <a:solidFill>
                  <a:srgbClr val="FF0000"/>
                </a:solidFill>
              </a:rPr>
              <a:t>前</a:t>
            </a:r>
            <a:r>
              <a:rPr lang="zh-TW" altLang="en-US" dirty="0" smtClean="0"/>
              <a:t>處理</a:t>
            </a:r>
            <a:endParaRPr lang="en-US" altLang="zh-TW" b="1" dirty="0" smtClean="0"/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	</a:t>
            </a:r>
            <a:r>
              <a:rPr lang="en-US" dirty="0" err="1" smtClean="0"/>
              <a:t>BeforeSendNewForm</a:t>
            </a:r>
            <a:r>
              <a:rPr lang="en-US" dirty="0" smtClean="0"/>
              <a:t>()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BeforeSendNewForm</a:t>
            </a:r>
            <a:r>
              <a:rPr lang="en-US" dirty="0" smtClean="0"/>
              <a:t>(</a:t>
            </a:r>
            <a:r>
              <a:rPr lang="en-US" dirty="0" err="1" smtClean="0"/>
              <a:t>PublicUTIL.DBProcessor</a:t>
            </a:r>
            <a:r>
              <a:rPr lang="en-US" dirty="0" smtClean="0"/>
              <a:t> </a:t>
            </a:r>
            <a:r>
              <a:rPr lang="en-US" dirty="0" err="1" smtClean="0"/>
              <a:t>pProcessor</a:t>
            </a:r>
            <a:r>
              <a:rPr lang="en-US" dirty="0" smtClean="0"/>
              <a:t>)</a:t>
            </a:r>
            <a:endParaRPr lang="en-US" dirty="0" smtClean="0"/>
          </a:p>
          <a:p>
            <a:pPr>
              <a:buNone/>
            </a:pPr>
            <a:r>
              <a:rPr lang="en-US" altLang="zh-TW" dirty="0" smtClean="0"/>
              <a:t>	</a:t>
            </a:r>
            <a:r>
              <a:rPr lang="zh-TW" altLang="en-US" dirty="0" smtClean="0"/>
              <a:t>送</a:t>
            </a:r>
            <a:r>
              <a:rPr lang="en-US" dirty="0" smtClean="0"/>
              <a:t>(</a:t>
            </a:r>
            <a:r>
              <a:rPr lang="zh-TW" altLang="en-US" dirty="0" smtClean="0"/>
              <a:t>開</a:t>
            </a:r>
            <a:r>
              <a:rPr lang="en-US" dirty="0" smtClean="0"/>
              <a:t>)</a:t>
            </a:r>
            <a:r>
              <a:rPr lang="zh-TW" altLang="en-US" dirty="0" smtClean="0"/>
              <a:t>單</a:t>
            </a:r>
            <a:r>
              <a:rPr lang="zh-TW" altLang="en-US" dirty="0" smtClean="0">
                <a:solidFill>
                  <a:srgbClr val="FF0000"/>
                </a:solidFill>
              </a:rPr>
              <a:t>後</a:t>
            </a:r>
            <a:r>
              <a:rPr lang="zh-TW" altLang="en-US" dirty="0" smtClean="0"/>
              <a:t>處理</a:t>
            </a:r>
            <a:endParaRPr lang="en-US" altLang="zh-TW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AfterSendNewForm</a:t>
            </a:r>
            <a:r>
              <a:rPr lang="en-US" dirty="0" smtClean="0"/>
              <a:t> ()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AfterSendNewForm</a:t>
            </a:r>
            <a:r>
              <a:rPr lang="en-US" dirty="0" smtClean="0"/>
              <a:t> (</a:t>
            </a:r>
            <a:r>
              <a:rPr lang="en-US" dirty="0" err="1" smtClean="0"/>
              <a:t>PublicUTIL.DBProcessor</a:t>
            </a:r>
            <a:r>
              <a:rPr lang="en-US" dirty="0" smtClean="0"/>
              <a:t> </a:t>
            </a:r>
            <a:r>
              <a:rPr lang="en-US" dirty="0" err="1" smtClean="0"/>
              <a:t>pProcessor</a:t>
            </a:r>
            <a:r>
              <a:rPr lang="en-US" dirty="0" smtClean="0"/>
              <a:t>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AfterSendNewForm</a:t>
            </a:r>
            <a:r>
              <a:rPr lang="en-US" dirty="0" smtClean="0"/>
              <a:t>(</a:t>
            </a:r>
            <a:r>
              <a:rPr lang="en-US" dirty="0" err="1" smtClean="0"/>
              <a:t>PublicUTIL.DBProcessor</a:t>
            </a:r>
            <a:r>
              <a:rPr lang="en-US" dirty="0" smtClean="0"/>
              <a:t> </a:t>
            </a:r>
            <a:r>
              <a:rPr lang="en-US" dirty="0" err="1" smtClean="0"/>
              <a:t>pProcessor</a:t>
            </a:r>
            <a:r>
              <a:rPr lang="en-US" dirty="0" smtClean="0"/>
              <a:t>, string </a:t>
            </a:r>
            <a:r>
              <a:rPr lang="en-US" dirty="0" err="1" smtClean="0"/>
              <a:t>pSheetNo</a:t>
            </a:r>
            <a:r>
              <a:rPr lang="en-US" dirty="0" smtClean="0"/>
              <a:t>)</a:t>
            </a:r>
            <a:endParaRPr lang="en-US" dirty="0" smtClean="0"/>
          </a:p>
          <a:p>
            <a:pPr marL="342900" indent="-342900">
              <a:lnSpc>
                <a:spcPct val="150000"/>
              </a:lnSpc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文字方塊 1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67544" y="620688"/>
            <a:ext cx="820891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/>
            <a:r>
              <a:rPr lang="en-US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表單送單</a:t>
            </a:r>
            <a:r>
              <a:rPr lang="en-US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簽核</a:t>
            </a:r>
            <a:r>
              <a:rPr lang="en-US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抽單 處理函數</a:t>
            </a:r>
            <a:r>
              <a:rPr lang="en-US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1600" dirty="0">
              <a:solidFill>
                <a:srgbClr val="FF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>
            <a:spLocks noChangeArrowheads="1"/>
          </p:cNvSpPr>
          <p:nvPr/>
        </p:nvSpPr>
        <p:spPr bwMode="auto">
          <a:xfrm>
            <a:off x="142845" y="1257762"/>
            <a:ext cx="8786874" cy="43858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b="1" dirty="0" smtClean="0"/>
              <a:t>簽核處理函數</a:t>
            </a:r>
            <a:endParaRPr lang="en-US" altLang="zh-TW" b="1" dirty="0" smtClean="0"/>
          </a:p>
          <a:p>
            <a:pPr>
              <a:buNone/>
            </a:pPr>
            <a:r>
              <a:rPr lang="en-US" altLang="zh-TW" dirty="0" smtClean="0"/>
              <a:t>	</a:t>
            </a:r>
            <a:r>
              <a:rPr lang="zh-TW" altLang="en-US" dirty="0" smtClean="0"/>
              <a:t>簽核</a:t>
            </a:r>
            <a:r>
              <a:rPr lang="zh-TW" altLang="en-US" dirty="0" smtClean="0">
                <a:solidFill>
                  <a:srgbClr val="FF0000"/>
                </a:solidFill>
              </a:rPr>
              <a:t>前</a:t>
            </a:r>
            <a:r>
              <a:rPr lang="zh-TW" altLang="en-US" dirty="0" smtClean="0"/>
              <a:t>處理</a:t>
            </a:r>
            <a:endParaRPr lang="en-US" altLang="zh-TW" b="1" dirty="0" smtClean="0"/>
          </a:p>
          <a:p>
            <a:pPr>
              <a:buNone/>
            </a:pPr>
            <a:r>
              <a:rPr lang="en-US" altLang="zh-TW" b="1" dirty="0" smtClean="0"/>
              <a:t>	</a:t>
            </a:r>
            <a:r>
              <a:rPr lang="en-US" dirty="0" smtClean="0"/>
              <a:t> </a:t>
            </a:r>
            <a:r>
              <a:rPr lang="en-US" dirty="0" err="1" smtClean="0"/>
              <a:t>BeforeApprove</a:t>
            </a:r>
            <a:r>
              <a:rPr lang="en-US" dirty="0" smtClean="0"/>
              <a:t> ()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	 </a:t>
            </a:r>
            <a:r>
              <a:rPr lang="en-US" dirty="0" err="1" smtClean="0"/>
              <a:t>BeforeApprove</a:t>
            </a:r>
            <a:r>
              <a:rPr lang="en-US" dirty="0" smtClean="0"/>
              <a:t>(</a:t>
            </a:r>
            <a:r>
              <a:rPr lang="en-US" dirty="0" err="1" smtClean="0"/>
              <a:t>PublicUTIL.DBProcessor</a:t>
            </a:r>
            <a:r>
              <a:rPr lang="en-US" dirty="0" smtClean="0"/>
              <a:t> processor)</a:t>
            </a:r>
            <a:endParaRPr lang="en-US" dirty="0" smtClean="0"/>
          </a:p>
          <a:p>
            <a:pPr>
              <a:buNone/>
            </a:pPr>
            <a:r>
              <a:rPr lang="en-US" altLang="zh-TW" dirty="0" smtClean="0"/>
              <a:t>	</a:t>
            </a:r>
            <a:r>
              <a:rPr lang="zh-TW" altLang="en-US" dirty="0" smtClean="0"/>
              <a:t>簽核</a:t>
            </a:r>
            <a:r>
              <a:rPr lang="zh-TW" altLang="en-US" dirty="0" smtClean="0">
                <a:solidFill>
                  <a:srgbClr val="FF0000"/>
                </a:solidFill>
              </a:rPr>
              <a:t>後</a:t>
            </a:r>
            <a:r>
              <a:rPr lang="zh-TW" altLang="en-US" dirty="0" smtClean="0"/>
              <a:t>處理</a:t>
            </a:r>
            <a:endParaRPr lang="en-US" altLang="zh-TW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AfterApprove</a:t>
            </a:r>
            <a:r>
              <a:rPr lang="en-US" dirty="0" smtClean="0"/>
              <a:t> ()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AfterApprove</a:t>
            </a:r>
            <a:r>
              <a:rPr lang="en-US" dirty="0" smtClean="0"/>
              <a:t> (</a:t>
            </a:r>
            <a:r>
              <a:rPr lang="en-US" dirty="0" err="1" smtClean="0"/>
              <a:t>PublicUTIL.DBProcessor</a:t>
            </a:r>
            <a:r>
              <a:rPr lang="en-US" dirty="0" smtClean="0"/>
              <a:t> processor)</a:t>
            </a:r>
            <a:endParaRPr lang="en-US" dirty="0" smtClean="0"/>
          </a:p>
          <a:p>
            <a:pPr>
              <a:buNone/>
            </a:pPr>
            <a:r>
              <a:rPr lang="zh-TW" altLang="en-US" b="1" dirty="0" smtClean="0"/>
              <a:t>抽單處理函數</a:t>
            </a:r>
            <a:endParaRPr lang="en-US" altLang="zh-TW" b="1" dirty="0" smtClean="0"/>
          </a:p>
          <a:p>
            <a:pPr>
              <a:buNone/>
            </a:pPr>
            <a:r>
              <a:rPr lang="en-US" altLang="zh-TW" b="1" dirty="0" smtClean="0"/>
              <a:t>	</a:t>
            </a:r>
            <a:r>
              <a:rPr lang="zh-TW" altLang="en-US" dirty="0" smtClean="0"/>
              <a:t>抽單</a:t>
            </a:r>
            <a:r>
              <a:rPr lang="zh-TW" altLang="en-US" dirty="0" smtClean="0">
                <a:solidFill>
                  <a:srgbClr val="FF0000"/>
                </a:solidFill>
              </a:rPr>
              <a:t>前</a:t>
            </a:r>
            <a:r>
              <a:rPr lang="zh-TW" altLang="en-US" dirty="0" smtClean="0"/>
              <a:t>處理</a:t>
            </a:r>
            <a:endParaRPr lang="en-US" altLang="zh-TW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BeforeWithDrawForm</a:t>
            </a:r>
            <a:r>
              <a:rPr lang="en-US" dirty="0" smtClean="0"/>
              <a:t> ()</a:t>
            </a:r>
            <a:endParaRPr lang="en-US" dirty="0" smtClean="0"/>
          </a:p>
          <a:p>
            <a:pPr>
              <a:buNone/>
            </a:pPr>
            <a:r>
              <a:rPr lang="en-US" altLang="zh-TW" dirty="0" smtClean="0"/>
              <a:t>	</a:t>
            </a:r>
            <a:r>
              <a:rPr lang="en-US" dirty="0" smtClean="0"/>
              <a:t> </a:t>
            </a:r>
            <a:r>
              <a:rPr lang="en-US" dirty="0" err="1" smtClean="0"/>
              <a:t>BeforeWithDrawForm</a:t>
            </a:r>
            <a:r>
              <a:rPr lang="en-US" dirty="0" smtClean="0"/>
              <a:t> (</a:t>
            </a:r>
            <a:r>
              <a:rPr lang="en-US" dirty="0" err="1" smtClean="0"/>
              <a:t>PublicUTIL.DBProcessor</a:t>
            </a:r>
            <a:r>
              <a:rPr lang="en-US" dirty="0" smtClean="0"/>
              <a:t> processor)</a:t>
            </a:r>
            <a:endParaRPr lang="en-US" dirty="0" smtClean="0"/>
          </a:p>
          <a:p>
            <a:pPr>
              <a:buNone/>
            </a:pPr>
            <a:r>
              <a:rPr lang="en-US" altLang="zh-TW" dirty="0" smtClean="0"/>
              <a:t>	</a:t>
            </a:r>
            <a:r>
              <a:rPr lang="zh-TW" altLang="en-US" dirty="0" smtClean="0"/>
              <a:t>抽單</a:t>
            </a:r>
            <a:r>
              <a:rPr lang="zh-TW" altLang="en-US" dirty="0" smtClean="0">
                <a:solidFill>
                  <a:srgbClr val="FF0000"/>
                </a:solidFill>
              </a:rPr>
              <a:t>後</a:t>
            </a:r>
            <a:r>
              <a:rPr lang="zh-TW" altLang="en-US" dirty="0" smtClean="0"/>
              <a:t>處理</a:t>
            </a:r>
            <a:endParaRPr lang="en-US" altLang="zh-TW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AfterWithDrawForm</a:t>
            </a:r>
            <a:r>
              <a:rPr lang="en-US" dirty="0" smtClean="0"/>
              <a:t> ()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AfterWithDrawForm</a:t>
            </a:r>
            <a:r>
              <a:rPr lang="en-US" dirty="0" smtClean="0"/>
              <a:t> (</a:t>
            </a:r>
            <a:r>
              <a:rPr lang="en-US" dirty="0" err="1" smtClean="0"/>
              <a:t>PublicUTIL.DBProcessor</a:t>
            </a:r>
            <a:r>
              <a:rPr lang="en-US" dirty="0" smtClean="0"/>
              <a:t> processor)</a:t>
            </a:r>
            <a:endParaRPr lang="en-US" altLang="zh-TW" dirty="0" smtClean="0"/>
          </a:p>
          <a:p>
            <a:pPr marL="342900" indent="-342900">
              <a:lnSpc>
                <a:spcPct val="150000"/>
              </a:lnSpc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201622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sz="4000" b="1" i="1" dirty="0" smtClean="0"/>
              <a:t>The End</a:t>
            </a:r>
            <a:endParaRPr lang="en-US" altLang="zh-TW" sz="4000" b="1" i="1" dirty="0" smtClean="0"/>
          </a:p>
          <a:p>
            <a:pPr marL="0" indent="0" algn="ctr">
              <a:buNone/>
            </a:pPr>
            <a:endParaRPr lang="en-US" altLang="zh-TW" b="1" i="1" dirty="0" smtClean="0"/>
          </a:p>
          <a:p>
            <a:pPr marL="0" indent="0" algn="r">
              <a:buNone/>
            </a:pPr>
            <a:endParaRPr lang="zh-TW" altLang="en-US" b="1" i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12231</Words>
  <Application>WPS Presentation</Application>
  <PresentationFormat>如螢幕大小 (4:3)</PresentationFormat>
  <Paragraphs>969</Paragraphs>
  <Slides>61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61</vt:i4>
      </vt:variant>
    </vt:vector>
  </HeadingPairs>
  <TitlesOfParts>
    <vt:vector size="72" baseType="lpstr">
      <vt:lpstr>Arial</vt:lpstr>
      <vt:lpstr>新細明體</vt:lpstr>
      <vt:lpstr>Wingdings</vt:lpstr>
      <vt:lpstr>新細明體</vt:lpstr>
      <vt:lpstr>微軟正黑體</vt:lpstr>
      <vt:lpstr>Calibri</vt:lpstr>
      <vt:lpstr>Microsoft YaHei</vt:lpstr>
      <vt:lpstr>SimSun</vt:lpstr>
      <vt:lpstr>Arial Unicode MS</vt:lpstr>
      <vt:lpstr>自訂設計</vt:lpstr>
      <vt:lpstr>Office 佈景主題</vt:lpstr>
      <vt:lpstr> </vt:lpstr>
      <vt:lpstr>大綱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程式架構</vt:lpstr>
      <vt:lpstr>PowerPoint 演示文稿</vt:lpstr>
      <vt:lpstr>PowerPoint 演示文稿</vt:lpstr>
      <vt:lpstr>單檔</vt:lpstr>
      <vt:lpstr>	    路徑 D:\EasyFlow\EFNET\src\FRM\FormID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【表單送單/簽核/抽單 處理函數】</vt:lpstr>
      <vt:lpstr>PowerPoint 演示文稿</vt:lpstr>
    </vt:vector>
  </TitlesOfParts>
  <Company>dsc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ella</dc:creator>
  <cp:lastModifiedBy>Administrator</cp:lastModifiedBy>
  <cp:revision>2040</cp:revision>
  <dcterms:created xsi:type="dcterms:W3CDTF">2008-10-15T09:32:00Z</dcterms:created>
  <dcterms:modified xsi:type="dcterms:W3CDTF">2023-08-22T09:10:25Z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1028-11.8.2.8378</vt:lpwstr>
  </property>
</Properties>
</file>