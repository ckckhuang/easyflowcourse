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660" r:id="rId3"/>
  </p:sldMasterIdLst>
  <p:notesMasterIdLst>
    <p:notesMasterId r:id="rId6"/>
  </p:notesMasterIdLst>
  <p:handoutMasterIdLst>
    <p:handoutMasterId r:id="rId39"/>
  </p:handoutMasterIdLst>
  <p:sldIdLst>
    <p:sldId id="622" r:id="rId4"/>
    <p:sldId id="668" r:id="rId5"/>
    <p:sldId id="757" r:id="rId7"/>
    <p:sldId id="758" r:id="rId8"/>
    <p:sldId id="677" r:id="rId9"/>
    <p:sldId id="678" r:id="rId10"/>
    <p:sldId id="703" r:id="rId11"/>
    <p:sldId id="706" r:id="rId12"/>
    <p:sldId id="710" r:id="rId13"/>
    <p:sldId id="711" r:id="rId14"/>
    <p:sldId id="712" r:id="rId15"/>
    <p:sldId id="713" r:id="rId16"/>
    <p:sldId id="732" r:id="rId17"/>
    <p:sldId id="715" r:id="rId18"/>
    <p:sldId id="717" r:id="rId19"/>
    <p:sldId id="718" r:id="rId20"/>
    <p:sldId id="719" r:id="rId21"/>
    <p:sldId id="721" r:id="rId22"/>
    <p:sldId id="722" r:id="rId23"/>
    <p:sldId id="723" r:id="rId24"/>
    <p:sldId id="724" r:id="rId25"/>
    <p:sldId id="725" r:id="rId26"/>
    <p:sldId id="726" r:id="rId27"/>
    <p:sldId id="749" r:id="rId28"/>
    <p:sldId id="750" r:id="rId29"/>
    <p:sldId id="727" r:id="rId30"/>
    <p:sldId id="728" r:id="rId31"/>
    <p:sldId id="729" r:id="rId32"/>
    <p:sldId id="748" r:id="rId33"/>
    <p:sldId id="788" r:id="rId34"/>
    <p:sldId id="759" r:id="rId35"/>
    <p:sldId id="760" r:id="rId36"/>
    <p:sldId id="761" r:id="rId37"/>
    <p:sldId id="676" r:id="rId38"/>
  </p:sldIdLst>
  <p:sldSz cx="9144000" cy="6858000" type="screen4x3"/>
  <p:notesSz cx="6833870" cy="9979025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P1063cindychen" initials="" lastIdx="6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FF7C80"/>
    <a:srgbClr val="3C8C93"/>
    <a:srgbClr val="E2F1F2"/>
    <a:srgbClr val="D1DCEE"/>
    <a:srgbClr val="D0EAEC"/>
    <a:srgbClr val="C9E7E9"/>
    <a:srgbClr val="E7F4F5"/>
    <a:srgbClr val="DCDEF4"/>
    <a:srgbClr val="EBEC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29" autoAdjust="0"/>
    <p:restoredTop sz="87433" autoAdjust="0"/>
  </p:normalViewPr>
  <p:slideViewPr>
    <p:cSldViewPr>
      <p:cViewPr>
        <p:scale>
          <a:sx n="90" d="100"/>
          <a:sy n="90" d="100"/>
        </p:scale>
        <p:origin x="-606" y="402"/>
      </p:cViewPr>
      <p:guideLst>
        <p:guide orient="horz" pos="2159"/>
        <p:guide pos="2880"/>
      </p:guideLst>
    </p:cSldViewPr>
  </p:slideViewPr>
  <p:outlineViewPr>
    <p:cViewPr>
      <p:scale>
        <a:sx n="33" d="100"/>
        <a:sy n="33" d="100"/>
      </p:scale>
      <p:origin x="0" y="555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92" d="100"/>
        <a:sy n="92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43" Type="http://schemas.openxmlformats.org/officeDocument/2006/relationships/commentAuthors" Target="commentAuthors.xml"/><Relationship Id="rId42" Type="http://schemas.openxmlformats.org/officeDocument/2006/relationships/tableStyles" Target="tableStyles.xml"/><Relationship Id="rId41" Type="http://schemas.openxmlformats.org/officeDocument/2006/relationships/viewProps" Target="viewProps.xml"/><Relationship Id="rId40" Type="http://schemas.openxmlformats.org/officeDocument/2006/relationships/presProps" Target="presProps.xml"/><Relationship Id="rId4" Type="http://schemas.openxmlformats.org/officeDocument/2006/relationships/slide" Target="slides/slide1.xml"/><Relationship Id="rId39" Type="http://schemas.openxmlformats.org/officeDocument/2006/relationships/handoutMaster" Target="handoutMasters/handoutMaster1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622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71913" y="0"/>
            <a:ext cx="2960687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248930-57E6-4F24-A2EE-754E3BB2D090}" type="datetimeFigureOut">
              <a:rPr lang="zh-TW" altLang="en-US" smtClean="0"/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9478963"/>
            <a:ext cx="29622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71913" y="9478963"/>
            <a:ext cx="2960687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0BCFE1-B21C-4E68-8F53-FCA888565152}" type="slidenum">
              <a:rPr lang="zh-TW" altLang="en-US" smtClean="0"/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2275" cy="4984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925" tIns="45962" rIns="91925" bIns="45962" numCol="1" anchor="t" anchorCtr="0" compatLnSpc="1"/>
          <a:lstStyle>
            <a:lvl1pPr eaLnBrk="0" hangingPunct="0">
              <a:defRPr sz="12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71913" y="0"/>
            <a:ext cx="2960687" cy="4984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925" tIns="45962" rIns="91925" bIns="45962" numCol="1" anchor="t" anchorCtr="0" compatLnSpc="1"/>
          <a:lstStyle>
            <a:lvl1pPr algn="r" eaLnBrk="0" hangingPunct="0">
              <a:defRPr sz="12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fld id="{5AFCBC85-116C-4042-82A0-EF8BD8001D3D}" type="datetimeFigureOut">
              <a:rPr lang="zh-TW" altLang="en-US"/>
            </a:fld>
            <a:endParaRPr lang="en-US" altLang="zh-TW"/>
          </a:p>
        </p:txBody>
      </p:sp>
      <p:sp>
        <p:nvSpPr>
          <p:cNvPr id="2560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22338" y="747713"/>
            <a:ext cx="4989512" cy="37433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</p:sp>
      <p:sp>
        <p:nvSpPr>
          <p:cNvPr id="3789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4213" y="4740275"/>
            <a:ext cx="5467350" cy="44910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925" tIns="45962" rIns="91925" bIns="45962" numCol="1" anchor="t" anchorCtr="0" compatLnSpc="1"/>
          <a:lstStyle/>
          <a:p>
            <a:pPr lvl="0"/>
            <a:r>
              <a:rPr lang="zh-CN" altLang="en-US" noProof="0" smtClean="0"/>
              <a:t>单击以编辑母片</a:t>
            </a:r>
            <a:endParaRPr lang="zh-TW" altLang="en-US" noProof="0" smtClean="0"/>
          </a:p>
          <a:p>
            <a:pPr lvl="1"/>
            <a:r>
              <a:rPr lang="zh-TW" altLang="en-US" noProof="0" smtClean="0"/>
              <a:t>第二层</a:t>
            </a:r>
            <a:endParaRPr lang="zh-TW" altLang="en-US" noProof="0" smtClean="0"/>
          </a:p>
          <a:p>
            <a:pPr lvl="2"/>
            <a:r>
              <a:rPr lang="zh-TW" altLang="en-US" noProof="0" smtClean="0"/>
              <a:t>第三层</a:t>
            </a:r>
            <a:endParaRPr lang="zh-TW" altLang="en-US" noProof="0" smtClean="0"/>
          </a:p>
          <a:p>
            <a:pPr lvl="3"/>
            <a:r>
              <a:rPr lang="zh-TW" altLang="en-US" noProof="0" smtClean="0"/>
              <a:t>第四层</a:t>
            </a:r>
            <a:endParaRPr lang="zh-TW" altLang="en-US" noProof="0" smtClean="0"/>
          </a:p>
          <a:p>
            <a:pPr lvl="4"/>
            <a:r>
              <a:rPr lang="zh-TW" altLang="en-US" noProof="0" smtClean="0"/>
              <a:t>第五层</a:t>
            </a:r>
            <a:endParaRPr lang="zh-TW" altLang="en-US" noProof="0" smtClean="0"/>
          </a:p>
        </p:txBody>
      </p:sp>
      <p:sp>
        <p:nvSpPr>
          <p:cNvPr id="3789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78963"/>
            <a:ext cx="2962275" cy="4984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925" tIns="45962" rIns="91925" bIns="45962" numCol="1" anchor="b" anchorCtr="0" compatLnSpc="1"/>
          <a:lstStyle>
            <a:lvl1pPr eaLnBrk="0" hangingPunct="0">
              <a:defRPr sz="12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789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71913" y="9478963"/>
            <a:ext cx="2960687" cy="4984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925" tIns="45962" rIns="91925" bIns="45962" numCol="1" anchor="b" anchorCtr="0" compatLnSpc="1"/>
          <a:lstStyle>
            <a:lvl1pPr algn="r" eaLnBrk="0" hangingPunct="0">
              <a:defRPr sz="12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fld id="{D0238029-D79D-42D5-8DD3-3973BBA50490}" type="slidenum">
              <a:rPr lang="zh-TW" altLang="en-US"/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新細明體" pitchFamily="18" charset="-12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新細明體" pitchFamily="18" charset="-12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新細明體" pitchFamily="18" charset="-12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新細明體" pitchFamily="18" charset="-12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投影片圖像版面配置區 1"/>
          <p:cNvSpPr/>
          <p:nvPr>
            <p:ph type="sldImg" idx="2"/>
          </p:nvPr>
        </p:nvSpPr>
        <p:spPr/>
      </p:sp>
      <p:sp>
        <p:nvSpPr>
          <p:cNvPr id="3" name="文字版面配置區 2"/>
          <p:cNvSpPr/>
          <p:nvPr>
            <p:ph type="body" idx="3"/>
          </p:nvPr>
        </p:nvSpPr>
        <p:spPr/>
        <p:txBody>
          <a:bodyPr/>
          <a:p>
            <a:r>
              <a:rPr lang="en-US" altLang="zh-TW"/>
              <a:t>rdl</a:t>
            </a:r>
            <a:r>
              <a:rPr lang="zh-TW" altLang="en-US"/>
              <a:t>、</a:t>
            </a:r>
            <a:r>
              <a:rPr lang="en-US" altLang="zh-TW"/>
              <a:t>html</a:t>
            </a:r>
            <a:r>
              <a:rPr lang="zh-TW" altLang="en-US"/>
              <a:t>的話有個參數會記錄</a:t>
            </a:r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>
              <a:defRPr/>
            </a:pPr>
            <a:fld id="{D0238029-D79D-42D5-8DD3-3973BBA50490}" type="slidenum">
              <a:rPr lang="zh-TW" altLang="en-US"/>
            </a:fld>
            <a:endParaRPr lang="en-US" altLang="zh-TW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投影片圖像版面配置區 1"/>
          <p:cNvSpPr/>
          <p:nvPr>
            <p:ph type="sldImg" idx="2"/>
          </p:nvPr>
        </p:nvSpPr>
        <p:spPr/>
      </p:sp>
      <p:sp>
        <p:nvSpPr>
          <p:cNvPr id="3" name="文字版面配置區 2"/>
          <p:cNvSpPr/>
          <p:nvPr>
            <p:ph type="body" idx="3"/>
          </p:nvPr>
        </p:nvSpPr>
        <p:spPr/>
        <p:txBody>
          <a:bodyPr/>
          <a:p>
            <a:r>
              <a:rPr lang="zh-TW" altLang="en-US"/>
              <a:t>金額三位一撇、</a:t>
            </a:r>
            <a:r>
              <a:rPr lang="en-US" altLang="zh-TW"/>
              <a:t>IIF(</a:t>
            </a:r>
            <a:r>
              <a:rPr lang="zh-TW" altLang="en-US"/>
              <a:t>內存外顯轉換</a:t>
            </a:r>
            <a:r>
              <a:rPr lang="en-US" altLang="zh-TW"/>
              <a:t>-Checkbox</a:t>
            </a:r>
            <a:r>
              <a:rPr lang="zh-TW" altLang="en-US"/>
              <a:t>、下拉如果是抓資料表的</a:t>
            </a:r>
            <a:r>
              <a:rPr lang="en-US" altLang="zh-TW"/>
              <a:t>(</a:t>
            </a:r>
            <a:r>
              <a:rPr lang="zh-TW" altLang="en-US"/>
              <a:t>用</a:t>
            </a:r>
            <a:r>
              <a:rPr lang="en-US" altLang="zh-TW"/>
              <a:t>SQL</a:t>
            </a:r>
            <a:r>
              <a:rPr lang="zh-TW" altLang="en-US"/>
              <a:t>關連</a:t>
            </a:r>
            <a:r>
              <a:rPr lang="en-US" altLang="zh-TW"/>
              <a:t>))</a:t>
            </a:r>
            <a:endParaRPr lang="en-US" altLang="zh-TW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>
              <a:defRPr/>
            </a:pPr>
            <a:fld id="{D0238029-D79D-42D5-8DD3-3973BBA50490}" type="slidenum">
              <a:rPr lang="zh-TW" altLang="en-US"/>
            </a:fld>
            <a:endParaRPr lang="en-US" altLang="zh-TW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投影片圖像版面配置區 1"/>
          <p:cNvSpPr/>
          <p:nvPr>
            <p:ph type="sldImg" idx="2"/>
          </p:nvPr>
        </p:nvSpPr>
        <p:spPr/>
      </p:sp>
      <p:sp>
        <p:nvSpPr>
          <p:cNvPr id="3" name="文字版面配置區 2"/>
          <p:cNvSpPr/>
          <p:nvPr>
            <p:ph type="body" idx="3"/>
          </p:nvPr>
        </p:nvSpPr>
        <p:spPr/>
        <p:txBody>
          <a:bodyPr/>
          <a:p>
            <a:r>
              <a:rPr lang="zh-TW" altLang="en-US"/>
              <a:t>金額三位一撇、</a:t>
            </a:r>
            <a:r>
              <a:rPr lang="en-US" altLang="zh-TW"/>
              <a:t>IIF(</a:t>
            </a:r>
            <a:r>
              <a:rPr lang="zh-TW" altLang="en-US"/>
              <a:t>內存外顯轉換</a:t>
            </a:r>
            <a:r>
              <a:rPr lang="en-US" altLang="zh-TW"/>
              <a:t>-Checkbox</a:t>
            </a:r>
            <a:r>
              <a:rPr lang="zh-TW" altLang="en-US"/>
              <a:t>、下拉如果是抓資料表的</a:t>
            </a:r>
            <a:r>
              <a:rPr lang="en-US" altLang="zh-TW"/>
              <a:t>(</a:t>
            </a:r>
            <a:r>
              <a:rPr lang="zh-TW" altLang="en-US"/>
              <a:t>用</a:t>
            </a:r>
            <a:r>
              <a:rPr lang="en-US" altLang="zh-TW"/>
              <a:t>SQL</a:t>
            </a:r>
            <a:r>
              <a:rPr lang="zh-TW" altLang="en-US"/>
              <a:t>關連</a:t>
            </a:r>
            <a:r>
              <a:rPr lang="en-US" altLang="zh-TW"/>
              <a:t>))</a:t>
            </a:r>
            <a:endParaRPr lang="en-US" altLang="zh-TW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>
              <a:defRPr/>
            </a:pPr>
            <a:fld id="{D0238029-D79D-42D5-8DD3-3973BBA50490}" type="slidenum">
              <a:rPr lang="zh-TW" altLang="en-US"/>
            </a:fld>
            <a:endParaRPr lang="en-US" altLang="zh-TW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投影片圖像版面配置區 1"/>
          <p:cNvSpPr/>
          <p:nvPr>
            <p:ph type="sldImg" idx="2"/>
          </p:nvPr>
        </p:nvSpPr>
        <p:spPr/>
      </p:sp>
      <p:sp>
        <p:nvSpPr>
          <p:cNvPr id="3" name="文字版面配置區 2"/>
          <p:cNvSpPr/>
          <p:nvPr>
            <p:ph type="body" idx="3"/>
          </p:nvPr>
        </p:nvSpPr>
        <p:spPr/>
        <p:txBody>
          <a:bodyPr/>
          <a:p>
            <a:r>
              <a:rPr lang="zh-TW" altLang="en-US"/>
              <a:t>金額三位一撇、</a:t>
            </a:r>
            <a:r>
              <a:rPr lang="en-US" altLang="zh-TW"/>
              <a:t>IIF(</a:t>
            </a:r>
            <a:r>
              <a:rPr lang="zh-TW" altLang="en-US"/>
              <a:t>內存外顯轉換</a:t>
            </a:r>
            <a:r>
              <a:rPr lang="en-US" altLang="zh-TW"/>
              <a:t>-Checkbox</a:t>
            </a:r>
            <a:r>
              <a:rPr lang="zh-TW" altLang="en-US"/>
              <a:t>、下拉如果是抓資料表的</a:t>
            </a:r>
            <a:r>
              <a:rPr lang="en-US" altLang="zh-TW"/>
              <a:t>(</a:t>
            </a:r>
            <a:r>
              <a:rPr lang="zh-TW" altLang="en-US"/>
              <a:t>用</a:t>
            </a:r>
            <a:r>
              <a:rPr lang="en-US" altLang="zh-TW"/>
              <a:t>SQL</a:t>
            </a:r>
            <a:r>
              <a:rPr lang="zh-TW" altLang="en-US"/>
              <a:t>關連</a:t>
            </a:r>
            <a:r>
              <a:rPr lang="en-US" altLang="zh-TW"/>
              <a:t>))</a:t>
            </a:r>
            <a:endParaRPr lang="en-US" altLang="zh-TW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>
              <a:defRPr/>
            </a:pPr>
            <a:fld id="{D0238029-D79D-42D5-8DD3-3973BBA50490}" type="slidenum">
              <a:rPr lang="zh-TW" altLang="en-US"/>
            </a:fld>
            <a:endParaRPr lang="en-US" altLang="zh-TW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投影片圖像版面配置區 1"/>
          <p:cNvSpPr/>
          <p:nvPr>
            <p:ph type="sldImg" idx="2"/>
          </p:nvPr>
        </p:nvSpPr>
        <p:spPr/>
      </p:sp>
      <p:sp>
        <p:nvSpPr>
          <p:cNvPr id="3" name="文字版面配置區 2"/>
          <p:cNvSpPr/>
          <p:nvPr>
            <p:ph type="body" idx="3"/>
          </p:nvPr>
        </p:nvSpPr>
        <p:spPr/>
        <p:txBody>
          <a:bodyPr/>
          <a:p>
            <a:r>
              <a:rPr lang="zh-TW" altLang="en-US"/>
              <a:t>子報表不要刪，介紹怎麼做</a:t>
            </a:r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>
              <a:defRPr/>
            </a:pPr>
            <a:fld id="{D0238029-D79D-42D5-8DD3-3973BBA50490}" type="slidenum">
              <a:rPr lang="zh-TW" altLang="en-US"/>
            </a:fld>
            <a:endParaRPr lang="en-US" altLang="zh-TW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投影片圖像版面配置區 1"/>
          <p:cNvSpPr/>
          <p:nvPr>
            <p:ph type="sldImg" idx="2"/>
          </p:nvPr>
        </p:nvSpPr>
        <p:spPr/>
      </p:sp>
      <p:sp>
        <p:nvSpPr>
          <p:cNvPr id="3" name="文字版面配置區 2"/>
          <p:cNvSpPr/>
          <p:nvPr>
            <p:ph type="body" idx="3"/>
          </p:nvPr>
        </p:nvSpPr>
        <p:spPr/>
        <p:txBody>
          <a:bodyPr/>
          <a:p>
            <a:r>
              <a:rPr lang="zh-TW" altLang="en-US"/>
              <a:t>印日期</a:t>
            </a:r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>
              <a:defRPr/>
            </a:pPr>
            <a:fld id="{D0238029-D79D-42D5-8DD3-3973BBA50490}" type="slidenum">
              <a:rPr lang="zh-TW" altLang="en-US"/>
            </a:fld>
            <a:endParaRPr lang="en-US" altLang="zh-TW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投影片圖像版面配置區 1"/>
          <p:cNvSpPr/>
          <p:nvPr>
            <p:ph type="sldImg" idx="2"/>
          </p:nvPr>
        </p:nvSpPr>
        <p:spPr/>
      </p:sp>
      <p:sp>
        <p:nvSpPr>
          <p:cNvPr id="3" name="文字版面配置區 2"/>
          <p:cNvSpPr/>
          <p:nvPr>
            <p:ph type="body" idx="3"/>
          </p:nvPr>
        </p:nvSpPr>
        <p:spPr/>
        <p:txBody>
          <a:bodyPr/>
          <a:p>
            <a:r>
              <a:rPr lang="zh-TW" altLang="en-US"/>
              <a:t>先看結果畫面，核的圖怎麼印出來</a:t>
            </a:r>
            <a:r>
              <a:rPr lang="en-US" altLang="zh-TW"/>
              <a:t>(</a:t>
            </a:r>
            <a:r>
              <a:rPr lang="zh-TW" altLang="en-US"/>
              <a:t>通常報表右上角</a:t>
            </a:r>
            <a:r>
              <a:rPr lang="en-US" altLang="zh-TW"/>
              <a:t>)</a:t>
            </a:r>
            <a:endParaRPr lang="en-US" altLang="zh-TW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>
              <a:defRPr/>
            </a:pPr>
            <a:fld id="{D0238029-D79D-42D5-8DD3-3973BBA50490}" type="slidenum">
              <a:rPr lang="zh-TW" altLang="en-US"/>
            </a:fld>
            <a:endParaRPr lang="en-US" altLang="zh-TW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投影片圖像版面配置區 1"/>
          <p:cNvSpPr/>
          <p:nvPr>
            <p:ph type="sldImg" idx="2"/>
          </p:nvPr>
        </p:nvSpPr>
        <p:spPr/>
      </p:sp>
      <p:sp>
        <p:nvSpPr>
          <p:cNvPr id="3" name="文字版面配置區 2"/>
          <p:cNvSpPr/>
          <p:nvPr>
            <p:ph type="body" idx="3"/>
          </p:nvPr>
        </p:nvSpPr>
        <p:spPr/>
        <p:txBody>
          <a:bodyPr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>
              <a:defRPr/>
            </a:pPr>
            <a:fld id="{D0238029-D79D-42D5-8DD3-3973BBA50490}" type="slidenum">
              <a:rPr lang="zh-TW" altLang="en-US"/>
            </a:fld>
            <a:endParaRPr lang="en-US" altLang="zh-TW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投影片圖像版面配置區 1"/>
          <p:cNvSpPr/>
          <p:nvPr>
            <p:ph type="sldImg" idx="2"/>
          </p:nvPr>
        </p:nvSpPr>
        <p:spPr/>
      </p:sp>
      <p:sp>
        <p:nvSpPr>
          <p:cNvPr id="3" name="文字版面配置區 2"/>
          <p:cNvSpPr/>
          <p:nvPr>
            <p:ph type="body" idx="3"/>
          </p:nvPr>
        </p:nvSpPr>
        <p:spPr/>
        <p:txBody>
          <a:bodyPr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>
              <a:defRPr/>
            </a:pPr>
            <a:fld id="{D0238029-D79D-42D5-8DD3-3973BBA50490}" type="slidenum">
              <a:rPr lang="zh-TW" altLang="en-US"/>
            </a:fld>
            <a:endParaRPr lang="en-US" altLang="zh-TW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投影片圖像版面配置區 1"/>
          <p:cNvSpPr/>
          <p:nvPr>
            <p:ph type="sldImg" idx="2"/>
          </p:nvPr>
        </p:nvSpPr>
        <p:spPr/>
      </p:sp>
      <p:sp>
        <p:nvSpPr>
          <p:cNvPr id="3" name="文字版面配置區 2"/>
          <p:cNvSpPr/>
          <p:nvPr>
            <p:ph type="body" idx="3"/>
          </p:nvPr>
        </p:nvSpPr>
        <p:spPr/>
        <p:txBody>
          <a:bodyPr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>
              <a:defRPr/>
            </a:pPr>
            <a:fld id="{D0238029-D79D-42D5-8DD3-3973BBA50490}" type="slidenum">
              <a:rPr lang="zh-TW" altLang="en-US"/>
            </a:fld>
            <a:endParaRPr lang="en-US" altLang="zh-TW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投影片圖像版面配置區 1"/>
          <p:cNvSpPr/>
          <p:nvPr>
            <p:ph type="sldImg" idx="2"/>
          </p:nvPr>
        </p:nvSpPr>
        <p:spPr/>
      </p:sp>
      <p:sp>
        <p:nvSpPr>
          <p:cNvPr id="3" name="文字版面配置區 2"/>
          <p:cNvSpPr/>
          <p:nvPr>
            <p:ph type="body" idx="3"/>
          </p:nvPr>
        </p:nvSpPr>
        <p:spPr/>
        <p:txBody>
          <a:bodyPr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>
              <a:defRPr/>
            </a:pPr>
            <a:fld id="{D0238029-D79D-42D5-8DD3-3973BBA50490}" type="slidenum">
              <a:rPr lang="zh-TW" altLang="en-US"/>
            </a:fld>
            <a:endParaRPr lang="en-US" altLang="zh-TW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CDAB0E-E1AC-46DA-A9EC-548034A1FB9F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  <p:transition>
    <p:pull dir="rd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00034" y="785794"/>
            <a:ext cx="8229600" cy="868363"/>
          </a:xfrm>
        </p:spPr>
        <p:txBody>
          <a:bodyPr/>
          <a:lstStyle>
            <a:lvl1pPr>
              <a:defRPr sz="4000" b="1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defRPr>
            </a:lvl1pPr>
          </a:lstStyle>
          <a:p>
            <a:r>
              <a:rPr lang="zh-TW" altLang="en-US" dirty="0" smtClean="0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00034" y="1928802"/>
            <a:ext cx="8229600" cy="4065588"/>
          </a:xfrm>
        </p:spPr>
        <p:txBody>
          <a:bodyPr/>
          <a:lstStyle>
            <a:lvl1pPr>
              <a:buFont typeface="Wingdings" pitchFamily="2" charset="2"/>
              <a:buChar char="n"/>
              <a:defRPr b="1">
                <a:solidFill>
                  <a:srgbClr val="000099"/>
                </a:solidFill>
                <a:latin typeface="微軟正黑體" pitchFamily="34" charset="-120"/>
                <a:ea typeface="微軟正黑體" pitchFamily="34" charset="-120"/>
              </a:defRPr>
            </a:lvl1pPr>
            <a:lvl2pPr>
              <a:defRPr b="1">
                <a:latin typeface="微軟正黑體" pitchFamily="34" charset="-120"/>
                <a:ea typeface="微軟正黑體" pitchFamily="34" charset="-120"/>
              </a:defRPr>
            </a:lvl2pPr>
            <a:lvl3pPr>
              <a:defRPr b="1">
                <a:solidFill>
                  <a:srgbClr val="663300"/>
                </a:solidFill>
                <a:latin typeface="微軟正黑體" pitchFamily="34" charset="-120"/>
                <a:ea typeface="微軟正黑體" pitchFamily="34" charset="-120"/>
              </a:defRPr>
            </a:lvl3pPr>
            <a:lvl4pPr>
              <a:defRPr b="1">
                <a:latin typeface="微軟正黑體" pitchFamily="34" charset="-120"/>
                <a:ea typeface="微軟正黑體" pitchFamily="34" charset="-120"/>
              </a:defRPr>
            </a:lvl4pPr>
            <a:lvl5pPr>
              <a:defRPr b="1">
                <a:latin typeface="微軟正黑體" pitchFamily="34" charset="-120"/>
                <a:ea typeface="微軟正黑體" pitchFamily="34" charset="-120"/>
              </a:defRPr>
            </a:lvl5pPr>
          </a:lstStyle>
          <a:p>
            <a:pPr lvl="0"/>
            <a:r>
              <a:rPr lang="zh-TW" altLang="en-US" dirty="0" smtClean="0"/>
              <a:t>按一下以編輯母片文字樣式</a:t>
            </a:r>
            <a:endParaRPr lang="zh-TW" altLang="en-US" dirty="0" smtClean="0"/>
          </a:p>
          <a:p>
            <a:pPr lvl="1"/>
            <a:r>
              <a:rPr lang="zh-TW" altLang="en-US" dirty="0" smtClean="0"/>
              <a:t>第二層</a:t>
            </a:r>
            <a:endParaRPr lang="zh-TW" altLang="en-US" dirty="0" smtClean="0"/>
          </a:p>
          <a:p>
            <a:pPr lvl="2"/>
            <a:r>
              <a:rPr lang="zh-TW" altLang="en-US" dirty="0" smtClean="0"/>
              <a:t>第三層</a:t>
            </a:r>
            <a:endParaRPr lang="zh-TW" altLang="en-US" dirty="0" smtClean="0"/>
          </a:p>
          <a:p>
            <a:pPr lvl="3"/>
            <a:r>
              <a:rPr lang="zh-TW" altLang="en-US" dirty="0" smtClean="0"/>
              <a:t>第四層</a:t>
            </a:r>
            <a:endParaRPr lang="zh-TW" altLang="en-US" dirty="0" smtClean="0"/>
          </a:p>
          <a:p>
            <a:pPr lvl="4"/>
            <a:r>
              <a:rPr lang="zh-TW" altLang="en-US" dirty="0" smtClean="0"/>
              <a:t>第五層</a:t>
            </a:r>
            <a:endParaRPr lang="zh-TW" alt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latin typeface="微軟正黑體" pitchFamily="34" charset="-120"/>
                <a:ea typeface="微軟正黑體" pitchFamily="34" charset="-120"/>
              </a:defRPr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latin typeface="微軟正黑體" pitchFamily="34" charset="-120"/>
                <a:ea typeface="微軟正黑體" pitchFamily="34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000" b="1">
                <a:latin typeface="微軟正黑體" pitchFamily="34" charset="-120"/>
                <a:ea typeface="微軟正黑體" pitchFamily="34" charset="-120"/>
              </a:defRPr>
            </a:lvl1pPr>
          </a:lstStyle>
          <a:p>
            <a:pPr>
              <a:defRPr/>
            </a:pPr>
            <a:endParaRPr lang="en-US" altLang="zh-TW"/>
          </a:p>
          <a:p>
            <a:pPr>
              <a:defRPr/>
            </a:pPr>
            <a:endParaRPr lang="en-US" altLang="zh-TW"/>
          </a:p>
          <a:p>
            <a:pPr>
              <a:defRPr/>
            </a:pPr>
            <a:fld id="{6F8F4BC0-65D6-45C0-95FE-854F8F2BD9FD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  <p:transition>
    <p:pull dir="rd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  <a:endParaRPr lang="zh-TW" altLang="en-US" smtClean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5E2AB8-31FC-468B-AE37-ABE5C8C2A0C5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  <p:transition>
    <p:pull dir="rd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2060575"/>
            <a:ext cx="4038600" cy="40655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  <a:endParaRPr lang="zh-TW" altLang="en-US" smtClean="0"/>
          </a:p>
          <a:p>
            <a:pPr lvl="1"/>
            <a:r>
              <a:rPr lang="zh-TW" altLang="en-US" smtClean="0"/>
              <a:t>第二層</a:t>
            </a:r>
            <a:endParaRPr lang="zh-TW" altLang="en-US" smtClean="0"/>
          </a:p>
          <a:p>
            <a:pPr lvl="2"/>
            <a:r>
              <a:rPr lang="zh-TW" altLang="en-US" smtClean="0"/>
              <a:t>第三層</a:t>
            </a:r>
            <a:endParaRPr lang="zh-TW" altLang="en-US" smtClean="0"/>
          </a:p>
          <a:p>
            <a:pPr lvl="3"/>
            <a:r>
              <a:rPr lang="zh-TW" altLang="en-US" smtClean="0"/>
              <a:t>第四層</a:t>
            </a:r>
            <a:endParaRPr lang="zh-TW" altLang="en-US" smtClean="0"/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2060575"/>
            <a:ext cx="4038600" cy="40655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  <a:endParaRPr lang="zh-TW" altLang="en-US" smtClean="0"/>
          </a:p>
          <a:p>
            <a:pPr lvl="1"/>
            <a:r>
              <a:rPr lang="zh-TW" altLang="en-US" smtClean="0"/>
              <a:t>第二層</a:t>
            </a:r>
            <a:endParaRPr lang="zh-TW" altLang="en-US" smtClean="0"/>
          </a:p>
          <a:p>
            <a:pPr lvl="2"/>
            <a:r>
              <a:rPr lang="zh-TW" altLang="en-US" smtClean="0"/>
              <a:t>第三層</a:t>
            </a:r>
            <a:endParaRPr lang="zh-TW" altLang="en-US" smtClean="0"/>
          </a:p>
          <a:p>
            <a:pPr lvl="3"/>
            <a:r>
              <a:rPr lang="zh-TW" altLang="en-US" smtClean="0"/>
              <a:t>第四層</a:t>
            </a:r>
            <a:endParaRPr lang="zh-TW" altLang="en-US" smtClean="0"/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09DB8A-6EC4-4D79-AD14-FE7C9DFF5877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  <p:transition>
    <p:pull dir="rd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  <a:endParaRPr lang="zh-TW" altLang="en-US" smtClean="0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  <a:endParaRPr lang="zh-TW" altLang="en-US" smtClean="0"/>
          </a:p>
          <a:p>
            <a:pPr lvl="1"/>
            <a:r>
              <a:rPr lang="zh-TW" altLang="en-US" smtClean="0"/>
              <a:t>第二層</a:t>
            </a:r>
            <a:endParaRPr lang="zh-TW" altLang="en-US" smtClean="0"/>
          </a:p>
          <a:p>
            <a:pPr lvl="2"/>
            <a:r>
              <a:rPr lang="zh-TW" altLang="en-US" smtClean="0"/>
              <a:t>第三層</a:t>
            </a:r>
            <a:endParaRPr lang="zh-TW" altLang="en-US" smtClean="0"/>
          </a:p>
          <a:p>
            <a:pPr lvl="3"/>
            <a:r>
              <a:rPr lang="zh-TW" altLang="en-US" smtClean="0"/>
              <a:t>第四層</a:t>
            </a:r>
            <a:endParaRPr lang="zh-TW" altLang="en-US" smtClean="0"/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  <a:endParaRPr lang="zh-TW" altLang="en-US" smtClean="0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  <a:endParaRPr lang="zh-TW" altLang="en-US" smtClean="0"/>
          </a:p>
          <a:p>
            <a:pPr lvl="1"/>
            <a:r>
              <a:rPr lang="zh-TW" altLang="en-US" smtClean="0"/>
              <a:t>第二層</a:t>
            </a:r>
            <a:endParaRPr lang="zh-TW" altLang="en-US" smtClean="0"/>
          </a:p>
          <a:p>
            <a:pPr lvl="2"/>
            <a:r>
              <a:rPr lang="zh-TW" altLang="en-US" smtClean="0"/>
              <a:t>第三層</a:t>
            </a:r>
            <a:endParaRPr lang="zh-TW" altLang="en-US" smtClean="0"/>
          </a:p>
          <a:p>
            <a:pPr lvl="3"/>
            <a:r>
              <a:rPr lang="zh-TW" altLang="en-US" smtClean="0"/>
              <a:t>第四層</a:t>
            </a:r>
            <a:endParaRPr lang="zh-TW" altLang="en-US" smtClean="0"/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652CE6-C213-46A8-84F7-C371EF093858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  <p:transition>
    <p:pull dir="rd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105AAD-0BA9-43D2-A48E-D7F91AEB675B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  <p:transition>
    <p:pull dir="rd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D0B806-3AE1-4F93-9E96-89D6A14B6A3D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  <p:transition>
    <p:pull dir="rd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  <a:endParaRPr lang="zh-TW" altLang="en-US" smtClean="0"/>
          </a:p>
          <a:p>
            <a:pPr lvl="1"/>
            <a:r>
              <a:rPr lang="zh-TW" altLang="en-US" smtClean="0"/>
              <a:t>第二層</a:t>
            </a:r>
            <a:endParaRPr lang="zh-TW" altLang="en-US" smtClean="0"/>
          </a:p>
          <a:p>
            <a:pPr lvl="2"/>
            <a:r>
              <a:rPr lang="zh-TW" altLang="en-US" smtClean="0"/>
              <a:t>第三層</a:t>
            </a:r>
            <a:endParaRPr lang="zh-TW" altLang="en-US" smtClean="0"/>
          </a:p>
          <a:p>
            <a:pPr lvl="3"/>
            <a:r>
              <a:rPr lang="zh-TW" altLang="en-US" smtClean="0"/>
              <a:t>第四層</a:t>
            </a:r>
            <a:endParaRPr lang="zh-TW" altLang="en-US" smtClean="0"/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  <a:endParaRPr lang="zh-TW" altLang="en-US" smtClean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57EF79-B625-4ABD-994A-D02D50832F6E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  <p:transition>
    <p:pull dir="r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 smtClean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  <a:endParaRPr lang="zh-TW" altLang="en-US" smtClean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5C9E8C-55E2-4C6E-8287-1A65335C65B0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  <p:transition>
    <p:pull dir="r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  <a:endParaRPr lang="zh-TW" altLang="en-US" smtClean="0"/>
          </a:p>
          <a:p>
            <a:pPr lvl="1"/>
            <a:r>
              <a:rPr lang="zh-TW" altLang="en-US" smtClean="0"/>
              <a:t>第二層</a:t>
            </a:r>
            <a:endParaRPr lang="zh-TW" altLang="en-US" smtClean="0"/>
          </a:p>
          <a:p>
            <a:pPr lvl="2"/>
            <a:r>
              <a:rPr lang="zh-TW" altLang="en-US" smtClean="0"/>
              <a:t>第三層</a:t>
            </a:r>
            <a:endParaRPr lang="zh-TW" altLang="en-US" smtClean="0"/>
          </a:p>
          <a:p>
            <a:pPr lvl="3"/>
            <a:r>
              <a:rPr lang="zh-TW" altLang="en-US" smtClean="0"/>
              <a:t>第四層</a:t>
            </a:r>
            <a:endParaRPr lang="zh-TW" altLang="en-US" smtClean="0"/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B55A53-5CAC-48E3-808E-56106F08AE1D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  <p:transition>
    <p:pull dir="rd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981075"/>
            <a:ext cx="2057400" cy="514508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981075"/>
            <a:ext cx="6019800" cy="514508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  <a:endParaRPr lang="zh-TW" altLang="en-US" smtClean="0"/>
          </a:p>
          <a:p>
            <a:pPr lvl="1"/>
            <a:r>
              <a:rPr lang="zh-TW" altLang="en-US" smtClean="0"/>
              <a:t>第二層</a:t>
            </a:r>
            <a:endParaRPr lang="zh-TW" altLang="en-US" smtClean="0"/>
          </a:p>
          <a:p>
            <a:pPr lvl="2"/>
            <a:r>
              <a:rPr lang="zh-TW" altLang="en-US" smtClean="0"/>
              <a:t>第三層</a:t>
            </a:r>
            <a:endParaRPr lang="zh-TW" altLang="en-US" smtClean="0"/>
          </a:p>
          <a:p>
            <a:pPr lvl="3"/>
            <a:r>
              <a:rPr lang="zh-TW" altLang="en-US" smtClean="0"/>
              <a:t>第四層</a:t>
            </a:r>
            <a:endParaRPr lang="zh-TW" altLang="en-US" smtClean="0"/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191D19-2EC9-44B1-8A50-42D6FD8F1F87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  <p:transition>
    <p:pull dir="rd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2" descr="20110301簡報首頁_集團繁B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標題 1"/>
          <p:cNvSpPr>
            <a:spLocks noGrp="1"/>
          </p:cNvSpPr>
          <p:nvPr>
            <p:ph type="ctrTitle" hasCustomPrompt="1"/>
          </p:nvPr>
        </p:nvSpPr>
        <p:spPr>
          <a:xfrm>
            <a:off x="2555776" y="1988840"/>
            <a:ext cx="6192688" cy="1938992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kumimoji="1" lang="zh-TW" altLang="en-US" sz="6000" b="1" kern="1200" spc="-1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  <a:cs typeface="+mn-cs"/>
              </a:defRPr>
            </a:lvl1pPr>
          </a:lstStyle>
          <a:p>
            <a:r>
              <a:rPr lang="zh-CN" altLang="en-US" dirty="0" smtClean="0"/>
              <a:t>单击以编辑母片标题样式</a:t>
            </a:r>
            <a:endParaRPr lang="zh-TW" altLang="en-US" dirty="0"/>
          </a:p>
        </p:txBody>
      </p:sp>
      <p:sp>
        <p:nvSpPr>
          <p:cNvPr id="4" name="副標題 2"/>
          <p:cNvSpPr>
            <a:spLocks noGrp="1"/>
          </p:cNvSpPr>
          <p:nvPr>
            <p:ph type="subTitle" idx="1" hasCustomPrompt="1"/>
          </p:nvPr>
        </p:nvSpPr>
        <p:spPr>
          <a:xfrm>
            <a:off x="2555776" y="4437112"/>
            <a:ext cx="4536504" cy="17526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>
                <a:latin typeface="微軟正黑體" pitchFamily="34" charset="-120"/>
                <a:ea typeface="微軟正黑體" pitchFamily="34" charset="-12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dirty="0" smtClean="0"/>
              <a:t>单击以编辑母片副标题样式</a:t>
            </a:r>
            <a:endParaRPr lang="zh-TW" altLang="en-US" dirty="0"/>
          </a:p>
        </p:txBody>
      </p:sp>
      <p:pic>
        <p:nvPicPr>
          <p:cNvPr id="37890" name="Picture 2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4937" y="964629"/>
            <a:ext cx="648072" cy="1796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7891" name="Picture 3"/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763594" y="988542"/>
            <a:ext cx="797719" cy="1467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2" descr="20110301簡報內頁1_集團繁B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1463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標題 1"/>
          <p:cNvSpPr>
            <a:spLocks noGrp="1"/>
          </p:cNvSpPr>
          <p:nvPr>
            <p:ph type="title"/>
          </p:nvPr>
        </p:nvSpPr>
        <p:spPr>
          <a:xfrm>
            <a:off x="1043608" y="2348880"/>
            <a:ext cx="702027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kumimoji="1" lang="zh-TW" altLang="en-US" sz="4400" b="1" kern="1200" spc="-15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  <a:cs typeface="+mn-cs"/>
              </a:defRPr>
            </a:lvl1pPr>
          </a:lstStyle>
          <a:p>
            <a:r>
              <a:rPr lang="zh-TW" altLang="en-US" dirty="0" smtClean="0"/>
              <a:t>按一下以編輯母片標題樣式</a:t>
            </a:r>
            <a:endParaRPr lang="zh-TW" altLang="en-US" dirty="0"/>
          </a:p>
        </p:txBody>
      </p:sp>
      <p:pic>
        <p:nvPicPr>
          <p:cNvPr id="38916" name="Picture 4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763074" y="187198"/>
            <a:ext cx="795189" cy="1474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8917" name="Picture 5"/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48494" y="175494"/>
            <a:ext cx="605790" cy="157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2" descr="20110301簡報內頁1_集團繁B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1463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標題 1"/>
          <p:cNvSpPr>
            <a:spLocks noGrp="1"/>
          </p:cNvSpPr>
          <p:nvPr>
            <p:ph type="title"/>
          </p:nvPr>
        </p:nvSpPr>
        <p:spPr>
          <a:xfrm>
            <a:off x="1979712" y="620688"/>
            <a:ext cx="70202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kumimoji="1" lang="zh-TW" altLang="en-US" sz="3600" b="1" kern="1200" spc="-15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  <a:cs typeface="+mn-cs"/>
              </a:defRPr>
            </a:lvl1pPr>
          </a:lstStyle>
          <a:p>
            <a:r>
              <a:rPr lang="zh-TW" altLang="en-US" dirty="0" smtClean="0"/>
              <a:t>按一下以編輯母片標題樣式</a:t>
            </a:r>
            <a:endParaRPr lang="zh-TW" altLang="en-US" dirty="0"/>
          </a:p>
        </p:txBody>
      </p:sp>
      <p:sp>
        <p:nvSpPr>
          <p:cNvPr id="4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defRPr>
                <a:latin typeface="微軟正黑體" pitchFamily="34" charset="-120"/>
                <a:ea typeface="微軟正黑體" pitchFamily="34" charset="-120"/>
              </a:defRPr>
            </a:lvl1pPr>
            <a:lvl2pPr>
              <a:defRPr>
                <a:latin typeface="微軟正黑體" pitchFamily="34" charset="-120"/>
                <a:ea typeface="微軟正黑體" pitchFamily="34" charset="-120"/>
              </a:defRPr>
            </a:lvl2pPr>
            <a:lvl3pPr>
              <a:defRPr>
                <a:latin typeface="微軟正黑體" pitchFamily="34" charset="-120"/>
                <a:ea typeface="微軟正黑體" pitchFamily="34" charset="-120"/>
              </a:defRPr>
            </a:lvl3pPr>
            <a:lvl4pPr>
              <a:defRPr>
                <a:latin typeface="微軟正黑體" pitchFamily="34" charset="-120"/>
                <a:ea typeface="微軟正黑體" pitchFamily="34" charset="-120"/>
              </a:defRPr>
            </a:lvl4pPr>
            <a:lvl5pPr>
              <a:defRPr>
                <a:latin typeface="微軟正黑體" pitchFamily="34" charset="-120"/>
                <a:ea typeface="微軟正黑體" pitchFamily="34" charset="-120"/>
              </a:defRPr>
            </a:lvl5pPr>
          </a:lstStyle>
          <a:p>
            <a:pPr lvl="0"/>
            <a:r>
              <a:rPr lang="zh-TW" altLang="en-US" dirty="0" smtClean="0"/>
              <a:t>按一下以編輯母片文字樣式</a:t>
            </a:r>
            <a:endParaRPr lang="zh-TW" altLang="en-US" dirty="0" smtClean="0"/>
          </a:p>
          <a:p>
            <a:pPr lvl="1"/>
            <a:r>
              <a:rPr lang="zh-TW" altLang="en-US" dirty="0" smtClean="0"/>
              <a:t>第二層</a:t>
            </a:r>
            <a:endParaRPr lang="zh-TW" altLang="en-US" dirty="0" smtClean="0"/>
          </a:p>
          <a:p>
            <a:pPr lvl="2"/>
            <a:r>
              <a:rPr lang="zh-TW" altLang="en-US" dirty="0" smtClean="0"/>
              <a:t>第三層</a:t>
            </a:r>
            <a:endParaRPr lang="zh-TW" altLang="en-US" dirty="0" smtClean="0"/>
          </a:p>
          <a:p>
            <a:pPr lvl="3"/>
            <a:r>
              <a:rPr lang="zh-TW" altLang="en-US" dirty="0" smtClean="0"/>
              <a:t>第四層</a:t>
            </a:r>
            <a:endParaRPr lang="zh-TW" altLang="en-US" dirty="0" smtClean="0"/>
          </a:p>
          <a:p>
            <a:pPr lvl="4"/>
            <a:r>
              <a:rPr lang="zh-TW" altLang="en-US" dirty="0" smtClean="0"/>
              <a:t>第五層</a:t>
            </a:r>
            <a:endParaRPr lang="zh-TW" altLang="en-US" dirty="0"/>
          </a:p>
        </p:txBody>
      </p:sp>
      <p:pic>
        <p:nvPicPr>
          <p:cNvPr id="38916" name="Picture 4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763074" y="187198"/>
            <a:ext cx="795189" cy="1474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8917" name="Picture 5"/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48494" y="175494"/>
            <a:ext cx="605790" cy="157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452320" y="6445845"/>
            <a:ext cx="1450504" cy="412155"/>
          </a:xfrm>
          <a:prstGeom prst="rect">
            <a:avLst/>
          </a:prstGeom>
        </p:spPr>
        <p:txBody>
          <a:bodyPr/>
          <a:lstStyle>
            <a:lvl1pPr algn="r">
              <a:defRPr sz="1600"/>
            </a:lvl1pPr>
          </a:lstStyle>
          <a:p>
            <a:pPr>
              <a:defRPr/>
            </a:pPr>
            <a:fld id="{618A2679-4D56-4A69-AC7C-10199940E943}" type="slidenum">
              <a:rPr lang="en-US" altLang="zh-TW" smtClean="0"/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2" descr="20110301簡報內頁2_集團繁B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450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Picture 4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763074" y="187198"/>
            <a:ext cx="795189" cy="1474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5"/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48494" y="175494"/>
            <a:ext cx="605790" cy="157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452320" y="6445845"/>
            <a:ext cx="1450504" cy="412155"/>
          </a:xfrm>
          <a:prstGeom prst="rect">
            <a:avLst/>
          </a:prstGeom>
        </p:spPr>
        <p:txBody>
          <a:bodyPr/>
          <a:lstStyle>
            <a:lvl1pPr algn="r">
              <a:defRPr sz="1600"/>
            </a:lvl1pPr>
          </a:lstStyle>
          <a:p>
            <a:pPr>
              <a:defRPr/>
            </a:pPr>
            <a:fld id="{618A2679-4D56-4A69-AC7C-10199940E943}" type="slidenum">
              <a:rPr lang="en-US" altLang="zh-TW" smtClean="0"/>
            </a:fld>
            <a:endParaRPr lang="en-US" altLang="zh-TW"/>
          </a:p>
        </p:txBody>
      </p:sp>
      <p:sp>
        <p:nvSpPr>
          <p:cNvPr id="6" name="標題 1"/>
          <p:cNvSpPr>
            <a:spLocks noGrp="1"/>
          </p:cNvSpPr>
          <p:nvPr>
            <p:ph type="title"/>
          </p:nvPr>
        </p:nvSpPr>
        <p:spPr>
          <a:xfrm>
            <a:off x="467544" y="620688"/>
            <a:ext cx="82089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kumimoji="1" lang="zh-TW" altLang="en-US" sz="3600" b="1" kern="1200" spc="-15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  <a:cs typeface="+mn-cs"/>
              </a:defRPr>
            </a:lvl1pPr>
          </a:lstStyle>
          <a:p>
            <a:r>
              <a:rPr lang="zh-TW" altLang="en-US" dirty="0" smtClean="0"/>
              <a:t>按一下以編輯母片標題樣式</a:t>
            </a:r>
            <a:endParaRPr lang="zh-TW" altLang="en-US" dirty="0"/>
          </a:p>
        </p:txBody>
      </p:sp>
      <p:sp>
        <p:nvSpPr>
          <p:cNvPr id="7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defRPr>
                <a:latin typeface="微軟正黑體" pitchFamily="34" charset="-120"/>
                <a:ea typeface="微軟正黑體" pitchFamily="34" charset="-120"/>
              </a:defRPr>
            </a:lvl1pPr>
            <a:lvl2pPr>
              <a:defRPr>
                <a:latin typeface="微軟正黑體" pitchFamily="34" charset="-120"/>
                <a:ea typeface="微軟正黑體" pitchFamily="34" charset="-120"/>
              </a:defRPr>
            </a:lvl2pPr>
            <a:lvl3pPr>
              <a:defRPr>
                <a:latin typeface="微軟正黑體" pitchFamily="34" charset="-120"/>
                <a:ea typeface="微軟正黑體" pitchFamily="34" charset="-120"/>
              </a:defRPr>
            </a:lvl3pPr>
            <a:lvl4pPr>
              <a:defRPr>
                <a:latin typeface="微軟正黑體" pitchFamily="34" charset="-120"/>
                <a:ea typeface="微軟正黑體" pitchFamily="34" charset="-120"/>
              </a:defRPr>
            </a:lvl4pPr>
            <a:lvl5pPr>
              <a:defRPr>
                <a:latin typeface="微軟正黑體" pitchFamily="34" charset="-120"/>
                <a:ea typeface="微軟正黑體" pitchFamily="34" charset="-120"/>
              </a:defRPr>
            </a:lvl5pPr>
          </a:lstStyle>
          <a:p>
            <a:pPr lvl="0"/>
            <a:r>
              <a:rPr lang="zh-TW" altLang="en-US" dirty="0" smtClean="0"/>
              <a:t>按一下以編輯母片文字樣式</a:t>
            </a:r>
            <a:endParaRPr lang="zh-TW" altLang="en-US" dirty="0" smtClean="0"/>
          </a:p>
          <a:p>
            <a:pPr lvl="1"/>
            <a:r>
              <a:rPr lang="zh-TW" altLang="en-US" dirty="0" smtClean="0"/>
              <a:t>第二層</a:t>
            </a:r>
            <a:endParaRPr lang="zh-TW" altLang="en-US" dirty="0" smtClean="0"/>
          </a:p>
          <a:p>
            <a:pPr lvl="2"/>
            <a:r>
              <a:rPr lang="zh-TW" altLang="en-US" dirty="0" smtClean="0"/>
              <a:t>第三層</a:t>
            </a:r>
            <a:endParaRPr lang="zh-TW" altLang="en-US" dirty="0" smtClean="0"/>
          </a:p>
          <a:p>
            <a:pPr lvl="3"/>
            <a:r>
              <a:rPr lang="zh-TW" altLang="en-US" dirty="0" smtClean="0"/>
              <a:t>第四層</a:t>
            </a:r>
            <a:endParaRPr lang="zh-TW" altLang="en-US" dirty="0" smtClean="0"/>
          </a:p>
          <a:p>
            <a:pPr lvl="4"/>
            <a:r>
              <a:rPr lang="zh-TW" altLang="en-US" dirty="0" smtClean="0"/>
              <a:t>第五層</a:t>
            </a:r>
            <a:endParaRPr lang="zh-TW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981075"/>
            <a:ext cx="8229600" cy="868363"/>
          </a:xfrm>
          <a:prstGeom prst="rect">
            <a:avLst/>
          </a:prstGeo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2060575"/>
            <a:ext cx="8229600" cy="4065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  <a:endParaRPr lang="zh-TW" altLang="en-US" smtClean="0"/>
          </a:p>
          <a:p>
            <a:pPr lvl="1"/>
            <a:r>
              <a:rPr lang="zh-TW" altLang="en-US" smtClean="0"/>
              <a:t>第二層</a:t>
            </a:r>
            <a:endParaRPr lang="zh-TW" altLang="en-US" smtClean="0"/>
          </a:p>
          <a:p>
            <a:pPr lvl="2"/>
            <a:r>
              <a:rPr lang="zh-TW" altLang="en-US" smtClean="0"/>
              <a:t>第三層</a:t>
            </a:r>
            <a:endParaRPr lang="zh-TW" altLang="en-US" smtClean="0"/>
          </a:p>
          <a:p>
            <a:pPr lvl="3"/>
            <a:r>
              <a:rPr lang="zh-TW" altLang="en-US" smtClean="0"/>
              <a:t>第四層</a:t>
            </a:r>
            <a:endParaRPr lang="zh-TW" altLang="en-US" smtClean="0"/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6221C-E86A-49BC-B566-D20161E0AE5A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7" Type="http://schemas.openxmlformats.org/officeDocument/2006/relationships/theme" Target="../theme/theme2.xml"/><Relationship Id="rId6" Type="http://schemas.openxmlformats.org/officeDocument/2006/relationships/image" Target="../media/image9.jpeg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11" descr="ppt_B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-4763" y="-1588"/>
            <a:ext cx="9153526" cy="686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981075"/>
            <a:ext cx="8229600" cy="8683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TW" altLang="en-US" smtClean="0"/>
              <a:t>按一下以編輯母片標題樣式</a:t>
            </a:r>
            <a:endParaRPr lang="zh-TW" altLang="en-US" smtClean="0"/>
          </a:p>
        </p:txBody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2060575"/>
            <a:ext cx="8229600" cy="40655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TW" altLang="en-US" smtClean="0"/>
              <a:t>按一下以編輯母片</a:t>
            </a:r>
            <a:endParaRPr lang="zh-TW" altLang="en-US" smtClean="0"/>
          </a:p>
          <a:p>
            <a:pPr lvl="1"/>
            <a:r>
              <a:rPr lang="zh-TW" altLang="en-US" smtClean="0"/>
              <a:t>第二層</a:t>
            </a:r>
            <a:endParaRPr lang="zh-TW" altLang="en-US" smtClean="0"/>
          </a:p>
          <a:p>
            <a:pPr lvl="2"/>
            <a:r>
              <a:rPr lang="zh-TW" altLang="en-US" smtClean="0"/>
              <a:t>第三層</a:t>
            </a:r>
            <a:endParaRPr lang="zh-TW" altLang="en-US" smtClean="0"/>
          </a:p>
          <a:p>
            <a:pPr lvl="3"/>
            <a:r>
              <a:rPr lang="zh-TW" altLang="en-US" smtClean="0"/>
              <a:t>第四層</a:t>
            </a:r>
            <a:endParaRPr lang="zh-TW" altLang="en-US" smtClean="0"/>
          </a:p>
          <a:p>
            <a:pPr lvl="4"/>
            <a:r>
              <a:rPr lang="zh-TW" altLang="en-US" smtClean="0"/>
              <a:t>第五層</a:t>
            </a:r>
            <a:endParaRPr lang="zh-TW" altLang="en-US" smtClean="0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latin typeface="Arial" charset="0"/>
                <a:ea typeface="新細明體" charset="-120"/>
              </a:defRPr>
            </a:lvl1pPr>
          </a:lstStyle>
          <a:p>
            <a:pPr>
              <a:defRPr/>
            </a:pPr>
            <a:fld id="{1BAA6A6A-B44F-4E1B-A333-ADD46CF30C79}" type="slidenum">
              <a:rPr lang="en-US" altLang="zh-TW"/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pull dir="rd"/>
  </p:transition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Arial" charset="0"/>
          <a:ea typeface="新細明體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Arial" charset="0"/>
          <a:ea typeface="新細明體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Arial" charset="0"/>
          <a:ea typeface="新細明體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Arial" charset="0"/>
          <a:ea typeface="新細明體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Arial" charset="0"/>
          <a:ea typeface="新細明體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Arial" charset="0"/>
          <a:ea typeface="新細明體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Arial" charset="0"/>
          <a:ea typeface="新細明體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Arial" charset="0"/>
          <a:ea typeface="新細明體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圖片 6" descr="1007簡報內頁.jpg"/>
          <p:cNvPicPr>
            <a:picLocks noChangeAspect="1"/>
          </p:cNvPicPr>
          <p:nvPr userDrawn="1"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763" y="0"/>
            <a:ext cx="9134475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7452320" y="6445845"/>
            <a:ext cx="1450504" cy="412155"/>
          </a:xfrm>
          <a:prstGeom prst="rect">
            <a:avLst/>
          </a:prstGeom>
        </p:spPr>
        <p:txBody>
          <a:bodyPr/>
          <a:lstStyle>
            <a:lvl1pPr algn="r">
              <a:defRPr sz="1600"/>
            </a:lvl1pPr>
          </a:lstStyle>
          <a:p>
            <a:pPr>
              <a:defRPr/>
            </a:pPr>
            <a:fld id="{618A2679-4D56-4A69-AC7C-10199940E943}" type="slidenum">
              <a:rPr lang="en-US" altLang="zh-TW" smtClean="0"/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4.xml"/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image" Target="../media/image30.png"/><Relationship Id="rId1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image" Target="../media/image32.png"/><Relationship Id="rId1" Type="http://schemas.openxmlformats.org/officeDocument/2006/relationships/image" Target="../media/image31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image" Target="../media/image34.png"/><Relationship Id="rId1" Type="http://schemas.openxmlformats.org/officeDocument/2006/relationships/image" Target="../media/image3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image" Target="../media/image36.png"/><Relationship Id="rId1" Type="http://schemas.openxmlformats.org/officeDocument/2006/relationships/image" Target="../media/image3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37.png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4.xml"/><Relationship Id="rId2" Type="http://schemas.openxmlformats.org/officeDocument/2006/relationships/image" Target="../media/image39.png"/><Relationship Id="rId1" Type="http://schemas.openxmlformats.org/officeDocument/2006/relationships/image" Target="../media/image3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40.png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4.xml"/><Relationship Id="rId2" Type="http://schemas.openxmlformats.org/officeDocument/2006/relationships/image" Target="../media/image42.png"/><Relationship Id="rId1" Type="http://schemas.openxmlformats.org/officeDocument/2006/relationships/image" Target="../media/image41.png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4.xml"/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image" Target="../media/image4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4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47.png"/></Relationships>
</file>

<file path=ppt/slides/_rels/slide3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14.xml"/><Relationship Id="rId4" Type="http://schemas.openxmlformats.org/officeDocument/2006/relationships/image" Target="../media/image51.png"/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image" Target="../media/image4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5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5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54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ctrTitle"/>
          </p:nvPr>
        </p:nvSpPr>
        <p:spPr>
          <a:xfrm>
            <a:off x="2500298" y="1357298"/>
            <a:ext cx="6192688" cy="2720340"/>
          </a:xfrm>
        </p:spPr>
        <p:txBody>
          <a:bodyPr/>
          <a:lstStyle/>
          <a:p>
            <a:br>
              <a:rPr lang="en-US" altLang="zh-TW" dirty="0" smtClean="0"/>
            </a:br>
            <a:r>
              <a:rPr lang="en-US" altLang="zh-TW" dirty="0" smtClean="0"/>
              <a:t>Reporting</a:t>
            </a:r>
            <a:r>
              <a:rPr lang="zh-TW" altLang="en-US" sz="4800" dirty="0" smtClean="0"/>
              <a:t>報表開發</a:t>
            </a:r>
            <a:r>
              <a:rPr lang="en-US" altLang="zh-TW" sz="4800" dirty="0" smtClean="0"/>
              <a:t>(</a:t>
            </a:r>
            <a:r>
              <a:rPr sz="4800" dirty="0" smtClean="0"/>
              <a:t>操作</a:t>
            </a:r>
            <a:r>
              <a:rPr lang="zh-TW" altLang="en-US" sz="4800" dirty="0" smtClean="0"/>
              <a:t>篇</a:t>
            </a:r>
            <a:r>
              <a:rPr lang="en-US" altLang="zh-TW" sz="4800" dirty="0" smtClean="0"/>
              <a:t>)</a:t>
            </a:r>
            <a:endParaRPr lang="zh-TW" altLang="en-US" sz="3600" dirty="0"/>
          </a:p>
        </p:txBody>
      </p:sp>
      <p:sp>
        <p:nvSpPr>
          <p:cNvPr id="6" name="副標題 5"/>
          <p:cNvSpPr>
            <a:spLocks noGrp="1"/>
          </p:cNvSpPr>
          <p:nvPr>
            <p:ph type="subTitle" idx="1"/>
          </p:nvPr>
        </p:nvSpPr>
        <p:spPr>
          <a:xfrm>
            <a:off x="2555776" y="5143512"/>
            <a:ext cx="4536504" cy="1428760"/>
          </a:xfrm>
        </p:spPr>
        <p:txBody>
          <a:bodyPr/>
          <a:lstStyle/>
          <a:p>
            <a:r>
              <a:rPr lang="zh-TW" altLang="en-US" sz="2000" dirty="0" smtClean="0"/>
              <a:t>鼎新電腦</a:t>
            </a:r>
            <a:endParaRPr lang="zh-TW" alt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altLang="en-US" dirty="0" smtClean="0"/>
              <a:t>大綱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457200" y="1743710"/>
            <a:ext cx="8229600" cy="3677285"/>
          </a:xfrm>
        </p:spPr>
        <p:txBody>
          <a:bodyPr/>
          <a:lstStyle/>
          <a:p>
            <a:pPr marL="800100" lvl="1" indent="-342900">
              <a:buClrTx/>
              <a:buFont typeface="Wingdings" charset="0"/>
              <a:buChar char="l"/>
            </a:pPr>
            <a:r>
              <a:rPr lang="zh-TW" altLang="en-US" sz="2400" dirty="0" smtClean="0"/>
              <a:t>報表相關參數設定</a:t>
            </a:r>
            <a:endParaRPr lang="zh-TW" altLang="en-US" sz="2400" dirty="0" smtClean="0"/>
          </a:p>
          <a:p>
            <a:pPr marL="800100" lvl="1" indent="-342900">
              <a:buClrTx/>
              <a:buFont typeface="Wingdings" charset="0"/>
              <a:buChar char="l"/>
            </a:pPr>
            <a:r>
              <a:rPr lang="zh-TW" altLang="en-US" sz="2400" dirty="0" smtClean="0"/>
              <a:t>產生表單報表</a:t>
            </a:r>
            <a:r>
              <a:rPr lang="en-US" altLang="zh-TW" sz="2400" dirty="0" smtClean="0"/>
              <a:t>RDL</a:t>
            </a:r>
            <a:r>
              <a:rPr lang="zh-TW" altLang="en-US" sz="2400" dirty="0" smtClean="0"/>
              <a:t>檔</a:t>
            </a:r>
            <a:endParaRPr lang="zh-TW" altLang="en-US" sz="2400" dirty="0" smtClean="0"/>
          </a:p>
          <a:p>
            <a:pPr marL="800100" lvl="1" indent="-342900">
              <a:buClrTx/>
              <a:buFont typeface="Wingdings" charset="0"/>
              <a:buChar char="l"/>
            </a:pPr>
            <a:r>
              <a:rPr lang="zh-TW" altLang="en-US" sz="2400" dirty="0" smtClean="0"/>
              <a:t>程式相關報表建立</a:t>
            </a:r>
            <a:endParaRPr lang="zh-TW" altLang="en-US" sz="2400" dirty="0" smtClean="0"/>
          </a:p>
          <a:p>
            <a:pPr marL="800100" lvl="1" indent="-342900">
              <a:buClrTx/>
              <a:buFont typeface="Wingdings" charset="0"/>
              <a:buChar char="l"/>
            </a:pPr>
            <a:r>
              <a:rPr lang="en-US" altLang="zh-TW" sz="2400" dirty="0" smtClean="0">
                <a:sym typeface="+mn-ea"/>
              </a:rPr>
              <a:t>Visual Studio</a:t>
            </a:r>
            <a:r>
              <a:rPr lang="zh-TW" altLang="en-US" sz="2400" dirty="0" smtClean="0">
                <a:sym typeface="+mn-ea"/>
              </a:rPr>
              <a:t>工具介紹</a:t>
            </a:r>
            <a:endParaRPr lang="zh-TW" altLang="en-US" sz="2400" dirty="0" smtClean="0">
              <a:sym typeface="+mn-ea"/>
            </a:endParaRPr>
          </a:p>
          <a:p>
            <a:pPr marL="800100" lvl="1" indent="-342900">
              <a:buClrTx/>
              <a:buFont typeface="Wingdings" charset="0"/>
              <a:buChar char="l"/>
            </a:pPr>
            <a:r>
              <a:rPr lang="zh-TW" altLang="en-US" sz="2400" dirty="0" smtClean="0"/>
              <a:t>報表排版</a:t>
            </a:r>
            <a:endParaRPr lang="zh-TW" altLang="en-US" sz="2400" dirty="0" smtClean="0"/>
          </a:p>
          <a:p>
            <a:pPr lvl="1"/>
            <a:endParaRPr lang="en-US" altLang="zh-TW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0"/>
                            </p:stCondLst>
                            <p:childTnLst>
                              <p:par>
                                <p:cTn id="2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0"/>
                            </p:stCondLst>
                            <p:childTnLst>
                              <p:par>
                                <p:cTn id="3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6000"/>
                            </p:stCondLst>
                            <p:childTnLst>
                              <p:par>
                                <p:cTn id="4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7000"/>
                            </p:stCondLst>
                            <p:childTnLst>
                              <p:par>
                                <p:cTn id="4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457200" y="1540468"/>
            <a:ext cx="8229600" cy="4925144"/>
          </a:xfrm>
        </p:spPr>
        <p:txBody>
          <a:bodyPr/>
          <a:lstStyle/>
          <a:p>
            <a:pPr marL="0" lvl="1" indent="0" algn="ctr" latinLnBrk="0">
              <a:spcBef>
                <a:spcPts val="0"/>
              </a:spcBef>
              <a:buNone/>
            </a:pPr>
            <a:endParaRPr lang="zh-TW" altLang="en-US" sz="4800" dirty="0" smtClean="0"/>
          </a:p>
          <a:p>
            <a:pPr marL="0" lvl="1" indent="0" algn="ctr" latinLnBrk="0">
              <a:spcBef>
                <a:spcPts val="0"/>
              </a:spcBef>
              <a:buNone/>
            </a:pPr>
            <a:endParaRPr lang="zh-TW" altLang="en-US" sz="4800" dirty="0" smtClean="0"/>
          </a:p>
          <a:p>
            <a:pPr marL="0" lvl="1" indent="0" algn="ctr" latinLnBrk="0">
              <a:spcBef>
                <a:spcPts val="0"/>
              </a:spcBef>
              <a:buNone/>
            </a:pPr>
            <a:r>
              <a:rPr lang="zh-TW" altLang="en-US" sz="4800" dirty="0" smtClean="0">
                <a:sym typeface="+mn-ea"/>
              </a:rPr>
              <a:t>報表相關參數設定</a:t>
            </a:r>
            <a:endParaRPr lang="zh-TW" altLang="en-US" sz="4800" dirty="0" smtClean="0"/>
          </a:p>
          <a:p>
            <a:pPr marL="0" lvl="1" indent="0" algn="ctr" latinLnBrk="0">
              <a:spcBef>
                <a:spcPts val="0"/>
              </a:spcBef>
              <a:buNone/>
            </a:pPr>
            <a:endParaRPr lang="en-US" altLang="zh-TW" sz="2400" dirty="0" smtClean="0"/>
          </a:p>
          <a:p>
            <a:pPr marL="0" lvl="1" indent="0" algn="ctr" latinLnBrk="0">
              <a:spcBef>
                <a:spcPts val="0"/>
              </a:spcBef>
              <a:buNone/>
            </a:pPr>
            <a:endParaRPr lang="en-US" altLang="zh-TW" sz="2400" dirty="0" smtClean="0"/>
          </a:p>
          <a:p>
            <a:pPr lvl="1" algn="ctr">
              <a:buNone/>
            </a:pPr>
            <a:endParaRPr lang="en-US" altLang="zh-TW" sz="2400" dirty="0" smtClean="0"/>
          </a:p>
        </p:txBody>
      </p:sp>
      <p:sp>
        <p:nvSpPr>
          <p:cNvPr id="6" name="標題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25144"/>
          </a:xfrm>
        </p:spPr>
        <p:txBody>
          <a:bodyPr/>
          <a:lstStyle/>
          <a:p>
            <a:pPr marL="457200" lvl="1" indent="0">
              <a:buNone/>
            </a:pPr>
            <a:r>
              <a:rPr lang="zh-TW" altLang="en-US" sz="2400" dirty="0" smtClean="0"/>
              <a:t>預設報表類型</a:t>
            </a:r>
            <a:r>
              <a:rPr lang="en-US" altLang="zh-TW" sz="2400" dirty="0" smtClean="0"/>
              <a:t>DefaultReportType</a:t>
            </a:r>
            <a:endParaRPr lang="en-US" altLang="zh-TW" sz="2400" dirty="0" smtClean="0"/>
          </a:p>
        </p:txBody>
      </p:sp>
      <p:sp>
        <p:nvSpPr>
          <p:cNvPr id="6" name="標題 5"/>
          <p:cNvSpPr>
            <a:spLocks noGrp="1"/>
          </p:cNvSpPr>
          <p:nvPr>
            <p:ph type="title"/>
          </p:nvPr>
        </p:nvSpPr>
        <p:spPr>
          <a:xfrm>
            <a:off x="1979712" y="620688"/>
            <a:ext cx="7020272" cy="680720"/>
          </a:xfrm>
        </p:spPr>
        <p:txBody>
          <a:bodyPr/>
          <a:lstStyle/>
          <a:p>
            <a:r>
              <a:rPr dirty="0" smtClean="0">
                <a:sym typeface="+mn-ea"/>
              </a:rPr>
              <a:t>報表相關參數設定</a:t>
            </a:r>
            <a:endParaRPr lang="zh-TW" altLang="en-US" dirty="0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405" y="2204720"/>
            <a:ext cx="7305040" cy="36855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457200" y="1540468"/>
            <a:ext cx="8229600" cy="4925144"/>
          </a:xfrm>
        </p:spPr>
        <p:txBody>
          <a:bodyPr/>
          <a:lstStyle/>
          <a:p>
            <a:pPr marL="0" lvl="1" indent="0" algn="ctr" latinLnBrk="0">
              <a:spcBef>
                <a:spcPts val="0"/>
              </a:spcBef>
              <a:buNone/>
            </a:pPr>
            <a:endParaRPr lang="zh-TW" altLang="en-US" sz="4800" dirty="0" smtClean="0"/>
          </a:p>
          <a:p>
            <a:pPr marL="0" lvl="1" indent="0" algn="ctr" latinLnBrk="0">
              <a:spcBef>
                <a:spcPts val="0"/>
              </a:spcBef>
              <a:buNone/>
            </a:pPr>
            <a:endParaRPr lang="zh-TW" altLang="en-US" sz="4800" dirty="0" smtClean="0"/>
          </a:p>
          <a:p>
            <a:pPr marL="0" lvl="1" indent="0" algn="ctr" latinLnBrk="0">
              <a:spcBef>
                <a:spcPts val="0"/>
              </a:spcBef>
              <a:buNone/>
            </a:pPr>
            <a:r>
              <a:rPr lang="zh-TW" altLang="en-US" sz="4800" dirty="0" smtClean="0">
                <a:sym typeface="+mn-ea"/>
              </a:rPr>
              <a:t>產生表單報表</a:t>
            </a:r>
            <a:r>
              <a:rPr lang="en-US" altLang="zh-TW" sz="4800" dirty="0" smtClean="0">
                <a:sym typeface="+mn-ea"/>
              </a:rPr>
              <a:t>RDL</a:t>
            </a:r>
            <a:r>
              <a:rPr lang="zh-TW" altLang="en-US" sz="4800" dirty="0" smtClean="0">
                <a:sym typeface="+mn-ea"/>
              </a:rPr>
              <a:t>檔</a:t>
            </a:r>
            <a:endParaRPr lang="en-US" altLang="zh-TW" sz="4800" dirty="0" smtClean="0"/>
          </a:p>
          <a:p>
            <a:pPr marL="0" lvl="1" indent="0" algn="ctr" latinLnBrk="0">
              <a:spcBef>
                <a:spcPts val="0"/>
              </a:spcBef>
              <a:buNone/>
            </a:pPr>
            <a:endParaRPr lang="en-US" altLang="zh-TW" sz="2400" dirty="0" smtClean="0"/>
          </a:p>
          <a:p>
            <a:pPr marL="0" lvl="1" indent="0" algn="ctr" latinLnBrk="0">
              <a:spcBef>
                <a:spcPts val="0"/>
              </a:spcBef>
              <a:buNone/>
            </a:pPr>
            <a:endParaRPr lang="en-US" altLang="zh-TW" sz="2400" dirty="0" smtClean="0"/>
          </a:p>
          <a:p>
            <a:pPr lvl="1" algn="ctr">
              <a:buNone/>
            </a:pPr>
            <a:endParaRPr lang="en-US" altLang="zh-TW" sz="2400" dirty="0" smtClean="0"/>
          </a:p>
        </p:txBody>
      </p:sp>
      <p:sp>
        <p:nvSpPr>
          <p:cNvPr id="6" name="標題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25144"/>
          </a:xfrm>
        </p:spPr>
        <p:txBody>
          <a:bodyPr/>
          <a:lstStyle/>
          <a:p>
            <a:pPr lvl="1">
              <a:buNone/>
            </a:pPr>
            <a:r>
              <a:rPr lang="zh-TW" altLang="en-US" sz="2000" dirty="0" smtClean="0"/>
              <a:t>開啟</a:t>
            </a:r>
            <a:r>
              <a:rPr lang="en-US" altLang="zh-TW" sz="2000" dirty="0" smtClean="0"/>
              <a:t>IE</a:t>
            </a:r>
            <a:r>
              <a:rPr lang="zh-TW" altLang="en-US" sz="2000" dirty="0" smtClean="0"/>
              <a:t>，輸入網址</a:t>
            </a:r>
            <a:r>
              <a:rPr lang="en-US" altLang="zh-TW" sz="2000" dirty="0" smtClean="0">
                <a:solidFill>
                  <a:srgbClr val="0000CC"/>
                </a:solidFill>
              </a:rPr>
              <a:t>http://AP</a:t>
            </a:r>
            <a:r>
              <a:rPr lang="zh-TW" altLang="en-US" sz="2000" dirty="0" smtClean="0">
                <a:solidFill>
                  <a:srgbClr val="0000CC"/>
                </a:solidFill>
              </a:rPr>
              <a:t>主機</a:t>
            </a:r>
            <a:r>
              <a:rPr lang="en-US" altLang="zh-TW" sz="2000" dirty="0" smtClean="0">
                <a:solidFill>
                  <a:srgbClr val="0000CC"/>
                </a:solidFill>
              </a:rPr>
              <a:t>IP/efservice</a:t>
            </a:r>
            <a:endParaRPr lang="en-US" altLang="zh-TW" sz="2000" dirty="0" smtClean="0">
              <a:solidFill>
                <a:srgbClr val="0000CC"/>
              </a:solidFill>
            </a:endParaRPr>
          </a:p>
          <a:p>
            <a:pPr lvl="1">
              <a:buNone/>
            </a:pPr>
            <a:r>
              <a:rPr lang="zh-TW" altLang="en-US" sz="2000" dirty="0" smtClean="0"/>
              <a:t>出現下方畫面，並點選</a:t>
            </a:r>
            <a:r>
              <a:rPr lang="en-US" altLang="zh-TW" sz="2000" dirty="0" smtClean="0"/>
              <a:t>InstallEasyReporting</a:t>
            </a:r>
            <a:r>
              <a:rPr lang="zh-TW" altLang="en-US" sz="2000" dirty="0" smtClean="0"/>
              <a:t>。</a:t>
            </a:r>
            <a:endParaRPr lang="en-US" altLang="zh-TW" sz="2400" dirty="0" smtClean="0"/>
          </a:p>
          <a:p>
            <a:pPr lvl="1"/>
            <a:endParaRPr lang="en-US" altLang="zh-TW" sz="2400" dirty="0" smtClean="0"/>
          </a:p>
          <a:p>
            <a:pPr lvl="1"/>
            <a:endParaRPr lang="en-US" altLang="zh-TW" sz="2400" dirty="0" smtClean="0"/>
          </a:p>
        </p:txBody>
      </p:sp>
      <p:sp>
        <p:nvSpPr>
          <p:cNvPr id="6" name="標題 5"/>
          <p:cNvSpPr>
            <a:spLocks noGrp="1"/>
          </p:cNvSpPr>
          <p:nvPr>
            <p:ph type="title"/>
          </p:nvPr>
        </p:nvSpPr>
        <p:spPr>
          <a:xfrm>
            <a:off x="1979712" y="620688"/>
            <a:ext cx="7020272" cy="680720"/>
          </a:xfrm>
        </p:spPr>
        <p:txBody>
          <a:bodyPr/>
          <a:lstStyle/>
          <a:p>
            <a:r>
              <a:rPr dirty="0" smtClean="0">
                <a:sym typeface="+mn-ea"/>
              </a:rPr>
              <a:t>產生表單報表</a:t>
            </a:r>
            <a:r>
              <a:rPr lang="en-US" altLang="zh-TW" dirty="0" smtClean="0">
                <a:sym typeface="+mn-ea"/>
              </a:rPr>
              <a:t>RDL</a:t>
            </a:r>
            <a:r>
              <a:rPr dirty="0" smtClean="0">
                <a:sym typeface="+mn-ea"/>
              </a:rPr>
              <a:t>檔</a:t>
            </a:r>
            <a:endParaRPr lang="zh-TW" altLang="en-US" dirty="0"/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405" y="2564765"/>
            <a:ext cx="6129020" cy="32181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25144"/>
          </a:xfrm>
        </p:spPr>
        <p:txBody>
          <a:bodyPr/>
          <a:lstStyle/>
          <a:p>
            <a:pPr marL="457200" lvl="1" indent="0">
              <a:buNone/>
            </a:pPr>
            <a:r>
              <a:rPr lang="en-US" altLang="zh-TW" sz="2400" dirty="0" smtClean="0"/>
              <a:t>1. </a:t>
            </a:r>
            <a:r>
              <a:rPr lang="zh-TW" altLang="en-US" sz="2400" dirty="0" smtClean="0"/>
              <a:t>進入報表精靈</a:t>
            </a:r>
            <a:endParaRPr lang="zh-TW" altLang="en-US" sz="2400" dirty="0" smtClean="0"/>
          </a:p>
          <a:p>
            <a:pPr marL="800100" lvl="1" indent="-342900">
              <a:buClrTx/>
              <a:buFont typeface="Wingdings" charset="0"/>
              <a:buChar char="l"/>
            </a:pPr>
            <a:r>
              <a:rPr lang="zh-TW" altLang="en-US" sz="2400" dirty="0" smtClean="0"/>
              <a:t>程式類型為表單相關</a:t>
            </a:r>
            <a:endParaRPr lang="zh-TW" altLang="en-US" sz="2400" dirty="0" smtClean="0"/>
          </a:p>
          <a:p>
            <a:pPr marL="800100" lvl="1" indent="-342900">
              <a:buClrTx/>
              <a:buFont typeface="Wingdings" charset="0"/>
              <a:buChar char="l"/>
            </a:pPr>
            <a:r>
              <a:rPr lang="zh-TW" altLang="en-US" sz="2400" dirty="0" smtClean="0"/>
              <a:t>選擇關連程式</a:t>
            </a:r>
            <a:endParaRPr lang="zh-TW" altLang="en-US" sz="2400" dirty="0" smtClean="0"/>
          </a:p>
          <a:p>
            <a:pPr marL="800100" lvl="1" indent="-342900">
              <a:buClrTx/>
              <a:buFont typeface="Wingdings" charset="0"/>
              <a:buChar char="l"/>
            </a:pPr>
            <a:r>
              <a:rPr lang="zh-TW" altLang="en-US" sz="2400" dirty="0" smtClean="0"/>
              <a:t>報表類型為</a:t>
            </a:r>
            <a:r>
              <a:rPr lang="en-US" altLang="zh-TW" sz="2400" dirty="0" smtClean="0"/>
              <a:t>RDL</a:t>
            </a:r>
            <a:endParaRPr lang="en-US" altLang="zh-TW" sz="2400" dirty="0" smtClean="0"/>
          </a:p>
        </p:txBody>
      </p:sp>
      <p:sp>
        <p:nvSpPr>
          <p:cNvPr id="6" name="標題 5"/>
          <p:cNvSpPr>
            <a:spLocks noGrp="1"/>
          </p:cNvSpPr>
          <p:nvPr>
            <p:ph type="title"/>
          </p:nvPr>
        </p:nvSpPr>
        <p:spPr>
          <a:xfrm>
            <a:off x="1979712" y="620688"/>
            <a:ext cx="7020272" cy="680720"/>
          </a:xfrm>
        </p:spPr>
        <p:txBody>
          <a:bodyPr/>
          <a:lstStyle/>
          <a:p>
            <a:r>
              <a:rPr dirty="0" smtClean="0">
                <a:sym typeface="+mn-ea"/>
              </a:rPr>
              <a:t>產生表單報表</a:t>
            </a:r>
            <a:r>
              <a:rPr lang="en-US" altLang="zh-TW" dirty="0" smtClean="0">
                <a:sym typeface="+mn-ea"/>
              </a:rPr>
              <a:t>RDL</a:t>
            </a:r>
            <a:r>
              <a:rPr dirty="0" smtClean="0">
                <a:sym typeface="+mn-ea"/>
              </a:rPr>
              <a:t>檔</a:t>
            </a:r>
            <a:endParaRPr lang="zh-TW" altLang="en-US" dirty="0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39565" y="1570355"/>
            <a:ext cx="4628515" cy="490029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25144"/>
          </a:xfrm>
        </p:spPr>
        <p:txBody>
          <a:bodyPr/>
          <a:lstStyle/>
          <a:p>
            <a:pPr marL="457200" lvl="1" indent="0">
              <a:buNone/>
            </a:pPr>
            <a:r>
              <a:rPr lang="en-US" altLang="zh-TW" sz="2400" dirty="0" smtClean="0"/>
              <a:t>2. </a:t>
            </a:r>
            <a:r>
              <a:rPr lang="zh-TW" altLang="en-US" sz="2400" dirty="0" smtClean="0"/>
              <a:t>確認表單資料表</a:t>
            </a:r>
            <a:endParaRPr lang="zh-TW" altLang="en-US" sz="2400" dirty="0" smtClean="0"/>
          </a:p>
          <a:p>
            <a:pPr marL="457200" lvl="1" indent="0">
              <a:buNone/>
            </a:pPr>
            <a:r>
              <a:rPr lang="en-US" altLang="zh-TW" sz="2400" dirty="0" smtClean="0"/>
              <a:t>3. </a:t>
            </a:r>
            <a:r>
              <a:rPr lang="zh-TW" altLang="en-US" sz="2400" dirty="0" smtClean="0"/>
              <a:t>選擇要顯示的欄位及順序</a:t>
            </a:r>
            <a:endParaRPr lang="zh-TW" altLang="en-US" sz="2400" dirty="0" smtClean="0"/>
          </a:p>
        </p:txBody>
      </p:sp>
      <p:sp>
        <p:nvSpPr>
          <p:cNvPr id="6" name="標題 5"/>
          <p:cNvSpPr>
            <a:spLocks noGrp="1"/>
          </p:cNvSpPr>
          <p:nvPr>
            <p:ph type="title"/>
          </p:nvPr>
        </p:nvSpPr>
        <p:spPr>
          <a:xfrm>
            <a:off x="1979712" y="620688"/>
            <a:ext cx="7020272" cy="680720"/>
          </a:xfrm>
        </p:spPr>
        <p:txBody>
          <a:bodyPr/>
          <a:lstStyle/>
          <a:p>
            <a:r>
              <a:rPr dirty="0" smtClean="0">
                <a:sym typeface="+mn-ea"/>
              </a:rPr>
              <a:t>產生表單報表</a:t>
            </a:r>
            <a:r>
              <a:rPr lang="en-US" altLang="zh-TW" dirty="0" smtClean="0">
                <a:sym typeface="+mn-ea"/>
              </a:rPr>
              <a:t>RDL</a:t>
            </a:r>
            <a:r>
              <a:rPr dirty="0" smtClean="0">
                <a:sym typeface="+mn-ea"/>
              </a:rPr>
              <a:t>檔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7995" y="2491740"/>
            <a:ext cx="4429125" cy="2571750"/>
          </a:xfrm>
          <a:prstGeom prst="rect">
            <a:avLst/>
          </a:prstGeom>
        </p:spPr>
      </p:pic>
      <p:pic>
        <p:nvPicPr>
          <p:cNvPr id="9" name="圖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6055" y="2492375"/>
            <a:ext cx="4571365" cy="411416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25144"/>
          </a:xfrm>
        </p:spPr>
        <p:txBody>
          <a:bodyPr/>
          <a:lstStyle/>
          <a:p>
            <a:pPr marL="457200" lvl="1" indent="0">
              <a:buNone/>
            </a:pPr>
            <a:r>
              <a:rPr lang="en-US" altLang="zh-TW" sz="2400" dirty="0" smtClean="0"/>
              <a:t>4. </a:t>
            </a:r>
            <a:r>
              <a:rPr lang="zh-TW" altLang="en-US" sz="2400" dirty="0" smtClean="0"/>
              <a:t>確認報表顯示欄位</a:t>
            </a:r>
            <a:endParaRPr lang="zh-TW" altLang="en-US" sz="2400" dirty="0" smtClean="0"/>
          </a:p>
          <a:p>
            <a:pPr marL="457200" lvl="1" indent="0">
              <a:buNone/>
            </a:pPr>
            <a:r>
              <a:rPr lang="en-US" altLang="zh-TW" sz="2400" dirty="0" smtClean="0"/>
              <a:t>5. </a:t>
            </a:r>
            <a:r>
              <a:rPr lang="zh-TW" altLang="en-US" sz="2400" dirty="0" smtClean="0"/>
              <a:t>點選產生</a:t>
            </a:r>
            <a:r>
              <a:rPr lang="en-US" altLang="zh-TW" sz="2400" dirty="0" smtClean="0"/>
              <a:t>RDL</a:t>
            </a:r>
            <a:r>
              <a:rPr lang="zh-TW" altLang="en-US" sz="2400" dirty="0" smtClean="0"/>
              <a:t>報表，將檔案存至本機</a:t>
            </a:r>
            <a:endParaRPr lang="zh-TW" altLang="en-US" sz="2400" dirty="0" smtClean="0"/>
          </a:p>
          <a:p>
            <a:pPr marL="457200" lvl="1" indent="0">
              <a:buNone/>
            </a:pPr>
            <a:endParaRPr lang="zh-TW" altLang="en-US" sz="2400" dirty="0" smtClean="0"/>
          </a:p>
        </p:txBody>
      </p:sp>
      <p:sp>
        <p:nvSpPr>
          <p:cNvPr id="6" name="標題 5"/>
          <p:cNvSpPr>
            <a:spLocks noGrp="1"/>
          </p:cNvSpPr>
          <p:nvPr>
            <p:ph type="title"/>
          </p:nvPr>
        </p:nvSpPr>
        <p:spPr>
          <a:xfrm>
            <a:off x="1979712" y="620688"/>
            <a:ext cx="7020272" cy="680720"/>
          </a:xfrm>
        </p:spPr>
        <p:txBody>
          <a:bodyPr/>
          <a:lstStyle/>
          <a:p>
            <a:r>
              <a:rPr dirty="0" smtClean="0">
                <a:sym typeface="+mn-ea"/>
              </a:rPr>
              <a:t>產生表單報表</a:t>
            </a:r>
            <a:r>
              <a:rPr lang="en-US" altLang="zh-TW" dirty="0" smtClean="0">
                <a:sym typeface="+mn-ea"/>
              </a:rPr>
              <a:t>RDL</a:t>
            </a:r>
            <a:r>
              <a:rPr dirty="0" smtClean="0">
                <a:sym typeface="+mn-ea"/>
              </a:rPr>
              <a:t>檔</a:t>
            </a:r>
            <a:endParaRPr lang="zh-TW" altLang="en-US" dirty="0"/>
          </a:p>
        </p:txBody>
      </p:sp>
      <p:pic>
        <p:nvPicPr>
          <p:cNvPr id="10" name="圖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0975" y="2565400"/>
            <a:ext cx="5328285" cy="3676650"/>
          </a:xfrm>
          <a:prstGeom prst="rect">
            <a:avLst/>
          </a:prstGeom>
        </p:spPr>
      </p:pic>
      <p:pic>
        <p:nvPicPr>
          <p:cNvPr id="11" name="圖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0290" y="2492375"/>
            <a:ext cx="4022725" cy="420179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457200" y="1612223"/>
            <a:ext cx="8229600" cy="4925144"/>
          </a:xfrm>
        </p:spPr>
        <p:txBody>
          <a:bodyPr/>
          <a:lstStyle/>
          <a:p>
            <a:pPr marL="0" lvl="1" indent="0" algn="ctr" latinLnBrk="0">
              <a:spcBef>
                <a:spcPts val="0"/>
              </a:spcBef>
              <a:buNone/>
            </a:pPr>
            <a:endParaRPr lang="zh-TW" altLang="en-US" sz="4800" dirty="0" smtClean="0"/>
          </a:p>
          <a:p>
            <a:pPr marL="0" lvl="1" indent="0" algn="ctr" latinLnBrk="0">
              <a:spcBef>
                <a:spcPts val="0"/>
              </a:spcBef>
              <a:buNone/>
            </a:pPr>
            <a:endParaRPr lang="zh-TW" altLang="en-US" sz="4800" dirty="0" smtClean="0"/>
          </a:p>
          <a:p>
            <a:pPr marL="0" lvl="1" indent="0" algn="ctr" latinLnBrk="0">
              <a:spcBef>
                <a:spcPts val="0"/>
              </a:spcBef>
              <a:buNone/>
            </a:pPr>
            <a:r>
              <a:rPr lang="zh-TW" altLang="en-US" sz="4800" dirty="0" smtClean="0">
                <a:sym typeface="+mn-ea"/>
              </a:rPr>
              <a:t>程式相關報表建立</a:t>
            </a:r>
            <a:endParaRPr lang="en-US" altLang="zh-TW" sz="4800" dirty="0" smtClean="0"/>
          </a:p>
          <a:p>
            <a:pPr marL="0" lvl="1" indent="0" algn="ctr" latinLnBrk="0">
              <a:spcBef>
                <a:spcPts val="0"/>
              </a:spcBef>
              <a:buNone/>
            </a:pPr>
            <a:endParaRPr lang="en-US" altLang="zh-TW" sz="2400" dirty="0" smtClean="0"/>
          </a:p>
          <a:p>
            <a:pPr marL="0" lvl="1" indent="0" algn="ctr" latinLnBrk="0">
              <a:spcBef>
                <a:spcPts val="0"/>
              </a:spcBef>
              <a:buNone/>
            </a:pPr>
            <a:endParaRPr lang="en-US" altLang="zh-TW" sz="2400" dirty="0" smtClean="0"/>
          </a:p>
          <a:p>
            <a:pPr lvl="1" algn="ctr">
              <a:buNone/>
            </a:pPr>
            <a:endParaRPr lang="en-US" altLang="zh-TW" sz="2400" dirty="0" smtClean="0"/>
          </a:p>
        </p:txBody>
      </p:sp>
      <p:sp>
        <p:nvSpPr>
          <p:cNvPr id="6" name="標題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25144"/>
          </a:xfrm>
        </p:spPr>
        <p:txBody>
          <a:bodyPr/>
          <a:lstStyle/>
          <a:p>
            <a:pPr marL="800100" lvl="1" indent="-342900">
              <a:buClrTx/>
              <a:buFont typeface="Wingdings" charset="0"/>
              <a:buChar char="l"/>
            </a:pPr>
            <a:r>
              <a:rPr lang="zh-TW" altLang="en-US" sz="2400" dirty="0" smtClean="0"/>
              <a:t>進入</a:t>
            </a:r>
            <a:r>
              <a:rPr lang="en-US" altLang="zh-TW" sz="2400" dirty="0" smtClean="0"/>
              <a:t>EasyFlow</a:t>
            </a:r>
            <a:r>
              <a:rPr lang="zh-TW" altLang="en-US" sz="2400" dirty="0" smtClean="0"/>
              <a:t>選擇</a:t>
            </a:r>
            <a:endParaRPr lang="zh-TW" altLang="en-US" sz="2400" dirty="0" smtClean="0"/>
          </a:p>
          <a:p>
            <a:pPr marL="457200" lvl="1" indent="0">
              <a:buNone/>
            </a:pPr>
            <a:r>
              <a:rPr lang="zh-TW" altLang="en-US" sz="2400" dirty="0" smtClean="0"/>
              <a:t>系統管理工具</a:t>
            </a:r>
            <a:r>
              <a:rPr lang="en-US" altLang="zh-TW" sz="2400" dirty="0" smtClean="0"/>
              <a:t>&gt;</a:t>
            </a:r>
            <a:r>
              <a:rPr sz="2400" dirty="0" smtClean="0">
                <a:sym typeface="+mn-ea"/>
              </a:rPr>
              <a:t>程式相關報表</a:t>
            </a:r>
            <a:r>
              <a:rPr lang="zh-TW" sz="2400" dirty="0" smtClean="0">
                <a:sym typeface="+mn-ea"/>
              </a:rPr>
              <a:t>清單維護作業</a:t>
            </a:r>
            <a:endParaRPr lang="zh-TW" sz="2400" dirty="0" smtClean="0">
              <a:sym typeface="+mn-ea"/>
            </a:endParaRPr>
          </a:p>
          <a:p>
            <a:pPr marL="457200" lvl="1" indent="0">
              <a:buNone/>
            </a:pPr>
            <a:r>
              <a:rPr lang="zh-TW" sz="2400" dirty="0" smtClean="0">
                <a:sym typeface="+mn-ea"/>
              </a:rPr>
              <a:t>查詢表單並建立報表代號</a:t>
            </a:r>
            <a:r>
              <a:rPr lang="en-US" altLang="zh-TW" sz="2400" dirty="0" smtClean="0">
                <a:sym typeface="+mn-ea"/>
              </a:rPr>
              <a:t>(RDL</a:t>
            </a:r>
            <a:r>
              <a:rPr lang="zh-TW" altLang="en-US" sz="2400" dirty="0" smtClean="0">
                <a:sym typeface="+mn-ea"/>
              </a:rPr>
              <a:t>報表代號為</a:t>
            </a:r>
            <a:r>
              <a:rPr lang="en-US" altLang="zh-TW" sz="2400" dirty="0" smtClean="0">
                <a:sym typeface="+mn-ea"/>
              </a:rPr>
              <a:t>:</a:t>
            </a:r>
            <a:r>
              <a:rPr lang="zh-TW" altLang="en-US" sz="2400" dirty="0" smtClean="0">
                <a:sym typeface="+mn-ea"/>
              </a:rPr>
              <a:t>表單代號</a:t>
            </a:r>
            <a:r>
              <a:rPr lang="en-US" altLang="zh-TW" sz="2400" dirty="0" smtClean="0">
                <a:sym typeface="+mn-ea"/>
              </a:rPr>
              <a:t>_02)</a:t>
            </a:r>
            <a:endParaRPr lang="en-US" altLang="zh-TW" sz="2400" dirty="0" smtClean="0">
              <a:sym typeface="+mn-ea"/>
            </a:endParaRPr>
          </a:p>
        </p:txBody>
      </p:sp>
      <p:sp>
        <p:nvSpPr>
          <p:cNvPr id="6" name="標題 5"/>
          <p:cNvSpPr>
            <a:spLocks noGrp="1"/>
          </p:cNvSpPr>
          <p:nvPr>
            <p:ph type="title"/>
          </p:nvPr>
        </p:nvSpPr>
        <p:spPr>
          <a:xfrm>
            <a:off x="1979712" y="620688"/>
            <a:ext cx="7020272" cy="680720"/>
          </a:xfrm>
        </p:spPr>
        <p:txBody>
          <a:bodyPr/>
          <a:lstStyle/>
          <a:p>
            <a:r>
              <a:rPr dirty="0" smtClean="0">
                <a:sym typeface="+mn-ea"/>
              </a:rPr>
              <a:t>程式相關報表建立</a:t>
            </a:r>
            <a:endParaRPr lang="zh-TW" altLang="en-US" dirty="0"/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99385" y="3068955"/>
            <a:ext cx="5756275" cy="34937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457200" y="1612223"/>
            <a:ext cx="8229600" cy="4925144"/>
          </a:xfrm>
        </p:spPr>
        <p:txBody>
          <a:bodyPr/>
          <a:lstStyle/>
          <a:p>
            <a:pPr marL="0" lvl="1" indent="0" algn="ctr" latinLnBrk="0">
              <a:spcBef>
                <a:spcPts val="0"/>
              </a:spcBef>
              <a:buNone/>
            </a:pPr>
            <a:endParaRPr lang="zh-TW" altLang="en-US" sz="4800" dirty="0" smtClean="0"/>
          </a:p>
          <a:p>
            <a:pPr marL="0" lvl="1" indent="0" algn="ctr" latinLnBrk="0">
              <a:spcBef>
                <a:spcPts val="0"/>
              </a:spcBef>
              <a:buNone/>
            </a:pPr>
            <a:endParaRPr lang="zh-TW" altLang="en-US" sz="4800" dirty="0" smtClean="0"/>
          </a:p>
          <a:p>
            <a:pPr marL="0" lvl="1" indent="0" algn="ctr" latinLnBrk="0">
              <a:spcBef>
                <a:spcPts val="0"/>
              </a:spcBef>
              <a:buNone/>
            </a:pPr>
            <a:r>
              <a:rPr lang="en-US" altLang="zh-TW" sz="4800" dirty="0" smtClean="0">
                <a:sym typeface="+mn-ea"/>
              </a:rPr>
              <a:t>Visual Studio</a:t>
            </a:r>
            <a:r>
              <a:rPr lang="zh-TW" altLang="en-US" sz="4800" dirty="0" smtClean="0">
                <a:sym typeface="+mn-ea"/>
              </a:rPr>
              <a:t>工具介紹</a:t>
            </a:r>
            <a:endParaRPr lang="en-US" altLang="zh-TW" sz="4800" dirty="0" smtClean="0"/>
          </a:p>
          <a:p>
            <a:pPr marL="0" lvl="1" indent="0" algn="ctr" latinLnBrk="0">
              <a:spcBef>
                <a:spcPts val="0"/>
              </a:spcBef>
              <a:buNone/>
            </a:pPr>
            <a:endParaRPr lang="en-US" altLang="zh-TW" sz="2400" dirty="0" smtClean="0"/>
          </a:p>
          <a:p>
            <a:pPr marL="0" lvl="1" indent="0" algn="ctr" latinLnBrk="0">
              <a:spcBef>
                <a:spcPts val="0"/>
              </a:spcBef>
              <a:buNone/>
            </a:pPr>
            <a:endParaRPr lang="en-US" altLang="zh-TW" sz="2400" dirty="0" smtClean="0"/>
          </a:p>
          <a:p>
            <a:pPr lvl="1" algn="ctr">
              <a:buNone/>
            </a:pPr>
            <a:endParaRPr lang="en-US" altLang="zh-TW" sz="2400" dirty="0" smtClean="0"/>
          </a:p>
        </p:txBody>
      </p:sp>
      <p:sp>
        <p:nvSpPr>
          <p:cNvPr id="6" name="標題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/>
          <p:cNvSpPr>
            <a:spLocks noGrp="1"/>
          </p:cNvSpPr>
          <p:nvPr>
            <p:ph type="title"/>
          </p:nvPr>
        </p:nvSpPr>
        <p:spPr>
          <a:xfrm>
            <a:off x="1979712" y="620688"/>
            <a:ext cx="7020272" cy="680720"/>
          </a:xfrm>
        </p:spPr>
        <p:txBody>
          <a:bodyPr/>
          <a:lstStyle/>
          <a:p>
            <a:r>
              <a:t>報表工具路徑</a:t>
            </a: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88310" y="2060575"/>
            <a:ext cx="4885690" cy="1794510"/>
          </a:xfrm>
          <a:prstGeom prst="rect">
            <a:avLst/>
          </a:prstGeom>
        </p:spPr>
      </p:pic>
      <p:sp>
        <p:nvSpPr>
          <p:cNvPr id="4" name="文字方塊 3"/>
          <p:cNvSpPr txBox="1"/>
          <p:nvPr/>
        </p:nvSpPr>
        <p:spPr>
          <a:xfrm>
            <a:off x="683895" y="1628775"/>
            <a:ext cx="7213600" cy="6400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TW"/>
              <a:t>SQL 2010</a:t>
            </a:r>
            <a:r>
              <a:rPr lang="zh-TW" altLang="en-US"/>
              <a:t>以下</a:t>
            </a:r>
            <a:r>
              <a:rPr lang="zh-TW" altLang="en-US">
                <a:sym typeface="+mn-ea"/>
              </a:rPr>
              <a:t> 程式名稱為：</a:t>
            </a:r>
            <a:r>
              <a:rPr lang="en-US" altLang="zh-TW">
                <a:sym typeface="+mn-ea"/>
              </a:rPr>
              <a:t>SQL Server Business Intelligence Development Studio</a:t>
            </a:r>
            <a:endParaRPr lang="zh-TW" altLang="en-US"/>
          </a:p>
        </p:txBody>
      </p:sp>
      <p:sp>
        <p:nvSpPr>
          <p:cNvPr id="7" name="文字方塊 6"/>
          <p:cNvSpPr txBox="1"/>
          <p:nvPr/>
        </p:nvSpPr>
        <p:spPr>
          <a:xfrm>
            <a:off x="611505" y="3931285"/>
            <a:ext cx="6467475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TW"/>
              <a:t>SQL 2010</a:t>
            </a:r>
            <a:r>
              <a:rPr lang="zh-TW" altLang="en-US"/>
              <a:t>以上 程式名稱為：</a:t>
            </a:r>
            <a:r>
              <a:rPr lang="en-US" altLang="zh-TW"/>
              <a:t>SQL Server Data Tools</a:t>
            </a:r>
            <a:endParaRPr lang="en-US" altLang="zh-TW"/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1730" y="4291330"/>
            <a:ext cx="4486910" cy="226250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25144"/>
          </a:xfrm>
        </p:spPr>
        <p:txBody>
          <a:bodyPr/>
          <a:lstStyle/>
          <a:p>
            <a:pPr marL="457200" lvl="1" indent="0">
              <a:buNone/>
            </a:pPr>
            <a:r>
              <a:rPr lang="en-US" altLang="zh-TW" sz="2400" dirty="0" smtClean="0">
                <a:sym typeface="+mn-ea"/>
              </a:rPr>
              <a:t>1. </a:t>
            </a:r>
            <a:r>
              <a:rPr lang="zh-TW" altLang="en-US" sz="2400" dirty="0" smtClean="0">
                <a:sym typeface="+mn-ea"/>
              </a:rPr>
              <a:t>建立專案</a:t>
            </a:r>
            <a:endParaRPr lang="zh-TW" altLang="en-US" sz="2400" dirty="0" smtClean="0">
              <a:sym typeface="+mn-ea"/>
            </a:endParaRPr>
          </a:p>
          <a:p>
            <a:pPr marL="0" lvl="1" indent="0">
              <a:buNone/>
            </a:pPr>
            <a:r>
              <a:rPr lang="zh-TW" altLang="en-US" sz="2400" dirty="0" smtClean="0">
                <a:sym typeface="+mn-ea"/>
              </a:rPr>
              <a:t>          選擇商務智慧專案</a:t>
            </a:r>
            <a:r>
              <a:rPr lang="en-US" altLang="zh-TW" sz="2400" dirty="0" smtClean="0">
                <a:sym typeface="+mn-ea"/>
              </a:rPr>
              <a:t>&gt;</a:t>
            </a:r>
            <a:r>
              <a:rPr lang="zh-TW" altLang="en-US" sz="2400" dirty="0" smtClean="0">
                <a:sym typeface="+mn-ea"/>
              </a:rPr>
              <a:t>報表伺服器專案</a:t>
            </a:r>
            <a:endParaRPr lang="zh-TW" altLang="en-US" sz="2400" dirty="0" smtClean="0">
              <a:sym typeface="+mn-ea"/>
            </a:endParaRPr>
          </a:p>
          <a:p>
            <a:pPr marL="457200" lvl="1" indent="0">
              <a:buNone/>
            </a:pPr>
            <a:endParaRPr lang="zh-TW" altLang="en-US" sz="2400" dirty="0" smtClean="0">
              <a:sym typeface="+mn-ea"/>
            </a:endParaRPr>
          </a:p>
        </p:txBody>
      </p:sp>
      <p:sp>
        <p:nvSpPr>
          <p:cNvPr id="6" name="標題 5"/>
          <p:cNvSpPr>
            <a:spLocks noGrp="1"/>
          </p:cNvSpPr>
          <p:nvPr>
            <p:ph type="title"/>
          </p:nvPr>
        </p:nvSpPr>
        <p:spPr>
          <a:xfrm>
            <a:off x="1979712" y="620688"/>
            <a:ext cx="7020272" cy="680720"/>
          </a:xfrm>
        </p:spPr>
        <p:txBody>
          <a:bodyPr/>
          <a:lstStyle/>
          <a:p>
            <a:r>
              <a:rPr lang="en-US" altLang="zh-TW" dirty="0" smtClean="0">
                <a:sym typeface="+mn-ea"/>
              </a:rPr>
              <a:t>Visual Studio</a:t>
            </a:r>
            <a:r>
              <a:rPr dirty="0" smtClean="0">
                <a:sym typeface="+mn-ea"/>
              </a:rPr>
              <a:t>工具介紹</a:t>
            </a:r>
            <a:endParaRPr lang="zh-TW" altLang="en-US" dirty="0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0340" y="2508885"/>
            <a:ext cx="4731385" cy="4302125"/>
          </a:xfrm>
          <a:prstGeom prst="rect">
            <a:avLst/>
          </a:prstGeom>
        </p:spPr>
      </p:pic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8355" y="2492375"/>
            <a:ext cx="5721985" cy="43275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25144"/>
          </a:xfrm>
        </p:spPr>
        <p:txBody>
          <a:bodyPr/>
          <a:lstStyle/>
          <a:p>
            <a:pPr marL="457200" lvl="1" indent="0">
              <a:buNone/>
            </a:pPr>
            <a:r>
              <a:rPr lang="en-US" altLang="zh-TW" sz="2400" dirty="0" smtClean="0">
                <a:sym typeface="+mn-ea"/>
              </a:rPr>
              <a:t>2. </a:t>
            </a:r>
            <a:r>
              <a:rPr lang="zh-TW" altLang="en-US" sz="2400" dirty="0" smtClean="0">
                <a:sym typeface="+mn-ea"/>
              </a:rPr>
              <a:t>加入現有項目，選擇報表精靈產生的</a:t>
            </a:r>
            <a:r>
              <a:rPr lang="en-US" altLang="zh-TW" sz="2400" dirty="0" smtClean="0">
                <a:sym typeface="+mn-ea"/>
              </a:rPr>
              <a:t>RDL</a:t>
            </a:r>
            <a:r>
              <a:rPr lang="zh-TW" altLang="en-US" sz="2400" dirty="0" smtClean="0">
                <a:sym typeface="+mn-ea"/>
              </a:rPr>
              <a:t>檔</a:t>
            </a:r>
            <a:endParaRPr lang="zh-TW" altLang="en-US" sz="2400" dirty="0" smtClean="0">
              <a:sym typeface="+mn-ea"/>
            </a:endParaRPr>
          </a:p>
        </p:txBody>
      </p:sp>
      <p:sp>
        <p:nvSpPr>
          <p:cNvPr id="6" name="標題 5"/>
          <p:cNvSpPr>
            <a:spLocks noGrp="1"/>
          </p:cNvSpPr>
          <p:nvPr>
            <p:ph type="title"/>
          </p:nvPr>
        </p:nvSpPr>
        <p:spPr>
          <a:xfrm>
            <a:off x="1979712" y="620688"/>
            <a:ext cx="7020272" cy="680720"/>
          </a:xfrm>
        </p:spPr>
        <p:txBody>
          <a:bodyPr/>
          <a:lstStyle/>
          <a:p>
            <a:r>
              <a:rPr lang="en-US" altLang="zh-TW" dirty="0" smtClean="0">
                <a:sym typeface="+mn-ea"/>
              </a:rPr>
              <a:t>Visual Studio</a:t>
            </a:r>
            <a:r>
              <a:rPr dirty="0" smtClean="0">
                <a:sym typeface="+mn-ea"/>
              </a:rPr>
              <a:t>工具介紹</a:t>
            </a:r>
            <a:endParaRPr lang="zh-TW" altLang="en-US" dirty="0"/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5605" y="2204720"/>
            <a:ext cx="3631565" cy="3867785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1820" y="2276475"/>
            <a:ext cx="5842000" cy="410591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25144"/>
          </a:xfrm>
        </p:spPr>
        <p:txBody>
          <a:bodyPr/>
          <a:lstStyle/>
          <a:p>
            <a:pPr marL="457200" lvl="1" indent="0">
              <a:buNone/>
            </a:pPr>
            <a:r>
              <a:rPr lang="en-US" altLang="zh-TW" sz="2400" dirty="0" smtClean="0">
                <a:sym typeface="+mn-ea"/>
              </a:rPr>
              <a:t>3. </a:t>
            </a:r>
            <a:r>
              <a:rPr lang="zh-TW" altLang="en-US" sz="2400" dirty="0" smtClean="0">
                <a:sym typeface="+mn-ea"/>
              </a:rPr>
              <a:t>修改專案屬性</a:t>
            </a:r>
            <a:endParaRPr lang="zh-TW" altLang="en-US" sz="2400" dirty="0" smtClean="0">
              <a:sym typeface="+mn-ea"/>
            </a:endParaRPr>
          </a:p>
        </p:txBody>
      </p:sp>
      <p:sp>
        <p:nvSpPr>
          <p:cNvPr id="6" name="標題 5"/>
          <p:cNvSpPr>
            <a:spLocks noGrp="1"/>
          </p:cNvSpPr>
          <p:nvPr>
            <p:ph type="title"/>
          </p:nvPr>
        </p:nvSpPr>
        <p:spPr>
          <a:xfrm>
            <a:off x="1979712" y="620688"/>
            <a:ext cx="7020272" cy="680720"/>
          </a:xfrm>
        </p:spPr>
        <p:txBody>
          <a:bodyPr/>
          <a:lstStyle/>
          <a:p>
            <a:r>
              <a:rPr lang="en-US" altLang="zh-TW" dirty="0" smtClean="0">
                <a:sym typeface="+mn-ea"/>
              </a:rPr>
              <a:t>Visual Studio</a:t>
            </a:r>
            <a:r>
              <a:rPr dirty="0" smtClean="0">
                <a:sym typeface="+mn-ea"/>
              </a:rPr>
              <a:t>工具介紹</a:t>
            </a:r>
            <a:endParaRPr lang="zh-TW" altLang="en-US" dirty="0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140" y="2054225"/>
            <a:ext cx="2723515" cy="4520565"/>
          </a:xfrm>
          <a:prstGeom prst="rect">
            <a:avLst/>
          </a:prstGeom>
        </p:spPr>
      </p:pic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4165" y="2660650"/>
            <a:ext cx="6068060" cy="38563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25144"/>
          </a:xfrm>
        </p:spPr>
        <p:txBody>
          <a:bodyPr/>
          <a:lstStyle/>
          <a:p>
            <a:pPr marL="457200" lvl="1" indent="0">
              <a:buNone/>
            </a:pPr>
            <a:r>
              <a:rPr lang="en-US" altLang="zh-TW" sz="2400" dirty="0" smtClean="0">
                <a:sym typeface="+mn-ea"/>
              </a:rPr>
              <a:t>4. </a:t>
            </a:r>
            <a:r>
              <a:rPr lang="zh-TW" altLang="en-US" sz="2400" dirty="0" smtClean="0">
                <a:sym typeface="+mn-ea"/>
              </a:rPr>
              <a:t>修改資料來源</a:t>
            </a:r>
            <a:endParaRPr lang="zh-TW" altLang="en-US" sz="2400" dirty="0" smtClean="0">
              <a:sym typeface="+mn-ea"/>
            </a:endParaRPr>
          </a:p>
        </p:txBody>
      </p:sp>
      <p:sp>
        <p:nvSpPr>
          <p:cNvPr id="6" name="標題 5"/>
          <p:cNvSpPr>
            <a:spLocks noGrp="1"/>
          </p:cNvSpPr>
          <p:nvPr>
            <p:ph type="title"/>
          </p:nvPr>
        </p:nvSpPr>
        <p:spPr>
          <a:xfrm>
            <a:off x="1979712" y="620688"/>
            <a:ext cx="7020272" cy="680720"/>
          </a:xfrm>
        </p:spPr>
        <p:txBody>
          <a:bodyPr/>
          <a:lstStyle/>
          <a:p>
            <a:r>
              <a:rPr lang="en-US" altLang="zh-TW" dirty="0" smtClean="0">
                <a:sym typeface="+mn-ea"/>
              </a:rPr>
              <a:t>Visual Studio</a:t>
            </a:r>
            <a:r>
              <a:rPr dirty="0" smtClean="0">
                <a:sym typeface="+mn-ea"/>
              </a:rPr>
              <a:t>工具介紹</a:t>
            </a:r>
            <a:endParaRPr lang="zh-TW" altLang="en-US" dirty="0"/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2730" y="2204085"/>
            <a:ext cx="4096385" cy="3535045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2455" y="2348865"/>
            <a:ext cx="5610860" cy="4105910"/>
          </a:xfrm>
          <a:prstGeom prst="rect">
            <a:avLst/>
          </a:prstGeom>
        </p:spPr>
      </p:pic>
      <p:pic>
        <p:nvPicPr>
          <p:cNvPr id="8" name="圖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4480" y="2060575"/>
            <a:ext cx="3714115" cy="472376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25144"/>
          </a:xfrm>
        </p:spPr>
        <p:txBody>
          <a:bodyPr/>
          <a:lstStyle/>
          <a:p>
            <a:pPr marL="457200" lvl="1" indent="0">
              <a:buNone/>
            </a:pPr>
            <a:r>
              <a:rPr lang="en-US" altLang="zh-TW" sz="2400" dirty="0" smtClean="0">
                <a:sym typeface="+mn-ea"/>
              </a:rPr>
              <a:t>5. </a:t>
            </a:r>
            <a:r>
              <a:rPr lang="zh-TW" altLang="en-US" sz="2400" dirty="0" smtClean="0">
                <a:sym typeface="+mn-ea"/>
              </a:rPr>
              <a:t>佈署</a:t>
            </a:r>
            <a:endParaRPr lang="zh-TW" altLang="en-US" sz="2400" dirty="0" smtClean="0">
              <a:sym typeface="+mn-ea"/>
            </a:endParaRPr>
          </a:p>
        </p:txBody>
      </p:sp>
      <p:sp>
        <p:nvSpPr>
          <p:cNvPr id="6" name="標題 5"/>
          <p:cNvSpPr>
            <a:spLocks noGrp="1"/>
          </p:cNvSpPr>
          <p:nvPr>
            <p:ph type="title"/>
          </p:nvPr>
        </p:nvSpPr>
        <p:spPr>
          <a:xfrm>
            <a:off x="1979712" y="620688"/>
            <a:ext cx="7020272" cy="680720"/>
          </a:xfrm>
        </p:spPr>
        <p:txBody>
          <a:bodyPr/>
          <a:lstStyle/>
          <a:p>
            <a:r>
              <a:rPr lang="en-US" altLang="zh-TW" dirty="0" smtClean="0">
                <a:sym typeface="+mn-ea"/>
              </a:rPr>
              <a:t>Visual Studio</a:t>
            </a:r>
            <a:r>
              <a:rPr dirty="0" smtClean="0">
                <a:sym typeface="+mn-ea"/>
              </a:rPr>
              <a:t>工具介紹</a:t>
            </a:r>
            <a:endParaRPr lang="zh-TW" altLang="en-US" dirty="0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140" y="2132965"/>
            <a:ext cx="2666365" cy="4342765"/>
          </a:xfrm>
          <a:prstGeom prst="rect">
            <a:avLst/>
          </a:prstGeom>
        </p:spPr>
      </p:pic>
      <p:pic>
        <p:nvPicPr>
          <p:cNvPr id="8" name="圖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8355" y="2492375"/>
            <a:ext cx="5161915" cy="18002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25144"/>
          </a:xfrm>
        </p:spPr>
        <p:txBody>
          <a:bodyPr/>
          <a:lstStyle/>
          <a:p>
            <a:pPr marL="457200" lvl="1" indent="0">
              <a:buNone/>
            </a:pPr>
            <a:r>
              <a:rPr lang="en-US" altLang="zh-TW" sz="2400" dirty="0" smtClean="0">
                <a:sym typeface="+mn-ea"/>
              </a:rPr>
              <a:t>6. </a:t>
            </a:r>
            <a:r>
              <a:rPr lang="zh-TW" altLang="en-US" sz="2400" dirty="0" smtClean="0">
                <a:sym typeface="+mn-ea"/>
              </a:rPr>
              <a:t>觀看結果</a:t>
            </a:r>
            <a:endParaRPr lang="zh-TW" altLang="en-US" sz="2400" dirty="0" smtClean="0">
              <a:sym typeface="+mn-ea"/>
            </a:endParaRPr>
          </a:p>
        </p:txBody>
      </p:sp>
      <p:sp>
        <p:nvSpPr>
          <p:cNvPr id="6" name="標題 5"/>
          <p:cNvSpPr>
            <a:spLocks noGrp="1"/>
          </p:cNvSpPr>
          <p:nvPr>
            <p:ph type="title"/>
          </p:nvPr>
        </p:nvSpPr>
        <p:spPr>
          <a:xfrm>
            <a:off x="1979712" y="620688"/>
            <a:ext cx="7020272" cy="680720"/>
          </a:xfrm>
        </p:spPr>
        <p:txBody>
          <a:bodyPr/>
          <a:lstStyle/>
          <a:p>
            <a:r>
              <a:rPr lang="en-US" altLang="zh-TW" dirty="0" smtClean="0">
                <a:sym typeface="+mn-ea"/>
              </a:rPr>
              <a:t>Visual Studio</a:t>
            </a:r>
            <a:r>
              <a:rPr dirty="0" smtClean="0">
                <a:sym typeface="+mn-ea"/>
              </a:rPr>
              <a:t>工具介紹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140" y="2060575"/>
            <a:ext cx="4704715" cy="3142615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8445" y="1700530"/>
            <a:ext cx="4439285" cy="50507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457200" y="1683978"/>
            <a:ext cx="8229600" cy="4925144"/>
          </a:xfrm>
        </p:spPr>
        <p:txBody>
          <a:bodyPr/>
          <a:lstStyle/>
          <a:p>
            <a:pPr marL="0" lvl="1" indent="0" algn="ctr" latinLnBrk="0">
              <a:spcBef>
                <a:spcPts val="0"/>
              </a:spcBef>
              <a:buNone/>
            </a:pPr>
            <a:endParaRPr lang="zh-TW" altLang="en-US" sz="4800" dirty="0" smtClean="0"/>
          </a:p>
          <a:p>
            <a:pPr marL="0" lvl="1" indent="0" algn="ctr" latinLnBrk="0">
              <a:spcBef>
                <a:spcPts val="0"/>
              </a:spcBef>
              <a:buNone/>
            </a:pPr>
            <a:endParaRPr lang="zh-TW" altLang="en-US" sz="4800" dirty="0" smtClean="0"/>
          </a:p>
          <a:p>
            <a:pPr marL="0" lvl="1" indent="0" algn="ctr" latinLnBrk="0">
              <a:spcBef>
                <a:spcPts val="0"/>
              </a:spcBef>
              <a:buNone/>
            </a:pPr>
            <a:r>
              <a:rPr lang="zh-TW" altLang="en-US" sz="4800" dirty="0" smtClean="0">
                <a:sym typeface="+mn-ea"/>
              </a:rPr>
              <a:t>報表排版</a:t>
            </a:r>
            <a:endParaRPr lang="zh-TW" altLang="en-US" sz="4800" dirty="0" smtClean="0"/>
          </a:p>
          <a:p>
            <a:pPr marL="0" lvl="1" indent="0" algn="ctr" latinLnBrk="0">
              <a:spcBef>
                <a:spcPts val="0"/>
              </a:spcBef>
              <a:buNone/>
            </a:pPr>
            <a:endParaRPr lang="en-US" altLang="zh-TW" sz="4800" dirty="0" smtClean="0"/>
          </a:p>
          <a:p>
            <a:pPr marL="0" lvl="1" indent="0" algn="ctr" latinLnBrk="0">
              <a:spcBef>
                <a:spcPts val="0"/>
              </a:spcBef>
              <a:buNone/>
            </a:pPr>
            <a:endParaRPr lang="en-US" altLang="zh-TW" sz="2400" dirty="0" smtClean="0"/>
          </a:p>
          <a:p>
            <a:pPr marL="0" lvl="1" indent="0" algn="ctr" latinLnBrk="0">
              <a:spcBef>
                <a:spcPts val="0"/>
              </a:spcBef>
              <a:buNone/>
            </a:pPr>
            <a:endParaRPr lang="en-US" altLang="zh-TW" sz="2400" dirty="0" smtClean="0"/>
          </a:p>
          <a:p>
            <a:pPr lvl="1" algn="ctr">
              <a:buNone/>
            </a:pPr>
            <a:endParaRPr lang="en-US" altLang="zh-TW" sz="2400" dirty="0" smtClean="0"/>
          </a:p>
        </p:txBody>
      </p:sp>
      <p:sp>
        <p:nvSpPr>
          <p:cNvPr id="6" name="標題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25144"/>
          </a:xfrm>
        </p:spPr>
        <p:txBody>
          <a:bodyPr/>
          <a:lstStyle/>
          <a:p>
            <a:pPr marL="457200" lvl="1" indent="0">
              <a:buNone/>
            </a:pPr>
            <a:r>
              <a:rPr lang="en-US" altLang="zh-TW" sz="2400" dirty="0" smtClean="0">
                <a:sym typeface="+mn-ea"/>
              </a:rPr>
              <a:t>1. </a:t>
            </a:r>
            <a:r>
              <a:rPr lang="zh-TW" altLang="en-US" sz="2400" dirty="0" smtClean="0">
                <a:sym typeface="+mn-ea"/>
              </a:rPr>
              <a:t>利用資料表排版</a:t>
            </a:r>
            <a:endParaRPr lang="zh-TW" altLang="en-US" sz="2400" dirty="0" smtClean="0">
              <a:sym typeface="+mn-ea"/>
            </a:endParaRPr>
          </a:p>
          <a:p>
            <a:pPr marL="457200" lvl="1" indent="0">
              <a:buNone/>
            </a:pPr>
            <a:r>
              <a:rPr lang="zh-TW" altLang="en-US" sz="2400" dirty="0" smtClean="0">
                <a:sym typeface="+mn-ea"/>
              </a:rPr>
              <a:t>工具箱</a:t>
            </a:r>
            <a:r>
              <a:rPr lang="en-US" altLang="zh-TW" sz="2400" dirty="0" smtClean="0">
                <a:sym typeface="+mn-ea"/>
              </a:rPr>
              <a:t>&gt;</a:t>
            </a:r>
            <a:r>
              <a:rPr lang="zh-TW" altLang="en-US" sz="2400" dirty="0" smtClean="0">
                <a:sym typeface="+mn-ea"/>
              </a:rPr>
              <a:t>資料表，將資料表拖曳至設計畫面</a:t>
            </a:r>
            <a:endParaRPr lang="zh-TW" altLang="en-US" sz="2400" dirty="0" smtClean="0">
              <a:sym typeface="+mn-ea"/>
            </a:endParaRPr>
          </a:p>
        </p:txBody>
      </p:sp>
      <p:sp>
        <p:nvSpPr>
          <p:cNvPr id="6" name="標題 5"/>
          <p:cNvSpPr>
            <a:spLocks noGrp="1"/>
          </p:cNvSpPr>
          <p:nvPr>
            <p:ph type="title"/>
          </p:nvPr>
        </p:nvSpPr>
        <p:spPr>
          <a:xfrm>
            <a:off x="1979712" y="620688"/>
            <a:ext cx="7020272" cy="680720"/>
          </a:xfrm>
        </p:spPr>
        <p:txBody>
          <a:bodyPr/>
          <a:lstStyle/>
          <a:p>
            <a:r>
              <a:rPr dirty="0" smtClean="0">
                <a:sym typeface="+mn-ea"/>
              </a:rPr>
              <a:t>報表排版</a:t>
            </a:r>
            <a:endParaRPr lang="zh-TW" altLang="en-US" dirty="0"/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750" y="2564765"/>
            <a:ext cx="3952240" cy="3495040"/>
          </a:xfrm>
          <a:prstGeom prst="rect">
            <a:avLst/>
          </a:prstGeom>
        </p:spPr>
      </p:pic>
      <p:pic>
        <p:nvPicPr>
          <p:cNvPr id="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5185" y="3271520"/>
            <a:ext cx="5600700" cy="31578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25144"/>
          </a:xfrm>
        </p:spPr>
        <p:txBody>
          <a:bodyPr/>
          <a:lstStyle/>
          <a:p>
            <a:pPr marL="457200" lvl="1" indent="0">
              <a:buNone/>
            </a:pPr>
            <a:r>
              <a:rPr lang="en-US" altLang="zh-TW" sz="2400" dirty="0" smtClean="0">
                <a:sym typeface="+mn-ea"/>
              </a:rPr>
              <a:t>2. </a:t>
            </a:r>
            <a:r>
              <a:rPr lang="zh-TW" altLang="en-US" sz="2400" dirty="0" smtClean="0">
                <a:sym typeface="+mn-ea"/>
              </a:rPr>
              <a:t>資料表設計</a:t>
            </a:r>
            <a:endParaRPr lang="zh-TW" altLang="en-US" sz="2400" dirty="0" smtClean="0">
              <a:sym typeface="+mn-ea"/>
            </a:endParaRPr>
          </a:p>
          <a:p>
            <a:pPr marL="457200" lvl="1" indent="0">
              <a:buNone/>
            </a:pPr>
            <a:endParaRPr lang="zh-TW" altLang="en-US" sz="2400" dirty="0" smtClean="0">
              <a:sym typeface="+mn-ea"/>
            </a:endParaRPr>
          </a:p>
          <a:p>
            <a:pPr marL="457200" lvl="1" indent="0">
              <a:buNone/>
            </a:pPr>
            <a:r>
              <a:rPr lang="zh-TW" altLang="en-US" sz="2400" dirty="0" smtClean="0">
                <a:sym typeface="+mn-ea"/>
              </a:rPr>
              <a:t>                                                     頁首</a:t>
            </a:r>
            <a:r>
              <a:rPr lang="en-US" altLang="zh-TW" sz="2400" dirty="0" smtClean="0">
                <a:sym typeface="+mn-ea"/>
              </a:rPr>
              <a:t>: </a:t>
            </a:r>
            <a:r>
              <a:rPr lang="zh-TW" altLang="en-US" sz="2400" dirty="0" smtClean="0">
                <a:sym typeface="+mn-ea"/>
              </a:rPr>
              <a:t>單頭資料放頁首  </a:t>
            </a:r>
            <a:endParaRPr lang="zh-TW" altLang="en-US" sz="2400" dirty="0" smtClean="0">
              <a:sym typeface="+mn-ea"/>
            </a:endParaRPr>
          </a:p>
          <a:p>
            <a:pPr marL="457200" lvl="1" indent="0">
              <a:buNone/>
            </a:pPr>
            <a:r>
              <a:rPr lang="zh-TW" altLang="en-US" sz="2400" dirty="0" smtClean="0">
                <a:sym typeface="+mn-ea"/>
              </a:rPr>
              <a:t>                                                     資料</a:t>
            </a:r>
            <a:r>
              <a:rPr lang="en-US" altLang="zh-TW" sz="2400" dirty="0" smtClean="0">
                <a:sym typeface="+mn-ea"/>
              </a:rPr>
              <a:t>: </a:t>
            </a:r>
            <a:r>
              <a:rPr lang="zh-TW" altLang="en-US" sz="2400" dirty="0" smtClean="0">
                <a:sym typeface="+mn-ea"/>
              </a:rPr>
              <a:t>單身資料放清單</a:t>
            </a:r>
            <a:endParaRPr lang="zh-TW" altLang="en-US" sz="2400" dirty="0" smtClean="0">
              <a:sym typeface="+mn-ea"/>
            </a:endParaRPr>
          </a:p>
          <a:p>
            <a:pPr marL="457200" lvl="1" indent="0">
              <a:buNone/>
            </a:pPr>
            <a:endParaRPr lang="zh-TW" altLang="en-US" sz="2400" dirty="0" smtClean="0">
              <a:sym typeface="+mn-ea"/>
            </a:endParaRPr>
          </a:p>
          <a:p>
            <a:pPr marL="457200" lvl="1" indent="0">
              <a:buNone/>
            </a:pPr>
            <a:endParaRPr lang="zh-TW" altLang="en-US" sz="2400" dirty="0" smtClean="0">
              <a:sym typeface="+mn-ea"/>
            </a:endParaRPr>
          </a:p>
          <a:p>
            <a:pPr marL="457200" lvl="1" indent="0">
              <a:buNone/>
            </a:pPr>
            <a:r>
              <a:rPr lang="zh-TW" altLang="en-US" sz="2400" dirty="0" smtClean="0">
                <a:sym typeface="+mn-ea"/>
              </a:rPr>
              <a:t>                                         合併</a:t>
            </a:r>
            <a:r>
              <a:rPr lang="en-US" altLang="zh-TW" sz="2400" dirty="0" smtClean="0">
                <a:sym typeface="+mn-ea"/>
              </a:rPr>
              <a:t>: </a:t>
            </a:r>
            <a:r>
              <a:rPr lang="zh-TW" altLang="en-US" sz="2400" dirty="0" smtClean="0">
                <a:sym typeface="+mn-ea"/>
              </a:rPr>
              <a:t>報表資料表只有列的合併，</a:t>
            </a:r>
            <a:br>
              <a:rPr lang="zh-TW" altLang="en-US" sz="2400" dirty="0" smtClean="0">
                <a:sym typeface="+mn-ea"/>
              </a:rPr>
            </a:br>
            <a:r>
              <a:rPr lang="zh-TW" altLang="en-US" sz="2400" dirty="0" smtClean="0">
                <a:sym typeface="+mn-ea"/>
              </a:rPr>
              <a:t>                                                   沒有行的合併，故若需呈現</a:t>
            </a:r>
            <a:br>
              <a:rPr lang="zh-TW" altLang="en-US" sz="2400" dirty="0" smtClean="0">
                <a:sym typeface="+mn-ea"/>
              </a:rPr>
            </a:br>
            <a:r>
              <a:rPr lang="zh-TW" altLang="en-US" sz="2400" dirty="0" smtClean="0">
                <a:sym typeface="+mn-ea"/>
              </a:rPr>
              <a:t>                                                   行的合併，則需在資料表中</a:t>
            </a:r>
            <a:br>
              <a:rPr lang="zh-TW" altLang="en-US" sz="2400" dirty="0" smtClean="0">
                <a:sym typeface="+mn-ea"/>
              </a:rPr>
            </a:br>
            <a:r>
              <a:rPr lang="zh-TW" altLang="en-US" sz="2400" dirty="0" smtClean="0">
                <a:sym typeface="+mn-ea"/>
              </a:rPr>
              <a:t>                                                   在加入資料表。</a:t>
            </a:r>
            <a:endParaRPr lang="zh-TW" altLang="en-US" sz="2400" dirty="0" smtClean="0">
              <a:sym typeface="+mn-ea"/>
            </a:endParaRPr>
          </a:p>
          <a:p>
            <a:pPr marL="457200" lvl="1" indent="0">
              <a:buNone/>
            </a:pPr>
            <a:r>
              <a:rPr lang="en-US" altLang="zh-TW" sz="2400" dirty="0" smtClean="0">
                <a:sym typeface="+mn-ea"/>
              </a:rPr>
              <a:t>PS. </a:t>
            </a:r>
            <a:r>
              <a:rPr lang="zh-TW" altLang="en-US" sz="2400" dirty="0" smtClean="0">
                <a:sym typeface="+mn-ea"/>
              </a:rPr>
              <a:t>再新增行列時，需注意報表的長寬</a:t>
            </a:r>
            <a:endParaRPr lang="zh-TW" altLang="en-US" sz="2400" dirty="0" smtClean="0">
              <a:sym typeface="+mn-ea"/>
            </a:endParaRPr>
          </a:p>
          <a:p>
            <a:pPr marL="457200" lvl="1" indent="0">
              <a:buNone/>
            </a:pPr>
            <a:endParaRPr lang="zh-TW" altLang="en-US" sz="2400" dirty="0" smtClean="0">
              <a:sym typeface="+mn-ea"/>
            </a:endParaRPr>
          </a:p>
        </p:txBody>
      </p:sp>
      <p:sp>
        <p:nvSpPr>
          <p:cNvPr id="6" name="標題 5"/>
          <p:cNvSpPr>
            <a:spLocks noGrp="1"/>
          </p:cNvSpPr>
          <p:nvPr>
            <p:ph type="title"/>
          </p:nvPr>
        </p:nvSpPr>
        <p:spPr>
          <a:xfrm>
            <a:off x="1979712" y="620688"/>
            <a:ext cx="7020272" cy="680720"/>
          </a:xfrm>
        </p:spPr>
        <p:txBody>
          <a:bodyPr/>
          <a:lstStyle/>
          <a:p>
            <a:r>
              <a:rPr dirty="0" smtClean="0">
                <a:sym typeface="+mn-ea"/>
              </a:rPr>
              <a:t>報表排版</a:t>
            </a:r>
            <a:endParaRPr lang="zh-TW" altLang="en-US" dirty="0"/>
          </a:p>
        </p:txBody>
      </p:sp>
      <p:grpSp>
        <p:nvGrpSpPr>
          <p:cNvPr id="2" name="群組 1"/>
          <p:cNvGrpSpPr/>
          <p:nvPr/>
        </p:nvGrpSpPr>
        <p:grpSpPr>
          <a:xfrm>
            <a:off x="612140" y="2276475"/>
            <a:ext cx="4028440" cy="1219200"/>
            <a:chOff x="964" y="3585"/>
            <a:chExt cx="6344" cy="1920"/>
          </a:xfrm>
        </p:grpSpPr>
        <p:pic>
          <p:nvPicPr>
            <p:cNvPr id="4" name="圖片 3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964" y="3585"/>
              <a:ext cx="6344" cy="1920"/>
            </a:xfrm>
            <a:prstGeom prst="rect">
              <a:avLst/>
            </a:prstGeom>
          </p:spPr>
        </p:pic>
        <p:sp>
          <p:nvSpPr>
            <p:cNvPr id="7" name="矩形 6"/>
            <p:cNvSpPr/>
            <p:nvPr/>
          </p:nvSpPr>
          <p:spPr>
            <a:xfrm>
              <a:off x="1304" y="4490"/>
              <a:ext cx="4536" cy="341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TW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1278" y="4125"/>
              <a:ext cx="4536" cy="341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TW" altLang="en-US"/>
            </a:p>
          </p:txBody>
        </p:sp>
      </p:grpSp>
      <p:pic>
        <p:nvPicPr>
          <p:cNvPr id="10" name="圖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095" y="3789045"/>
            <a:ext cx="3837305" cy="195516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25144"/>
          </a:xfrm>
        </p:spPr>
        <p:txBody>
          <a:bodyPr/>
          <a:lstStyle/>
          <a:p>
            <a:pPr marL="457200" lvl="1" indent="0">
              <a:buNone/>
            </a:pPr>
            <a:r>
              <a:rPr lang="en-US" altLang="zh-TW" sz="2400" dirty="0" smtClean="0">
                <a:sym typeface="+mn-ea"/>
              </a:rPr>
              <a:t>3. </a:t>
            </a:r>
            <a:r>
              <a:rPr lang="zh-TW" altLang="en-US" sz="2400" dirty="0" smtClean="0">
                <a:sym typeface="+mn-ea"/>
              </a:rPr>
              <a:t>將欄位放至資料表中</a:t>
            </a:r>
            <a:endParaRPr lang="zh-TW" altLang="en-US" sz="2400" dirty="0" smtClean="0">
              <a:sym typeface="+mn-ea"/>
            </a:endParaRPr>
          </a:p>
          <a:p>
            <a:pPr marL="800100" lvl="1" indent="-342900">
              <a:buClrTx/>
              <a:buFont typeface="Wingdings" charset="0"/>
              <a:buChar char="l"/>
            </a:pPr>
            <a:r>
              <a:rPr lang="zh-TW" altLang="en-US" sz="2400" dirty="0" smtClean="0">
                <a:sym typeface="+mn-ea"/>
              </a:rPr>
              <a:t>取得多國語系</a:t>
            </a:r>
            <a:r>
              <a:rPr lang="zh-TW" altLang="en-US" sz="1600" dirty="0" smtClean="0">
                <a:sym typeface="+mn-ea"/>
              </a:rPr>
              <a:t>=tw.com.dsc.dscDotNet.common.MultiLanguage.GetComment</a:t>
            </a:r>
            <a:br>
              <a:rPr lang="zh-TW" altLang="en-US" sz="1600" dirty="0" smtClean="0">
                <a:sym typeface="+mn-ea"/>
              </a:rPr>
            </a:br>
            <a:r>
              <a:rPr lang="zh-TW" altLang="en-US" sz="1600" dirty="0" smtClean="0">
                <a:sym typeface="+mn-ea"/>
              </a:rPr>
              <a:t>(Parameters!F0001.Value, Parameters!F0002.Value,"</a:t>
            </a:r>
            <a:r>
              <a:rPr lang="zh-TW" altLang="en-US" sz="1600" dirty="0" smtClean="0">
                <a:solidFill>
                  <a:srgbClr val="FF0000"/>
                </a:solidFill>
                <a:sym typeface="+mn-ea"/>
              </a:rPr>
              <a:t>odmdscws003b005</a:t>
            </a:r>
            <a:r>
              <a:rPr lang="zh-TW" altLang="en-US" sz="1600" dirty="0" smtClean="0">
                <a:sym typeface="+mn-ea"/>
              </a:rPr>
              <a:t>", Parameters!Language.Value)</a:t>
            </a:r>
            <a:endParaRPr lang="zh-TW" altLang="en-US" sz="1600" dirty="0" smtClean="0">
              <a:sym typeface="+mn-ea"/>
            </a:endParaRPr>
          </a:p>
          <a:p>
            <a:pPr marL="800100" lvl="1" indent="-342900" algn="l">
              <a:buClrTx/>
              <a:buFont typeface="Wingdings" charset="0"/>
              <a:buChar char="l"/>
            </a:pPr>
            <a:r>
              <a:rPr lang="zh-TW" altLang="en-US" sz="2400" dirty="0" smtClean="0">
                <a:sym typeface="+mn-ea"/>
              </a:rPr>
              <a:t>日期格式化</a:t>
            </a:r>
            <a:endParaRPr lang="zh-TW" altLang="en-US" sz="2400" dirty="0" smtClean="0">
              <a:sym typeface="+mn-ea"/>
            </a:endParaRPr>
          </a:p>
          <a:p>
            <a:pPr marL="457200" lvl="1" indent="0" algn="l" latinLnBrk="0">
              <a:spcBef>
                <a:spcPct val="20000"/>
              </a:spcBef>
              <a:buClrTx/>
              <a:buFont typeface="Wingdings" charset="0"/>
              <a:buNone/>
            </a:pPr>
            <a:r>
              <a:rPr lang="en-US" altLang="zh-TW" sz="1600" dirty="0" smtClean="0">
                <a:sym typeface="+mn-ea"/>
              </a:rPr>
              <a:t>	</a:t>
            </a:r>
            <a:r>
              <a:rPr lang="zh-TW" altLang="en-US" sz="1600" dirty="0" smtClean="0">
                <a:sym typeface="+mn-ea"/>
              </a:rPr>
              <a:t>=MID(Fields!hrfe022.Value,1,4)+"/"+MID(Fields!hrfe022.Value,5,2)+"/"+MI</a:t>
            </a:r>
            <a:r>
              <a:rPr lang="en-US" altLang="zh-TW" sz="1600" dirty="0" smtClean="0">
                <a:sym typeface="+mn-ea"/>
              </a:rPr>
              <a:t>	</a:t>
            </a:r>
            <a:r>
              <a:rPr lang="zh-TW" altLang="en-US" sz="1600" dirty="0" smtClean="0">
                <a:sym typeface="+mn-ea"/>
              </a:rPr>
              <a:t>D(Fields!hrfe022.Value,7,2)+" "</a:t>
            </a:r>
            <a:endParaRPr lang="zh-TW" altLang="en-US" sz="1600" dirty="0" smtClean="0">
              <a:sym typeface="+mn-ea"/>
            </a:endParaRPr>
          </a:p>
          <a:p>
            <a:pPr marL="457200" lvl="1" indent="0" algn="l" latinLnBrk="0">
              <a:spcBef>
                <a:spcPct val="20000"/>
              </a:spcBef>
              <a:buClrTx/>
              <a:buFont typeface="Wingdings" charset="0"/>
              <a:buNone/>
            </a:pPr>
            <a:r>
              <a:rPr lang="en-US" altLang="zh-TW" sz="1600" dirty="0" smtClean="0">
                <a:sym typeface="+mn-ea"/>
              </a:rPr>
              <a:t>	</a:t>
            </a:r>
            <a:r>
              <a:rPr lang="zh-TW" altLang="en-US" sz="1600" dirty="0" smtClean="0">
                <a:sym typeface="+mn-ea"/>
              </a:rPr>
              <a:t>+MID(Fields!hrfe022.Value,9,2)+":"+MID(Fields!hrfe022.Value,11,2)</a:t>
            </a:r>
            <a:endParaRPr lang="zh-TW" altLang="en-US" sz="1600" dirty="0" smtClean="0">
              <a:sym typeface="+mn-ea"/>
            </a:endParaRPr>
          </a:p>
          <a:p>
            <a:pPr marL="457200" lvl="1" indent="0">
              <a:buNone/>
            </a:pPr>
            <a:endParaRPr lang="zh-TW" altLang="en-US" sz="1600" dirty="0" smtClean="0">
              <a:sym typeface="+mn-ea"/>
            </a:endParaRPr>
          </a:p>
        </p:txBody>
      </p:sp>
      <p:sp>
        <p:nvSpPr>
          <p:cNvPr id="6" name="標題 5"/>
          <p:cNvSpPr>
            <a:spLocks noGrp="1"/>
          </p:cNvSpPr>
          <p:nvPr>
            <p:ph type="title"/>
          </p:nvPr>
        </p:nvSpPr>
        <p:spPr>
          <a:xfrm>
            <a:off x="1979712" y="620688"/>
            <a:ext cx="7020272" cy="680720"/>
          </a:xfrm>
        </p:spPr>
        <p:txBody>
          <a:bodyPr/>
          <a:lstStyle/>
          <a:p>
            <a:r>
              <a:rPr dirty="0" smtClean="0">
                <a:sym typeface="+mn-ea"/>
              </a:rPr>
              <a:t>報表排版</a:t>
            </a:r>
            <a:endParaRPr lang="zh-TW" altLang="en-US" dirty="0"/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850" y="4436745"/>
            <a:ext cx="4599940" cy="11525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467995" y="1628775"/>
            <a:ext cx="8100060" cy="1153160"/>
          </a:xfrm>
        </p:spPr>
        <p:txBody>
          <a:bodyPr/>
          <a:lstStyle/>
          <a:p>
            <a:pPr marL="457200" lvl="1" indent="0">
              <a:buNone/>
            </a:pPr>
            <a:r>
              <a:rPr lang="en-US" altLang="zh-TW" sz="2400" dirty="0" smtClean="0">
                <a:sym typeface="+mn-ea"/>
              </a:rPr>
              <a:t>4. </a:t>
            </a:r>
            <a:r>
              <a:rPr lang="zh-TW" altLang="en-US" sz="2400" dirty="0" smtClean="0">
                <a:sym typeface="+mn-ea"/>
              </a:rPr>
              <a:t>將欄位放至資料表中</a:t>
            </a:r>
            <a:endParaRPr lang="zh-TW" altLang="en-US" sz="2400" dirty="0" smtClean="0">
              <a:sym typeface="+mn-ea"/>
            </a:endParaRPr>
          </a:p>
          <a:p>
            <a:pPr marL="800100" lvl="1" indent="-342900">
              <a:buClrTx/>
              <a:buFont typeface="Wingdings" charset="0"/>
              <a:buChar char="l"/>
            </a:pPr>
            <a:r>
              <a:rPr lang="zh-TW" altLang="en-US" sz="2400" dirty="0" smtClean="0">
                <a:sym typeface="+mn-ea"/>
              </a:rPr>
              <a:t>金額三位一撇</a:t>
            </a:r>
            <a:endParaRPr lang="zh-TW" altLang="en-US" sz="1600" dirty="0" smtClean="0">
              <a:sym typeface="+mn-ea"/>
            </a:endParaRPr>
          </a:p>
        </p:txBody>
      </p:sp>
      <p:sp>
        <p:nvSpPr>
          <p:cNvPr id="6" name="標題 5"/>
          <p:cNvSpPr>
            <a:spLocks noGrp="1"/>
          </p:cNvSpPr>
          <p:nvPr>
            <p:ph type="title"/>
          </p:nvPr>
        </p:nvSpPr>
        <p:spPr>
          <a:xfrm>
            <a:off x="1979712" y="620688"/>
            <a:ext cx="7020272" cy="680720"/>
          </a:xfrm>
        </p:spPr>
        <p:txBody>
          <a:bodyPr/>
          <a:lstStyle/>
          <a:p>
            <a:r>
              <a:rPr dirty="0" smtClean="0">
                <a:sym typeface="+mn-ea"/>
              </a:rPr>
              <a:t>報表排版</a:t>
            </a:r>
            <a:endParaRPr lang="zh-TW" altLang="en-US" dirty="0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140" y="2492375"/>
            <a:ext cx="3474720" cy="3653790"/>
          </a:xfrm>
          <a:prstGeom prst="rect">
            <a:avLst/>
          </a:prstGeom>
        </p:spPr>
      </p:pic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7670" y="1908810"/>
            <a:ext cx="4771390" cy="462343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467995" y="1628775"/>
            <a:ext cx="8100060" cy="1153160"/>
          </a:xfrm>
        </p:spPr>
        <p:txBody>
          <a:bodyPr/>
          <a:lstStyle/>
          <a:p>
            <a:pPr marL="457200" lvl="1" indent="0">
              <a:buNone/>
            </a:pPr>
            <a:r>
              <a:rPr lang="en-US" altLang="zh-TW" sz="2400" dirty="0" smtClean="0">
                <a:sym typeface="+mn-ea"/>
              </a:rPr>
              <a:t>5. </a:t>
            </a:r>
            <a:r>
              <a:rPr lang="zh-TW" altLang="en-US" sz="2400" dirty="0" smtClean="0">
                <a:sym typeface="+mn-ea"/>
              </a:rPr>
              <a:t>將欄位放至資料表中</a:t>
            </a:r>
            <a:endParaRPr lang="zh-TW" altLang="en-US" sz="2400" dirty="0" smtClean="0">
              <a:sym typeface="+mn-ea"/>
            </a:endParaRPr>
          </a:p>
          <a:p>
            <a:pPr marL="800100" lvl="1" indent="-342900">
              <a:buClrTx/>
              <a:buFont typeface="Wingdings" charset="0"/>
              <a:buChar char="l"/>
            </a:pPr>
            <a:r>
              <a:rPr lang="en-US" altLang="zh-TW" sz="2400" dirty="0" smtClean="0">
                <a:sym typeface="+mn-ea"/>
              </a:rPr>
              <a:t>Checkbox</a:t>
            </a:r>
            <a:r>
              <a:rPr lang="zh-TW" altLang="en-US" sz="2400" dirty="0" smtClean="0">
                <a:sym typeface="+mn-ea"/>
              </a:rPr>
              <a:t>內存外顯轉換</a:t>
            </a:r>
            <a:br>
              <a:rPr lang="zh-TW" altLang="en-US" sz="2400" dirty="0" smtClean="0">
                <a:sym typeface="+mn-ea"/>
              </a:rPr>
            </a:br>
            <a:r>
              <a:rPr lang="zh-TW" altLang="en-US" sz="2400" dirty="0" smtClean="0">
                <a:sym typeface="+mn-ea"/>
              </a:rPr>
              <a:t>運算式</a:t>
            </a:r>
            <a:r>
              <a:rPr lang="en-US" altLang="zh-TW" sz="2400" dirty="0" smtClean="0">
                <a:sym typeface="+mn-ea"/>
              </a:rPr>
              <a:t>: </a:t>
            </a:r>
            <a:r>
              <a:rPr lang="en-US" altLang="zh-TW" sz="1800" dirty="0" smtClean="0">
                <a:sym typeface="+mn-ea"/>
              </a:rPr>
              <a:t>=IIF(Fields!resaf01a017.Value&lt;&gt;"Y","□","■")+</a:t>
            </a:r>
            <a:endParaRPr lang="en-US" altLang="zh-TW" sz="1800" dirty="0" smtClean="0">
              <a:sym typeface="+mn-ea"/>
            </a:endParaRPr>
          </a:p>
          <a:p>
            <a:pPr marL="457200" lvl="1" indent="0">
              <a:buClrTx/>
              <a:buFont typeface="Wingdings" charset="0"/>
              <a:buNone/>
            </a:pPr>
            <a:r>
              <a:rPr lang="zh-TW" altLang="en-US" sz="1800" dirty="0" smtClean="0">
                <a:sym typeface="+mn-ea"/>
              </a:rPr>
              <a:t>tw.com.dsc.dscDotNet.common.MultiLanguage.GetCommentForReport(Parameters!F0001.Value , Parameters!F0002.Value ,"resaf01a017", Parameters!Language.Value, "EFNET")</a:t>
            </a:r>
            <a:endParaRPr lang="zh-TW" altLang="en-US" sz="1800" dirty="0" smtClean="0">
              <a:sym typeface="+mn-ea"/>
            </a:endParaRPr>
          </a:p>
          <a:p>
            <a:pPr marL="457200" lvl="1" indent="0">
              <a:buClrTx/>
              <a:buFont typeface="Wingdings" charset="0"/>
              <a:buNone/>
            </a:pPr>
            <a:endParaRPr lang="zh-TW" altLang="en-US" sz="1800" dirty="0" smtClean="0">
              <a:sym typeface="+mn-ea"/>
            </a:endParaRPr>
          </a:p>
          <a:p>
            <a:pPr marL="800100" lvl="1" indent="-342900">
              <a:buClrTx/>
              <a:buFont typeface="Wingdings" charset="0"/>
              <a:buChar char="l"/>
            </a:pPr>
            <a:r>
              <a:rPr lang="zh-TW" altLang="en-US" sz="2400" dirty="0" smtClean="0">
                <a:sym typeface="+mn-ea"/>
              </a:rPr>
              <a:t>下拉資料來源為資料表</a:t>
            </a:r>
            <a:endParaRPr lang="zh-TW" altLang="en-US" sz="2400" dirty="0" smtClean="0">
              <a:sym typeface="+mn-ea"/>
            </a:endParaRPr>
          </a:p>
          <a:p>
            <a:pPr marL="457200" lvl="1" indent="0">
              <a:buClrTx/>
              <a:buFont typeface="Wingdings" charset="0"/>
              <a:buNone/>
            </a:pPr>
            <a:r>
              <a:rPr lang="zh-TW" altLang="en-US" sz="2400" dirty="0" smtClean="0">
                <a:sym typeface="+mn-ea"/>
              </a:rPr>
              <a:t>     </a:t>
            </a:r>
            <a:r>
              <a:rPr lang="en-US" altLang="zh-TW" sz="2400" dirty="0" smtClean="0">
                <a:sym typeface="+mn-ea"/>
              </a:rPr>
              <a:t>DataSet  join </a:t>
            </a:r>
            <a:r>
              <a:rPr lang="zh-TW" altLang="en-US" sz="2400" dirty="0" smtClean="0">
                <a:sym typeface="+mn-ea"/>
              </a:rPr>
              <a:t>下拉資料來源資料表</a:t>
            </a:r>
            <a:endParaRPr lang="zh-TW" altLang="en-US" sz="2400" dirty="0" smtClean="0">
              <a:sym typeface="+mn-ea"/>
            </a:endParaRPr>
          </a:p>
        </p:txBody>
      </p:sp>
      <p:sp>
        <p:nvSpPr>
          <p:cNvPr id="6" name="標題 5"/>
          <p:cNvSpPr>
            <a:spLocks noGrp="1"/>
          </p:cNvSpPr>
          <p:nvPr>
            <p:ph type="title"/>
          </p:nvPr>
        </p:nvSpPr>
        <p:spPr>
          <a:xfrm>
            <a:off x="1979712" y="620688"/>
            <a:ext cx="7020272" cy="680720"/>
          </a:xfrm>
        </p:spPr>
        <p:txBody>
          <a:bodyPr/>
          <a:lstStyle/>
          <a:p>
            <a:r>
              <a:rPr dirty="0" smtClean="0">
                <a:sym typeface="+mn-ea"/>
              </a:rPr>
              <a:t>報表排版</a:t>
            </a:r>
            <a:endParaRPr lang="zh-TW" altLang="en-US" dirty="0"/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070" y="5012690"/>
            <a:ext cx="8815070" cy="11861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25144"/>
          </a:xfrm>
        </p:spPr>
        <p:txBody>
          <a:bodyPr/>
          <a:lstStyle/>
          <a:p>
            <a:pPr marL="457200" lvl="1" indent="0">
              <a:buNone/>
            </a:pPr>
            <a:r>
              <a:rPr lang="en-US" altLang="zh-TW" sz="2400" dirty="0" smtClean="0">
                <a:sym typeface="+mn-ea"/>
              </a:rPr>
              <a:t>6. </a:t>
            </a:r>
            <a:r>
              <a:rPr lang="zh-TW" altLang="en-US" sz="2400" dirty="0" smtClean="0">
                <a:sym typeface="+mn-ea"/>
              </a:rPr>
              <a:t>單身子報表</a:t>
            </a:r>
            <a:endParaRPr lang="zh-TW" altLang="en-US" sz="2400" dirty="0" smtClean="0">
              <a:sym typeface="+mn-ea"/>
            </a:endParaRPr>
          </a:p>
          <a:p>
            <a:pPr marL="457200" lvl="1" indent="0">
              <a:buNone/>
            </a:pPr>
            <a:r>
              <a:rPr lang="zh-TW" altLang="en-US" sz="2400" dirty="0" smtClean="0">
                <a:sym typeface="+mn-ea"/>
              </a:rPr>
              <a:t>選擇子報表的設計畫面，單身資料要用清單的格式</a:t>
            </a:r>
            <a:endParaRPr lang="zh-TW" altLang="en-US" sz="2400" dirty="0" smtClean="0">
              <a:sym typeface="+mn-ea"/>
            </a:endParaRPr>
          </a:p>
          <a:p>
            <a:pPr marL="457200" lvl="1" indent="0">
              <a:buNone/>
            </a:pPr>
            <a:endParaRPr lang="zh-TW" altLang="en-US" sz="1600" dirty="0" smtClean="0">
              <a:sym typeface="+mn-ea"/>
            </a:endParaRPr>
          </a:p>
        </p:txBody>
      </p:sp>
      <p:sp>
        <p:nvSpPr>
          <p:cNvPr id="6" name="標題 5"/>
          <p:cNvSpPr>
            <a:spLocks noGrp="1"/>
          </p:cNvSpPr>
          <p:nvPr>
            <p:ph type="title"/>
          </p:nvPr>
        </p:nvSpPr>
        <p:spPr>
          <a:xfrm>
            <a:off x="1979712" y="620688"/>
            <a:ext cx="7020272" cy="680720"/>
          </a:xfrm>
        </p:spPr>
        <p:txBody>
          <a:bodyPr/>
          <a:lstStyle/>
          <a:p>
            <a:r>
              <a:rPr dirty="0" smtClean="0">
                <a:sym typeface="+mn-ea"/>
              </a:rPr>
              <a:t>報表排版</a:t>
            </a:r>
            <a:endParaRPr lang="zh-TW" altLang="en-US" dirty="0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8040" y="2780665"/>
            <a:ext cx="2945130" cy="2786380"/>
          </a:xfrm>
          <a:prstGeom prst="rect">
            <a:avLst/>
          </a:prstGeom>
        </p:spPr>
      </p:pic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1955" y="3140710"/>
            <a:ext cx="4353560" cy="13601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25144"/>
          </a:xfrm>
        </p:spPr>
        <p:txBody>
          <a:bodyPr/>
          <a:lstStyle/>
          <a:p>
            <a:pPr marL="457200" lvl="1" indent="0">
              <a:buNone/>
            </a:pPr>
            <a:r>
              <a:rPr lang="en-US" altLang="zh-TW" sz="2400" dirty="0" smtClean="0">
                <a:sym typeface="+mn-ea"/>
              </a:rPr>
              <a:t>7. </a:t>
            </a:r>
            <a:r>
              <a:rPr lang="zh-TW" altLang="en-US" sz="2400" dirty="0" smtClean="0">
                <a:sym typeface="+mn-ea"/>
              </a:rPr>
              <a:t>往右增加的簽核歷程</a:t>
            </a:r>
            <a:endParaRPr lang="zh-TW" altLang="en-US" sz="2400" dirty="0" smtClean="0">
              <a:sym typeface="+mn-ea"/>
            </a:endParaRPr>
          </a:p>
          <a:p>
            <a:pPr marL="800100" lvl="1" indent="-342900">
              <a:buClrTx/>
              <a:buFont typeface="Wingdings" charset="0"/>
              <a:buChar char="l"/>
            </a:pPr>
            <a:r>
              <a:rPr lang="zh-TW" altLang="en-US" sz="2400" dirty="0" smtClean="0">
                <a:sym typeface="+mn-ea"/>
              </a:rPr>
              <a:t>選擇工具矩陣，拖曳至設計畫面</a:t>
            </a:r>
            <a:endParaRPr lang="zh-TW" altLang="en-US" sz="2400" dirty="0" smtClean="0">
              <a:sym typeface="+mn-ea"/>
            </a:endParaRPr>
          </a:p>
          <a:p>
            <a:pPr marL="800100" lvl="1" indent="-342900">
              <a:buClrTx/>
              <a:buFont typeface="Wingdings" charset="0"/>
              <a:buChar char="l"/>
            </a:pPr>
            <a:r>
              <a:rPr lang="zh-TW" altLang="en-US" sz="2400" dirty="0" smtClean="0">
                <a:sym typeface="+mn-ea"/>
              </a:rPr>
              <a:t>刪除第一行，並在群組內新增資料列</a:t>
            </a:r>
            <a:endParaRPr lang="zh-TW" altLang="en-US" sz="2400" dirty="0" smtClean="0">
              <a:sym typeface="+mn-ea"/>
            </a:endParaRPr>
          </a:p>
          <a:p>
            <a:pPr marL="800100" lvl="1" indent="-342900">
              <a:buClrTx/>
              <a:buFont typeface="Wingdings" charset="0"/>
              <a:buChar char="l"/>
            </a:pPr>
            <a:r>
              <a:rPr lang="zh-TW" altLang="en-US" sz="2400" dirty="0" smtClean="0">
                <a:sym typeface="+mn-ea"/>
              </a:rPr>
              <a:t>分別給于簽核歷程欄位</a:t>
            </a:r>
            <a:r>
              <a:rPr lang="en-US" altLang="zh-TW" sz="2400" dirty="0" smtClean="0">
                <a:sym typeface="+mn-ea"/>
              </a:rPr>
              <a:t>resdd003,resac002,resak002</a:t>
            </a:r>
            <a:endParaRPr lang="en-US" altLang="zh-TW" sz="2400" dirty="0" smtClean="0">
              <a:sym typeface="+mn-ea"/>
            </a:endParaRPr>
          </a:p>
          <a:p>
            <a:pPr lvl="1">
              <a:buNone/>
            </a:pPr>
            <a:endParaRPr lang="zh-TW" altLang="en-US" sz="1600" dirty="0" smtClean="0">
              <a:sym typeface="+mn-ea"/>
            </a:endParaRPr>
          </a:p>
        </p:txBody>
      </p:sp>
      <p:sp>
        <p:nvSpPr>
          <p:cNvPr id="6" name="標題 5"/>
          <p:cNvSpPr>
            <a:spLocks noGrp="1"/>
          </p:cNvSpPr>
          <p:nvPr>
            <p:ph type="title"/>
          </p:nvPr>
        </p:nvSpPr>
        <p:spPr>
          <a:xfrm>
            <a:off x="1979712" y="620688"/>
            <a:ext cx="7020272" cy="680720"/>
          </a:xfrm>
        </p:spPr>
        <p:txBody>
          <a:bodyPr/>
          <a:lstStyle/>
          <a:p>
            <a:r>
              <a:rPr dirty="0" smtClean="0">
                <a:sym typeface="+mn-ea"/>
              </a:rPr>
              <a:t>報表排版</a:t>
            </a:r>
            <a:endParaRPr lang="zh-TW" altLang="en-US" dirty="0"/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7995" y="3500755"/>
            <a:ext cx="3161665" cy="1438275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0110" y="3429000"/>
            <a:ext cx="3495040" cy="1924050"/>
          </a:xfrm>
          <a:prstGeom prst="rect">
            <a:avLst/>
          </a:prstGeom>
        </p:spPr>
      </p:pic>
      <p:pic>
        <p:nvPicPr>
          <p:cNvPr id="9" name="圖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4705" y="3716655"/>
            <a:ext cx="1333500" cy="10858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25144"/>
          </a:xfrm>
        </p:spPr>
        <p:txBody>
          <a:bodyPr/>
          <a:lstStyle/>
          <a:p>
            <a:pPr marL="800100" lvl="1" indent="-342900">
              <a:buClrTx/>
              <a:buFont typeface="Wingdings" charset="0"/>
              <a:buChar char="l"/>
            </a:pPr>
            <a:r>
              <a:rPr lang="zh-TW" altLang="en-US" sz="2400" dirty="0" smtClean="0">
                <a:sym typeface="+mn-ea"/>
              </a:rPr>
              <a:t>確認資料行群組的群組對象為關號</a:t>
            </a:r>
            <a:r>
              <a:rPr lang="en-US" altLang="zh-TW" sz="2400" dirty="0" smtClean="0">
                <a:sym typeface="+mn-ea"/>
              </a:rPr>
              <a:t>resdd003</a:t>
            </a:r>
            <a:endParaRPr lang="en-US" altLang="zh-TW" sz="2400" dirty="0" smtClean="0">
              <a:sym typeface="+mn-ea"/>
            </a:endParaRPr>
          </a:p>
          <a:p>
            <a:pPr marL="457200" lvl="1" indent="0">
              <a:buNone/>
            </a:pPr>
            <a:endParaRPr lang="zh-TW" altLang="en-US" sz="1600" dirty="0" smtClean="0">
              <a:sym typeface="+mn-ea"/>
            </a:endParaRPr>
          </a:p>
        </p:txBody>
      </p:sp>
      <p:sp>
        <p:nvSpPr>
          <p:cNvPr id="6" name="標題 5"/>
          <p:cNvSpPr>
            <a:spLocks noGrp="1"/>
          </p:cNvSpPr>
          <p:nvPr>
            <p:ph type="title"/>
          </p:nvPr>
        </p:nvSpPr>
        <p:spPr>
          <a:xfrm>
            <a:off x="1979712" y="620688"/>
            <a:ext cx="7020272" cy="680720"/>
          </a:xfrm>
        </p:spPr>
        <p:txBody>
          <a:bodyPr/>
          <a:lstStyle/>
          <a:p>
            <a:r>
              <a:rPr dirty="0" smtClean="0">
                <a:sym typeface="+mn-ea"/>
              </a:rPr>
              <a:t>報表排版</a:t>
            </a:r>
            <a:endParaRPr lang="zh-TW" altLang="en-US" dirty="0"/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115" y="2204720"/>
            <a:ext cx="8089265" cy="39204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467995" y="1628775"/>
            <a:ext cx="8229600" cy="4925144"/>
          </a:xfrm>
        </p:spPr>
        <p:txBody>
          <a:bodyPr/>
          <a:lstStyle/>
          <a:p>
            <a:pPr marL="457200" lvl="1" indent="0">
              <a:buNone/>
            </a:pPr>
            <a:r>
              <a:rPr lang="zh-TW" altLang="en-US" sz="2400" dirty="0" smtClean="0">
                <a:sym typeface="+mn-ea"/>
              </a:rPr>
              <a:t>結果畫面</a:t>
            </a:r>
            <a:endParaRPr lang="zh-TW" altLang="en-US" sz="2400" dirty="0" smtClean="0">
              <a:sym typeface="+mn-ea"/>
            </a:endParaRPr>
          </a:p>
          <a:p>
            <a:pPr marL="457200" lvl="1" indent="0">
              <a:buNone/>
            </a:pPr>
            <a:endParaRPr lang="zh-TW" altLang="en-US" sz="1600" dirty="0" smtClean="0">
              <a:sym typeface="+mn-ea"/>
            </a:endParaRPr>
          </a:p>
        </p:txBody>
      </p:sp>
      <p:sp>
        <p:nvSpPr>
          <p:cNvPr id="6" name="標題 5"/>
          <p:cNvSpPr>
            <a:spLocks noGrp="1"/>
          </p:cNvSpPr>
          <p:nvPr>
            <p:ph type="title"/>
          </p:nvPr>
        </p:nvSpPr>
        <p:spPr>
          <a:xfrm>
            <a:off x="1979712" y="620688"/>
            <a:ext cx="7020272" cy="680720"/>
          </a:xfrm>
        </p:spPr>
        <p:txBody>
          <a:bodyPr/>
          <a:lstStyle/>
          <a:p>
            <a:r>
              <a:rPr dirty="0" smtClean="0">
                <a:sym typeface="+mn-ea"/>
              </a:rPr>
              <a:t>佈署</a:t>
            </a:r>
            <a:endParaRPr dirty="0" smtClean="0">
              <a:sym typeface="+mn-ea"/>
            </a:endParaRP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2230" y="2204720"/>
            <a:ext cx="6200140" cy="340931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457200" y="1600200"/>
            <a:ext cx="1901190" cy="454025"/>
          </a:xfrm>
        </p:spPr>
        <p:txBody>
          <a:bodyPr/>
          <a:lstStyle/>
          <a:p>
            <a:pPr marL="0" lvl="1" indent="0" latinLnBrk="0">
              <a:spcBef>
                <a:spcPts val="0"/>
              </a:spcBef>
              <a:buNone/>
            </a:pPr>
            <a:r>
              <a:rPr lang="zh-TW" altLang="zh-TW" sz="1800" dirty="0" smtClean="0">
                <a:sym typeface="+mn-ea"/>
              </a:rPr>
              <a:t>結果畫面</a:t>
            </a:r>
            <a:endParaRPr lang="zh-TW" altLang="zh-TW" sz="1800" dirty="0" smtClean="0">
              <a:sym typeface="+mn-ea"/>
            </a:endParaRPr>
          </a:p>
        </p:txBody>
      </p:sp>
      <p:sp>
        <p:nvSpPr>
          <p:cNvPr id="6" name="標題 5"/>
          <p:cNvSpPr>
            <a:spLocks noGrp="1"/>
          </p:cNvSpPr>
          <p:nvPr>
            <p:ph type="title"/>
          </p:nvPr>
        </p:nvSpPr>
        <p:spPr>
          <a:xfrm>
            <a:off x="1979712" y="620688"/>
            <a:ext cx="7020272" cy="680720"/>
          </a:xfrm>
        </p:spPr>
        <p:txBody>
          <a:bodyPr/>
          <a:lstStyle/>
          <a:p>
            <a:r>
              <a:rPr dirty="0" smtClean="0">
                <a:sym typeface="+mn-ea"/>
              </a:rPr>
              <a:t>特殊應用</a:t>
            </a:r>
            <a:r>
              <a:rPr lang="en-US" altLang="zh-TW" dirty="0" smtClean="0">
                <a:sym typeface="+mn-ea"/>
              </a:rPr>
              <a:t>-</a:t>
            </a:r>
            <a:r>
              <a:rPr dirty="0" smtClean="0">
                <a:sym typeface="+mn-ea"/>
              </a:rPr>
              <a:t>簽核同意的圖如何顯示</a:t>
            </a:r>
            <a:endParaRPr lang="zh-TW" altLang="en-US" dirty="0"/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7995" y="1916430"/>
            <a:ext cx="5247640" cy="2742565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2230" y="2420620"/>
            <a:ext cx="5942965" cy="2990215"/>
          </a:xfrm>
          <a:prstGeom prst="rect">
            <a:avLst/>
          </a:prstGeom>
        </p:spPr>
      </p:pic>
      <p:pic>
        <p:nvPicPr>
          <p:cNvPr id="3" name="圖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2365" y="2925445"/>
            <a:ext cx="6047740" cy="3142615"/>
          </a:xfrm>
          <a:prstGeom prst="rect">
            <a:avLst/>
          </a:prstGeom>
        </p:spPr>
      </p:pic>
      <p:pic>
        <p:nvPicPr>
          <p:cNvPr id="2" name="圖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71775" y="3429000"/>
            <a:ext cx="6333490" cy="33235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25144"/>
          </a:xfrm>
        </p:spPr>
        <p:txBody>
          <a:bodyPr/>
          <a:lstStyle/>
          <a:p>
            <a:pPr marL="457200" lvl="1" indent="0">
              <a:buClrTx/>
              <a:buFont typeface="Wingdings" charset="0"/>
              <a:buNone/>
            </a:pPr>
            <a:r>
              <a:rPr lang="en-US" altLang="zh-TW" sz="2400" dirty="0" smtClean="0">
                <a:sym typeface="+mn-ea"/>
              </a:rPr>
              <a:t>1. </a:t>
            </a:r>
            <a:r>
              <a:rPr lang="zh-TW" altLang="en-US" sz="2400" dirty="0" smtClean="0">
                <a:sym typeface="+mn-ea"/>
              </a:rPr>
              <a:t>拖曳影像工具至欄位中</a:t>
            </a:r>
            <a:endParaRPr lang="zh-TW" altLang="en-US" sz="2400" dirty="0" smtClean="0">
              <a:sym typeface="+mn-ea"/>
            </a:endParaRPr>
          </a:p>
          <a:p>
            <a:pPr marL="457200" lvl="1" indent="0">
              <a:buNone/>
            </a:pPr>
            <a:endParaRPr lang="zh-TW" altLang="en-US" sz="1600" dirty="0" smtClean="0">
              <a:sym typeface="+mn-ea"/>
            </a:endParaRPr>
          </a:p>
        </p:txBody>
      </p:sp>
      <p:sp>
        <p:nvSpPr>
          <p:cNvPr id="6" name="標題 5"/>
          <p:cNvSpPr>
            <a:spLocks noGrp="1"/>
          </p:cNvSpPr>
          <p:nvPr>
            <p:ph type="title"/>
          </p:nvPr>
        </p:nvSpPr>
        <p:spPr>
          <a:xfrm>
            <a:off x="1979712" y="620688"/>
            <a:ext cx="7020272" cy="680720"/>
          </a:xfrm>
        </p:spPr>
        <p:txBody>
          <a:bodyPr/>
          <a:lstStyle/>
          <a:p>
            <a:r>
              <a:rPr dirty="0" smtClean="0">
                <a:sym typeface="+mn-ea"/>
              </a:rPr>
              <a:t>特殊應用</a:t>
            </a:r>
            <a:r>
              <a:rPr lang="en-US" altLang="zh-TW" dirty="0" smtClean="0">
                <a:sym typeface="+mn-ea"/>
              </a:rPr>
              <a:t>-</a:t>
            </a:r>
            <a:r>
              <a:rPr dirty="0" smtClean="0">
                <a:sym typeface="+mn-ea"/>
              </a:rPr>
              <a:t>簽核同意的圖如何顯示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085" y="2202815"/>
            <a:ext cx="8037830" cy="359981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25144"/>
          </a:xfrm>
        </p:spPr>
        <p:txBody>
          <a:bodyPr/>
          <a:lstStyle/>
          <a:p>
            <a:pPr marL="457200" lvl="1" indent="0">
              <a:buNone/>
            </a:pPr>
            <a:r>
              <a:rPr lang="en-US" sz="2400" dirty="0" smtClean="0">
                <a:sym typeface="+mn-ea"/>
              </a:rPr>
              <a:t>2. </a:t>
            </a:r>
            <a:r>
              <a:rPr lang="zh-TW" altLang="en-US" sz="2400" dirty="0" smtClean="0">
                <a:sym typeface="+mn-ea"/>
              </a:rPr>
              <a:t>右鍵</a:t>
            </a:r>
            <a:r>
              <a:rPr lang="en-US" altLang="zh-TW" sz="2400" dirty="0" smtClean="0">
                <a:sym typeface="+mn-ea"/>
              </a:rPr>
              <a:t>&gt;</a:t>
            </a:r>
            <a:r>
              <a:rPr lang="zh-TW" altLang="en-US" sz="2400" dirty="0" smtClean="0">
                <a:sym typeface="+mn-ea"/>
              </a:rPr>
              <a:t>影像屬性</a:t>
            </a:r>
            <a:br>
              <a:rPr lang="zh-TW" altLang="en-US" sz="2400" dirty="0" smtClean="0">
                <a:sym typeface="+mn-ea"/>
              </a:rPr>
            </a:br>
            <a:r>
              <a:rPr lang="zh-TW" altLang="en-US" sz="2400" dirty="0" smtClean="0">
                <a:sym typeface="+mn-ea"/>
              </a:rPr>
              <a:t>影像來源為外部</a:t>
            </a:r>
            <a:endParaRPr lang="zh-TW" altLang="en-US" sz="2400" dirty="0" smtClean="0">
              <a:sym typeface="+mn-ea"/>
            </a:endParaRPr>
          </a:p>
        </p:txBody>
      </p:sp>
      <p:sp>
        <p:nvSpPr>
          <p:cNvPr id="6" name="標題 5"/>
          <p:cNvSpPr>
            <a:spLocks noGrp="1"/>
          </p:cNvSpPr>
          <p:nvPr>
            <p:ph type="title"/>
          </p:nvPr>
        </p:nvSpPr>
        <p:spPr>
          <a:xfrm>
            <a:off x="1979712" y="620688"/>
            <a:ext cx="7020272" cy="680720"/>
          </a:xfrm>
        </p:spPr>
        <p:txBody>
          <a:bodyPr/>
          <a:lstStyle/>
          <a:p>
            <a:r>
              <a:rPr dirty="0" smtClean="0">
                <a:sym typeface="+mn-ea"/>
              </a:rPr>
              <a:t>特殊應用</a:t>
            </a:r>
            <a:r>
              <a:rPr lang="en-US" altLang="zh-TW" dirty="0" smtClean="0">
                <a:sym typeface="+mn-ea"/>
              </a:rPr>
              <a:t>-</a:t>
            </a:r>
            <a:r>
              <a:rPr dirty="0" smtClean="0">
                <a:sym typeface="+mn-ea"/>
              </a:rPr>
              <a:t>簽核同意的圖如何顯示</a:t>
            </a:r>
            <a:endParaRPr lang="zh-TW" altLang="en-US" dirty="0"/>
          </a:p>
        </p:txBody>
      </p:sp>
      <p:pic>
        <p:nvPicPr>
          <p:cNvPr id="-2147482613" name="圖片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91865" y="1628458"/>
            <a:ext cx="5552440" cy="5047615"/>
          </a:xfrm>
          <a:prstGeom prst="rect">
            <a:avLst/>
          </a:prstGeom>
          <a:noFill/>
          <a:ln w="9525">
            <a:noFill/>
            <a:miter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179705" y="1484630"/>
            <a:ext cx="8052435" cy="520700"/>
          </a:xfrm>
        </p:spPr>
        <p:txBody>
          <a:bodyPr/>
          <a:lstStyle/>
          <a:p>
            <a:pPr marL="457200" lvl="1" indent="0">
              <a:buNone/>
            </a:pPr>
            <a:r>
              <a:rPr lang="en-US" sz="2400" dirty="0" smtClean="0">
                <a:sym typeface="+mn-ea"/>
              </a:rPr>
              <a:t>3. </a:t>
            </a:r>
            <a:r>
              <a:rPr lang="zh-TW" altLang="en-US" sz="2400" dirty="0" smtClean="0">
                <a:sym typeface="+mn-ea"/>
              </a:rPr>
              <a:t>定義來源運算式</a:t>
            </a:r>
            <a:endParaRPr lang="zh-TW" altLang="en-US" sz="2400" dirty="0" smtClean="0">
              <a:sym typeface="+mn-ea"/>
            </a:endParaRPr>
          </a:p>
        </p:txBody>
      </p:sp>
      <p:sp>
        <p:nvSpPr>
          <p:cNvPr id="6" name="標題 5"/>
          <p:cNvSpPr>
            <a:spLocks noGrp="1"/>
          </p:cNvSpPr>
          <p:nvPr>
            <p:ph type="title"/>
          </p:nvPr>
        </p:nvSpPr>
        <p:spPr>
          <a:xfrm>
            <a:off x="1979712" y="620688"/>
            <a:ext cx="7020272" cy="680720"/>
          </a:xfrm>
        </p:spPr>
        <p:txBody>
          <a:bodyPr/>
          <a:lstStyle/>
          <a:p>
            <a:r>
              <a:rPr dirty="0" smtClean="0">
                <a:sym typeface="+mn-ea"/>
              </a:rPr>
              <a:t>特殊應用</a:t>
            </a:r>
            <a:r>
              <a:rPr lang="en-US" altLang="zh-TW" dirty="0" smtClean="0">
                <a:sym typeface="+mn-ea"/>
              </a:rPr>
              <a:t>-</a:t>
            </a:r>
            <a:r>
              <a:rPr dirty="0" smtClean="0">
                <a:sym typeface="+mn-ea"/>
              </a:rPr>
              <a:t>簽核同意的圖如何顯示</a:t>
            </a:r>
            <a:endParaRPr lang="zh-TW" altLang="en-US" dirty="0"/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6875" y="1916430"/>
            <a:ext cx="8185785" cy="15957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3068960"/>
            <a:ext cx="8229600" cy="2016223"/>
          </a:xfrm>
        </p:spPr>
        <p:txBody>
          <a:bodyPr/>
          <a:lstStyle/>
          <a:p>
            <a:pPr marL="0" indent="0" algn="ctr">
              <a:buNone/>
            </a:pPr>
            <a:r>
              <a:rPr lang="en-US" altLang="zh-TW" sz="4000" b="1" i="1" dirty="0" smtClean="0"/>
              <a:t>The End</a:t>
            </a:r>
            <a:endParaRPr lang="en-US" altLang="zh-TW" sz="4000" b="1" i="1" dirty="0" smtClean="0"/>
          </a:p>
          <a:p>
            <a:pPr marL="0" indent="0" algn="ctr">
              <a:buNone/>
            </a:pPr>
            <a:endParaRPr lang="en-US" altLang="zh-TW" b="1" i="1" dirty="0" smtClean="0"/>
          </a:p>
          <a:p>
            <a:pPr marL="0" indent="0" algn="r">
              <a:buNone/>
            </a:pPr>
            <a:endParaRPr lang="zh-TW" altLang="en-US" b="1" i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自訂設計">
  <a:themeElements>
    <a:clrScheme name="自訂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訂設計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自訂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訂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訂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訂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訂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訂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2057</Words>
  <Application>WPS Presentation</Application>
  <PresentationFormat>如螢幕大小 (4:3)</PresentationFormat>
  <Paragraphs>196</Paragraphs>
  <Slides>34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2</vt:i4>
      </vt:variant>
      <vt:variant>
        <vt:lpstr>幻灯片标题</vt:lpstr>
      </vt:variant>
      <vt:variant>
        <vt:i4>34</vt:i4>
      </vt:variant>
    </vt:vector>
  </HeadingPairs>
  <TitlesOfParts>
    <vt:vector size="36" baseType="lpstr">
      <vt:lpstr>自訂設計</vt:lpstr>
      <vt:lpstr>Office 佈景主題</vt:lpstr>
      <vt:lpstr> Reporting報表開發(操作篇)</vt:lpstr>
      <vt:lpstr>大綱</vt:lpstr>
      <vt:lpstr>PowerPoint 演示文稿</vt:lpstr>
      <vt:lpstr>報表相關參數設定</vt:lpstr>
      <vt:lpstr>PowerPoint 演示文稿</vt:lpstr>
      <vt:lpstr>產生表單報表RDL檔</vt:lpstr>
      <vt:lpstr>產生表單報表RDL檔</vt:lpstr>
      <vt:lpstr>產生表單報表RDL檔</vt:lpstr>
      <vt:lpstr>產生表單報表RDL檔</vt:lpstr>
      <vt:lpstr>PowerPoint 演示文稿</vt:lpstr>
      <vt:lpstr>程式相關報表建立</vt:lpstr>
      <vt:lpstr>PowerPoint 演示文稿</vt:lpstr>
      <vt:lpstr>報表工具路徑</vt:lpstr>
      <vt:lpstr>Visual Studio工具介紹</vt:lpstr>
      <vt:lpstr>Visual Studio工具介紹</vt:lpstr>
      <vt:lpstr>Visual Studio工具介紹</vt:lpstr>
      <vt:lpstr>Visual Studio工具介紹</vt:lpstr>
      <vt:lpstr>Visual Studio工具介紹</vt:lpstr>
      <vt:lpstr>Visual Studio工具介紹</vt:lpstr>
      <vt:lpstr>PowerPoint 演示文稿</vt:lpstr>
      <vt:lpstr>報表排版</vt:lpstr>
      <vt:lpstr>報表排版</vt:lpstr>
      <vt:lpstr>報表排版</vt:lpstr>
      <vt:lpstr>報表排版</vt:lpstr>
      <vt:lpstr>報表排版</vt:lpstr>
      <vt:lpstr>報表排版</vt:lpstr>
      <vt:lpstr>報表排版</vt:lpstr>
      <vt:lpstr>報表排版</vt:lpstr>
      <vt:lpstr>佈署</vt:lpstr>
      <vt:lpstr>特殊應用-簽核同意的圖如何顯示</vt:lpstr>
      <vt:lpstr>特殊應用-簽核同意的圖如何顯示</vt:lpstr>
      <vt:lpstr>特殊應用-簽核同意的圖如何顯示</vt:lpstr>
      <vt:lpstr>特殊應用-簽核同意的圖如何顯示</vt:lpstr>
      <vt:lpstr>PowerPoint 演示文稿</vt:lpstr>
    </vt:vector>
  </TitlesOfParts>
  <Company>dsc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ella</dc:creator>
  <cp:lastModifiedBy>Administrator</cp:lastModifiedBy>
  <cp:revision>1708</cp:revision>
  <dcterms:created xsi:type="dcterms:W3CDTF">2008-10-15T09:32:00Z</dcterms:created>
  <dcterms:modified xsi:type="dcterms:W3CDTF">2017-03-31T07:30:42Z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1028-10.8.0.5615</vt:lpwstr>
  </property>
</Properties>
</file>