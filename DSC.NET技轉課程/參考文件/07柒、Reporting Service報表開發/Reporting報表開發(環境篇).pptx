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theme/theme4.xml" ContentType="application/vnd.openxmlformats-officedocument.them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  <p:sldMasterId id="2147483676" r:id="rId2"/>
  </p:sldMasterIdLst>
  <p:notesMasterIdLst>
    <p:notesMasterId r:id="rId25"/>
  </p:notesMasterIdLst>
  <p:handoutMasterIdLst>
    <p:handoutMasterId r:id="rId26"/>
  </p:handoutMasterIdLst>
  <p:sldIdLst>
    <p:sldId id="622" r:id="rId3"/>
    <p:sldId id="668" r:id="rId4"/>
    <p:sldId id="677" r:id="rId5"/>
    <p:sldId id="678" r:id="rId6"/>
    <p:sldId id="679" r:id="rId7"/>
    <p:sldId id="680" r:id="rId8"/>
    <p:sldId id="681" r:id="rId9"/>
    <p:sldId id="682" r:id="rId10"/>
    <p:sldId id="684" r:id="rId11"/>
    <p:sldId id="683" r:id="rId12"/>
    <p:sldId id="685" r:id="rId13"/>
    <p:sldId id="686" r:id="rId14"/>
    <p:sldId id="687" r:id="rId15"/>
    <p:sldId id="694" r:id="rId16"/>
    <p:sldId id="688" r:id="rId17"/>
    <p:sldId id="690" r:id="rId18"/>
    <p:sldId id="695" r:id="rId19"/>
    <p:sldId id="689" r:id="rId20"/>
    <p:sldId id="691" r:id="rId21"/>
    <p:sldId id="692" r:id="rId22"/>
    <p:sldId id="693" r:id="rId23"/>
    <p:sldId id="676" r:id="rId24"/>
  </p:sldIdLst>
  <p:sldSz cx="9144000" cy="6858000" type="screen4x3"/>
  <p:notesSz cx="6834188" cy="9979025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1063cindychen" initials="" lastIdx="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FF7C80"/>
    <a:srgbClr val="3C8C93"/>
    <a:srgbClr val="E2F1F2"/>
    <a:srgbClr val="D1DCEE"/>
    <a:srgbClr val="D0EAEC"/>
    <a:srgbClr val="C9E7E9"/>
    <a:srgbClr val="E7F4F5"/>
    <a:srgbClr val="DCDEF4"/>
    <a:srgbClr val="EBECF9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E171933-4619-4E11-9A3F-F7608DF75F80}" styleName="中等深淺樣式 1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A111915-BE36-4E01-A7E5-04B1672EAD32}" styleName="淺色樣式 2 - 輔色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ABFCF23-3B69-468F-B69F-88F6DE6A72F2}" styleName="中等深淺樣式 1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FECB4D8-DB02-4DC6-A0A2-4F2EBAE1DC90}" styleName="中等深淺樣式 1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CAF9ED-07DC-4A11-8D7F-57B35C25682E}" styleName="中等深淺樣式 1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29" autoAdjust="0"/>
    <p:restoredTop sz="87433" autoAdjust="0"/>
  </p:normalViewPr>
  <p:slideViewPr>
    <p:cSldViewPr>
      <p:cViewPr>
        <p:scale>
          <a:sx n="90" d="100"/>
          <a:sy n="90" d="100"/>
        </p:scale>
        <p:origin x="-606" y="4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55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2" d="100"/>
        <a:sy n="92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622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71913" y="0"/>
            <a:ext cx="2960687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248930-57E6-4F24-A2EE-754E3BB2D090}" type="datetimeFigureOut">
              <a:rPr lang="zh-TW" altLang="en-US" smtClean="0"/>
              <a:pPr/>
              <a:t>2013/4/26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78963"/>
            <a:ext cx="29622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71913" y="9478963"/>
            <a:ext cx="2960687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0BCFE1-B21C-4E68-8F53-FCA88856515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2924162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2275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25" tIns="45962" rIns="91925" bIns="45962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1913" y="0"/>
            <a:ext cx="2960687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25" tIns="45962" rIns="91925" bIns="45962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fld id="{5AFCBC85-116C-4042-82A0-EF8BD8001D3D}" type="datetimeFigureOut">
              <a:rPr lang="zh-TW" altLang="en-US"/>
              <a:pPr>
                <a:defRPr/>
              </a:pPr>
              <a:t>2013/4/26</a:t>
            </a:fld>
            <a:endParaRPr lang="en-US" altLang="zh-TW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2338" y="747713"/>
            <a:ext cx="4989512" cy="37433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4213" y="4740275"/>
            <a:ext cx="5467350" cy="4491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25" tIns="45962" rIns="91925" bIns="4596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单击以编辑母片</a:t>
            </a:r>
            <a:endParaRPr lang="zh-TW" altLang="en-US" noProof="0" smtClean="0"/>
          </a:p>
          <a:p>
            <a:pPr lvl="1"/>
            <a:r>
              <a:rPr lang="zh-TW" altLang="en-US" noProof="0" smtClean="0"/>
              <a:t>第二层</a:t>
            </a:r>
          </a:p>
          <a:p>
            <a:pPr lvl="2"/>
            <a:r>
              <a:rPr lang="zh-TW" altLang="en-US" noProof="0" smtClean="0"/>
              <a:t>第三层</a:t>
            </a:r>
          </a:p>
          <a:p>
            <a:pPr lvl="3"/>
            <a:r>
              <a:rPr lang="zh-TW" altLang="en-US" noProof="0" smtClean="0"/>
              <a:t>第四层</a:t>
            </a:r>
          </a:p>
          <a:p>
            <a:pPr lvl="4"/>
            <a:r>
              <a:rPr lang="zh-TW" altLang="en-US" noProof="0" smtClean="0"/>
              <a:t>第五层</a:t>
            </a:r>
          </a:p>
        </p:txBody>
      </p:sp>
      <p:sp>
        <p:nvSpPr>
          <p:cNvPr id="378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78963"/>
            <a:ext cx="2962275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25" tIns="45962" rIns="91925" bIns="45962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8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1913" y="9478963"/>
            <a:ext cx="2960687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25" tIns="45962" rIns="91925" bIns="45962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fld id="{D0238029-D79D-42D5-8DD3-3973BBA5049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xmlns="" val="234099854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CDAB0E-E1AC-46DA-A9EC-548034A1FB9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0034" y="785794"/>
            <a:ext cx="8229600" cy="868363"/>
          </a:xfrm>
        </p:spPr>
        <p:txBody>
          <a:bodyPr/>
          <a:lstStyle>
            <a:lvl1pPr>
              <a:defRPr sz="4000" b="1">
                <a:solidFill>
                  <a:srgbClr val="C00000"/>
                </a:solidFill>
                <a:latin typeface="微軟正黑體" pitchFamily="34" charset="-120"/>
                <a:ea typeface="微軟正黑體" pitchFamily="34" charset="-120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0034" y="1928802"/>
            <a:ext cx="8229600" cy="4065588"/>
          </a:xfrm>
        </p:spPr>
        <p:txBody>
          <a:bodyPr/>
          <a:lstStyle>
            <a:lvl1pPr>
              <a:buFont typeface="Wingdings" pitchFamily="2" charset="2"/>
              <a:buChar char="n"/>
              <a:defRPr b="1">
                <a:solidFill>
                  <a:srgbClr val="000099"/>
                </a:solidFill>
                <a:latin typeface="微軟正黑體" pitchFamily="34" charset="-120"/>
                <a:ea typeface="微軟正黑體" pitchFamily="34" charset="-120"/>
              </a:defRPr>
            </a:lvl1pPr>
            <a:lvl2pPr>
              <a:defRPr b="1">
                <a:latin typeface="微軟正黑體" pitchFamily="34" charset="-120"/>
                <a:ea typeface="微軟正黑體" pitchFamily="34" charset="-120"/>
              </a:defRPr>
            </a:lvl2pPr>
            <a:lvl3pPr>
              <a:defRPr b="1">
                <a:solidFill>
                  <a:srgbClr val="663300"/>
                </a:solidFill>
                <a:latin typeface="微軟正黑體" pitchFamily="34" charset="-120"/>
                <a:ea typeface="微軟正黑體" pitchFamily="34" charset="-120"/>
              </a:defRPr>
            </a:lvl3pPr>
            <a:lvl4pPr>
              <a:defRPr b="1">
                <a:latin typeface="微軟正黑體" pitchFamily="34" charset="-120"/>
                <a:ea typeface="微軟正黑體" pitchFamily="34" charset="-120"/>
              </a:defRPr>
            </a:lvl4pPr>
            <a:lvl5pPr>
              <a:defRPr b="1"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latin typeface="微軟正黑體" pitchFamily="34" charset="-120"/>
                <a:ea typeface="微軟正黑體" pitchFamily="34" charset="-12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微軟正黑體" pitchFamily="34" charset="-120"/>
                <a:ea typeface="微軟正黑體" pitchFamily="34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 b="1">
                <a:latin typeface="微軟正黑體" pitchFamily="34" charset="-120"/>
                <a:ea typeface="微軟正黑體" pitchFamily="34" charset="-120"/>
              </a:defRPr>
            </a:lvl1pPr>
          </a:lstStyle>
          <a:p>
            <a:pPr>
              <a:defRPr/>
            </a:pPr>
            <a:endParaRPr lang="en-US" altLang="zh-TW"/>
          </a:p>
          <a:p>
            <a:pPr>
              <a:defRPr/>
            </a:pPr>
            <a:endParaRPr lang="en-US" altLang="zh-TW"/>
          </a:p>
          <a:p>
            <a:pPr>
              <a:defRPr/>
            </a:pPr>
            <a:fld id="{6F8F4BC0-65D6-45C0-95FE-854F8F2BD9F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5E2AB8-31FC-468B-AE37-ABE5C8C2A0C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060575"/>
            <a:ext cx="4038600" cy="40655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060575"/>
            <a:ext cx="4038600" cy="40655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09DB8A-6EC4-4D79-AD14-FE7C9DFF587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652CE6-C213-46A8-84F7-C371EF09385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105AAD-0BA9-43D2-A48E-D7F91AEB675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D0B806-3AE1-4F93-9E96-89D6A14B6A3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57EF79-B625-4ABD-994A-D02D50832F6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5C9E8C-55E2-4C6E-8287-1A65335C65B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B55A53-5CAC-48E3-808E-56106F08AE1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981075"/>
            <a:ext cx="2057400" cy="514508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981075"/>
            <a:ext cx="6019800" cy="514508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191D19-2EC9-44B1-8A50-42D6FD8F1F8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2" descr="20110301簡報首頁_集團繁B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標題 1"/>
          <p:cNvSpPr>
            <a:spLocks noGrp="1"/>
          </p:cNvSpPr>
          <p:nvPr>
            <p:ph type="ctrTitle" hasCustomPrompt="1"/>
          </p:nvPr>
        </p:nvSpPr>
        <p:spPr>
          <a:xfrm>
            <a:off x="2555776" y="1988840"/>
            <a:ext cx="6192688" cy="1938992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kumimoji="1" lang="zh-TW" altLang="en-US" sz="6000" b="1" kern="1200" spc="-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  <a:cs typeface="+mn-cs"/>
              </a:defRPr>
            </a:lvl1pPr>
          </a:lstStyle>
          <a:p>
            <a:r>
              <a:rPr lang="zh-CN" altLang="en-US" dirty="0" smtClean="0"/>
              <a:t>单击以编辑母片标题样式</a:t>
            </a:r>
            <a:endParaRPr lang="zh-TW" altLang="en-US" dirty="0"/>
          </a:p>
        </p:txBody>
      </p:sp>
      <p:sp>
        <p:nvSpPr>
          <p:cNvPr id="4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2555776" y="4437112"/>
            <a:ext cx="4536504" cy="17526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>
                <a:latin typeface="微軟正黑體" pitchFamily="34" charset="-120"/>
                <a:ea typeface="微軟正黑體" pitchFamily="34" charset="-12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 smtClean="0"/>
              <a:t>单击以编辑母片副标题样式</a:t>
            </a:r>
            <a:endParaRPr lang="zh-TW" altLang="en-US" dirty="0"/>
          </a:p>
        </p:txBody>
      </p:sp>
      <p:pic>
        <p:nvPicPr>
          <p:cNvPr id="37890" name="Picture 2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4937" y="964629"/>
            <a:ext cx="648072" cy="179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891" name="Picture 3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763594" y="988542"/>
            <a:ext cx="797719" cy="1467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2" descr="20110301簡報內頁1_集團繁B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46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標題 1"/>
          <p:cNvSpPr>
            <a:spLocks noGrp="1"/>
          </p:cNvSpPr>
          <p:nvPr>
            <p:ph type="title"/>
          </p:nvPr>
        </p:nvSpPr>
        <p:spPr>
          <a:xfrm>
            <a:off x="1043608" y="2348880"/>
            <a:ext cx="702027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lang="zh-TW" altLang="en-US" sz="4400" b="1" kern="1200" spc="-15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  <a:cs typeface="+mn-cs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pic>
        <p:nvPicPr>
          <p:cNvPr id="38916" name="Picture 4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63074" y="187198"/>
            <a:ext cx="795189" cy="147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17" name="Picture 5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8494" y="175494"/>
            <a:ext cx="605790" cy="15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2" descr="20110301簡報內頁1_集團繁B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146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標題 1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kumimoji="1" lang="zh-TW" altLang="en-US" sz="3600" b="1" kern="1200" spc="-15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  <a:cs typeface="+mn-cs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4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itchFamily="34" charset="-120"/>
                <a:ea typeface="微軟正黑體" pitchFamily="34" charset="-120"/>
              </a:defRPr>
            </a:lvl1pPr>
            <a:lvl2pPr>
              <a:defRPr>
                <a:latin typeface="微軟正黑體" pitchFamily="34" charset="-120"/>
                <a:ea typeface="微軟正黑體" pitchFamily="34" charset="-120"/>
              </a:defRPr>
            </a:lvl2pPr>
            <a:lvl3pPr>
              <a:defRPr>
                <a:latin typeface="微軟正黑體" pitchFamily="34" charset="-120"/>
                <a:ea typeface="微軟正黑體" pitchFamily="34" charset="-120"/>
              </a:defRPr>
            </a:lvl3pPr>
            <a:lvl4pPr>
              <a:defRPr>
                <a:latin typeface="微軟正黑體" pitchFamily="34" charset="-120"/>
                <a:ea typeface="微軟正黑體" pitchFamily="34" charset="-120"/>
              </a:defRPr>
            </a:lvl4pPr>
            <a:lvl5pPr>
              <a:defRPr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  <p:pic>
        <p:nvPicPr>
          <p:cNvPr id="38916" name="Picture 4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63074" y="187198"/>
            <a:ext cx="795189" cy="147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17" name="Picture 5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8494" y="175494"/>
            <a:ext cx="605790" cy="15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452320" y="6445845"/>
            <a:ext cx="1450504" cy="412155"/>
          </a:xfrm>
          <a:prstGeom prst="rect">
            <a:avLst/>
          </a:prstGeom>
          <a:ln/>
        </p:spPr>
        <p:txBody>
          <a:bodyPr/>
          <a:lstStyle>
            <a:lvl1pPr algn="r">
              <a:defRPr sz="1600"/>
            </a:lvl1pPr>
          </a:lstStyle>
          <a:p>
            <a:pPr>
              <a:defRPr/>
            </a:pPr>
            <a:fld id="{618A2679-4D56-4A69-AC7C-10199940E943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2" descr="20110301簡報內頁2_集團繁B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45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4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63074" y="187198"/>
            <a:ext cx="795189" cy="147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5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8494" y="175494"/>
            <a:ext cx="605790" cy="15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452320" y="6445845"/>
            <a:ext cx="1450504" cy="412155"/>
          </a:xfrm>
          <a:prstGeom prst="rect">
            <a:avLst/>
          </a:prstGeom>
          <a:ln/>
        </p:spPr>
        <p:txBody>
          <a:bodyPr/>
          <a:lstStyle>
            <a:lvl1pPr algn="r">
              <a:defRPr sz="1600"/>
            </a:lvl1pPr>
          </a:lstStyle>
          <a:p>
            <a:pPr>
              <a:defRPr/>
            </a:pPr>
            <a:fld id="{618A2679-4D56-4A69-AC7C-10199940E943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6" name="標題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08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lang="zh-TW" altLang="en-US" sz="3600" b="1" kern="1200" spc="-15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  <a:cs typeface="+mn-cs"/>
              </a:defRPr>
            </a:lvl1pPr>
          </a:lstStyle>
          <a:p>
            <a:r>
              <a:rPr lang="zh-TW" altLang="en-US" dirty="0" smtClean="0"/>
              <a:t>按一下以編輯母片標題樣式</a:t>
            </a:r>
            <a:endParaRPr lang="zh-TW" altLang="en-US" dirty="0"/>
          </a:p>
        </p:txBody>
      </p:sp>
      <p:sp>
        <p:nvSpPr>
          <p:cNvPr id="7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>
              <a:defRPr>
                <a:latin typeface="微軟正黑體" pitchFamily="34" charset="-120"/>
                <a:ea typeface="微軟正黑體" pitchFamily="34" charset="-120"/>
              </a:defRPr>
            </a:lvl1pPr>
            <a:lvl2pPr>
              <a:defRPr>
                <a:latin typeface="微軟正黑體" pitchFamily="34" charset="-120"/>
                <a:ea typeface="微軟正黑體" pitchFamily="34" charset="-120"/>
              </a:defRPr>
            </a:lvl2pPr>
            <a:lvl3pPr>
              <a:defRPr>
                <a:latin typeface="微軟正黑體" pitchFamily="34" charset="-120"/>
                <a:ea typeface="微軟正黑體" pitchFamily="34" charset="-120"/>
              </a:defRPr>
            </a:lvl3pPr>
            <a:lvl4pPr>
              <a:defRPr>
                <a:latin typeface="微軟正黑體" pitchFamily="34" charset="-120"/>
                <a:ea typeface="微軟正黑體" pitchFamily="34" charset="-120"/>
              </a:defRPr>
            </a:lvl4pPr>
            <a:lvl5pPr>
              <a:defRPr>
                <a:latin typeface="微軟正黑體" pitchFamily="34" charset="-120"/>
                <a:ea typeface="微軟正黑體" pitchFamily="34" charset="-120"/>
              </a:defRPr>
            </a:lvl5pPr>
          </a:lstStyle>
          <a:p>
            <a:pPr lvl="0"/>
            <a:r>
              <a:rPr lang="zh-TW" altLang="en-US" dirty="0" smtClean="0"/>
              <a:t>按一下以編輯母片文字樣式</a:t>
            </a:r>
          </a:p>
          <a:p>
            <a:pPr lvl="1"/>
            <a:r>
              <a:rPr lang="zh-TW" altLang="en-US" dirty="0" smtClean="0"/>
              <a:t>第二層</a:t>
            </a:r>
          </a:p>
          <a:p>
            <a:pPr lvl="2"/>
            <a:r>
              <a:rPr lang="zh-TW" altLang="en-US" dirty="0" smtClean="0"/>
              <a:t>第三層</a:t>
            </a:r>
          </a:p>
          <a:p>
            <a:pPr lvl="3"/>
            <a:r>
              <a:rPr lang="zh-TW" altLang="en-US" dirty="0" smtClean="0"/>
              <a:t>第四層</a:t>
            </a:r>
          </a:p>
          <a:p>
            <a:pPr lvl="4"/>
            <a:r>
              <a:rPr lang="zh-TW" altLang="en-US" dirty="0" smtClean="0"/>
              <a:t>第五層</a:t>
            </a:r>
            <a:endParaRPr lang="zh-TW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981075"/>
            <a:ext cx="8229600" cy="868363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060575"/>
            <a:ext cx="8229600" cy="4065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36221C-E86A-49BC-B566-D20161E0AE5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11" descr="ppt_B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-4763" y="-1588"/>
            <a:ext cx="9153526" cy="686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981075"/>
            <a:ext cx="8229600" cy="868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2060575"/>
            <a:ext cx="8229600" cy="406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fld id="{1BAA6A6A-B44F-4E1B-A333-ADD46CF30C7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4" r:id="rId2"/>
    <p:sldLayoutId id="2147483671" r:id="rId3"/>
    <p:sldLayoutId id="2147483670" r:id="rId4"/>
    <p:sldLayoutId id="2147483669" r:id="rId5"/>
    <p:sldLayoutId id="2147483668" r:id="rId6"/>
    <p:sldLayoutId id="2147483667" r:id="rId7"/>
    <p:sldLayoutId id="2147483666" r:id="rId8"/>
    <p:sldLayoutId id="2147483665" r:id="rId9"/>
    <p:sldLayoutId id="2147483664" r:id="rId10"/>
    <p:sldLayoutId id="2147483663" r:id="rId11"/>
  </p:sldLayoutIdLst>
  <p:transition>
    <p:pull dir="rd"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Arial" charset="0"/>
          <a:ea typeface="新細明體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圖片 6" descr="1007簡報內頁.jpg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763" y="0"/>
            <a:ext cx="913447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7452320" y="6445845"/>
            <a:ext cx="1450504" cy="412155"/>
          </a:xfrm>
          <a:prstGeom prst="rect">
            <a:avLst/>
          </a:prstGeom>
          <a:ln/>
        </p:spPr>
        <p:txBody>
          <a:bodyPr/>
          <a:lstStyle>
            <a:lvl1pPr algn="r">
              <a:defRPr sz="1600"/>
            </a:lvl1pPr>
          </a:lstStyle>
          <a:p>
            <a:pPr>
              <a:defRPr/>
            </a:pPr>
            <a:fld id="{618A2679-4D56-4A69-AC7C-10199940E943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1" r:id="rId2"/>
    <p:sldLayoutId id="2147483678" r:id="rId3"/>
    <p:sldLayoutId id="2147483679" r:id="rId4"/>
    <p:sldLayoutId id="2147483684" r:id="rId5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ctrTitle"/>
          </p:nvPr>
        </p:nvSpPr>
        <p:spPr>
          <a:xfrm>
            <a:off x="2500298" y="1357298"/>
            <a:ext cx="6192688" cy="2677656"/>
          </a:xfrm>
        </p:spPr>
        <p:txBody>
          <a:bodyPr/>
          <a:lstStyle/>
          <a:p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Reporting</a:t>
            </a:r>
            <a:r>
              <a:rPr lang="zh-TW" altLang="en-US" sz="4800" dirty="0" smtClean="0"/>
              <a:t>報表開發</a:t>
            </a:r>
            <a:r>
              <a:rPr lang="en-US" altLang="zh-TW" sz="4800" dirty="0" smtClean="0"/>
              <a:t>(</a:t>
            </a:r>
            <a:r>
              <a:rPr lang="zh-TW" altLang="en-US" sz="4800" dirty="0" smtClean="0"/>
              <a:t>環境篇</a:t>
            </a:r>
            <a:r>
              <a:rPr lang="en-US" altLang="zh-TW" sz="4800" dirty="0" smtClean="0"/>
              <a:t>)</a:t>
            </a:r>
            <a:endParaRPr lang="zh-TW" altLang="en-US" sz="3600" dirty="0"/>
          </a:p>
        </p:txBody>
      </p:sp>
      <p:sp>
        <p:nvSpPr>
          <p:cNvPr id="6" name="副標題 5"/>
          <p:cNvSpPr>
            <a:spLocks noGrp="1"/>
          </p:cNvSpPr>
          <p:nvPr>
            <p:ph type="subTitle" idx="1"/>
          </p:nvPr>
        </p:nvSpPr>
        <p:spPr>
          <a:xfrm>
            <a:off x="2555776" y="5143512"/>
            <a:ext cx="4536504" cy="1428760"/>
          </a:xfrm>
        </p:spPr>
        <p:txBody>
          <a:bodyPr/>
          <a:lstStyle/>
          <a:p>
            <a:r>
              <a:rPr lang="zh-TW" altLang="en-US" sz="2800" dirty="0" smtClean="0"/>
              <a:t>陳威弟</a:t>
            </a:r>
            <a:endParaRPr lang="en-US" altLang="zh-TW" sz="2800" dirty="0" smtClean="0"/>
          </a:p>
          <a:p>
            <a:r>
              <a:rPr lang="zh-TW" altLang="en-US" sz="2000" dirty="0" smtClean="0"/>
              <a:t>鼎新電腦</a:t>
            </a:r>
            <a:endParaRPr lang="zh-TW" alt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altLang="en-US" dirty="0" smtClean="0"/>
              <a:t>大綱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/>
          <a:lstStyle/>
          <a:p>
            <a:pPr lvl="1"/>
            <a:r>
              <a:rPr lang="zh-TW" altLang="en-US" sz="2400" dirty="0" smtClean="0"/>
              <a:t>環境檢查</a:t>
            </a:r>
            <a:endParaRPr lang="en-US" altLang="zh-TW" sz="2400" dirty="0" smtClean="0"/>
          </a:p>
          <a:p>
            <a:pPr lvl="1"/>
            <a:r>
              <a:rPr lang="en-US" altLang="zh-TW" sz="2400" dirty="0" smtClean="0"/>
              <a:t>Reporting</a:t>
            </a:r>
            <a:r>
              <a:rPr lang="zh-TW" altLang="en-US" sz="2400" dirty="0" smtClean="0"/>
              <a:t> 報表開發環境</a:t>
            </a:r>
            <a:endParaRPr lang="en-US" altLang="zh-TW" sz="2400" dirty="0" smtClean="0"/>
          </a:p>
          <a:p>
            <a:pPr lvl="1"/>
            <a:r>
              <a:rPr lang="zh-TW" altLang="en-US" sz="2400" dirty="0" smtClean="0"/>
              <a:t>報表管理員</a:t>
            </a:r>
            <a:r>
              <a:rPr lang="en-US" altLang="zh-TW" sz="2400" dirty="0" smtClean="0"/>
              <a:t>(Reports)</a:t>
            </a:r>
            <a:r>
              <a:rPr lang="zh-TW" altLang="en-US" sz="2400" dirty="0" smtClean="0"/>
              <a:t>介紹</a:t>
            </a:r>
            <a:endParaRPr lang="en-US" altLang="zh-TW" sz="2400" dirty="0" smtClean="0"/>
          </a:p>
          <a:p>
            <a:pPr lvl="1"/>
            <a:r>
              <a:rPr lang="en-US" altLang="zh-TW" sz="2400" dirty="0" smtClean="0"/>
              <a:t>Visual Studio</a:t>
            </a:r>
            <a:r>
              <a:rPr lang="zh-TW" altLang="en-US" sz="2400" dirty="0" smtClean="0"/>
              <a:t>工具介紹</a:t>
            </a:r>
            <a:endParaRPr lang="en-US" altLang="zh-TW" sz="2400" dirty="0" smtClean="0"/>
          </a:p>
          <a:p>
            <a:pPr lvl="1"/>
            <a:endParaRPr lang="en-US" altLang="zh-TW" sz="2400" dirty="0" smtClean="0"/>
          </a:p>
          <a:p>
            <a:pPr lvl="1"/>
            <a:endParaRPr lang="en-US" altLang="zh-TW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/>
          <a:lstStyle/>
          <a:p>
            <a:pPr lvl="1" algn="ctr">
              <a:buNone/>
            </a:pPr>
            <a:endParaRPr lang="en-US" altLang="zh-TW" sz="2400" dirty="0" smtClean="0"/>
          </a:p>
          <a:p>
            <a:pPr lvl="1" algn="ctr">
              <a:buNone/>
            </a:pPr>
            <a:endParaRPr lang="en-US" altLang="zh-TW" sz="2400" dirty="0" smtClean="0"/>
          </a:p>
          <a:p>
            <a:pPr lvl="1" algn="ctr">
              <a:buNone/>
            </a:pPr>
            <a:endParaRPr lang="en-US" altLang="zh-TW" sz="2400" dirty="0" smtClean="0"/>
          </a:p>
          <a:p>
            <a:pPr lvl="1" algn="ctr">
              <a:buNone/>
            </a:pPr>
            <a:endParaRPr lang="en-US" altLang="zh-TW" sz="2400" dirty="0" smtClean="0"/>
          </a:p>
          <a:p>
            <a:pPr lvl="1" algn="ctr">
              <a:buNone/>
            </a:pPr>
            <a:r>
              <a:rPr lang="zh-TW" altLang="en-US" sz="4800" dirty="0" smtClean="0"/>
              <a:t>環境檢查</a:t>
            </a:r>
            <a:endParaRPr lang="en-US" altLang="zh-TW" sz="4800" dirty="0" smtClean="0"/>
          </a:p>
          <a:p>
            <a:pPr lvl="1">
              <a:buNone/>
            </a:pPr>
            <a:endParaRPr lang="en-US" altLang="zh-TW" sz="2400" dirty="0" smtClean="0"/>
          </a:p>
          <a:p>
            <a:pPr lvl="1"/>
            <a:endParaRPr lang="en-US" altLang="zh-TW" sz="2400" dirty="0" smtClean="0"/>
          </a:p>
          <a:p>
            <a:pPr lvl="1"/>
            <a:endParaRPr lang="en-US" altLang="zh-TW" sz="2400" dirty="0" smtClean="0"/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/>
          <a:lstStyle/>
          <a:p>
            <a:pPr lvl="1">
              <a:buNone/>
            </a:pPr>
            <a:r>
              <a:rPr lang="zh-TW" altLang="en-US" sz="2000" dirty="0" smtClean="0"/>
              <a:t>開啟</a:t>
            </a:r>
            <a:r>
              <a:rPr lang="en-US" altLang="zh-TW" sz="2000" dirty="0" smtClean="0"/>
              <a:t>IE</a:t>
            </a:r>
            <a:r>
              <a:rPr lang="zh-TW" altLang="en-US" sz="2000" dirty="0" smtClean="0"/>
              <a:t>，輸入網址</a:t>
            </a:r>
            <a:r>
              <a:rPr lang="en-US" altLang="zh-TW" sz="2000" dirty="0" smtClean="0">
                <a:solidFill>
                  <a:srgbClr val="0000CC"/>
                </a:solidFill>
              </a:rPr>
              <a:t>http://DB</a:t>
            </a:r>
            <a:r>
              <a:rPr lang="zh-TW" altLang="en-US" sz="2000" dirty="0" smtClean="0">
                <a:solidFill>
                  <a:srgbClr val="0000CC"/>
                </a:solidFill>
              </a:rPr>
              <a:t>主機</a:t>
            </a:r>
            <a:r>
              <a:rPr lang="en-US" altLang="zh-TW" sz="2000" dirty="0" smtClean="0">
                <a:solidFill>
                  <a:srgbClr val="0000CC"/>
                </a:solidFill>
              </a:rPr>
              <a:t>IP/Reports</a:t>
            </a:r>
          </a:p>
          <a:p>
            <a:pPr lvl="1">
              <a:buNone/>
            </a:pPr>
            <a:r>
              <a:rPr lang="zh-TW" altLang="en-US" sz="2000" dirty="0" smtClean="0"/>
              <a:t>若出現下方畫面代表 </a:t>
            </a:r>
            <a:r>
              <a:rPr lang="en-US" altLang="zh-TW" sz="2000" dirty="0" smtClean="0"/>
              <a:t>Reporting</a:t>
            </a:r>
            <a:r>
              <a:rPr lang="zh-TW" altLang="en-US" sz="2000" dirty="0" smtClean="0"/>
              <a:t> 有正常安裝。</a:t>
            </a:r>
            <a:endParaRPr lang="en-US" altLang="zh-TW" sz="2400" dirty="0" smtClean="0"/>
          </a:p>
          <a:p>
            <a:pPr lvl="1"/>
            <a:endParaRPr lang="en-US" altLang="zh-TW" sz="2400" dirty="0" smtClean="0"/>
          </a:p>
          <a:p>
            <a:pPr lvl="1"/>
            <a:endParaRPr lang="en-US" altLang="zh-TW" sz="2400" dirty="0" smtClean="0"/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環境檢查</a:t>
            </a:r>
            <a:endParaRPr lang="zh-TW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2636912"/>
            <a:ext cx="5486400" cy="287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/>
          <a:lstStyle/>
          <a:p>
            <a:pPr lvl="1" algn="ctr">
              <a:buNone/>
            </a:pPr>
            <a:endParaRPr lang="en-US" altLang="zh-TW" sz="2400" dirty="0" smtClean="0"/>
          </a:p>
          <a:p>
            <a:pPr lvl="1" algn="ctr">
              <a:buNone/>
            </a:pPr>
            <a:endParaRPr lang="en-US" altLang="zh-TW" sz="2400" dirty="0" smtClean="0"/>
          </a:p>
          <a:p>
            <a:pPr lvl="1" algn="ctr">
              <a:buNone/>
            </a:pPr>
            <a:endParaRPr lang="en-US" altLang="zh-TW" sz="2400" dirty="0" smtClean="0"/>
          </a:p>
          <a:p>
            <a:pPr lvl="1" algn="ctr">
              <a:buNone/>
            </a:pPr>
            <a:endParaRPr lang="en-US" altLang="zh-TW" sz="2400" dirty="0" smtClean="0"/>
          </a:p>
          <a:p>
            <a:pPr lvl="1">
              <a:buNone/>
            </a:pPr>
            <a:r>
              <a:rPr lang="zh-TW" altLang="en-US" sz="4800" dirty="0" smtClean="0"/>
              <a:t>報表管理員</a:t>
            </a:r>
            <a:r>
              <a:rPr lang="en-US" altLang="zh-TW" sz="4800" dirty="0" smtClean="0"/>
              <a:t>(Reports)</a:t>
            </a:r>
            <a:r>
              <a:rPr lang="zh-TW" altLang="en-US" sz="4800" dirty="0" smtClean="0"/>
              <a:t>介紹</a:t>
            </a:r>
            <a:endParaRPr lang="en-US" altLang="zh-TW" sz="4800" dirty="0" smtClean="0"/>
          </a:p>
          <a:p>
            <a:pPr lvl="1">
              <a:buNone/>
            </a:pPr>
            <a:endParaRPr lang="en-US" altLang="zh-TW" sz="2400" dirty="0" smtClean="0"/>
          </a:p>
          <a:p>
            <a:pPr lvl="1"/>
            <a:endParaRPr lang="en-US" altLang="zh-TW" sz="2400" dirty="0" smtClean="0"/>
          </a:p>
          <a:p>
            <a:pPr lvl="1"/>
            <a:endParaRPr lang="en-US" altLang="zh-TW" sz="2400" dirty="0" smtClean="0"/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/>
          <a:lstStyle/>
          <a:p>
            <a:pPr lvl="1">
              <a:buNone/>
            </a:pPr>
            <a:endParaRPr lang="en-US" altLang="zh-TW" sz="2400" dirty="0" smtClean="0"/>
          </a:p>
          <a:p>
            <a:pPr lvl="1"/>
            <a:endParaRPr lang="en-US" altLang="zh-TW" sz="2400" dirty="0" smtClean="0"/>
          </a:p>
          <a:p>
            <a:pPr lvl="1"/>
            <a:endParaRPr lang="en-US" altLang="zh-TW" sz="2400" dirty="0" smtClean="0"/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46331"/>
          </a:xfrm>
        </p:spPr>
        <p:txBody>
          <a:bodyPr/>
          <a:lstStyle/>
          <a:p>
            <a:r>
              <a:rPr lang="zh-TW" altLang="en-US" dirty="0" smtClean="0"/>
              <a:t>報表管理員</a:t>
            </a:r>
            <a:r>
              <a:rPr lang="en-US" altLang="zh-TW" dirty="0" smtClean="0"/>
              <a:t>(Reports)</a:t>
            </a:r>
            <a:r>
              <a:rPr lang="zh-TW" altLang="en-US" dirty="0" smtClean="0"/>
              <a:t>介紹</a:t>
            </a: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871663"/>
            <a:ext cx="9315450" cy="311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683568" y="2132856"/>
            <a:ext cx="1368152" cy="360040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2195736" y="2132856"/>
            <a:ext cx="6480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>
                <a:solidFill>
                  <a:srgbClr val="0000CC"/>
                </a:solidFill>
              </a:rPr>
              <a:t>1.</a:t>
            </a:r>
            <a:r>
              <a:rPr lang="zh-TW" altLang="en-US" b="1" dirty="0" smtClean="0">
                <a:solidFill>
                  <a:srgbClr val="0000CC"/>
                </a:solidFill>
              </a:rPr>
              <a:t>報表目錄階層位置，如圖目前為 主資料夾</a:t>
            </a:r>
            <a:r>
              <a:rPr lang="en-US" altLang="zh-TW" b="1" dirty="0" smtClean="0">
                <a:solidFill>
                  <a:srgbClr val="0000CC"/>
                </a:solidFill>
              </a:rPr>
              <a:t>-&gt;</a:t>
            </a:r>
            <a:r>
              <a:rPr lang="en-US" altLang="zh-TW" b="1" dirty="0" err="1" smtClean="0">
                <a:solidFill>
                  <a:srgbClr val="0000CC"/>
                </a:solidFill>
              </a:rPr>
              <a:t>EasyFlow</a:t>
            </a:r>
            <a:endParaRPr lang="zh-TW" altLang="en-US" b="1" dirty="0">
              <a:solidFill>
                <a:srgbClr val="0000C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/>
          <a:lstStyle/>
          <a:p>
            <a:pPr lvl="1">
              <a:buNone/>
            </a:pPr>
            <a:endParaRPr lang="en-US" altLang="zh-TW" sz="2400" dirty="0" smtClean="0"/>
          </a:p>
          <a:p>
            <a:pPr lvl="1"/>
            <a:endParaRPr lang="en-US" altLang="zh-TW" sz="2400" dirty="0" smtClean="0"/>
          </a:p>
          <a:p>
            <a:pPr lvl="1"/>
            <a:endParaRPr lang="en-US" altLang="zh-TW" sz="2400" dirty="0" smtClean="0"/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46331"/>
          </a:xfrm>
        </p:spPr>
        <p:txBody>
          <a:bodyPr/>
          <a:lstStyle/>
          <a:p>
            <a:r>
              <a:rPr lang="zh-TW" altLang="en-US" dirty="0" smtClean="0"/>
              <a:t>報表管理員</a:t>
            </a:r>
            <a:r>
              <a:rPr lang="en-US" altLang="zh-TW" dirty="0" smtClean="0"/>
              <a:t>(Reports)</a:t>
            </a:r>
            <a:r>
              <a:rPr lang="zh-TW" altLang="en-US" dirty="0" smtClean="0"/>
              <a:t>介紹</a:t>
            </a: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871663"/>
            <a:ext cx="9315450" cy="311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0" y="2852936"/>
            <a:ext cx="1043608" cy="288032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1619672" y="2348880"/>
            <a:ext cx="7272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>
                <a:solidFill>
                  <a:srgbClr val="0000CC"/>
                </a:solidFill>
              </a:rPr>
              <a:t>2.</a:t>
            </a:r>
            <a:r>
              <a:rPr lang="zh-TW" altLang="en-US" b="1" dirty="0" smtClean="0">
                <a:solidFill>
                  <a:srgbClr val="0000CC"/>
                </a:solidFill>
              </a:rPr>
              <a:t>可透過此按鈕新增資料夾，新增前請注意目前是在哪個資料夾下</a:t>
            </a:r>
            <a:r>
              <a:rPr lang="en-US" altLang="zh-TW" b="1" dirty="0" smtClean="0">
                <a:solidFill>
                  <a:srgbClr val="0000CC"/>
                </a:solidFill>
              </a:rPr>
              <a:t>!!</a:t>
            </a:r>
            <a:endParaRPr lang="zh-TW" altLang="en-US" b="1" dirty="0">
              <a:solidFill>
                <a:srgbClr val="0000CC"/>
              </a:solidFill>
            </a:endParaRPr>
          </a:p>
        </p:txBody>
      </p:sp>
      <p:cxnSp>
        <p:nvCxnSpPr>
          <p:cNvPr id="10" name="直線單箭頭接點 9"/>
          <p:cNvCxnSpPr/>
          <p:nvPr/>
        </p:nvCxnSpPr>
        <p:spPr>
          <a:xfrm flipV="1">
            <a:off x="971600" y="2636912"/>
            <a:ext cx="576064" cy="216024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/>
          <a:lstStyle/>
          <a:p>
            <a:pPr lvl="1">
              <a:buNone/>
            </a:pPr>
            <a:endParaRPr lang="en-US" altLang="zh-TW" sz="2400" dirty="0" smtClean="0"/>
          </a:p>
          <a:p>
            <a:pPr lvl="1"/>
            <a:endParaRPr lang="en-US" altLang="zh-TW" sz="2400" dirty="0" smtClean="0"/>
          </a:p>
          <a:p>
            <a:pPr lvl="1"/>
            <a:endParaRPr lang="en-US" altLang="zh-TW" sz="2400" dirty="0" smtClean="0"/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46331"/>
          </a:xfrm>
        </p:spPr>
        <p:txBody>
          <a:bodyPr/>
          <a:lstStyle/>
          <a:p>
            <a:r>
              <a:rPr lang="zh-TW" altLang="en-US" dirty="0" smtClean="0"/>
              <a:t>報表管理員</a:t>
            </a:r>
            <a:r>
              <a:rPr lang="en-US" altLang="zh-TW" dirty="0" smtClean="0"/>
              <a:t>(Reports)</a:t>
            </a:r>
            <a:r>
              <a:rPr lang="zh-TW" altLang="en-US" dirty="0" smtClean="0"/>
              <a:t>介紹</a:t>
            </a: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871663"/>
            <a:ext cx="9315450" cy="311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1080120" y="2852936"/>
            <a:ext cx="1043608" cy="288032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1619672" y="2348880"/>
            <a:ext cx="7272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>
                <a:solidFill>
                  <a:srgbClr val="0000CC"/>
                </a:solidFill>
              </a:rPr>
              <a:t>3.</a:t>
            </a:r>
            <a:r>
              <a:rPr lang="zh-TW" altLang="en-US" b="1" dirty="0" smtClean="0">
                <a:solidFill>
                  <a:srgbClr val="0000CC"/>
                </a:solidFill>
              </a:rPr>
              <a:t>可透過此按鈕新增資料來源，一個資料來源可讓多支報表使用。</a:t>
            </a:r>
            <a:endParaRPr lang="zh-TW" altLang="en-US" b="1" dirty="0">
              <a:solidFill>
                <a:srgbClr val="0000C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/>
          <a:lstStyle/>
          <a:p>
            <a:pPr lvl="1">
              <a:buNone/>
            </a:pPr>
            <a:endParaRPr lang="en-US" altLang="zh-TW" sz="2400" dirty="0" smtClean="0"/>
          </a:p>
          <a:p>
            <a:pPr lvl="1"/>
            <a:endParaRPr lang="en-US" altLang="zh-TW" sz="2400" dirty="0" smtClean="0"/>
          </a:p>
          <a:p>
            <a:pPr lvl="1"/>
            <a:endParaRPr lang="en-US" altLang="zh-TW" sz="2400" dirty="0" smtClean="0"/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46331"/>
          </a:xfrm>
        </p:spPr>
        <p:txBody>
          <a:bodyPr/>
          <a:lstStyle/>
          <a:p>
            <a:r>
              <a:rPr lang="zh-TW" altLang="en-US" dirty="0" smtClean="0"/>
              <a:t>報表管理員</a:t>
            </a:r>
            <a:r>
              <a:rPr lang="en-US" altLang="zh-TW" dirty="0" smtClean="0"/>
              <a:t>(Reports)</a:t>
            </a:r>
            <a:r>
              <a:rPr lang="zh-TW" altLang="en-US" dirty="0" smtClean="0"/>
              <a:t>介紹</a:t>
            </a: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871663"/>
            <a:ext cx="9315450" cy="311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2195736" y="2852936"/>
            <a:ext cx="827584" cy="288032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1619672" y="2348880"/>
            <a:ext cx="7524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>
                <a:solidFill>
                  <a:srgbClr val="0000CC"/>
                </a:solidFill>
              </a:rPr>
              <a:t>4.</a:t>
            </a:r>
            <a:r>
              <a:rPr lang="zh-TW" altLang="en-US" b="1" dirty="0" smtClean="0">
                <a:solidFill>
                  <a:srgbClr val="0000CC"/>
                </a:solidFill>
              </a:rPr>
              <a:t>可透過此按鈕上傳報表檔，上傳時請注意目前所在資料夾，以免傳錯。</a:t>
            </a:r>
            <a:endParaRPr lang="zh-TW" altLang="en-US" b="1" dirty="0">
              <a:solidFill>
                <a:srgbClr val="0000C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/>
          <a:lstStyle/>
          <a:p>
            <a:pPr lvl="1">
              <a:buNone/>
            </a:pPr>
            <a:endParaRPr lang="en-US" altLang="zh-TW" sz="2400" dirty="0" smtClean="0"/>
          </a:p>
          <a:p>
            <a:pPr lvl="1"/>
            <a:endParaRPr lang="en-US" altLang="zh-TW" sz="2400" dirty="0" smtClean="0"/>
          </a:p>
          <a:p>
            <a:pPr lvl="1"/>
            <a:endParaRPr lang="en-US" altLang="zh-TW" sz="2400" dirty="0" smtClean="0"/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46331"/>
          </a:xfrm>
        </p:spPr>
        <p:txBody>
          <a:bodyPr/>
          <a:lstStyle/>
          <a:p>
            <a:r>
              <a:rPr lang="zh-TW" altLang="en-US" dirty="0" smtClean="0"/>
              <a:t>報表管理員</a:t>
            </a:r>
            <a:r>
              <a:rPr lang="en-US" altLang="zh-TW" dirty="0" smtClean="0"/>
              <a:t>(Reports)</a:t>
            </a:r>
            <a:r>
              <a:rPr lang="zh-TW" altLang="en-US" dirty="0" smtClean="0"/>
              <a:t>介紹</a:t>
            </a:r>
            <a:endParaRPr lang="zh-TW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844824"/>
            <a:ext cx="9315450" cy="311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108391" y="3140968"/>
            <a:ext cx="827584" cy="288032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1619672" y="2348880"/>
            <a:ext cx="7524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>
                <a:solidFill>
                  <a:srgbClr val="0000CC"/>
                </a:solidFill>
              </a:rPr>
              <a:t>5.</a:t>
            </a:r>
            <a:r>
              <a:rPr lang="zh-TW" altLang="en-US" b="1" dirty="0" smtClean="0">
                <a:solidFill>
                  <a:srgbClr val="0000CC"/>
                </a:solidFill>
              </a:rPr>
              <a:t>內建的</a:t>
            </a:r>
            <a:r>
              <a:rPr lang="en-US" altLang="zh-TW" b="1" dirty="0" err="1" smtClean="0">
                <a:solidFill>
                  <a:srgbClr val="0000CC"/>
                </a:solidFill>
              </a:rPr>
              <a:t>EasyFlow</a:t>
            </a:r>
            <a:r>
              <a:rPr lang="zh-TW" altLang="en-US" b="1" dirty="0" smtClean="0">
                <a:solidFill>
                  <a:srgbClr val="0000CC"/>
                </a:solidFill>
              </a:rPr>
              <a:t>資料來源。</a:t>
            </a:r>
            <a:endParaRPr lang="zh-TW" altLang="en-US" b="1" dirty="0">
              <a:solidFill>
                <a:srgbClr val="0000CC"/>
              </a:solidFill>
            </a:endParaRPr>
          </a:p>
        </p:txBody>
      </p:sp>
      <p:cxnSp>
        <p:nvCxnSpPr>
          <p:cNvPr id="7" name="直線單箭頭接點 6"/>
          <p:cNvCxnSpPr>
            <a:endCxn id="9" idx="1"/>
          </p:cNvCxnSpPr>
          <p:nvPr/>
        </p:nvCxnSpPr>
        <p:spPr>
          <a:xfrm flipV="1">
            <a:off x="899592" y="2533546"/>
            <a:ext cx="720080" cy="607422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980728"/>
            <a:ext cx="4191000" cy="6589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矩形 10"/>
          <p:cNvSpPr/>
          <p:nvPr/>
        </p:nvSpPr>
        <p:spPr>
          <a:xfrm>
            <a:off x="5796136" y="3429000"/>
            <a:ext cx="2952328" cy="504056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5796136" y="5229200"/>
            <a:ext cx="2952328" cy="852221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2771800" y="6488668"/>
            <a:ext cx="27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 smtClean="0">
                <a:solidFill>
                  <a:srgbClr val="0000CC"/>
                </a:solidFill>
              </a:rPr>
              <a:t>修改完成後記得按下套用</a:t>
            </a:r>
            <a:endParaRPr lang="zh-TW" altLang="en-US" b="1" dirty="0">
              <a:solidFill>
                <a:srgbClr val="0000CC"/>
              </a:solidFill>
            </a:endParaRPr>
          </a:p>
        </p:txBody>
      </p:sp>
      <p:cxnSp>
        <p:nvCxnSpPr>
          <p:cNvPr id="15" name="直線單箭頭接點 14"/>
          <p:cNvCxnSpPr/>
          <p:nvPr/>
        </p:nvCxnSpPr>
        <p:spPr>
          <a:xfrm>
            <a:off x="5364088" y="6700718"/>
            <a:ext cx="504056" cy="472698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844824"/>
            <a:ext cx="5638800" cy="2219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標題 5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46331"/>
          </a:xfrm>
        </p:spPr>
        <p:txBody>
          <a:bodyPr/>
          <a:lstStyle/>
          <a:p>
            <a:r>
              <a:rPr lang="zh-TW" altLang="en-US" dirty="0" smtClean="0"/>
              <a:t>報表管理員</a:t>
            </a:r>
            <a:r>
              <a:rPr lang="en-US" altLang="zh-TW" dirty="0" smtClean="0"/>
              <a:t>(Reports)</a:t>
            </a:r>
            <a:r>
              <a:rPr lang="zh-TW" altLang="en-US" dirty="0" smtClean="0"/>
              <a:t>介紹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395536" y="3068960"/>
            <a:ext cx="1008112" cy="216024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1619672" y="2276872"/>
            <a:ext cx="504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>
                <a:solidFill>
                  <a:srgbClr val="0000CC"/>
                </a:solidFill>
              </a:rPr>
              <a:t>6.</a:t>
            </a:r>
            <a:r>
              <a:rPr lang="zh-TW" altLang="en-US" b="1" dirty="0" smtClean="0">
                <a:solidFill>
                  <a:srgbClr val="0000CC"/>
                </a:solidFill>
              </a:rPr>
              <a:t>報表檔案</a:t>
            </a:r>
            <a:r>
              <a:rPr lang="en-US" altLang="zh-TW" b="1" dirty="0" smtClean="0">
                <a:solidFill>
                  <a:srgbClr val="0000CC"/>
                </a:solidFill>
              </a:rPr>
              <a:t>RDL</a:t>
            </a:r>
            <a:r>
              <a:rPr lang="zh-TW" altLang="en-US" b="1" dirty="0" smtClean="0">
                <a:solidFill>
                  <a:srgbClr val="0000CC"/>
                </a:solidFill>
              </a:rPr>
              <a:t>，點擊該報表可看到更多設定。</a:t>
            </a:r>
            <a:endParaRPr lang="zh-TW" altLang="en-US" b="1" dirty="0">
              <a:solidFill>
                <a:srgbClr val="0000CC"/>
              </a:solidFill>
            </a:endParaRPr>
          </a:p>
        </p:txBody>
      </p:sp>
      <p:sp>
        <p:nvSpPr>
          <p:cNvPr id="10" name="內容版面配置區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altLang="zh-TW" dirty="0" smtClean="0"/>
          </a:p>
          <a:p>
            <a:pPr>
              <a:buNone/>
            </a:pPr>
            <a:endParaRPr lang="zh-TW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2060848"/>
            <a:ext cx="7656513" cy="296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標題 5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46331"/>
          </a:xfrm>
        </p:spPr>
        <p:txBody>
          <a:bodyPr/>
          <a:lstStyle/>
          <a:p>
            <a:r>
              <a:rPr lang="zh-TW" altLang="en-US" dirty="0" smtClean="0"/>
              <a:t>報表管理員</a:t>
            </a:r>
            <a:r>
              <a:rPr lang="en-US" altLang="zh-TW" dirty="0" smtClean="0"/>
              <a:t>(Reports)</a:t>
            </a:r>
            <a:r>
              <a:rPr lang="zh-TW" altLang="en-US" dirty="0" smtClean="0"/>
              <a:t>介紹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323528" y="2708920"/>
            <a:ext cx="432048" cy="288032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2267744" y="2564904"/>
            <a:ext cx="5688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>
                <a:solidFill>
                  <a:srgbClr val="0000CC"/>
                </a:solidFill>
              </a:rPr>
              <a:t>7.</a:t>
            </a:r>
            <a:r>
              <a:rPr lang="zh-TW" altLang="en-US" b="1" dirty="0" smtClean="0">
                <a:solidFill>
                  <a:srgbClr val="0000CC"/>
                </a:solidFill>
              </a:rPr>
              <a:t>檢視頁籤，輸入報表參數的值後，可直接檢視報表。</a:t>
            </a:r>
            <a:endParaRPr lang="zh-TW" altLang="en-US" b="1" dirty="0">
              <a:solidFill>
                <a:srgbClr val="0000CC"/>
              </a:solidFill>
            </a:endParaRPr>
          </a:p>
        </p:txBody>
      </p:sp>
      <p:sp>
        <p:nvSpPr>
          <p:cNvPr id="10" name="內容版面配置區 9"/>
          <p:cNvSpPr>
            <a:spLocks noGrp="1"/>
          </p:cNvSpPr>
          <p:nvPr>
            <p:ph idx="1"/>
          </p:nvPr>
        </p:nvSpPr>
        <p:spPr>
          <a:xfrm>
            <a:off x="914400" y="3861048"/>
            <a:ext cx="8229600" cy="4525963"/>
          </a:xfrm>
        </p:spPr>
        <p:txBody>
          <a:bodyPr/>
          <a:lstStyle/>
          <a:p>
            <a:pPr>
              <a:buNone/>
            </a:pPr>
            <a:endParaRPr lang="en-US" altLang="zh-TW" dirty="0" smtClean="0"/>
          </a:p>
          <a:p>
            <a:pPr>
              <a:buNone/>
            </a:pPr>
            <a:endParaRPr lang="zh-TW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395536" y="3356992"/>
            <a:ext cx="6624736" cy="1584176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1763688" y="5229200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 smtClean="0">
                <a:solidFill>
                  <a:srgbClr val="0000CC"/>
                </a:solidFill>
              </a:rPr>
              <a:t>報表參數</a:t>
            </a:r>
            <a:endParaRPr lang="zh-TW" altLang="en-US" b="1" dirty="0">
              <a:solidFill>
                <a:srgbClr val="0000CC"/>
              </a:solidFill>
            </a:endParaRPr>
          </a:p>
        </p:txBody>
      </p:sp>
      <p:cxnSp>
        <p:nvCxnSpPr>
          <p:cNvPr id="13" name="直線單箭頭接點 12"/>
          <p:cNvCxnSpPr/>
          <p:nvPr/>
        </p:nvCxnSpPr>
        <p:spPr>
          <a:xfrm flipV="1">
            <a:off x="2339752" y="5013176"/>
            <a:ext cx="0" cy="31939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7164288" y="3429000"/>
            <a:ext cx="864096" cy="216024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468313"/>
            <a:ext cx="5457825" cy="6389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標題 5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46331"/>
          </a:xfrm>
        </p:spPr>
        <p:txBody>
          <a:bodyPr/>
          <a:lstStyle/>
          <a:p>
            <a:r>
              <a:rPr lang="zh-TW" altLang="en-US" dirty="0" smtClean="0"/>
              <a:t>報表管理員</a:t>
            </a:r>
            <a:r>
              <a:rPr lang="en-US" altLang="zh-TW" dirty="0" smtClean="0"/>
              <a:t>(Reports)</a:t>
            </a:r>
            <a:r>
              <a:rPr lang="zh-TW" altLang="en-US" dirty="0" smtClean="0"/>
              <a:t>介紹</a:t>
            </a:r>
            <a:endParaRPr lang="zh-TW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87624" y="1124744"/>
            <a:ext cx="432048" cy="216024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1979712" y="1412776"/>
            <a:ext cx="403244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TW" b="1" dirty="0" smtClean="0">
                <a:solidFill>
                  <a:srgbClr val="0000CC"/>
                </a:solidFill>
              </a:rPr>
              <a:t>8.</a:t>
            </a:r>
            <a:r>
              <a:rPr lang="zh-TW" altLang="en-US" b="1" dirty="0" smtClean="0">
                <a:solidFill>
                  <a:srgbClr val="0000CC"/>
                </a:solidFill>
              </a:rPr>
              <a:t>屬性頁籤的資料來源設定</a:t>
            </a:r>
            <a:endParaRPr lang="zh-TW" altLang="en-US" b="1" dirty="0">
              <a:solidFill>
                <a:srgbClr val="0000CC"/>
              </a:solidFill>
            </a:endParaRPr>
          </a:p>
        </p:txBody>
      </p:sp>
      <p:sp>
        <p:nvSpPr>
          <p:cNvPr id="10" name="內容版面配置區 9"/>
          <p:cNvSpPr>
            <a:spLocks noGrp="1"/>
          </p:cNvSpPr>
          <p:nvPr>
            <p:ph idx="1"/>
          </p:nvPr>
        </p:nvSpPr>
        <p:spPr>
          <a:xfrm>
            <a:off x="251520" y="6525344"/>
            <a:ext cx="8229600" cy="4525963"/>
          </a:xfrm>
        </p:spPr>
        <p:txBody>
          <a:bodyPr/>
          <a:lstStyle/>
          <a:p>
            <a:pPr>
              <a:buNone/>
            </a:pPr>
            <a:endParaRPr lang="en-US" altLang="zh-TW" dirty="0" smtClean="0"/>
          </a:p>
          <a:p>
            <a:pPr>
              <a:buNone/>
            </a:pPr>
            <a:endParaRPr lang="zh-TW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827584" y="2060848"/>
            <a:ext cx="720080" cy="216024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單箭頭接點 11"/>
          <p:cNvCxnSpPr/>
          <p:nvPr/>
        </p:nvCxnSpPr>
        <p:spPr>
          <a:xfrm flipV="1">
            <a:off x="1187624" y="1700808"/>
            <a:ext cx="864096" cy="391398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/>
          <p:cNvCxnSpPr/>
          <p:nvPr/>
        </p:nvCxnSpPr>
        <p:spPr>
          <a:xfrm>
            <a:off x="1403648" y="1372126"/>
            <a:ext cx="576064" cy="184666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字方塊 18"/>
          <p:cNvSpPr txBox="1"/>
          <p:nvPr/>
        </p:nvSpPr>
        <p:spPr>
          <a:xfrm>
            <a:off x="3995936" y="1844824"/>
            <a:ext cx="388843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TW" altLang="en-US" b="1" dirty="0" smtClean="0">
                <a:solidFill>
                  <a:srgbClr val="FF0000"/>
                </a:solidFill>
              </a:rPr>
              <a:t>建議使用共用資料來源，</a:t>
            </a:r>
            <a:endParaRPr lang="en-US" altLang="zh-TW" b="1" dirty="0" smtClean="0">
              <a:solidFill>
                <a:srgbClr val="FF0000"/>
              </a:solidFill>
            </a:endParaRPr>
          </a:p>
          <a:p>
            <a:r>
              <a:rPr lang="zh-TW" altLang="en-US" b="1" dirty="0" smtClean="0">
                <a:solidFill>
                  <a:srgbClr val="FF0000"/>
                </a:solidFill>
              </a:rPr>
              <a:t>日後換</a:t>
            </a:r>
            <a:r>
              <a:rPr lang="en-US" altLang="zh-TW" b="1" dirty="0" smtClean="0">
                <a:solidFill>
                  <a:srgbClr val="FF0000"/>
                </a:solidFill>
              </a:rPr>
              <a:t>IP</a:t>
            </a:r>
            <a:r>
              <a:rPr lang="zh-TW" altLang="en-US" b="1" dirty="0" smtClean="0">
                <a:solidFill>
                  <a:srgbClr val="FF0000"/>
                </a:solidFill>
              </a:rPr>
              <a:t>或帳密維護上比較方便。</a:t>
            </a:r>
            <a:endParaRPr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547664" y="6453336"/>
            <a:ext cx="720080" cy="404664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/>
          <p:cNvSpPr txBox="1"/>
          <p:nvPr/>
        </p:nvSpPr>
        <p:spPr>
          <a:xfrm>
            <a:off x="0" y="5593214"/>
            <a:ext cx="2736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 smtClean="0">
                <a:solidFill>
                  <a:srgbClr val="0000CC"/>
                </a:solidFill>
              </a:rPr>
              <a:t>修改完成後記得按下套用</a:t>
            </a:r>
            <a:endParaRPr lang="zh-TW" altLang="en-US" b="1" dirty="0">
              <a:solidFill>
                <a:srgbClr val="0000CC"/>
              </a:solidFill>
            </a:endParaRPr>
          </a:p>
        </p:txBody>
      </p:sp>
      <p:cxnSp>
        <p:nvCxnSpPr>
          <p:cNvPr id="22" name="直線單箭頭接點 21"/>
          <p:cNvCxnSpPr/>
          <p:nvPr/>
        </p:nvCxnSpPr>
        <p:spPr>
          <a:xfrm>
            <a:off x="1835696" y="5949280"/>
            <a:ext cx="72008" cy="432048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844824"/>
            <a:ext cx="6257925" cy="203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標題 5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46331"/>
          </a:xfrm>
        </p:spPr>
        <p:txBody>
          <a:bodyPr/>
          <a:lstStyle/>
          <a:p>
            <a:r>
              <a:rPr lang="zh-TW" altLang="en-US" dirty="0" smtClean="0"/>
              <a:t>報表管理員</a:t>
            </a:r>
            <a:r>
              <a:rPr lang="en-US" altLang="zh-TW" dirty="0" smtClean="0"/>
              <a:t>(Reports)</a:t>
            </a:r>
            <a:r>
              <a:rPr lang="zh-TW" altLang="en-US" dirty="0" smtClean="0"/>
              <a:t>介紹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1835696" y="2204864"/>
            <a:ext cx="475252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TW" b="1" dirty="0" smtClean="0">
                <a:solidFill>
                  <a:srgbClr val="0000CC"/>
                </a:solidFill>
              </a:rPr>
              <a:t>9.</a:t>
            </a:r>
            <a:r>
              <a:rPr lang="zh-TW" altLang="en-US" b="1" dirty="0" smtClean="0">
                <a:solidFill>
                  <a:srgbClr val="0000CC"/>
                </a:solidFill>
              </a:rPr>
              <a:t>按下顯示詳細資料可進階編輯資料夾、檔案</a:t>
            </a:r>
            <a:endParaRPr lang="zh-TW" altLang="en-US" b="1" dirty="0">
              <a:solidFill>
                <a:srgbClr val="0000CC"/>
              </a:solidFill>
            </a:endParaRPr>
          </a:p>
        </p:txBody>
      </p:sp>
      <p:sp>
        <p:nvSpPr>
          <p:cNvPr id="10" name="內容版面配置區 9"/>
          <p:cNvSpPr>
            <a:spLocks noGrp="1"/>
          </p:cNvSpPr>
          <p:nvPr>
            <p:ph idx="1"/>
          </p:nvPr>
        </p:nvSpPr>
        <p:spPr>
          <a:xfrm>
            <a:off x="251520" y="6525344"/>
            <a:ext cx="8229600" cy="4525963"/>
          </a:xfrm>
        </p:spPr>
        <p:txBody>
          <a:bodyPr/>
          <a:lstStyle/>
          <a:p>
            <a:pPr>
              <a:buNone/>
            </a:pPr>
            <a:endParaRPr lang="en-US" altLang="zh-TW" dirty="0" smtClean="0"/>
          </a:p>
          <a:p>
            <a:pPr>
              <a:buNone/>
            </a:pPr>
            <a:endParaRPr lang="zh-TW" altLang="en-US" dirty="0"/>
          </a:p>
        </p:txBody>
      </p:sp>
      <p:cxnSp>
        <p:nvCxnSpPr>
          <p:cNvPr id="12" name="直線單箭頭接點 11"/>
          <p:cNvCxnSpPr/>
          <p:nvPr/>
        </p:nvCxnSpPr>
        <p:spPr>
          <a:xfrm>
            <a:off x="4860032" y="2564904"/>
            <a:ext cx="504056" cy="216024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191" y="4286250"/>
            <a:ext cx="6296025" cy="257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/>
          <a:lstStyle/>
          <a:p>
            <a:pPr lvl="1" algn="ctr">
              <a:buNone/>
            </a:pPr>
            <a:endParaRPr lang="en-US" altLang="zh-TW" sz="2400" dirty="0" smtClean="0"/>
          </a:p>
          <a:p>
            <a:pPr lvl="1" algn="ctr">
              <a:buNone/>
            </a:pPr>
            <a:endParaRPr lang="en-US" altLang="zh-TW" sz="2400" dirty="0" smtClean="0"/>
          </a:p>
          <a:p>
            <a:pPr lvl="1" algn="ctr">
              <a:buNone/>
            </a:pPr>
            <a:endParaRPr lang="en-US" altLang="zh-TW" sz="2400" dirty="0" smtClean="0"/>
          </a:p>
          <a:p>
            <a:pPr lvl="1" algn="ctr">
              <a:buNone/>
            </a:pPr>
            <a:endParaRPr lang="en-US" altLang="zh-TW" sz="2400" dirty="0" smtClean="0"/>
          </a:p>
          <a:p>
            <a:pPr lvl="1" algn="ctr">
              <a:buNone/>
            </a:pPr>
            <a:r>
              <a:rPr lang="en-US" altLang="zh-TW" sz="4800" dirty="0" smtClean="0"/>
              <a:t>Visual Studio</a:t>
            </a:r>
            <a:r>
              <a:rPr lang="zh-TW" altLang="en-US" sz="4800" dirty="0" smtClean="0"/>
              <a:t>工具介紹</a:t>
            </a:r>
            <a:endParaRPr lang="en-US" altLang="zh-TW" sz="4800" dirty="0" smtClean="0"/>
          </a:p>
          <a:p>
            <a:pPr lvl="1">
              <a:buNone/>
            </a:pPr>
            <a:endParaRPr lang="en-US" altLang="zh-TW" sz="2400" dirty="0" smtClean="0"/>
          </a:p>
          <a:p>
            <a:pPr lvl="1"/>
            <a:endParaRPr lang="en-US" altLang="zh-TW" sz="2400" dirty="0" smtClean="0"/>
          </a:p>
          <a:p>
            <a:pPr lvl="1"/>
            <a:endParaRPr lang="en-US" altLang="zh-TW" sz="2400" dirty="0" smtClean="0"/>
          </a:p>
        </p:txBody>
      </p:sp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46331"/>
          </a:xfrm>
        </p:spPr>
        <p:txBody>
          <a:bodyPr/>
          <a:lstStyle/>
          <a:p>
            <a:pPr lvl="1" algn="l"/>
            <a:r>
              <a:rPr kumimoji="1" lang="en-US" altLang="zh-TW" sz="3600" b="1" kern="1200" spc="-15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  <a:cs typeface="+mn-cs"/>
              </a:rPr>
              <a:t>Visual Studio</a:t>
            </a:r>
            <a:r>
              <a:rPr kumimoji="1" lang="zh-TW" altLang="en-US" sz="3600" b="1" kern="1200" spc="-15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  <a:cs typeface="+mn-cs"/>
              </a:rPr>
              <a:t>工具介紹</a:t>
            </a:r>
            <a:endParaRPr kumimoji="1" lang="en-US" altLang="zh-TW" sz="3600" b="1" kern="1200" spc="-15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10" name="內容版面配置區 9"/>
          <p:cNvSpPr>
            <a:spLocks noGrp="1"/>
          </p:cNvSpPr>
          <p:nvPr>
            <p:ph idx="1"/>
          </p:nvPr>
        </p:nvSpPr>
        <p:spPr>
          <a:xfrm>
            <a:off x="914400" y="3861048"/>
            <a:ext cx="8229600" cy="4525963"/>
          </a:xfrm>
        </p:spPr>
        <p:txBody>
          <a:bodyPr/>
          <a:lstStyle/>
          <a:p>
            <a:pPr>
              <a:buNone/>
            </a:pPr>
            <a:endParaRPr lang="en-US" altLang="zh-TW" dirty="0" smtClean="0"/>
          </a:p>
          <a:p>
            <a:pPr>
              <a:buNone/>
            </a:pPr>
            <a:endParaRPr lang="zh-TW" altLang="en-US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467544" y="1772816"/>
            <a:ext cx="7992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solidFill>
                  <a:srgbClr val="0000CC"/>
                </a:solidFill>
              </a:rPr>
              <a:t>1.</a:t>
            </a:r>
            <a:r>
              <a:rPr lang="zh-TW" altLang="en-US" sz="2400" dirty="0" smtClean="0">
                <a:solidFill>
                  <a:srgbClr val="0000CC"/>
                </a:solidFill>
              </a:rPr>
              <a:t>可直接在</a:t>
            </a:r>
            <a:r>
              <a:rPr lang="en-US" altLang="zh-TW" sz="2400" dirty="0" smtClean="0">
                <a:solidFill>
                  <a:srgbClr val="0000CC"/>
                </a:solidFill>
              </a:rPr>
              <a:t>DB</a:t>
            </a:r>
            <a:r>
              <a:rPr lang="zh-TW" altLang="en-US" sz="2400" dirty="0" smtClean="0">
                <a:solidFill>
                  <a:srgbClr val="0000CC"/>
                </a:solidFill>
              </a:rPr>
              <a:t>主機上，開啟</a:t>
            </a:r>
            <a:r>
              <a:rPr lang="en-US" altLang="zh-TW" sz="2400" dirty="0" smtClean="0">
                <a:solidFill>
                  <a:srgbClr val="0000CC"/>
                </a:solidFill>
              </a:rPr>
              <a:t>Visual</a:t>
            </a:r>
            <a:r>
              <a:rPr lang="zh-TW" altLang="en-US" sz="2400" dirty="0" smtClean="0">
                <a:solidFill>
                  <a:srgbClr val="0000CC"/>
                </a:solidFill>
              </a:rPr>
              <a:t> </a:t>
            </a:r>
            <a:r>
              <a:rPr lang="en-US" altLang="zh-TW" sz="2400" dirty="0" smtClean="0">
                <a:solidFill>
                  <a:srgbClr val="0000CC"/>
                </a:solidFill>
              </a:rPr>
              <a:t>Studio</a:t>
            </a:r>
            <a:r>
              <a:rPr lang="zh-TW" altLang="en-US" sz="2400" dirty="0" smtClean="0">
                <a:solidFill>
                  <a:srgbClr val="0000CC"/>
                </a:solidFill>
              </a:rPr>
              <a:t>做開發。</a:t>
            </a:r>
            <a:endParaRPr lang="en-US" altLang="zh-TW" sz="2400" dirty="0" smtClean="0">
              <a:solidFill>
                <a:srgbClr val="0000CC"/>
              </a:solidFill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2204864"/>
            <a:ext cx="2571750" cy="300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2204864"/>
            <a:ext cx="6465887" cy="176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標題 5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46331"/>
          </a:xfrm>
        </p:spPr>
        <p:txBody>
          <a:bodyPr/>
          <a:lstStyle/>
          <a:p>
            <a:pPr lvl="1" algn="l"/>
            <a:r>
              <a:rPr kumimoji="1" lang="en-US" altLang="zh-TW" sz="3600" b="1" kern="1200" spc="-15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  <a:cs typeface="+mn-cs"/>
              </a:rPr>
              <a:t>Visual Studio</a:t>
            </a:r>
            <a:r>
              <a:rPr kumimoji="1" lang="zh-TW" altLang="en-US" sz="3600" b="1" kern="1200" spc="-15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  <a:cs typeface="+mn-cs"/>
              </a:rPr>
              <a:t>工具介紹</a:t>
            </a:r>
            <a:endParaRPr kumimoji="1" lang="en-US" altLang="zh-TW" sz="3600" b="1" kern="1200" spc="-15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10" name="內容版面配置區 9"/>
          <p:cNvSpPr>
            <a:spLocks noGrp="1"/>
          </p:cNvSpPr>
          <p:nvPr>
            <p:ph idx="1"/>
          </p:nvPr>
        </p:nvSpPr>
        <p:spPr>
          <a:xfrm>
            <a:off x="914400" y="6381328"/>
            <a:ext cx="8229600" cy="2005683"/>
          </a:xfrm>
        </p:spPr>
        <p:txBody>
          <a:bodyPr/>
          <a:lstStyle/>
          <a:p>
            <a:pPr>
              <a:buNone/>
            </a:pPr>
            <a:endParaRPr lang="en-US" altLang="zh-TW" dirty="0" smtClean="0"/>
          </a:p>
          <a:p>
            <a:pPr>
              <a:buNone/>
            </a:pPr>
            <a:endParaRPr lang="zh-TW" altLang="en-US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467544" y="1484784"/>
            <a:ext cx="4464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solidFill>
                  <a:srgbClr val="0000CC"/>
                </a:solidFill>
              </a:rPr>
              <a:t>2.</a:t>
            </a:r>
            <a:r>
              <a:rPr lang="zh-TW" altLang="en-US" sz="2400" dirty="0" smtClean="0">
                <a:solidFill>
                  <a:srgbClr val="0000CC"/>
                </a:solidFill>
              </a:rPr>
              <a:t>非</a:t>
            </a:r>
            <a:r>
              <a:rPr lang="en-US" altLang="zh-TW" sz="2400" dirty="0" smtClean="0">
                <a:solidFill>
                  <a:srgbClr val="0000CC"/>
                </a:solidFill>
              </a:rPr>
              <a:t>DB</a:t>
            </a:r>
            <a:r>
              <a:rPr lang="zh-TW" altLang="en-US" sz="2400" dirty="0" smtClean="0">
                <a:solidFill>
                  <a:srgbClr val="0000CC"/>
                </a:solidFill>
              </a:rPr>
              <a:t>主機上開發注意事項</a:t>
            </a:r>
            <a:endParaRPr lang="en-US" altLang="zh-TW" sz="2400" dirty="0" smtClean="0">
              <a:solidFill>
                <a:srgbClr val="0000CC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971600" y="1844824"/>
            <a:ext cx="6192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A.</a:t>
            </a:r>
            <a:r>
              <a:rPr lang="zh-TW" altLang="en-US" dirty="0" smtClean="0"/>
              <a:t>需安裝</a:t>
            </a:r>
            <a:r>
              <a:rPr lang="en-US" altLang="zh-TW" dirty="0" smtClean="0"/>
              <a:t>SQL Server</a:t>
            </a:r>
            <a:r>
              <a:rPr lang="zh-TW" altLang="en-US" dirty="0" smtClean="0"/>
              <a:t>，要與</a:t>
            </a:r>
            <a:r>
              <a:rPr lang="en-US" altLang="zh-TW" dirty="0" smtClean="0"/>
              <a:t>DB</a:t>
            </a:r>
            <a:r>
              <a:rPr lang="zh-TW" altLang="en-US" dirty="0" smtClean="0"/>
              <a:t>主機版本一致</a:t>
            </a:r>
            <a:endParaRPr lang="en-US" altLang="zh-TW" dirty="0" smtClean="0"/>
          </a:p>
        </p:txBody>
      </p:sp>
      <p:sp>
        <p:nvSpPr>
          <p:cNvPr id="11" name="文字方塊 10"/>
          <p:cNvSpPr txBox="1"/>
          <p:nvPr/>
        </p:nvSpPr>
        <p:spPr>
          <a:xfrm>
            <a:off x="971600" y="2204864"/>
            <a:ext cx="619268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B.</a:t>
            </a:r>
            <a:r>
              <a:rPr lang="zh-TW" altLang="en-US" dirty="0" smtClean="0"/>
              <a:t>複製</a:t>
            </a:r>
            <a:r>
              <a:rPr lang="en-US" altLang="zh-TW" dirty="0" smtClean="0"/>
              <a:t>PlatformUtil.dll</a:t>
            </a:r>
            <a:r>
              <a:rPr lang="zh-TW" altLang="en-US" dirty="0" smtClean="0"/>
              <a:t>到下方資料夾</a:t>
            </a:r>
            <a:endParaRPr lang="en-US" altLang="zh-TW" dirty="0" smtClean="0"/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71600" y="4008462"/>
            <a:ext cx="6780213" cy="2228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文字方塊 12"/>
          <p:cNvSpPr txBox="1"/>
          <p:nvPr/>
        </p:nvSpPr>
        <p:spPr>
          <a:xfrm>
            <a:off x="971600" y="3933056"/>
            <a:ext cx="676875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C.</a:t>
            </a:r>
            <a:r>
              <a:rPr lang="zh-TW" altLang="en-US" dirty="0" smtClean="0"/>
              <a:t>複製</a:t>
            </a:r>
            <a:r>
              <a:rPr lang="en-US" altLang="zh-TW" dirty="0" smtClean="0"/>
              <a:t>PlatformUtil.dll</a:t>
            </a:r>
            <a:r>
              <a:rPr lang="zh-TW" altLang="en-US" dirty="0" smtClean="0"/>
              <a:t>到</a:t>
            </a:r>
            <a:r>
              <a:rPr lang="zh-TW" altLang="en-US" dirty="0" smtClean="0"/>
              <a:t>下方資料夾</a:t>
            </a:r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46331"/>
          </a:xfrm>
        </p:spPr>
        <p:txBody>
          <a:bodyPr/>
          <a:lstStyle/>
          <a:p>
            <a:pPr lvl="1" algn="l"/>
            <a:r>
              <a:rPr kumimoji="1" lang="en-US" altLang="zh-TW" sz="3600" b="1" kern="1200" spc="-15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  <a:cs typeface="+mn-cs"/>
              </a:rPr>
              <a:t>Visual Studio</a:t>
            </a:r>
            <a:r>
              <a:rPr kumimoji="1" lang="zh-TW" altLang="en-US" sz="3600" b="1" kern="1200" spc="-15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  <a:cs typeface="+mn-cs"/>
              </a:rPr>
              <a:t>工具介紹</a:t>
            </a:r>
            <a:endParaRPr kumimoji="1" lang="en-US" altLang="zh-TW" sz="3600" b="1" kern="1200" spc="-15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10" name="內容版面配置區 9"/>
          <p:cNvSpPr>
            <a:spLocks noGrp="1"/>
          </p:cNvSpPr>
          <p:nvPr>
            <p:ph idx="1"/>
          </p:nvPr>
        </p:nvSpPr>
        <p:spPr>
          <a:xfrm>
            <a:off x="914400" y="3861048"/>
            <a:ext cx="8229600" cy="4525963"/>
          </a:xfrm>
        </p:spPr>
        <p:txBody>
          <a:bodyPr/>
          <a:lstStyle/>
          <a:p>
            <a:pPr>
              <a:buNone/>
            </a:pPr>
            <a:endParaRPr lang="en-US" altLang="zh-TW" dirty="0" smtClean="0"/>
          </a:p>
          <a:p>
            <a:pPr>
              <a:buNone/>
            </a:pPr>
            <a:endParaRPr lang="zh-TW" altLang="en-US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467544" y="1772816"/>
            <a:ext cx="4464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solidFill>
                  <a:srgbClr val="0000CC"/>
                </a:solidFill>
              </a:rPr>
              <a:t>3.</a:t>
            </a:r>
            <a:r>
              <a:rPr lang="zh-TW" altLang="en-US" sz="2400" dirty="0" smtClean="0">
                <a:solidFill>
                  <a:srgbClr val="0000CC"/>
                </a:solidFill>
              </a:rPr>
              <a:t>開發報表需使用商務智慧專案</a:t>
            </a:r>
            <a:endParaRPr lang="en-US" altLang="zh-TW" sz="2400" dirty="0" smtClean="0">
              <a:solidFill>
                <a:srgbClr val="0000CC"/>
              </a:solidFill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2204864"/>
            <a:ext cx="4114800" cy="189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608" y="2966417"/>
            <a:ext cx="7599363" cy="399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文字方塊 15"/>
          <p:cNvSpPr txBox="1"/>
          <p:nvPr/>
        </p:nvSpPr>
        <p:spPr>
          <a:xfrm>
            <a:off x="3275856" y="4869160"/>
            <a:ext cx="144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 smtClean="0">
                <a:solidFill>
                  <a:srgbClr val="0000CC"/>
                </a:solidFill>
              </a:rPr>
              <a:t>輸入專案名稱</a:t>
            </a:r>
            <a:endParaRPr lang="zh-TW" altLang="en-US" sz="1600" dirty="0">
              <a:solidFill>
                <a:srgbClr val="0000CC"/>
              </a:solidFill>
            </a:endParaRPr>
          </a:p>
        </p:txBody>
      </p:sp>
      <p:cxnSp>
        <p:nvCxnSpPr>
          <p:cNvPr id="17" name="直線單箭頭接點 16"/>
          <p:cNvCxnSpPr>
            <a:stCxn id="16" idx="1"/>
          </p:cNvCxnSpPr>
          <p:nvPr/>
        </p:nvCxnSpPr>
        <p:spPr>
          <a:xfrm flipH="1">
            <a:off x="2915816" y="5038437"/>
            <a:ext cx="360040" cy="190763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46331"/>
          </a:xfrm>
        </p:spPr>
        <p:txBody>
          <a:bodyPr/>
          <a:lstStyle/>
          <a:p>
            <a:pPr lvl="1" algn="l"/>
            <a:r>
              <a:rPr kumimoji="1" lang="en-US" altLang="zh-TW" sz="3600" b="1" kern="1200" spc="-15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  <a:cs typeface="+mn-cs"/>
              </a:rPr>
              <a:t>Visual Studio</a:t>
            </a:r>
            <a:r>
              <a:rPr kumimoji="1" lang="zh-TW" altLang="en-US" sz="3600" b="1" kern="1200" spc="-15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  <a:cs typeface="+mn-cs"/>
              </a:rPr>
              <a:t>工具介紹</a:t>
            </a:r>
            <a:endParaRPr kumimoji="1" lang="en-US" altLang="zh-TW" sz="3600" b="1" kern="1200" spc="-15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10" name="內容版面配置區 9"/>
          <p:cNvSpPr>
            <a:spLocks noGrp="1"/>
          </p:cNvSpPr>
          <p:nvPr>
            <p:ph idx="1"/>
          </p:nvPr>
        </p:nvSpPr>
        <p:spPr>
          <a:xfrm>
            <a:off x="914400" y="3861048"/>
            <a:ext cx="8229600" cy="4525963"/>
          </a:xfrm>
        </p:spPr>
        <p:txBody>
          <a:bodyPr/>
          <a:lstStyle/>
          <a:p>
            <a:pPr>
              <a:buNone/>
            </a:pPr>
            <a:endParaRPr lang="en-US" altLang="zh-TW" dirty="0" smtClean="0"/>
          </a:p>
          <a:p>
            <a:pPr>
              <a:buNone/>
            </a:pPr>
            <a:endParaRPr lang="zh-TW" altLang="en-US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467544" y="1772816"/>
            <a:ext cx="4464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solidFill>
                  <a:srgbClr val="0000CC"/>
                </a:solidFill>
              </a:rPr>
              <a:t>4.</a:t>
            </a:r>
            <a:r>
              <a:rPr lang="zh-TW" altLang="en-US" sz="2400" dirty="0" smtClean="0">
                <a:solidFill>
                  <a:srgbClr val="0000CC"/>
                </a:solidFill>
              </a:rPr>
              <a:t>報表佈署設定</a:t>
            </a:r>
            <a:endParaRPr lang="en-US" altLang="zh-TW" sz="2400" dirty="0" smtClean="0">
              <a:solidFill>
                <a:srgbClr val="0000CC"/>
              </a:solidFill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2204864"/>
            <a:ext cx="2752725" cy="422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文字方塊 10"/>
          <p:cNvSpPr txBox="1"/>
          <p:nvPr/>
        </p:nvSpPr>
        <p:spPr>
          <a:xfrm>
            <a:off x="179512" y="3789040"/>
            <a:ext cx="28803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在專案上按右鍵選擇屬性</a:t>
            </a:r>
            <a:endParaRPr lang="zh-TW" altLang="en-US" dirty="0">
              <a:solidFill>
                <a:srgbClr val="FF0000"/>
              </a:solidFill>
            </a:endParaRPr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38450" y="1412776"/>
            <a:ext cx="6305550" cy="404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文字方塊 11"/>
          <p:cNvSpPr txBox="1"/>
          <p:nvPr/>
        </p:nvSpPr>
        <p:spPr>
          <a:xfrm>
            <a:off x="3275856" y="5517232"/>
            <a:ext cx="53285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/>
              <a:t>TargetServerURL</a:t>
            </a:r>
            <a:endParaRPr lang="en-US" altLang="zh-TW" dirty="0" smtClean="0"/>
          </a:p>
          <a:p>
            <a:r>
              <a:rPr lang="en-US" altLang="zh-TW" dirty="0" smtClean="0">
                <a:solidFill>
                  <a:srgbClr val="0000CC"/>
                </a:solidFill>
              </a:rPr>
              <a:t>	http://DB</a:t>
            </a:r>
            <a:r>
              <a:rPr lang="zh-TW" altLang="en-US" dirty="0" smtClean="0">
                <a:solidFill>
                  <a:srgbClr val="0000CC"/>
                </a:solidFill>
              </a:rPr>
              <a:t>主機</a:t>
            </a:r>
            <a:r>
              <a:rPr lang="en-US" altLang="zh-TW" dirty="0" smtClean="0">
                <a:solidFill>
                  <a:srgbClr val="0000CC"/>
                </a:solidFill>
              </a:rPr>
              <a:t>IP/</a:t>
            </a:r>
            <a:r>
              <a:rPr lang="en-US" altLang="zh-TW" dirty="0" err="1" smtClean="0">
                <a:solidFill>
                  <a:srgbClr val="0000CC"/>
                </a:solidFill>
              </a:rPr>
              <a:t>reportserver</a:t>
            </a:r>
            <a:endParaRPr lang="en-US" altLang="zh-TW" dirty="0" smtClean="0">
              <a:solidFill>
                <a:srgbClr val="0000CC"/>
              </a:solidFill>
            </a:endParaRPr>
          </a:p>
          <a:p>
            <a:r>
              <a:rPr lang="en-US" altLang="zh-TW" dirty="0" err="1" smtClean="0"/>
              <a:t>TargetReportFolder</a:t>
            </a:r>
            <a:endParaRPr lang="en-US" altLang="zh-TW" dirty="0" smtClean="0"/>
          </a:p>
          <a:p>
            <a:r>
              <a:rPr lang="en-US" altLang="zh-TW" dirty="0" smtClean="0">
                <a:solidFill>
                  <a:srgbClr val="0000CC"/>
                </a:solidFill>
              </a:rPr>
              <a:t>	</a:t>
            </a:r>
            <a:r>
              <a:rPr lang="en-US" altLang="zh-TW" dirty="0" err="1" smtClean="0">
                <a:solidFill>
                  <a:srgbClr val="0000CC"/>
                </a:solidFill>
              </a:rPr>
              <a:t>EasyFlow</a:t>
            </a:r>
            <a:r>
              <a:rPr lang="en-US" altLang="zh-TW" dirty="0" smtClean="0">
                <a:solidFill>
                  <a:srgbClr val="0000CC"/>
                </a:solidFill>
              </a:rPr>
              <a:t>/</a:t>
            </a:r>
            <a:r>
              <a:rPr lang="zh-TW" altLang="en-US" dirty="0" smtClean="0">
                <a:solidFill>
                  <a:srgbClr val="0000CC"/>
                </a:solidFill>
              </a:rPr>
              <a:t>程式代號</a:t>
            </a:r>
            <a:endParaRPr lang="en-US" altLang="zh-TW" dirty="0" smtClean="0">
              <a:solidFill>
                <a:srgbClr val="0000CC"/>
              </a:solidFill>
            </a:endParaRPr>
          </a:p>
        </p:txBody>
      </p:sp>
      <p:cxnSp>
        <p:nvCxnSpPr>
          <p:cNvPr id="13" name="直線單箭頭接點 12"/>
          <p:cNvCxnSpPr>
            <a:endCxn id="9219" idx="2"/>
          </p:cNvCxnSpPr>
          <p:nvPr/>
        </p:nvCxnSpPr>
        <p:spPr>
          <a:xfrm flipH="1">
            <a:off x="5991225" y="3429000"/>
            <a:ext cx="1173063" cy="2031901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915816" y="3429000"/>
            <a:ext cx="2686050" cy="103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46331"/>
          </a:xfrm>
        </p:spPr>
        <p:txBody>
          <a:bodyPr/>
          <a:lstStyle/>
          <a:p>
            <a:pPr lvl="1" algn="l"/>
            <a:r>
              <a:rPr kumimoji="1" lang="en-US" altLang="zh-TW" sz="3600" b="1" kern="1200" spc="-15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  <a:cs typeface="+mn-cs"/>
              </a:rPr>
              <a:t>Visual Studio</a:t>
            </a:r>
            <a:r>
              <a:rPr kumimoji="1" lang="zh-TW" altLang="en-US" sz="3600" b="1" kern="1200" spc="-15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  <a:cs typeface="+mn-cs"/>
              </a:rPr>
              <a:t>工具介紹</a:t>
            </a:r>
            <a:endParaRPr kumimoji="1" lang="en-US" altLang="zh-TW" sz="3600" b="1" kern="1200" spc="-15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10" name="內容版面配置區 9"/>
          <p:cNvSpPr>
            <a:spLocks noGrp="1"/>
          </p:cNvSpPr>
          <p:nvPr>
            <p:ph idx="1"/>
          </p:nvPr>
        </p:nvSpPr>
        <p:spPr>
          <a:xfrm>
            <a:off x="914400" y="6381328"/>
            <a:ext cx="8229600" cy="2005683"/>
          </a:xfrm>
        </p:spPr>
        <p:txBody>
          <a:bodyPr/>
          <a:lstStyle/>
          <a:p>
            <a:pPr>
              <a:buNone/>
            </a:pPr>
            <a:endParaRPr lang="en-US" altLang="zh-TW" dirty="0" smtClean="0"/>
          </a:p>
          <a:p>
            <a:pPr>
              <a:buNone/>
            </a:pPr>
            <a:endParaRPr lang="zh-TW" altLang="en-US" dirty="0"/>
          </a:p>
        </p:txBody>
      </p:sp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204864"/>
            <a:ext cx="2847975" cy="201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28925" y="0"/>
            <a:ext cx="6315075" cy="650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文字方塊 13"/>
          <p:cNvSpPr txBox="1"/>
          <p:nvPr/>
        </p:nvSpPr>
        <p:spPr>
          <a:xfrm>
            <a:off x="467544" y="1772816"/>
            <a:ext cx="29523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solidFill>
                  <a:srgbClr val="0000CC"/>
                </a:solidFill>
              </a:rPr>
              <a:t>5.</a:t>
            </a:r>
            <a:r>
              <a:rPr lang="zh-TW" altLang="en-US" sz="2400" dirty="0" smtClean="0">
                <a:solidFill>
                  <a:srgbClr val="0000CC"/>
                </a:solidFill>
              </a:rPr>
              <a:t>加入共用資料來源</a:t>
            </a:r>
            <a:endParaRPr lang="en-US" altLang="zh-TW" sz="2400" dirty="0" smtClean="0">
              <a:solidFill>
                <a:srgbClr val="0000C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>
          <a:xfrm>
            <a:off x="1979712" y="620688"/>
            <a:ext cx="7020272" cy="646331"/>
          </a:xfrm>
        </p:spPr>
        <p:txBody>
          <a:bodyPr/>
          <a:lstStyle/>
          <a:p>
            <a:pPr lvl="1" algn="l"/>
            <a:r>
              <a:rPr kumimoji="1" lang="en-US" altLang="zh-TW" sz="3600" b="1" kern="1200" spc="-15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  <a:cs typeface="+mn-cs"/>
              </a:rPr>
              <a:t>Visual Studio</a:t>
            </a:r>
            <a:r>
              <a:rPr kumimoji="1" lang="zh-TW" altLang="en-US" sz="3600" b="1" kern="1200" spc="-15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  <a:cs typeface="+mn-cs"/>
              </a:rPr>
              <a:t>工具介紹</a:t>
            </a:r>
            <a:endParaRPr kumimoji="1" lang="en-US" altLang="zh-TW" sz="3600" b="1" kern="1200" spc="-15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  <a:cs typeface="+mn-cs"/>
            </a:endParaRPr>
          </a:p>
        </p:txBody>
      </p:sp>
      <p:sp>
        <p:nvSpPr>
          <p:cNvPr id="10" name="內容版面配置區 9"/>
          <p:cNvSpPr>
            <a:spLocks noGrp="1"/>
          </p:cNvSpPr>
          <p:nvPr>
            <p:ph idx="1"/>
          </p:nvPr>
        </p:nvSpPr>
        <p:spPr>
          <a:xfrm>
            <a:off x="914400" y="6381328"/>
            <a:ext cx="8229600" cy="2005683"/>
          </a:xfrm>
        </p:spPr>
        <p:txBody>
          <a:bodyPr/>
          <a:lstStyle/>
          <a:p>
            <a:pPr>
              <a:buNone/>
            </a:pPr>
            <a:endParaRPr lang="en-US" altLang="zh-TW" dirty="0" smtClean="0"/>
          </a:p>
          <a:p>
            <a:pPr>
              <a:buNone/>
            </a:pPr>
            <a:endParaRPr lang="zh-TW" altLang="en-US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467544" y="1772816"/>
            <a:ext cx="44644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>
                <a:solidFill>
                  <a:srgbClr val="0000CC"/>
                </a:solidFill>
              </a:rPr>
              <a:t>6.</a:t>
            </a:r>
            <a:r>
              <a:rPr lang="zh-TW" altLang="en-US" sz="2400" dirty="0" smtClean="0">
                <a:solidFill>
                  <a:srgbClr val="0000CC"/>
                </a:solidFill>
              </a:rPr>
              <a:t>佈署報表</a:t>
            </a:r>
            <a:endParaRPr lang="en-US" altLang="zh-TW" sz="2400" dirty="0" smtClean="0">
              <a:solidFill>
                <a:srgbClr val="0000CC"/>
              </a:solidFill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2348880"/>
            <a:ext cx="30194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文字方塊 14"/>
          <p:cNvSpPr txBox="1"/>
          <p:nvPr/>
        </p:nvSpPr>
        <p:spPr>
          <a:xfrm>
            <a:off x="251520" y="3933056"/>
            <a:ext cx="4032448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在專案上按滑鼠右鍵選擇部署，則會把此專案的所有報表上傳到對應的資料夾下</a:t>
            </a:r>
            <a:endParaRPr lang="zh-TW" altLang="en-US" dirty="0">
              <a:solidFill>
                <a:srgbClr val="FF0000"/>
              </a:solidFill>
            </a:endParaRP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55976" y="2348880"/>
            <a:ext cx="3019425" cy="3752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文字方塊 15"/>
          <p:cNvSpPr txBox="1"/>
          <p:nvPr/>
        </p:nvSpPr>
        <p:spPr>
          <a:xfrm>
            <a:off x="4427984" y="3933056"/>
            <a:ext cx="403244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在報表上按右鍵選擇部署，則只會部署該隻報表。</a:t>
            </a:r>
            <a:endParaRPr lang="zh-TW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3068960"/>
            <a:ext cx="8229600" cy="2016223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zh-TW" sz="4000" b="1" i="1" dirty="0" smtClean="0"/>
              <a:t>The End</a:t>
            </a:r>
          </a:p>
          <a:p>
            <a:pPr marL="0" indent="0" algn="ctr">
              <a:buNone/>
            </a:pPr>
            <a:endParaRPr lang="en-US" altLang="zh-TW" b="1" i="1" dirty="0" smtClean="0"/>
          </a:p>
          <a:p>
            <a:pPr marL="0" indent="0" algn="r">
              <a:buNone/>
            </a:pPr>
            <a:endParaRPr lang="zh-TW" altLang="en-US" b="1" i="1" dirty="0"/>
          </a:p>
        </p:txBody>
      </p:sp>
    </p:spTree>
    <p:extLst>
      <p:ext uri="{BB962C8B-B14F-4D97-AF65-F5344CB8AC3E}">
        <p14:creationId xmlns:p14="http://schemas.microsoft.com/office/powerpoint/2010/main" xmlns="" val="1002815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自訂設計">
  <a:themeElements>
    <a:clrScheme name="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訂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24007</TotalTime>
  <Words>437</Words>
  <Application>Microsoft Office PowerPoint</Application>
  <PresentationFormat>如螢幕大小 (4:3)</PresentationFormat>
  <Paragraphs>81</Paragraphs>
  <Slides>22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2</vt:i4>
      </vt:variant>
      <vt:variant>
        <vt:lpstr>投影片標題</vt:lpstr>
      </vt:variant>
      <vt:variant>
        <vt:i4>22</vt:i4>
      </vt:variant>
    </vt:vector>
  </HeadingPairs>
  <TitlesOfParts>
    <vt:vector size="24" baseType="lpstr">
      <vt:lpstr>自訂設計</vt:lpstr>
      <vt:lpstr>Office 佈景主題</vt:lpstr>
      <vt:lpstr> Reporting報表開發(環境篇)</vt:lpstr>
      <vt:lpstr>大綱</vt:lpstr>
      <vt:lpstr>投影片 3</vt:lpstr>
      <vt:lpstr>環境檢查</vt:lpstr>
      <vt:lpstr>投影片 5</vt:lpstr>
      <vt:lpstr>報表管理員(Reports)介紹</vt:lpstr>
      <vt:lpstr>報表管理員(Reports)介紹</vt:lpstr>
      <vt:lpstr>報表管理員(Reports)介紹</vt:lpstr>
      <vt:lpstr>報表管理員(Reports)介紹</vt:lpstr>
      <vt:lpstr>報表管理員(Reports)介紹</vt:lpstr>
      <vt:lpstr>報表管理員(Reports)介紹</vt:lpstr>
      <vt:lpstr>報表管理員(Reports)介紹</vt:lpstr>
      <vt:lpstr>報表管理員(Reports)介紹</vt:lpstr>
      <vt:lpstr>報表管理員(Reports)介紹</vt:lpstr>
      <vt:lpstr>投影片 15</vt:lpstr>
      <vt:lpstr>Visual Studio工具介紹</vt:lpstr>
      <vt:lpstr>Visual Studio工具介紹</vt:lpstr>
      <vt:lpstr>Visual Studio工具介紹</vt:lpstr>
      <vt:lpstr>Visual Studio工具介紹</vt:lpstr>
      <vt:lpstr>Visual Studio工具介紹</vt:lpstr>
      <vt:lpstr>Visual Studio工具介紹</vt:lpstr>
      <vt:lpstr>投影片 22</vt:lpstr>
    </vt:vector>
  </TitlesOfParts>
  <Company>dsc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ella</dc:creator>
  <cp:lastModifiedBy>weiti</cp:lastModifiedBy>
  <cp:revision>1642</cp:revision>
  <dcterms:created xsi:type="dcterms:W3CDTF">2008-10-15T09:32:36Z</dcterms:created>
  <dcterms:modified xsi:type="dcterms:W3CDTF">2013-04-26T08:16:43Z</dcterms:modified>
</cp:coreProperties>
</file>