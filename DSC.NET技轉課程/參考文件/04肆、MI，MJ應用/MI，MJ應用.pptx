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3"/>
  </p:sldMasterIdLst>
  <p:notesMasterIdLst>
    <p:notesMasterId r:id="rId38"/>
  </p:notesMasterIdLst>
  <p:handoutMasterIdLst>
    <p:handoutMasterId r:id="rId39"/>
  </p:handoutMasterIdLst>
  <p:sldIdLst>
    <p:sldId id="677" r:id="rId4"/>
    <p:sldId id="678" r:id="rId5"/>
    <p:sldId id="679" r:id="rId6"/>
    <p:sldId id="680" r:id="rId7"/>
    <p:sldId id="681" r:id="rId8"/>
    <p:sldId id="682" r:id="rId9"/>
    <p:sldId id="683" r:id="rId10"/>
    <p:sldId id="684" r:id="rId11"/>
    <p:sldId id="685" r:id="rId12"/>
    <p:sldId id="686" r:id="rId13"/>
    <p:sldId id="687" r:id="rId14"/>
    <p:sldId id="688" r:id="rId15"/>
    <p:sldId id="689" r:id="rId16"/>
    <p:sldId id="690" r:id="rId17"/>
    <p:sldId id="691" r:id="rId18"/>
    <p:sldId id="692" r:id="rId19"/>
    <p:sldId id="693" r:id="rId20"/>
    <p:sldId id="694" r:id="rId21"/>
    <p:sldId id="695" r:id="rId22"/>
    <p:sldId id="696" r:id="rId23"/>
    <p:sldId id="697" r:id="rId24"/>
    <p:sldId id="698" r:id="rId25"/>
    <p:sldId id="699" r:id="rId26"/>
    <p:sldId id="700" r:id="rId27"/>
    <p:sldId id="701" r:id="rId28"/>
    <p:sldId id="702" r:id="rId29"/>
    <p:sldId id="703" r:id="rId30"/>
    <p:sldId id="704" r:id="rId31"/>
    <p:sldId id="705" r:id="rId32"/>
    <p:sldId id="706" r:id="rId33"/>
    <p:sldId id="707" r:id="rId34"/>
    <p:sldId id="708" r:id="rId35"/>
    <p:sldId id="709" r:id="rId36"/>
    <p:sldId id="676" r:id="rId37"/>
  </p:sldIdLst>
  <p:sldSz cx="9144000" cy="6858000" type="screen4x3"/>
  <p:notesSz cx="6833870" cy="9979025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1063cindychen" initials="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  <a:srgbClr val="3C8C93"/>
    <a:srgbClr val="E2F1F2"/>
    <a:srgbClr val="D1DCEE"/>
    <a:srgbClr val="D0EAEC"/>
    <a:srgbClr val="C9E7E9"/>
    <a:srgbClr val="E7F4F5"/>
    <a:srgbClr val="0000CC"/>
    <a:srgbClr val="DCDEF4"/>
    <a:srgbClr val="EBEC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29" autoAdjust="0"/>
    <p:restoredTop sz="92580" autoAdjust="0"/>
  </p:normalViewPr>
  <p:slideViewPr>
    <p:cSldViewPr>
      <p:cViewPr>
        <p:scale>
          <a:sx n="80" d="100"/>
          <a:sy n="80" d="100"/>
        </p:scale>
        <p:origin x="-222" y="1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55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2" d="100"/>
        <a:sy n="9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3" Type="http://schemas.openxmlformats.org/officeDocument/2006/relationships/commentAuthors" Target="commentAuthors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1.xml"/><Relationship Id="rId39" Type="http://schemas.openxmlformats.org/officeDocument/2006/relationships/handoutMaster" Target="handoutMasters/handoutMaster1.xml"/><Relationship Id="rId38" Type="http://schemas.openxmlformats.org/officeDocument/2006/relationships/notesMaster" Target="notesMasters/notesMaster1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9" Type="http://schemas.openxmlformats.org/officeDocument/2006/relationships/slide" Target="slides/slide26.xml"/><Relationship Id="rId8" Type="http://schemas.openxmlformats.org/officeDocument/2006/relationships/slide" Target="slides/slide11.xml"/><Relationship Id="rId7" Type="http://schemas.openxmlformats.org/officeDocument/2006/relationships/slide" Target="slides/slide10.xml"/><Relationship Id="rId6" Type="http://schemas.openxmlformats.org/officeDocument/2006/relationships/slide" Target="slides/slide9.xml"/><Relationship Id="rId5" Type="http://schemas.openxmlformats.org/officeDocument/2006/relationships/slide" Target="slides/slide7.xml"/><Relationship Id="rId4" Type="http://schemas.openxmlformats.org/officeDocument/2006/relationships/slide" Target="slides/slide6.xml"/><Relationship Id="rId3" Type="http://schemas.openxmlformats.org/officeDocument/2006/relationships/slide" Target="slides/slide4.xml"/><Relationship Id="rId2" Type="http://schemas.openxmlformats.org/officeDocument/2006/relationships/slide" Target="slides/slide3.xml"/><Relationship Id="rId12" Type="http://schemas.openxmlformats.org/officeDocument/2006/relationships/slide" Target="slides/slide31.xml"/><Relationship Id="rId11" Type="http://schemas.openxmlformats.org/officeDocument/2006/relationships/slide" Target="slides/slide30.xml"/><Relationship Id="rId10" Type="http://schemas.openxmlformats.org/officeDocument/2006/relationships/slide" Target="slides/slide29.xml"/><Relationship Id="rId1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622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71913" y="0"/>
            <a:ext cx="2960687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248930-57E6-4F24-A2EE-754E3BB2D090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78963"/>
            <a:ext cx="29622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71913" y="9478963"/>
            <a:ext cx="2960687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0BCFE1-B21C-4E68-8F53-FCA888565152}" type="slidenum">
              <a:rPr lang="zh-TW" altLang="en-US" smtClean="0"/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2275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925" tIns="45962" rIns="91925" bIns="45962" numCol="1" anchor="t" anchorCtr="0" compatLnSpc="1"/>
          <a:lstStyle>
            <a:lvl1pPr eaLnBrk="0" hangingPunct="0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1913" y="0"/>
            <a:ext cx="2960687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925" tIns="45962" rIns="91925" bIns="45962" numCol="1" anchor="t" anchorCtr="0" compatLnSpc="1"/>
          <a:lstStyle>
            <a:lvl1pPr algn="r" eaLnBrk="0" hangingPunct="0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fld id="{5AFCBC85-116C-4042-82A0-EF8BD8001D3D}" type="datetimeFigureOut">
              <a:rPr lang="zh-TW" altLang="en-US"/>
            </a:fld>
            <a:endParaRPr lang="en-US" altLang="zh-TW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2338" y="747713"/>
            <a:ext cx="4989512" cy="37433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378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4213" y="4740275"/>
            <a:ext cx="5467350" cy="44910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925" tIns="45962" rIns="91925" bIns="45962" numCol="1" anchor="t" anchorCtr="0" compatLnSpc="1"/>
          <a:lstStyle/>
          <a:p>
            <a:pPr lvl="0"/>
            <a:r>
              <a:rPr lang="zh-CN" altLang="en-US" noProof="0" smtClean="0"/>
              <a:t>单击以编辑母片</a:t>
            </a:r>
            <a:endParaRPr lang="zh-TW" altLang="en-US" noProof="0" smtClean="0"/>
          </a:p>
          <a:p>
            <a:pPr lvl="1"/>
            <a:r>
              <a:rPr lang="zh-TW" altLang="en-US" noProof="0" smtClean="0"/>
              <a:t>第二层</a:t>
            </a:r>
            <a:endParaRPr lang="zh-TW" altLang="en-US" noProof="0" smtClean="0"/>
          </a:p>
          <a:p>
            <a:pPr lvl="2"/>
            <a:r>
              <a:rPr lang="zh-TW" altLang="en-US" noProof="0" smtClean="0"/>
              <a:t>第三层</a:t>
            </a:r>
            <a:endParaRPr lang="zh-TW" altLang="en-US" noProof="0" smtClean="0"/>
          </a:p>
          <a:p>
            <a:pPr lvl="3"/>
            <a:r>
              <a:rPr lang="zh-TW" altLang="en-US" noProof="0" smtClean="0"/>
              <a:t>第四层</a:t>
            </a:r>
            <a:endParaRPr lang="zh-TW" altLang="en-US" noProof="0" smtClean="0"/>
          </a:p>
          <a:p>
            <a:pPr lvl="4"/>
            <a:r>
              <a:rPr lang="zh-TW" altLang="en-US" noProof="0" smtClean="0"/>
              <a:t>第五层</a:t>
            </a:r>
            <a:endParaRPr lang="zh-TW" altLang="en-US" noProof="0" smtClean="0"/>
          </a:p>
        </p:txBody>
      </p:sp>
      <p:sp>
        <p:nvSpPr>
          <p:cNvPr id="378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78963"/>
            <a:ext cx="2962275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925" tIns="45962" rIns="91925" bIns="45962" numCol="1" anchor="b" anchorCtr="0" compatLnSpc="1"/>
          <a:lstStyle>
            <a:lvl1pPr eaLnBrk="0" hangingPunct="0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8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1913" y="9478963"/>
            <a:ext cx="2960687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925" tIns="45962" rIns="91925" bIns="45962" numCol="1" anchor="b" anchorCtr="0" compatLnSpc="1"/>
          <a:lstStyle>
            <a:lvl1pPr algn="r" eaLnBrk="0" hangingPunct="0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fld id="{D0238029-D79D-42D5-8DD3-3973BBA50490}" type="slidenum">
              <a:rPr lang="zh-TW" altLang="en-US"/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CDAB0E-E1AC-46DA-A9EC-548034A1FB9F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0034" y="785794"/>
            <a:ext cx="8229600" cy="868363"/>
          </a:xfrm>
        </p:spPr>
        <p:txBody>
          <a:bodyPr/>
          <a:lstStyle>
            <a:lvl1pPr>
              <a:defRPr sz="4000" b="1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0034" y="1928802"/>
            <a:ext cx="8229600" cy="4065588"/>
          </a:xfrm>
        </p:spPr>
        <p:txBody>
          <a:bodyPr/>
          <a:lstStyle>
            <a:lvl1pPr>
              <a:buFont typeface="Wingdings" pitchFamily="2" charset="2"/>
              <a:buChar char="n"/>
              <a:defRPr b="1">
                <a:solidFill>
                  <a:srgbClr val="000099"/>
                </a:solidFill>
                <a:latin typeface="微軟正黑體" pitchFamily="34" charset="-120"/>
                <a:ea typeface="微軟正黑體" pitchFamily="34" charset="-120"/>
              </a:defRPr>
            </a:lvl1pPr>
            <a:lvl2pPr>
              <a:defRPr b="1">
                <a:latin typeface="微軟正黑體" pitchFamily="34" charset="-120"/>
                <a:ea typeface="微軟正黑體" pitchFamily="34" charset="-120"/>
              </a:defRPr>
            </a:lvl2pPr>
            <a:lvl3pPr>
              <a:defRPr b="1">
                <a:solidFill>
                  <a:srgbClr val="663300"/>
                </a:solidFill>
                <a:latin typeface="微軟正黑體" pitchFamily="34" charset="-120"/>
                <a:ea typeface="微軟正黑體" pitchFamily="34" charset="-120"/>
              </a:defRPr>
            </a:lvl3pPr>
            <a:lvl4pPr>
              <a:defRPr b="1">
                <a:latin typeface="微軟正黑體" pitchFamily="34" charset="-120"/>
                <a:ea typeface="微軟正黑體" pitchFamily="34" charset="-120"/>
              </a:defRPr>
            </a:lvl4pPr>
            <a:lvl5pPr>
              <a:defRPr b="1"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 smtClean="0"/>
          </a:p>
          <a:p>
            <a:pPr lvl="1"/>
            <a:r>
              <a:rPr lang="zh-TW" altLang="en-US" dirty="0" smtClean="0"/>
              <a:t>第二層</a:t>
            </a:r>
            <a:endParaRPr lang="zh-TW" altLang="en-US" dirty="0" smtClean="0"/>
          </a:p>
          <a:p>
            <a:pPr lvl="2"/>
            <a:r>
              <a:rPr lang="zh-TW" altLang="en-US" dirty="0" smtClean="0"/>
              <a:t>第三層</a:t>
            </a:r>
            <a:endParaRPr lang="zh-TW" altLang="en-US" dirty="0" smtClean="0"/>
          </a:p>
          <a:p>
            <a:pPr lvl="3"/>
            <a:r>
              <a:rPr lang="zh-TW" altLang="en-US" dirty="0" smtClean="0"/>
              <a:t>第四層</a:t>
            </a:r>
            <a:endParaRPr lang="zh-TW" altLang="en-US" dirty="0" smtClean="0"/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微軟正黑體" pitchFamily="34" charset="-120"/>
                <a:ea typeface="微軟正黑體" pitchFamily="34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微軟正黑體" pitchFamily="34" charset="-120"/>
                <a:ea typeface="微軟正黑體" pitchFamily="34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b="1">
                <a:latin typeface="微軟正黑體" pitchFamily="34" charset="-120"/>
                <a:ea typeface="微軟正黑體" pitchFamily="34" charset="-120"/>
              </a:defRPr>
            </a:lvl1pPr>
          </a:lstStyle>
          <a:p>
            <a:pPr>
              <a:defRPr/>
            </a:pPr>
            <a:endParaRPr lang="en-US" altLang="zh-TW"/>
          </a:p>
          <a:p>
            <a:pPr>
              <a:defRPr/>
            </a:pPr>
            <a:endParaRPr lang="en-US" altLang="zh-TW"/>
          </a:p>
          <a:p>
            <a:pPr>
              <a:defRPr/>
            </a:pPr>
            <a:fld id="{6F8F4BC0-65D6-45C0-95FE-854F8F2BD9FD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5E2AB8-31FC-468B-AE37-ABE5C8C2A0C5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060575"/>
            <a:ext cx="4038600" cy="4065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060575"/>
            <a:ext cx="4038600" cy="4065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09DB8A-6EC4-4D79-AD14-FE7C9DFF5877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652CE6-C213-46A8-84F7-C371EF093858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105AAD-0BA9-43D2-A48E-D7F91AEB675B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D0B806-3AE1-4F93-9E96-89D6A14B6A3D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7EF79-B625-4ABD-994A-D02D50832F6E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5C9E8C-55E2-4C6E-8287-1A65335C65B0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B55A53-5CAC-48E3-808E-56106F08AE1D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981075"/>
            <a:ext cx="2057400" cy="514508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981075"/>
            <a:ext cx="6019800" cy="514508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191D19-2EC9-44B1-8A50-42D6FD8F1F87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2" descr="20110301簡報首頁_集團繁B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標題 1"/>
          <p:cNvSpPr>
            <a:spLocks noGrp="1"/>
          </p:cNvSpPr>
          <p:nvPr>
            <p:ph type="ctrTitle" hasCustomPrompt="1"/>
          </p:nvPr>
        </p:nvSpPr>
        <p:spPr>
          <a:xfrm>
            <a:off x="2555776" y="1988840"/>
            <a:ext cx="6192688" cy="1938992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lang="zh-TW" altLang="en-US" sz="6000" b="1" kern="1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defRPr>
            </a:lvl1pPr>
          </a:lstStyle>
          <a:p>
            <a:r>
              <a:rPr lang="zh-CN" altLang="en-US" dirty="0" smtClean="0"/>
              <a:t>单击以编辑母片标题样式</a:t>
            </a:r>
            <a:endParaRPr lang="zh-TW" altLang="en-US" dirty="0"/>
          </a:p>
        </p:txBody>
      </p:sp>
      <p:sp>
        <p:nvSpPr>
          <p:cNvPr id="4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2555776" y="4437112"/>
            <a:ext cx="4536504" cy="17526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latin typeface="微軟正黑體" pitchFamily="34" charset="-120"/>
                <a:ea typeface="微軟正黑體" pitchFamily="34" charset="-12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 smtClean="0"/>
              <a:t>单击以编辑母片副标题样式</a:t>
            </a:r>
            <a:endParaRPr lang="zh-TW" altLang="en-US" dirty="0"/>
          </a:p>
        </p:txBody>
      </p:sp>
      <p:pic>
        <p:nvPicPr>
          <p:cNvPr id="37890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4937" y="964629"/>
            <a:ext cx="648072" cy="179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1" name="Picture 3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63594" y="988542"/>
            <a:ext cx="797719" cy="146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2" descr="20110301簡報內頁1_集團繁B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標題 1"/>
          <p:cNvSpPr>
            <a:spLocks noGrp="1"/>
          </p:cNvSpPr>
          <p:nvPr>
            <p:ph type="title"/>
          </p:nvPr>
        </p:nvSpPr>
        <p:spPr>
          <a:xfrm>
            <a:off x="1043608" y="2348880"/>
            <a:ext cx="70202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lang="zh-TW" altLang="en-US" sz="4400" b="1" kern="1200" spc="-15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pic>
        <p:nvPicPr>
          <p:cNvPr id="38916" name="Picture 4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63074" y="187198"/>
            <a:ext cx="795189" cy="147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7" name="Picture 5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8494" y="175494"/>
            <a:ext cx="605790" cy="15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2" descr="20110301簡報內頁1_集團繁B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lang="zh-TW" altLang="en-US" sz="3600" b="1" kern="1200" spc="-15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itchFamily="34" charset="-120"/>
                <a:ea typeface="微軟正黑體" pitchFamily="34" charset="-120"/>
              </a:defRPr>
            </a:lvl1pPr>
            <a:lvl2pPr>
              <a:defRPr>
                <a:latin typeface="微軟正黑體" pitchFamily="34" charset="-120"/>
                <a:ea typeface="微軟正黑體" pitchFamily="34" charset="-120"/>
              </a:defRPr>
            </a:lvl2pPr>
            <a:lvl3pPr>
              <a:defRPr>
                <a:latin typeface="微軟正黑體" pitchFamily="34" charset="-120"/>
                <a:ea typeface="微軟正黑體" pitchFamily="34" charset="-120"/>
              </a:defRPr>
            </a:lvl3pPr>
            <a:lvl4pPr>
              <a:defRPr>
                <a:latin typeface="微軟正黑體" pitchFamily="34" charset="-120"/>
                <a:ea typeface="微軟正黑體" pitchFamily="34" charset="-120"/>
              </a:defRPr>
            </a:lvl4pPr>
            <a:lvl5pPr>
              <a:defRPr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 smtClean="0"/>
          </a:p>
          <a:p>
            <a:pPr lvl="1"/>
            <a:r>
              <a:rPr lang="zh-TW" altLang="en-US" dirty="0" smtClean="0"/>
              <a:t>第二層</a:t>
            </a:r>
            <a:endParaRPr lang="zh-TW" altLang="en-US" dirty="0" smtClean="0"/>
          </a:p>
          <a:p>
            <a:pPr lvl="2"/>
            <a:r>
              <a:rPr lang="zh-TW" altLang="en-US" dirty="0" smtClean="0"/>
              <a:t>第三層</a:t>
            </a:r>
            <a:endParaRPr lang="zh-TW" altLang="en-US" dirty="0" smtClean="0"/>
          </a:p>
          <a:p>
            <a:pPr lvl="3"/>
            <a:r>
              <a:rPr lang="zh-TW" altLang="en-US" dirty="0" smtClean="0"/>
              <a:t>第四層</a:t>
            </a:r>
            <a:endParaRPr lang="zh-TW" altLang="en-US" dirty="0" smtClean="0"/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pic>
        <p:nvPicPr>
          <p:cNvPr id="38916" name="Picture 4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63074" y="187198"/>
            <a:ext cx="795189" cy="147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7" name="Picture 5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8494" y="175494"/>
            <a:ext cx="605790" cy="15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452320" y="6445845"/>
            <a:ext cx="1450504" cy="41215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2" descr="20110301簡報內頁2_集團繁B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45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4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63074" y="187198"/>
            <a:ext cx="795189" cy="147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5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8494" y="175494"/>
            <a:ext cx="605790" cy="15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452320" y="6445845"/>
            <a:ext cx="1450504" cy="41215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lang="zh-TW" altLang="en-US" sz="3600" b="1" kern="1200" spc="-15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7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itchFamily="34" charset="-120"/>
                <a:ea typeface="微軟正黑體" pitchFamily="34" charset="-120"/>
              </a:defRPr>
            </a:lvl1pPr>
            <a:lvl2pPr>
              <a:defRPr>
                <a:latin typeface="微軟正黑體" pitchFamily="34" charset="-120"/>
                <a:ea typeface="微軟正黑體" pitchFamily="34" charset="-120"/>
              </a:defRPr>
            </a:lvl2pPr>
            <a:lvl3pPr>
              <a:defRPr>
                <a:latin typeface="微軟正黑體" pitchFamily="34" charset="-120"/>
                <a:ea typeface="微軟正黑體" pitchFamily="34" charset="-120"/>
              </a:defRPr>
            </a:lvl3pPr>
            <a:lvl4pPr>
              <a:defRPr>
                <a:latin typeface="微軟正黑體" pitchFamily="34" charset="-120"/>
                <a:ea typeface="微軟正黑體" pitchFamily="34" charset="-120"/>
              </a:defRPr>
            </a:lvl4pPr>
            <a:lvl5pPr>
              <a:defRPr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 smtClean="0"/>
          </a:p>
          <a:p>
            <a:pPr lvl="1"/>
            <a:r>
              <a:rPr lang="zh-TW" altLang="en-US" dirty="0" smtClean="0"/>
              <a:t>第二層</a:t>
            </a:r>
            <a:endParaRPr lang="zh-TW" altLang="en-US" dirty="0" smtClean="0"/>
          </a:p>
          <a:p>
            <a:pPr lvl="2"/>
            <a:r>
              <a:rPr lang="zh-TW" altLang="en-US" dirty="0" smtClean="0"/>
              <a:t>第三層</a:t>
            </a:r>
            <a:endParaRPr lang="zh-TW" altLang="en-US" dirty="0" smtClean="0"/>
          </a:p>
          <a:p>
            <a:pPr lvl="3"/>
            <a:r>
              <a:rPr lang="zh-TW" altLang="en-US" dirty="0" smtClean="0"/>
              <a:t>第四層</a:t>
            </a:r>
            <a:endParaRPr lang="zh-TW" altLang="en-US" dirty="0" smtClean="0"/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981075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060575"/>
            <a:ext cx="8229600" cy="4065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6221C-E86A-49BC-B566-D20161E0AE5A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AD37B6-3A4E-4AE9-BF48-754C4B6DAAAD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7" Type="http://schemas.openxmlformats.org/officeDocument/2006/relationships/image" Target="../media/image9.jpeg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1" descr="ppt_B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-4763" y="-1588"/>
            <a:ext cx="9153526" cy="686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981075"/>
            <a:ext cx="8229600" cy="868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 smtClean="0"/>
              <a:t>按一下以編輯母片標題樣式</a:t>
            </a:r>
            <a:endParaRPr lang="zh-TW" altLang="en-US" smtClean="0"/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060575"/>
            <a:ext cx="8229600" cy="40655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smtClean="0"/>
              <a:t>按一下以編輯母片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fld id="{1BAA6A6A-B44F-4E1B-A333-ADD46CF30C79}" type="slidenum">
              <a:rPr lang="en-US" altLang="zh-TW"/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pull dir="rd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圖片 6" descr="1007簡報內頁.jp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763" y="0"/>
            <a:ext cx="913447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452320" y="6445845"/>
            <a:ext cx="1450504" cy="41215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1.png"/><Relationship Id="rId3" Type="http://schemas.openxmlformats.org/officeDocument/2006/relationships/oleObject" Target="../embeddings/oleObject2.bin"/><Relationship Id="rId2" Type="http://schemas.openxmlformats.org/officeDocument/2006/relationships/image" Target="../media/image10.png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2.png"/><Relationship Id="rId1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3.png"/><Relationship Id="rId1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4.png"/><Relationship Id="rId1" Type="http://schemas.openxmlformats.org/officeDocument/2006/relationships/oleObject" Target="../embeddings/oleObject5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21.png"/><Relationship Id="rId1" Type="http://schemas.openxmlformats.org/officeDocument/2006/relationships/oleObject" Target="../embeddings/oleObject6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22.png"/><Relationship Id="rId1" Type="http://schemas.openxmlformats.org/officeDocument/2006/relationships/oleObject" Target="../embeddings/oleObject7.bin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23.png"/><Relationship Id="rId1" Type="http://schemas.openxmlformats.org/officeDocument/2006/relationships/oleObject" Target="../embeddings/oleObject8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24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699792" y="1412776"/>
            <a:ext cx="6192688" cy="2133600"/>
          </a:xfrm>
        </p:spPr>
        <p:txBody>
          <a:bodyPr/>
          <a:lstStyle/>
          <a:p>
            <a:r>
              <a:rPr lang="en-US" altLang="zh-TW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DSC</a:t>
            </a:r>
            <a:r>
              <a:rPr lang="en-US" altLang="zh-TW" sz="480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.</a:t>
            </a:r>
            <a:r>
              <a:rPr lang="en-US" altLang="zh-TW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NET</a:t>
            </a:r>
            <a:r>
              <a:rPr lang="en-US" altLang="zh-TW" sz="480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 </a:t>
            </a:r>
            <a:r>
              <a:rPr lang="zh-TW" altLang="en-US" sz="4800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平台</a:t>
            </a:r>
            <a:br>
              <a:rPr lang="zh-TW" altLang="en-US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</a:br>
            <a:r>
              <a:rPr lang="en-US" altLang="zh-TW" dirty="0">
                <a:latin typeface="Arial Unicode MS" pitchFamily="34" charset="-120"/>
                <a:ea typeface="Arial Unicode MS" pitchFamily="34" charset="-120"/>
                <a:cs typeface="Times New Roman" pitchFamily="18" charset="0"/>
              </a:rPr>
              <a:t>MI</a:t>
            </a:r>
            <a:r>
              <a:rPr lang="en-US" altLang="zh-TW" dirty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MJ</a:t>
            </a:r>
            <a:r>
              <a:rPr lang="zh-TW" altLang="en-US" dirty="0">
                <a:ea typeface="新細明體" charset="-120"/>
              </a:rPr>
              <a:t>技術概念</a:t>
            </a:r>
            <a:endParaRPr lang="zh-TW" altLang="en-US" dirty="0">
              <a:ea typeface="新細明體" charset="-120"/>
            </a:endParaRPr>
          </a:p>
        </p:txBody>
      </p:sp>
      <p:sp>
        <p:nvSpPr>
          <p:cNvPr id="2" name="副標題 1"/>
          <p:cNvSpPr/>
          <p:nvPr>
            <p:ph type="subTitle" idx="1"/>
          </p:nvPr>
        </p:nvSpPr>
        <p:spPr>
          <a:xfrm>
            <a:off x="2555875" y="4437380"/>
            <a:ext cx="2322830" cy="822325"/>
          </a:xfrm>
        </p:spPr>
        <p:txBody>
          <a:bodyPr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TW" altLang="en-US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uLnTx/>
                <a:uFillTx/>
                <a:latin typeface="細明體" pitchFamily="49" charset="-120"/>
                <a:ea typeface="細明體" pitchFamily="49" charset="-120"/>
                <a:sym typeface="+mn-ea"/>
              </a:rPr>
              <a:t>吳俐君</a:t>
            </a:r>
            <a:endParaRPr kumimoji="1" lang="zh-TW" altLang="en-US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細明體" pitchFamily="49" charset="-120"/>
              <a:ea typeface="細明體" pitchFamily="49" charset="-120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kumimoji="1" lang="zh-TW" altLang="en-US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uLnTx/>
                <a:uFillTx/>
                <a:sym typeface="+mn-ea"/>
              </a:rPr>
              <a:t>鼎新電腦</a:t>
            </a:r>
            <a:endParaRPr lang="zh-TW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07704" y="548680"/>
            <a:ext cx="7020272" cy="707886"/>
          </a:xfrm>
        </p:spPr>
        <p:txBody>
          <a:bodyPr/>
          <a:lstStyle/>
          <a:p>
            <a:pPr algn="l"/>
            <a:r>
              <a:rPr lang="zh-TW" altLang="en-US" sz="4000" dirty="0">
                <a:latin typeface="華康鐵線龍門W3" charset="-120"/>
              </a:rPr>
              <a:t>大   綱</a:t>
            </a:r>
            <a:endParaRPr lang="zh-TW" altLang="en-US" sz="4000" dirty="0">
              <a:latin typeface="華康鐵線龍門W3" charset="-120"/>
            </a:endParaRPr>
          </a:p>
        </p:txBody>
      </p:sp>
      <p:sp>
        <p:nvSpPr>
          <p:cNvPr id="4904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5536" y="1556792"/>
            <a:ext cx="7772400" cy="49530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dirty="0">
                <a:latin typeface="Arial" charset="0"/>
              </a:rPr>
              <a:t>MIMJ</a:t>
            </a:r>
            <a:r>
              <a:rPr lang="zh-TW" altLang="en-US" dirty="0">
                <a:latin typeface="Arial" charset="0"/>
              </a:rPr>
              <a:t>基本概念</a:t>
            </a:r>
            <a:endParaRPr lang="zh-TW" altLang="en-US" dirty="0">
              <a:latin typeface="Arial" charset="0"/>
            </a:endParaRPr>
          </a:p>
          <a:p>
            <a:pPr>
              <a:lnSpc>
                <a:spcPct val="90000"/>
              </a:lnSpc>
            </a:pPr>
            <a:r>
              <a:rPr lang="en-US" altLang="zh-TW" dirty="0">
                <a:latin typeface="Arial" charset="0"/>
              </a:rPr>
              <a:t>MI</a:t>
            </a:r>
            <a:endParaRPr lang="en-US" altLang="zh-TW" dirty="0">
              <a:latin typeface="Arial" charset="0"/>
            </a:endParaRPr>
          </a:p>
          <a:p>
            <a:pPr lvl="1">
              <a:lnSpc>
                <a:spcPct val="90000"/>
              </a:lnSpc>
            </a:pPr>
            <a:r>
              <a:rPr lang="zh-TW" altLang="en-US" dirty="0">
                <a:latin typeface="Arial" charset="0"/>
              </a:rPr>
              <a:t>註冊</a:t>
            </a:r>
            <a:r>
              <a:rPr lang="en-US" altLang="zh-TW" dirty="0">
                <a:latin typeface="Arial" charset="0"/>
              </a:rPr>
              <a:t>MI</a:t>
            </a:r>
            <a:r>
              <a:rPr lang="zh-TW" altLang="en-US" dirty="0">
                <a:latin typeface="Arial" charset="0"/>
              </a:rPr>
              <a:t>的方法</a:t>
            </a:r>
            <a:r>
              <a:rPr lang="en-US" altLang="zh-TW" dirty="0">
                <a:latin typeface="Arial" charset="0"/>
              </a:rPr>
              <a:t>---</a:t>
            </a:r>
            <a:r>
              <a:rPr lang="zh-TW" altLang="en-US" dirty="0">
                <a:latin typeface="Arial" charset="0"/>
              </a:rPr>
              <a:t>基本型、 進階型、 高階型</a:t>
            </a:r>
            <a:endParaRPr lang="zh-TW" altLang="en-US" dirty="0">
              <a:latin typeface="Arial" charset="0"/>
            </a:endParaRPr>
          </a:p>
          <a:p>
            <a:pPr lvl="1">
              <a:lnSpc>
                <a:spcPct val="90000"/>
              </a:lnSpc>
            </a:pPr>
            <a:r>
              <a:rPr lang="zh-TW" altLang="en-US" dirty="0">
                <a:latin typeface="Arial" charset="0"/>
              </a:rPr>
              <a:t>執行</a:t>
            </a:r>
            <a:r>
              <a:rPr lang="en-US" altLang="zh-TW" dirty="0">
                <a:latin typeface="Arial" charset="0"/>
              </a:rPr>
              <a:t>MI</a:t>
            </a:r>
            <a:r>
              <a:rPr lang="zh-TW" altLang="en-US" dirty="0">
                <a:latin typeface="Arial" charset="0"/>
              </a:rPr>
              <a:t>的方法</a:t>
            </a:r>
            <a:r>
              <a:rPr lang="en-US" altLang="zh-TW" dirty="0">
                <a:latin typeface="Arial" charset="0"/>
              </a:rPr>
              <a:t>---</a:t>
            </a:r>
            <a:r>
              <a:rPr lang="zh-TW" altLang="en-US" dirty="0">
                <a:latin typeface="Arial" charset="0"/>
              </a:rPr>
              <a:t>基本型</a:t>
            </a:r>
            <a:endParaRPr lang="zh-TW" altLang="en-US" dirty="0">
              <a:latin typeface="Arial" charset="0"/>
            </a:endParaRPr>
          </a:p>
          <a:p>
            <a:pPr>
              <a:lnSpc>
                <a:spcPct val="90000"/>
              </a:lnSpc>
            </a:pPr>
            <a:r>
              <a:rPr lang="en-US" altLang="zh-TW" dirty="0">
                <a:latin typeface="Arial" charset="0"/>
              </a:rPr>
              <a:t>MJ</a:t>
            </a:r>
            <a:endParaRPr lang="en-US" altLang="zh-TW" dirty="0">
              <a:latin typeface="Arial" charset="0"/>
            </a:endParaRPr>
          </a:p>
          <a:p>
            <a:pPr lvl="1">
              <a:lnSpc>
                <a:spcPct val="90000"/>
              </a:lnSpc>
            </a:pPr>
            <a:r>
              <a:rPr lang="zh-TW" altLang="en-US" dirty="0">
                <a:latin typeface="Arial" charset="0"/>
              </a:rPr>
              <a:t>註冊</a:t>
            </a:r>
            <a:r>
              <a:rPr lang="en-US" altLang="zh-TW" dirty="0">
                <a:latin typeface="Arial" charset="0"/>
              </a:rPr>
              <a:t>MJ</a:t>
            </a:r>
            <a:r>
              <a:rPr lang="zh-TW" altLang="en-US" dirty="0">
                <a:latin typeface="Arial" charset="0"/>
              </a:rPr>
              <a:t>的方法</a:t>
            </a:r>
            <a:r>
              <a:rPr lang="en-US" altLang="zh-TW" dirty="0">
                <a:latin typeface="Arial" charset="0"/>
              </a:rPr>
              <a:t>---</a:t>
            </a:r>
            <a:r>
              <a:rPr lang="zh-TW" altLang="en-US" dirty="0">
                <a:latin typeface="Arial" charset="0"/>
              </a:rPr>
              <a:t>基本型</a:t>
            </a:r>
            <a:endParaRPr lang="zh-TW" altLang="en-US" dirty="0">
              <a:latin typeface="Arial" charset="0"/>
            </a:endParaRPr>
          </a:p>
          <a:p>
            <a:pPr lvl="1">
              <a:lnSpc>
                <a:spcPct val="90000"/>
              </a:lnSpc>
            </a:pPr>
            <a:r>
              <a:rPr lang="zh-TW" altLang="en-US" dirty="0">
                <a:latin typeface="Arial" charset="0"/>
              </a:rPr>
              <a:t>執行</a:t>
            </a:r>
            <a:r>
              <a:rPr lang="en-US" altLang="zh-TW" dirty="0">
                <a:latin typeface="Arial" charset="0"/>
              </a:rPr>
              <a:t>MJ</a:t>
            </a:r>
            <a:r>
              <a:rPr lang="zh-TW" altLang="en-US" dirty="0">
                <a:latin typeface="Arial" charset="0"/>
              </a:rPr>
              <a:t>的方法</a:t>
            </a:r>
            <a:r>
              <a:rPr lang="en-US" altLang="zh-TW" dirty="0">
                <a:latin typeface="Arial" charset="0"/>
              </a:rPr>
              <a:t>---</a:t>
            </a:r>
            <a:r>
              <a:rPr lang="zh-TW" altLang="en-US" dirty="0">
                <a:latin typeface="Arial" charset="0"/>
              </a:rPr>
              <a:t>基本型、 進階型</a:t>
            </a:r>
            <a:endParaRPr lang="zh-TW" altLang="en-US" dirty="0">
              <a:latin typeface="Arial" charset="0"/>
            </a:endParaRPr>
          </a:p>
          <a:p>
            <a:pPr>
              <a:lnSpc>
                <a:spcPct val="90000"/>
              </a:lnSpc>
            </a:pPr>
            <a:r>
              <a:rPr lang="en-US" altLang="zh-TW" dirty="0">
                <a:latin typeface="Arial" charset="0"/>
              </a:rPr>
              <a:t>MJ</a:t>
            </a:r>
            <a:r>
              <a:rPr lang="zh-TW" altLang="en-US" dirty="0">
                <a:latin typeface="Arial" charset="0"/>
              </a:rPr>
              <a:t>特殊範例</a:t>
            </a:r>
            <a:endParaRPr lang="zh-TW" altLang="en-US" dirty="0">
              <a:latin typeface="Arial" charset="0"/>
            </a:endParaRPr>
          </a:p>
          <a:p>
            <a:pPr>
              <a:lnSpc>
                <a:spcPct val="90000"/>
              </a:lnSpc>
            </a:pPr>
            <a:r>
              <a:rPr lang="en-US" altLang="zh-TW" dirty="0">
                <a:latin typeface="Arial" charset="0"/>
              </a:rPr>
              <a:t>MIMJ</a:t>
            </a:r>
            <a:r>
              <a:rPr lang="zh-TW" altLang="en-US" dirty="0">
                <a:latin typeface="Arial" charset="0"/>
              </a:rPr>
              <a:t>常見的錯誤</a:t>
            </a:r>
            <a:endParaRPr lang="zh-TW" altLang="en-US" dirty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2" name="Rectangle 2"/>
          <p:cNvSpPr>
            <a:spLocks noChangeArrowheads="1"/>
          </p:cNvSpPr>
          <p:nvPr/>
        </p:nvSpPr>
        <p:spPr bwMode="auto">
          <a:xfrm>
            <a:off x="4419600" y="1981200"/>
            <a:ext cx="15240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91523" name="Rectangle 3"/>
          <p:cNvSpPr>
            <a:spLocks noChangeArrowheads="1"/>
          </p:cNvSpPr>
          <p:nvPr/>
        </p:nvSpPr>
        <p:spPr bwMode="auto">
          <a:xfrm>
            <a:off x="2133600" y="1981200"/>
            <a:ext cx="15240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91524" name="Text Box 4"/>
          <p:cNvSpPr txBox="1">
            <a:spLocks noChangeArrowheads="1"/>
          </p:cNvSpPr>
          <p:nvPr/>
        </p:nvSpPr>
        <p:spPr bwMode="auto">
          <a:xfrm>
            <a:off x="1066800" y="1949450"/>
            <a:ext cx="14478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TW" altLang="en-US" sz="1600" b="0"/>
              <a:t>員工代號</a:t>
            </a:r>
            <a:endParaRPr lang="zh-TW" altLang="en-US" sz="1600" b="0"/>
          </a:p>
        </p:txBody>
      </p:sp>
      <p:sp>
        <p:nvSpPr>
          <p:cNvPr id="491525" name="Text Box 5"/>
          <p:cNvSpPr txBox="1">
            <a:spLocks noChangeArrowheads="1"/>
          </p:cNvSpPr>
          <p:nvPr/>
        </p:nvSpPr>
        <p:spPr bwMode="auto">
          <a:xfrm>
            <a:off x="2362200" y="1600200"/>
            <a:ext cx="11430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TW" sz="1400">
                <a:solidFill>
                  <a:srgbClr val="660033"/>
                </a:solidFill>
              </a:rPr>
              <a:t>test01_txt</a:t>
            </a:r>
            <a:endParaRPr lang="en-US" altLang="zh-TW" sz="1400">
              <a:solidFill>
                <a:srgbClr val="660033"/>
              </a:solidFill>
            </a:endParaRPr>
          </a:p>
        </p:txBody>
      </p:sp>
      <p:sp>
        <p:nvSpPr>
          <p:cNvPr id="491526" name="Text Box 6"/>
          <p:cNvSpPr txBox="1">
            <a:spLocks noChangeArrowheads="1"/>
          </p:cNvSpPr>
          <p:nvPr/>
        </p:nvSpPr>
        <p:spPr bwMode="auto">
          <a:xfrm>
            <a:off x="4724400" y="1600200"/>
            <a:ext cx="11430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TW" sz="1400">
                <a:solidFill>
                  <a:srgbClr val="660033"/>
                </a:solidFill>
              </a:rPr>
              <a:t>test01_txt2</a:t>
            </a:r>
            <a:endParaRPr lang="en-US" altLang="zh-TW" sz="1400">
              <a:solidFill>
                <a:srgbClr val="660033"/>
              </a:solidFill>
            </a:endParaRPr>
          </a:p>
        </p:txBody>
      </p:sp>
      <p:sp>
        <p:nvSpPr>
          <p:cNvPr id="491527" name="Text Box 7"/>
          <p:cNvSpPr txBox="1">
            <a:spLocks noChangeArrowheads="1"/>
          </p:cNvSpPr>
          <p:nvPr/>
        </p:nvSpPr>
        <p:spPr bwMode="auto">
          <a:xfrm>
            <a:off x="3505200" y="1600200"/>
            <a:ext cx="1068388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zh-TW" sz="1400">
                <a:solidFill>
                  <a:srgbClr val="660033"/>
                </a:solidFill>
              </a:rPr>
              <a:t>test01_btn</a:t>
            </a:r>
            <a:endParaRPr lang="en-US" altLang="zh-TW" sz="1400">
              <a:solidFill>
                <a:srgbClr val="660033"/>
              </a:solidFill>
            </a:endParaRPr>
          </a:p>
        </p:txBody>
      </p:sp>
      <p:sp>
        <p:nvSpPr>
          <p:cNvPr id="491528" name="Rectangle 8"/>
          <p:cNvSpPr>
            <a:spLocks noChangeArrowheads="1"/>
          </p:cNvSpPr>
          <p:nvPr/>
        </p:nvSpPr>
        <p:spPr bwMode="auto">
          <a:xfrm>
            <a:off x="1979712" y="332656"/>
            <a:ext cx="7772400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r>
              <a:rPr kumimoji="0" lang="en-US" altLang="zh-TW" sz="4000" dirty="0">
                <a:solidFill>
                  <a:schemeClr val="tx1">
                    <a:lumMod val="95000"/>
                    <a:lumOff val="5000"/>
                  </a:schemeClr>
                </a:solidFill>
                <a:ea typeface="新細明體" charset="-120"/>
                <a:cs typeface="Times New Roman" pitchFamily="18" charset="0"/>
              </a:rPr>
              <a:t>MI</a:t>
            </a:r>
            <a:r>
              <a:rPr kumimoji="0" lang="zh-TW" altLang="en-US" sz="4000" dirty="0">
                <a:solidFill>
                  <a:schemeClr val="tx1">
                    <a:lumMod val="95000"/>
                    <a:lumOff val="5000"/>
                  </a:schemeClr>
                </a:solidFill>
                <a:ea typeface="新細明體" charset="-120"/>
              </a:rPr>
              <a:t>、</a:t>
            </a:r>
            <a:r>
              <a:rPr kumimoji="0" lang="en-US" altLang="zh-TW" sz="4000" dirty="0">
                <a:solidFill>
                  <a:schemeClr val="tx1">
                    <a:lumMod val="95000"/>
                    <a:lumOff val="5000"/>
                  </a:schemeClr>
                </a:solidFill>
                <a:ea typeface="新細明體" charset="-120"/>
                <a:cs typeface="Times New Roman" pitchFamily="18" charset="0"/>
              </a:rPr>
              <a:t>MJ</a:t>
            </a:r>
            <a:r>
              <a:rPr kumimoji="0" lang="zh-TW" altLang="en-US" sz="4000" dirty="0">
                <a:solidFill>
                  <a:schemeClr val="tx1">
                    <a:lumMod val="95000"/>
                    <a:lumOff val="5000"/>
                  </a:schemeClr>
                </a:solidFill>
                <a:ea typeface="新細明體" charset="-120"/>
              </a:rPr>
              <a:t>基本概念</a:t>
            </a:r>
            <a:endParaRPr kumimoji="0" lang="zh-TW" altLang="en-US" sz="4000" dirty="0">
              <a:solidFill>
                <a:schemeClr val="tx1">
                  <a:lumMod val="95000"/>
                  <a:lumOff val="5000"/>
                </a:schemeClr>
              </a:solidFill>
              <a:ea typeface="新細明體" charset="-120"/>
            </a:endParaRPr>
          </a:p>
        </p:txBody>
      </p:sp>
      <p:grpSp>
        <p:nvGrpSpPr>
          <p:cNvPr id="2" name="Group 9"/>
          <p:cNvGrpSpPr/>
          <p:nvPr/>
        </p:nvGrpSpPr>
        <p:grpSpPr bwMode="auto">
          <a:xfrm>
            <a:off x="3200400" y="2362200"/>
            <a:ext cx="3498850" cy="4157663"/>
            <a:chOff x="2544" y="1488"/>
            <a:chExt cx="2204" cy="2619"/>
          </a:xfrm>
        </p:grpSpPr>
        <p:graphicFrame>
          <p:nvGraphicFramePr>
            <p:cNvPr id="491530" name="Object 10"/>
            <p:cNvGraphicFramePr>
              <a:graphicFrameLocks noChangeAspect="1"/>
            </p:cNvGraphicFramePr>
            <p:nvPr/>
          </p:nvGraphicFramePr>
          <p:xfrm>
            <a:off x="2544" y="1824"/>
            <a:ext cx="2204" cy="2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" name="點陣圖影像" r:id="rId1" imgW="4791075" imgH="4962525" progId="PBrush">
                    <p:embed/>
                  </p:oleObj>
                </mc:Choice>
                <mc:Fallback>
                  <p:oleObj name="點陣圖影像" r:id="rId1" imgW="4791075" imgH="4962525" progId="PBrush">
                    <p:embed/>
                    <p:pic>
                      <p:nvPicPr>
                        <p:cNvPr id="0" name="圖片 102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544" y="1824"/>
                          <a:ext cx="2204" cy="228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531" name="AutoShape 11"/>
            <p:cNvSpPr>
              <a:spLocks noChangeArrowheads="1"/>
            </p:cNvSpPr>
            <p:nvPr/>
          </p:nvSpPr>
          <p:spPr bwMode="auto">
            <a:xfrm>
              <a:off x="3264" y="1488"/>
              <a:ext cx="336" cy="576"/>
            </a:xfrm>
            <a:prstGeom prst="curvedLeftArrow">
              <a:avLst>
                <a:gd name="adj1" fmla="val 36310"/>
                <a:gd name="adj2" fmla="val 66071"/>
                <a:gd name="adj3" fmla="val 3333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</p:grpSp>
      <p:grpSp>
        <p:nvGrpSpPr>
          <p:cNvPr id="3" name="Group 12"/>
          <p:cNvGrpSpPr/>
          <p:nvPr/>
        </p:nvGrpSpPr>
        <p:grpSpPr bwMode="auto">
          <a:xfrm>
            <a:off x="1447800" y="1981200"/>
            <a:ext cx="1828800" cy="1905000"/>
            <a:chOff x="912" y="1248"/>
            <a:chExt cx="1152" cy="1200"/>
          </a:xfrm>
        </p:grpSpPr>
        <p:sp>
          <p:nvSpPr>
            <p:cNvPr id="491533" name="Text Box 13"/>
            <p:cNvSpPr txBox="1">
              <a:spLocks noChangeArrowheads="1"/>
            </p:cNvSpPr>
            <p:nvPr/>
          </p:nvSpPr>
          <p:spPr bwMode="auto">
            <a:xfrm>
              <a:off x="912" y="1968"/>
              <a:ext cx="576" cy="4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TW" sz="4400" b="0">
                  <a:solidFill>
                    <a:srgbClr val="FF0000"/>
                  </a:solidFill>
                  <a:latin typeface="Times New Roman" pitchFamily="18" charset="0"/>
                  <a:ea typeface="新細明體" charset="-120"/>
                  <a:cs typeface="Times New Roman" pitchFamily="18" charset="0"/>
                </a:rPr>
                <a:t>MI</a:t>
              </a:r>
              <a:endParaRPr lang="en-US" altLang="zh-TW" sz="4400" b="0">
                <a:solidFill>
                  <a:srgbClr val="FF0000"/>
                </a:solidFill>
                <a:latin typeface="Times New Roman" pitchFamily="18" charset="0"/>
                <a:ea typeface="新細明體" charset="-120"/>
                <a:cs typeface="Times New Roman" pitchFamily="18" charset="0"/>
              </a:endParaRPr>
            </a:p>
          </p:txBody>
        </p:sp>
        <p:sp>
          <p:nvSpPr>
            <p:cNvPr id="491534" name="AutoShape 14"/>
            <p:cNvSpPr>
              <a:spLocks noChangeArrowheads="1"/>
            </p:cNvSpPr>
            <p:nvPr/>
          </p:nvSpPr>
          <p:spPr bwMode="auto">
            <a:xfrm flipH="1" flipV="1">
              <a:off x="1536" y="1440"/>
              <a:ext cx="288" cy="624"/>
            </a:xfrm>
            <a:prstGeom prst="curvedLeftArrow">
              <a:avLst>
                <a:gd name="adj1" fmla="val 45891"/>
                <a:gd name="adj2" fmla="val 83507"/>
                <a:gd name="adj3" fmla="val 3333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91535" name="Text Box 15"/>
            <p:cNvSpPr txBox="1">
              <a:spLocks noChangeArrowheads="1"/>
            </p:cNvSpPr>
            <p:nvPr/>
          </p:nvSpPr>
          <p:spPr bwMode="auto">
            <a:xfrm>
              <a:off x="1680" y="1248"/>
              <a:ext cx="384" cy="19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TW" sz="1400">
                  <a:solidFill>
                    <a:srgbClr val="660033"/>
                  </a:solidFill>
                </a:rPr>
                <a:t>2394</a:t>
              </a:r>
              <a:endParaRPr lang="en-US" altLang="zh-TW" sz="1400">
                <a:solidFill>
                  <a:srgbClr val="660033"/>
                </a:solidFill>
              </a:endParaRPr>
            </a:p>
          </p:txBody>
        </p:sp>
      </p:grpSp>
      <p:grpSp>
        <p:nvGrpSpPr>
          <p:cNvPr id="4" name="Group 16"/>
          <p:cNvGrpSpPr/>
          <p:nvPr/>
        </p:nvGrpSpPr>
        <p:grpSpPr bwMode="auto">
          <a:xfrm>
            <a:off x="3810000" y="1066800"/>
            <a:ext cx="3429000" cy="1219200"/>
            <a:chOff x="2400" y="672"/>
            <a:chExt cx="2160" cy="768"/>
          </a:xfrm>
        </p:grpSpPr>
        <p:sp>
          <p:nvSpPr>
            <p:cNvPr id="491537" name="Text Box 17"/>
            <p:cNvSpPr txBox="1">
              <a:spLocks noChangeArrowheads="1"/>
            </p:cNvSpPr>
            <p:nvPr/>
          </p:nvSpPr>
          <p:spPr bwMode="auto">
            <a:xfrm>
              <a:off x="3936" y="720"/>
              <a:ext cx="624" cy="4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TW" sz="4400" b="0">
                  <a:solidFill>
                    <a:srgbClr val="FF0000"/>
                  </a:solidFill>
                  <a:latin typeface="Times New Roman" pitchFamily="18" charset="0"/>
                  <a:ea typeface="新細明體" charset="-120"/>
                  <a:cs typeface="Times New Roman" pitchFamily="18" charset="0"/>
                </a:rPr>
                <a:t>MJ</a:t>
              </a:r>
              <a:endParaRPr lang="en-US" altLang="zh-TW" sz="4400" b="0">
                <a:solidFill>
                  <a:srgbClr val="FF0000"/>
                </a:solidFill>
                <a:latin typeface="Times New Roman" pitchFamily="18" charset="0"/>
                <a:ea typeface="新細明體" charset="-120"/>
                <a:cs typeface="Times New Roman" pitchFamily="18" charset="0"/>
              </a:endParaRPr>
            </a:p>
          </p:txBody>
        </p:sp>
        <p:sp>
          <p:nvSpPr>
            <p:cNvPr id="491538" name="AutoShape 18"/>
            <p:cNvSpPr>
              <a:spLocks noChangeArrowheads="1"/>
            </p:cNvSpPr>
            <p:nvPr/>
          </p:nvSpPr>
          <p:spPr bwMode="auto">
            <a:xfrm>
              <a:off x="2400" y="672"/>
              <a:ext cx="1200" cy="240"/>
            </a:xfrm>
            <a:prstGeom prst="curvedDownArrow">
              <a:avLst>
                <a:gd name="adj1" fmla="val 60000"/>
                <a:gd name="adj2" fmla="val 196667"/>
                <a:gd name="adj3" fmla="val 3333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91539" name="Text Box 19"/>
            <p:cNvSpPr txBox="1">
              <a:spLocks noChangeArrowheads="1"/>
            </p:cNvSpPr>
            <p:nvPr/>
          </p:nvSpPr>
          <p:spPr bwMode="auto">
            <a:xfrm>
              <a:off x="2976" y="1248"/>
              <a:ext cx="624" cy="19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TW" sz="1400">
                  <a:solidFill>
                    <a:srgbClr val="660033"/>
                  </a:solidFill>
                </a:rPr>
                <a:t>PAPAYA</a:t>
              </a:r>
              <a:endParaRPr lang="en-US" altLang="zh-TW" sz="1400">
                <a:solidFill>
                  <a:srgbClr val="660033"/>
                </a:solidFill>
              </a:endParaRPr>
            </a:p>
          </p:txBody>
        </p:sp>
      </p:grpSp>
      <p:graphicFrame>
        <p:nvGraphicFramePr>
          <p:cNvPr id="491540" name="Object 20"/>
          <p:cNvGraphicFramePr>
            <a:graphicFrameLocks noChangeAspect="1"/>
          </p:cNvGraphicFramePr>
          <p:nvPr/>
        </p:nvGraphicFramePr>
        <p:xfrm>
          <a:off x="3733800" y="1981200"/>
          <a:ext cx="3460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點陣圖影像" r:id="rId3" imgW="190500" imgH="209550" progId="PBrush">
                  <p:embed/>
                </p:oleObj>
              </mc:Choice>
              <mc:Fallback>
                <p:oleObj name="點陣圖影像" r:id="rId3" imgW="190500" imgH="209550" progId="PBrush">
                  <p:embed/>
                  <p:pic>
                    <p:nvPicPr>
                      <p:cNvPr id="0" name="圖片 102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33800" y="1981200"/>
                        <a:ext cx="346075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41" name="Rectangle 21"/>
          <p:cNvSpPr>
            <a:spLocks noChangeArrowheads="1"/>
          </p:cNvSpPr>
          <p:nvPr/>
        </p:nvSpPr>
        <p:spPr bwMode="auto">
          <a:xfrm>
            <a:off x="5795963" y="1773238"/>
            <a:ext cx="3635375" cy="574675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eaLnBrk="0" hangingPunct="0"/>
            <a:r>
              <a:rPr kumimoji="0" lang="zh-TW" altLang="en-US" sz="1800" b="0">
                <a:ea typeface="新細明體" charset="-120"/>
              </a:rPr>
              <a:t>機制主要在驗證</a:t>
            </a:r>
            <a:endParaRPr kumimoji="0" lang="zh-TW" altLang="en-US" sz="1800" b="0">
              <a:ea typeface="新細明體" charset="-120"/>
            </a:endParaRPr>
          </a:p>
          <a:p>
            <a:pPr eaLnBrk="0" hangingPunct="0"/>
            <a:r>
              <a:rPr kumimoji="0" lang="en-US" altLang="zh-TW" sz="1800" b="0">
                <a:ea typeface="新細明體" charset="-120"/>
              </a:rPr>
              <a:t>USER</a:t>
            </a:r>
            <a:r>
              <a:rPr kumimoji="0" lang="zh-TW" altLang="en-US" sz="1800" b="0">
                <a:ea typeface="新細明體" charset="-120"/>
              </a:rPr>
              <a:t>自行輸入的值是否正確</a:t>
            </a:r>
            <a:endParaRPr kumimoji="0" lang="zh-TW" altLang="en-US" sz="1800" b="0">
              <a:ea typeface="新細明體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7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zh-TW" altLang="en-US">
                <a:ea typeface="新細明體" charset="-120"/>
              </a:rPr>
              <a:t>註冊事件的</a:t>
            </a:r>
            <a:r>
              <a:rPr lang="en-US" altLang="zh-TW">
                <a:ea typeface="新細明體" charset="-120"/>
              </a:rPr>
              <a:t>Function</a:t>
            </a:r>
            <a:endParaRPr lang="en-US" altLang="zh-TW">
              <a:ea typeface="新細明體" charset="-120"/>
            </a:endParaRPr>
          </a:p>
        </p:txBody>
      </p:sp>
      <p:sp>
        <p:nvSpPr>
          <p:cNvPr id="492546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zh-TW" altLang="en-US">
                <a:ea typeface="新細明體" charset="-120"/>
              </a:rPr>
              <a:t>在</a:t>
            </a:r>
            <a:r>
              <a:rPr lang="en-US" altLang="zh-TW">
                <a:ea typeface="新細明體" charset="-120"/>
              </a:rPr>
              <a:t>Test.aspx.cs</a:t>
            </a:r>
            <a:r>
              <a:rPr lang="zh-TW" altLang="en-US">
                <a:ea typeface="新細明體" charset="-120"/>
              </a:rPr>
              <a:t>註冊</a:t>
            </a:r>
            <a:r>
              <a:rPr lang="en-US" altLang="zh-TW">
                <a:ea typeface="新細明體" charset="-120"/>
              </a:rPr>
              <a:t>MIMJ</a:t>
            </a:r>
            <a:r>
              <a:rPr lang="zh-TW" altLang="en-US">
                <a:ea typeface="新細明體" charset="-120"/>
              </a:rPr>
              <a:t>事件</a:t>
            </a:r>
            <a:endParaRPr lang="zh-TW" altLang="en-US">
              <a:ea typeface="新細明體" charset="-120"/>
            </a:endParaRPr>
          </a:p>
          <a:p>
            <a:pPr lvl="1"/>
            <a:r>
              <a:rPr lang="en-US" altLang="zh-TW" sz="3200">
                <a:ea typeface="新細明體" charset="-120"/>
              </a:rPr>
              <a:t>settingClientFunction</a:t>
            </a:r>
            <a:endParaRPr lang="en-US" altLang="zh-TW" sz="3200">
              <a:ea typeface="新細明體" charset="-120"/>
            </a:endParaRPr>
          </a:p>
          <a:p>
            <a:pPr lvl="1">
              <a:buFont typeface="Wingdings" pitchFamily="2" charset="2"/>
              <a:buNone/>
            </a:pPr>
            <a:endParaRPr lang="en-US" altLang="zh-TW" sz="3200">
              <a:ea typeface="新細明體" charset="-120"/>
            </a:endParaRPr>
          </a:p>
          <a:p>
            <a:r>
              <a:rPr lang="zh-TW" altLang="en-US">
                <a:ea typeface="新細明體" charset="-120"/>
              </a:rPr>
              <a:t>在</a:t>
            </a:r>
            <a:r>
              <a:rPr lang="en-US" altLang="zh-TW">
                <a:ea typeface="新細明體" charset="-120"/>
              </a:rPr>
              <a:t>Test_MIMJ.aspx.cs</a:t>
            </a:r>
            <a:r>
              <a:rPr lang="zh-TW" altLang="en-US">
                <a:ea typeface="新細明體" charset="-120"/>
              </a:rPr>
              <a:t>開窗驗證的邏輯段</a:t>
            </a:r>
            <a:endParaRPr lang="zh-TW" altLang="en-US">
              <a:ea typeface="新細明體" charset="-120"/>
            </a:endParaRPr>
          </a:p>
          <a:p>
            <a:pPr lvl="1"/>
            <a:r>
              <a:rPr lang="en-US" altLang="zh-TW">
                <a:ea typeface="新細明體" charset="-120"/>
              </a:rPr>
              <a:t>MIFunction</a:t>
            </a:r>
            <a:endParaRPr lang="en-US" altLang="zh-TW">
              <a:ea typeface="新細明體" charset="-120"/>
            </a:endParaRPr>
          </a:p>
          <a:p>
            <a:pPr lvl="1"/>
            <a:r>
              <a:rPr lang="en-US" altLang="zh-TW">
                <a:ea typeface="新細明體" charset="-120"/>
              </a:rPr>
              <a:t>MJFunction</a:t>
            </a:r>
            <a:endParaRPr lang="en-US" altLang="zh-TW">
              <a:ea typeface="新細明體" charset="-120"/>
            </a:endParaRPr>
          </a:p>
          <a:p>
            <a:endParaRPr lang="en-US" altLang="zh-TW">
              <a:ea typeface="新細明體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ea typeface="新細明體" charset="-120"/>
              </a:rPr>
              <a:t>註冊</a:t>
            </a:r>
            <a:r>
              <a:rPr lang="en-US" altLang="zh-TW">
                <a:ea typeface="新細明體" charset="-120"/>
              </a:rPr>
              <a:t>MI</a:t>
            </a:r>
            <a:r>
              <a:rPr lang="zh-TW" altLang="en-US">
                <a:ea typeface="新細明體" charset="-120"/>
              </a:rPr>
              <a:t>的方法</a:t>
            </a:r>
            <a:r>
              <a:rPr lang="en-US" altLang="zh-TW">
                <a:ea typeface="新細明體" charset="-120"/>
              </a:rPr>
              <a:t>(onclick</a:t>
            </a:r>
            <a:r>
              <a:rPr lang="zh-TW" altLang="en-US">
                <a:ea typeface="新細明體" charset="-120"/>
              </a:rPr>
              <a:t>事件</a:t>
            </a:r>
            <a:r>
              <a:rPr lang="en-US" altLang="zh-TW">
                <a:ea typeface="新細明體" charset="-120"/>
              </a:rPr>
              <a:t>) </a:t>
            </a:r>
            <a:endParaRPr lang="en-US" altLang="zh-TW">
              <a:ea typeface="新細明體" charset="-120"/>
            </a:endParaRPr>
          </a:p>
        </p:txBody>
      </p:sp>
      <p:sp>
        <p:nvSpPr>
          <p:cNvPr id="4935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3600">
                <a:ea typeface="新細明體" charset="-120"/>
              </a:rPr>
              <a:t>基本型</a:t>
            </a:r>
            <a:endParaRPr lang="zh-TW" altLang="en-US" sz="2000">
              <a:ea typeface="新細明體" charset="-120"/>
            </a:endParaRPr>
          </a:p>
          <a:p>
            <a:pPr lvl="1"/>
            <a:r>
              <a:rPr lang="en-US" altLang="zh-TW" sz="1800" b="1">
                <a:ea typeface="新細明體" charset="-120"/>
                <a:cs typeface="Arial" charset="0"/>
              </a:rPr>
              <a:t>getClickParams(</a:t>
            </a:r>
            <a:r>
              <a:rPr lang="zh-TW" altLang="en-US" sz="1800" b="1"/>
              <a:t>按鈕</a:t>
            </a:r>
            <a:r>
              <a:rPr lang="en-US" altLang="zh-TW" sz="1800" b="1">
                <a:ea typeface="新細明體" charset="-120"/>
              </a:rPr>
              <a:t>, </a:t>
            </a:r>
            <a:r>
              <a:rPr lang="zh-TW" altLang="en-US" sz="1800" b="1"/>
              <a:t>回填到畫面上的物件</a:t>
            </a:r>
            <a:r>
              <a:rPr lang="en-US" altLang="zh-TW" sz="1800" b="1">
                <a:ea typeface="新細明體" charset="-120"/>
              </a:rPr>
              <a:t>, </a:t>
            </a:r>
            <a:r>
              <a:rPr lang="zh-TW" altLang="en-US" sz="1800" b="1"/>
              <a:t>開窗的類型</a:t>
            </a:r>
            <a:r>
              <a:rPr lang="en-US" altLang="zh-TW" sz="1800" b="1">
                <a:ea typeface="新細明體" charset="-120"/>
              </a:rPr>
              <a:t>)</a:t>
            </a:r>
            <a:r>
              <a:rPr lang="en-US" altLang="zh-TW" sz="1800">
                <a:ea typeface="新細明體" charset="-120"/>
              </a:rPr>
              <a:t> </a:t>
            </a:r>
            <a:endParaRPr lang="en-US" altLang="zh-TW" sz="1800">
              <a:ea typeface="新細明體" charset="-120"/>
            </a:endParaRPr>
          </a:p>
          <a:p>
            <a:endParaRPr lang="en-US" altLang="zh-TW" sz="2000">
              <a:ea typeface="新細明體" charset="-120"/>
            </a:endParaRPr>
          </a:p>
          <a:p>
            <a:r>
              <a:rPr lang="zh-TW" altLang="en-US" sz="3600">
                <a:ea typeface="新細明體" charset="-120"/>
              </a:rPr>
              <a:t>進階型</a:t>
            </a:r>
            <a:endParaRPr lang="zh-TW" altLang="en-US" sz="2000" b="1">
              <a:ea typeface="新細明體" charset="-120"/>
            </a:endParaRPr>
          </a:p>
          <a:p>
            <a:pPr lvl="1"/>
            <a:r>
              <a:rPr lang="en-US" altLang="zh-TW" sz="1800" b="1">
                <a:ea typeface="新細明體" charset="-120"/>
              </a:rPr>
              <a:t>getClickParams_Fields(</a:t>
            </a:r>
            <a:r>
              <a:rPr lang="zh-TW" altLang="en-US" sz="1800" b="1">
                <a:ea typeface="新細明體" charset="-120"/>
              </a:rPr>
              <a:t>按鈕</a:t>
            </a:r>
            <a:r>
              <a:rPr lang="en-US" altLang="zh-TW" sz="1800" b="1">
                <a:ea typeface="新細明體" charset="-120"/>
              </a:rPr>
              <a:t>, </a:t>
            </a:r>
            <a:r>
              <a:rPr lang="zh-TW" altLang="en-US" sz="1800" b="1">
                <a:ea typeface="新細明體" charset="-120"/>
              </a:rPr>
              <a:t>當</a:t>
            </a:r>
            <a:r>
              <a:rPr lang="en-US" altLang="zh-TW" sz="1800" b="1">
                <a:ea typeface="新細明體" charset="-120"/>
              </a:rPr>
              <a:t>SQL where</a:t>
            </a:r>
            <a:r>
              <a:rPr lang="zh-TW" altLang="en-US" sz="1800" b="1">
                <a:ea typeface="新細明體" charset="-120"/>
              </a:rPr>
              <a:t>條件之參數</a:t>
            </a:r>
            <a:r>
              <a:rPr lang="en-US" altLang="zh-TW" sz="1800" b="1">
                <a:ea typeface="新細明體" charset="-120"/>
              </a:rPr>
              <a:t>(</a:t>
            </a:r>
            <a:r>
              <a:rPr lang="zh-TW" altLang="en-US" sz="1800" b="1">
                <a:ea typeface="新細明體" charset="-120"/>
              </a:rPr>
              <a:t>分號</a:t>
            </a:r>
            <a:r>
              <a:rPr lang="en-US" altLang="zh-TW" sz="1800" b="1">
                <a:ea typeface="新細明體" charset="-120"/>
              </a:rPr>
              <a:t>;</a:t>
            </a:r>
            <a:r>
              <a:rPr lang="zh-TW" altLang="en-US" sz="1800" b="1">
                <a:ea typeface="新細明體" charset="-120"/>
              </a:rPr>
              <a:t>隔開</a:t>
            </a:r>
            <a:r>
              <a:rPr lang="en-US" altLang="zh-TW" sz="1800" b="1">
                <a:ea typeface="新細明體" charset="-120"/>
              </a:rPr>
              <a:t>), </a:t>
            </a:r>
            <a:r>
              <a:rPr lang="zh-TW" altLang="en-US" sz="1800" b="1">
                <a:ea typeface="新細明體" charset="-120"/>
              </a:rPr>
              <a:t>回填到畫面上的物件</a:t>
            </a:r>
            <a:r>
              <a:rPr lang="en-US" altLang="zh-TW" sz="1800" b="1">
                <a:ea typeface="新細明體" charset="-120"/>
              </a:rPr>
              <a:t>, </a:t>
            </a:r>
            <a:r>
              <a:rPr lang="zh-TW" altLang="en-US" sz="1800" b="1">
                <a:ea typeface="新細明體" charset="-120"/>
              </a:rPr>
              <a:t>開窗的類型</a:t>
            </a:r>
            <a:r>
              <a:rPr lang="en-US" altLang="zh-TW" sz="1800" b="1">
                <a:ea typeface="新細明體" charset="-120"/>
              </a:rPr>
              <a:t>) </a:t>
            </a:r>
            <a:endParaRPr lang="en-US" altLang="zh-TW" sz="1800" b="1">
              <a:ea typeface="新細明體" charset="-120"/>
            </a:endParaRPr>
          </a:p>
          <a:p>
            <a:pPr lvl="1"/>
            <a:r>
              <a:rPr lang="en-US" altLang="zh-TW" sz="1800" b="1"/>
              <a:t>getClickParams_Params(</a:t>
            </a:r>
            <a:r>
              <a:rPr lang="zh-TW" altLang="en-US" sz="1800" b="1"/>
              <a:t>按鈕</a:t>
            </a:r>
            <a:r>
              <a:rPr lang="en-US" altLang="zh-TW" sz="1800" b="1"/>
              <a:t>,</a:t>
            </a:r>
            <a:r>
              <a:rPr lang="zh-TW" altLang="en-US" sz="1800" b="1"/>
              <a:t>回填到畫面上的物件</a:t>
            </a:r>
            <a:r>
              <a:rPr lang="en-US" altLang="zh-TW" sz="1800" b="1"/>
              <a:t>,</a:t>
            </a:r>
            <a:r>
              <a:rPr lang="zh-TW" altLang="en-US" sz="1800" b="1"/>
              <a:t>輔助用的參數</a:t>
            </a:r>
            <a:r>
              <a:rPr lang="en-US" altLang="zh-TW" sz="1800" b="1"/>
              <a:t>, </a:t>
            </a:r>
            <a:r>
              <a:rPr lang="zh-TW" altLang="en-US" sz="1800" b="1"/>
              <a:t>開窗的類型</a:t>
            </a:r>
            <a:r>
              <a:rPr lang="en-US" altLang="zh-TW" sz="1800" b="1"/>
              <a:t>)</a:t>
            </a:r>
            <a:endParaRPr lang="en-US" altLang="zh-TW" sz="1800" b="1"/>
          </a:p>
          <a:p>
            <a:endParaRPr lang="en-US" altLang="zh-TW" sz="2000" b="1">
              <a:ea typeface="新細明體" charset="-120"/>
            </a:endParaRPr>
          </a:p>
          <a:p>
            <a:r>
              <a:rPr lang="zh-TW" altLang="en-US" sz="3600">
                <a:ea typeface="新細明體" charset="-120"/>
              </a:rPr>
              <a:t>高階型</a:t>
            </a:r>
            <a:endParaRPr lang="zh-TW" altLang="en-US" sz="2000" b="1"/>
          </a:p>
          <a:p>
            <a:pPr lvl="1"/>
            <a:r>
              <a:rPr lang="en-US" altLang="zh-TW" sz="1800" b="1"/>
              <a:t>getClickParams_Fields_Params(</a:t>
            </a:r>
            <a:r>
              <a:rPr lang="zh-TW" altLang="en-US" sz="1800" b="1"/>
              <a:t>按鈕</a:t>
            </a:r>
            <a:r>
              <a:rPr lang="en-US" altLang="zh-TW" sz="1800" b="1"/>
              <a:t>, </a:t>
            </a:r>
            <a:r>
              <a:rPr lang="zh-TW" altLang="en-US" sz="1800" b="1"/>
              <a:t>當</a:t>
            </a:r>
            <a:r>
              <a:rPr lang="en-US" altLang="zh-TW" sz="1800" b="1"/>
              <a:t>SQL where</a:t>
            </a:r>
            <a:r>
              <a:rPr lang="zh-TW" altLang="en-US" sz="1800" b="1"/>
              <a:t>條件之參數</a:t>
            </a:r>
            <a:r>
              <a:rPr lang="en-US" altLang="zh-TW" sz="1800" b="1"/>
              <a:t>(</a:t>
            </a:r>
            <a:r>
              <a:rPr lang="zh-TW" altLang="en-US" sz="1800" b="1"/>
              <a:t>分號</a:t>
            </a:r>
            <a:r>
              <a:rPr lang="en-US" altLang="zh-TW" sz="1800" b="1"/>
              <a:t>;</a:t>
            </a:r>
            <a:r>
              <a:rPr lang="zh-TW" altLang="en-US" sz="1800" b="1"/>
              <a:t>隔開</a:t>
            </a:r>
            <a:r>
              <a:rPr lang="en-US" altLang="zh-TW" sz="1800" b="1"/>
              <a:t>), </a:t>
            </a:r>
            <a:r>
              <a:rPr lang="zh-TW" altLang="en-US" sz="1800" b="1"/>
              <a:t>回填到畫面上的物件</a:t>
            </a:r>
            <a:r>
              <a:rPr lang="en-US" altLang="zh-TW" sz="1800" b="1"/>
              <a:t>, </a:t>
            </a:r>
            <a:r>
              <a:rPr lang="zh-TW" altLang="en-US" sz="1800" b="1"/>
              <a:t>輔助用的參數</a:t>
            </a:r>
            <a:r>
              <a:rPr lang="en-US" altLang="zh-TW" sz="1800" b="1"/>
              <a:t>(</a:t>
            </a:r>
            <a:r>
              <a:rPr lang="zh-TW" altLang="en-US" sz="1800" b="1"/>
              <a:t>不存在於畫面</a:t>
            </a:r>
            <a:r>
              <a:rPr lang="en-US" altLang="zh-TW" sz="1800" b="1"/>
              <a:t>), </a:t>
            </a:r>
            <a:r>
              <a:rPr lang="zh-TW" altLang="en-US" sz="1800" b="1"/>
              <a:t>開窗的類型</a:t>
            </a:r>
            <a:r>
              <a:rPr lang="en-US" altLang="zh-TW" sz="1800" b="1"/>
              <a:t>) </a:t>
            </a:r>
            <a:endParaRPr lang="en-US" altLang="zh-TW" sz="3200">
              <a:ea typeface="新細明體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ea typeface="新細明體" charset="-120"/>
              </a:rPr>
              <a:t>註冊</a:t>
            </a:r>
            <a:r>
              <a:rPr lang="en-US" altLang="zh-TW">
                <a:ea typeface="新細明體" charset="-120"/>
              </a:rPr>
              <a:t>MI</a:t>
            </a:r>
            <a:r>
              <a:rPr lang="zh-TW" altLang="en-US">
                <a:ea typeface="新細明體" charset="-120"/>
              </a:rPr>
              <a:t>的方法</a:t>
            </a:r>
            <a:r>
              <a:rPr lang="en-US" altLang="zh-TW">
                <a:ea typeface="新細明體" charset="-120"/>
              </a:rPr>
              <a:t>(</a:t>
            </a:r>
            <a:r>
              <a:rPr lang="zh-TW" altLang="en-US">
                <a:ea typeface="新細明體" charset="-120"/>
              </a:rPr>
              <a:t>基本型</a:t>
            </a:r>
            <a:r>
              <a:rPr lang="en-US" altLang="zh-TW">
                <a:ea typeface="新細明體" charset="-120"/>
              </a:rPr>
              <a:t>)</a:t>
            </a:r>
            <a:endParaRPr lang="en-US" altLang="zh-TW">
              <a:ea typeface="新細明體" charset="-120"/>
            </a:endParaRPr>
          </a:p>
        </p:txBody>
      </p:sp>
      <p:sp>
        <p:nvSpPr>
          <p:cNvPr id="4945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/>
            <a:r>
              <a:rPr lang="zh-TW" altLang="en-US" sz="2800" dirty="0">
                <a:ea typeface="新細明體" charset="-120"/>
              </a:rPr>
              <a:t>規格範例</a:t>
            </a:r>
            <a:r>
              <a:rPr lang="zh-TW" altLang="en-US" sz="2800" dirty="0">
                <a:latin typeface="新細明體" charset="-120"/>
                <a:ea typeface="新細明體" charset="-120"/>
              </a:rPr>
              <a:t>：</a:t>
            </a:r>
            <a:r>
              <a:rPr lang="zh-TW" altLang="en-US" sz="2800" dirty="0">
                <a:ea typeface="新細明體" charset="-120"/>
              </a:rPr>
              <a:t> </a:t>
            </a:r>
            <a:r>
              <a:rPr lang="en-US" altLang="zh-TW" sz="2800" dirty="0">
                <a:latin typeface="細明體" pitchFamily="49" charset="-120"/>
                <a:ea typeface="細明體" pitchFamily="49" charset="-120"/>
                <a:cs typeface="Times New Roman" pitchFamily="18" charset="0"/>
              </a:rPr>
              <a:t>[F2]</a:t>
            </a:r>
            <a:r>
              <a:rPr lang="zh-TW" altLang="en-US" sz="2800" dirty="0">
                <a:latin typeface="細明體" pitchFamily="49" charset="-120"/>
                <a:ea typeface="細明體" pitchFamily="49" charset="-120"/>
                <a:cs typeface="Times New Roman" pitchFamily="18" charset="0"/>
              </a:rPr>
              <a:t>部門資料查詢</a:t>
            </a:r>
            <a:r>
              <a:rPr lang="en-US" altLang="zh-TW" sz="2800" dirty="0">
                <a:latin typeface="細明體" pitchFamily="49" charset="-120"/>
                <a:ea typeface="細明體" pitchFamily="49" charset="-120"/>
                <a:cs typeface="Times New Roman" pitchFamily="18" charset="0"/>
              </a:rPr>
              <a:t>(CMSME-01)</a:t>
            </a:r>
            <a:endParaRPr lang="en-US" altLang="zh-TW" sz="2800" dirty="0">
              <a:latin typeface="細明體" pitchFamily="49" charset="-120"/>
              <a:ea typeface="細明體" pitchFamily="49" charset="-120"/>
              <a:cs typeface="Times New Roman" pitchFamily="18" charset="0"/>
            </a:endParaRPr>
          </a:p>
          <a:p>
            <a:pPr marL="990600" lvl="1" indent="-533400"/>
            <a:r>
              <a:rPr lang="zh-TW" altLang="en-US" sz="2400" dirty="0">
                <a:latin typeface="細明體" pitchFamily="49" charset="-120"/>
                <a:ea typeface="細明體" pitchFamily="49" charset="-120"/>
              </a:rPr>
              <a:t>實作步驟</a:t>
            </a:r>
            <a:endParaRPr lang="zh-TW" altLang="en-US" sz="2400" dirty="0">
              <a:ea typeface="新細明體" charset="-120"/>
            </a:endParaRPr>
          </a:p>
          <a:p>
            <a:pPr marL="990600" lvl="1" indent="-533400">
              <a:buFontTx/>
              <a:buNone/>
            </a:pPr>
            <a:r>
              <a:rPr lang="en-US" altLang="zh-TW" dirty="0">
                <a:latin typeface="Arial" charset="0"/>
                <a:ea typeface="新細明體" charset="-120"/>
              </a:rPr>
              <a:t>1.</a:t>
            </a:r>
            <a:r>
              <a:rPr lang="zh-TW" altLang="en-US" dirty="0" smtClean="0">
                <a:ea typeface="新細明體" charset="-120"/>
              </a:rPr>
              <a:t>以</a:t>
            </a:r>
            <a:r>
              <a:rPr lang="en-US" altLang="zh-TW" dirty="0" smtClean="0">
                <a:ea typeface="新細明體" charset="-120"/>
              </a:rPr>
              <a:t>MIMJ</a:t>
            </a:r>
            <a:r>
              <a:rPr lang="zh-TW" altLang="en-US" dirty="0" smtClean="0">
                <a:ea typeface="新細明體" charset="-120"/>
              </a:rPr>
              <a:t>編輯工具查詢</a:t>
            </a:r>
            <a:r>
              <a:rPr lang="zh-TW" altLang="en-US" dirty="0">
                <a:ea typeface="新細明體" charset="-120"/>
              </a:rPr>
              <a:t>ＳＱＬ內容是否有需傳入的參數</a:t>
            </a:r>
            <a:endParaRPr lang="zh-TW" altLang="en-US" dirty="0">
              <a:latin typeface="細明體" pitchFamily="49" charset="-120"/>
              <a:ea typeface="細明體" pitchFamily="49" charset="-120"/>
            </a:endParaRPr>
          </a:p>
        </p:txBody>
      </p:sp>
      <p:graphicFrame>
        <p:nvGraphicFramePr>
          <p:cNvPr id="494596" name="Object 4"/>
          <p:cNvGraphicFramePr>
            <a:graphicFrameLocks noChangeAspect="1"/>
          </p:cNvGraphicFramePr>
          <p:nvPr/>
        </p:nvGraphicFramePr>
        <p:xfrm>
          <a:off x="4241800" y="3181350"/>
          <a:ext cx="4938713" cy="370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點陣圖影像" r:id="rId1" imgW="3171825" imgH="2390775" progId="PBrush">
                  <p:embed/>
                </p:oleObj>
              </mc:Choice>
              <mc:Fallback>
                <p:oleObj name="點陣圖影像" r:id="rId1" imgW="3171825" imgH="2390775" progId="PBrush">
                  <p:embed/>
                  <p:pic>
                    <p:nvPicPr>
                      <p:cNvPr id="0" name="圖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rcRect l="1520" t="2016"/>
                      <a:stretch>
                        <a:fillRect/>
                      </a:stretch>
                    </p:blipFill>
                    <p:spPr>
                      <a:xfrm>
                        <a:off x="4241800" y="3181350"/>
                        <a:ext cx="4938713" cy="37036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4597" name="Rectangle 5"/>
          <p:cNvSpPr>
            <a:spLocks noChangeArrowheads="1"/>
          </p:cNvSpPr>
          <p:nvPr/>
        </p:nvSpPr>
        <p:spPr bwMode="auto">
          <a:xfrm>
            <a:off x="533400" y="3429000"/>
            <a:ext cx="8305800" cy="1981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609600" indent="-609600" algn="l">
              <a:spcBef>
                <a:spcPct val="20000"/>
              </a:spcBef>
              <a:buFontTx/>
              <a:buChar char="•"/>
            </a:pPr>
            <a:endParaRPr lang="en-US" altLang="zh-TW" sz="3200" b="0">
              <a:latin typeface="細明體" pitchFamily="49" charset="-120"/>
              <a:ea typeface="細明體" pitchFamily="49" charset="-120"/>
            </a:endParaRPr>
          </a:p>
          <a:p>
            <a:pPr marL="609600" indent="-609600" algn="l">
              <a:spcBef>
                <a:spcPct val="20000"/>
              </a:spcBef>
              <a:buFontTx/>
              <a:buAutoNum type="arabicPeriod"/>
            </a:pPr>
            <a:endParaRPr lang="en-US" altLang="zh-TW" sz="3200" b="0">
              <a:latin typeface="細明體" pitchFamily="49" charset="-120"/>
              <a:ea typeface="細明體" pitchFamily="49" charset="-120"/>
            </a:endParaRPr>
          </a:p>
        </p:txBody>
      </p:sp>
      <p:sp>
        <p:nvSpPr>
          <p:cNvPr id="494598" name="Rectangle 6"/>
          <p:cNvSpPr>
            <a:spLocks noChangeArrowheads="1"/>
          </p:cNvSpPr>
          <p:nvPr/>
        </p:nvSpPr>
        <p:spPr bwMode="auto">
          <a:xfrm>
            <a:off x="395288" y="3644900"/>
            <a:ext cx="8382000" cy="3200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990600" lvl="1" indent="-533400" algn="l">
              <a:spcBef>
                <a:spcPct val="20000"/>
              </a:spcBef>
            </a:pPr>
            <a:r>
              <a:rPr lang="en-US" altLang="zh-TW" sz="2800" b="0">
                <a:ea typeface="新細明體" charset="-120"/>
              </a:rPr>
              <a:t>2.</a:t>
            </a:r>
            <a:r>
              <a:rPr lang="zh-TW" altLang="en-US" sz="2400" b="0">
                <a:latin typeface="新細明體" charset="-120"/>
                <a:ea typeface="新細明體" charset="-120"/>
              </a:rPr>
              <a:t>在</a:t>
            </a:r>
            <a:r>
              <a:rPr lang="en-US" altLang="zh-TW" sz="2400" b="0">
                <a:ea typeface="新細明體" charset="-120"/>
              </a:rPr>
              <a:t>Test.aspx.cs</a:t>
            </a:r>
            <a:r>
              <a:rPr lang="zh-TW" altLang="en-US" sz="2400" b="0">
                <a:ea typeface="新細明體" charset="-120"/>
              </a:rPr>
              <a:t>的</a:t>
            </a:r>
            <a:r>
              <a:rPr lang="en-US" altLang="zh-TW" sz="2400">
                <a:solidFill>
                  <a:srgbClr val="0000FF"/>
                </a:solidFill>
              </a:rPr>
              <a:t>settingClientFunction()</a:t>
            </a:r>
            <a:r>
              <a:rPr lang="zh-TW" altLang="en-US" sz="2400" b="0">
                <a:latin typeface="新細明體" charset="-120"/>
                <a:ea typeface="新細明體" charset="-120"/>
              </a:rPr>
              <a:t>中註冊事件</a:t>
            </a:r>
            <a:endParaRPr lang="zh-TW" altLang="en-US" sz="2400" b="0">
              <a:latin typeface="新細明體" charset="-120"/>
              <a:ea typeface="新細明體" charset="-120"/>
            </a:endParaRPr>
          </a:p>
          <a:p>
            <a:pPr marL="609600" indent="-609600" algn="l">
              <a:spcBef>
                <a:spcPct val="20000"/>
              </a:spcBef>
            </a:pPr>
            <a:r>
              <a:rPr lang="zh-TW" altLang="en-US" sz="1800">
                <a:solidFill>
                  <a:srgbClr val="FF0000"/>
                </a:solidFill>
                <a:ea typeface="新細明體" charset="-120"/>
                <a:cs typeface="Arial" charset="0"/>
              </a:rPr>
              <a:t>	</a:t>
            </a:r>
            <a:r>
              <a:rPr lang="en-US" altLang="zh-TW" sz="1800">
                <a:solidFill>
                  <a:srgbClr val="FF0000"/>
                </a:solidFill>
                <a:ea typeface="新細明體" charset="-120"/>
                <a:cs typeface="Arial" charset="0"/>
              </a:rPr>
              <a:t>getClickParams(</a:t>
            </a:r>
            <a:r>
              <a:rPr lang="zh-TW" altLang="en-US" sz="1800">
                <a:solidFill>
                  <a:srgbClr val="FF0000"/>
                </a:solidFill>
              </a:rPr>
              <a:t>按鈕</a:t>
            </a:r>
            <a:r>
              <a:rPr lang="en-US" altLang="zh-TW" sz="1800">
                <a:solidFill>
                  <a:srgbClr val="FF0000"/>
                </a:solidFill>
                <a:ea typeface="新細明體" charset="-120"/>
                <a:cs typeface="Arial" charset="0"/>
              </a:rPr>
              <a:t>, </a:t>
            </a:r>
            <a:r>
              <a:rPr lang="zh-TW" altLang="en-US" sz="1800">
                <a:solidFill>
                  <a:srgbClr val="FF0000"/>
                </a:solidFill>
              </a:rPr>
              <a:t>回填到畫面上的物件</a:t>
            </a:r>
            <a:r>
              <a:rPr lang="en-US" altLang="zh-TW" sz="1800">
                <a:solidFill>
                  <a:srgbClr val="FF0000"/>
                </a:solidFill>
                <a:ea typeface="新細明體" charset="-120"/>
                <a:cs typeface="Arial" charset="0"/>
              </a:rPr>
              <a:t>, </a:t>
            </a:r>
            <a:r>
              <a:rPr lang="zh-TW" altLang="en-US" sz="1800">
                <a:solidFill>
                  <a:srgbClr val="FF0000"/>
                </a:solidFill>
              </a:rPr>
              <a:t>開窗的類型</a:t>
            </a:r>
            <a:r>
              <a:rPr lang="en-US" altLang="zh-TW" sz="1800">
                <a:solidFill>
                  <a:srgbClr val="FF0000"/>
                </a:solidFill>
                <a:ea typeface="新細明體" charset="-120"/>
                <a:cs typeface="Arial" charset="0"/>
              </a:rPr>
              <a:t>)</a:t>
            </a:r>
            <a:r>
              <a:rPr lang="en-US" altLang="zh-TW" sz="1800" b="0">
                <a:solidFill>
                  <a:srgbClr val="FF0000"/>
                </a:solidFill>
                <a:latin typeface="Times New Roman" pitchFamily="18" charset="0"/>
                <a:ea typeface="新細明體" charset="-120"/>
              </a:rPr>
              <a:t> </a:t>
            </a:r>
            <a:endParaRPr lang="en-US" altLang="zh-TW" sz="2800" b="0">
              <a:solidFill>
                <a:srgbClr val="FF0000"/>
              </a:solidFill>
              <a:latin typeface="新細明體" charset="-120"/>
              <a:ea typeface="新細明體" charset="-120"/>
            </a:endParaRPr>
          </a:p>
          <a:p>
            <a:pPr marL="990600" lvl="1" indent="-533400" algn="l">
              <a:spcBef>
                <a:spcPct val="20000"/>
              </a:spcBef>
            </a:pPr>
            <a:r>
              <a:rPr lang="zh-TW" altLang="en-US" sz="2800" b="0">
                <a:latin typeface="新細明體" charset="-120"/>
                <a:ea typeface="新細明體" charset="-120"/>
              </a:rPr>
              <a:t>範例</a:t>
            </a:r>
            <a:r>
              <a:rPr lang="en-US" altLang="zh-TW" sz="2800" b="0">
                <a:latin typeface="新細明體" charset="-120"/>
                <a:ea typeface="新細明體" charset="-120"/>
              </a:rPr>
              <a:t>:</a:t>
            </a:r>
            <a:endParaRPr lang="en-US" altLang="zh-TW" sz="2800" b="0">
              <a:latin typeface="新細明體" charset="-120"/>
              <a:ea typeface="新細明體" charset="-120"/>
            </a:endParaRPr>
          </a:p>
          <a:p>
            <a:pPr marL="990600" lvl="1" indent="-533400" algn="l">
              <a:spcBef>
                <a:spcPct val="20000"/>
              </a:spcBef>
            </a:pPr>
            <a:r>
              <a:rPr lang="en-US" altLang="zh-TW" sz="1800">
                <a:ea typeface="新細明體" charset="-120"/>
                <a:cs typeface="Arial" charset="0"/>
              </a:rPr>
              <a:t> BT007.HtmImg.Attributes.Add("onclick",</a:t>
            </a:r>
            <a:endParaRPr lang="en-US" altLang="zh-TW" sz="1800">
              <a:ea typeface="新細明體" charset="-120"/>
              <a:cs typeface="Arial" charset="0"/>
            </a:endParaRPr>
          </a:p>
          <a:p>
            <a:pPr marL="990600" lvl="1" indent="-533400" algn="l">
              <a:spcBef>
                <a:spcPct val="20000"/>
              </a:spcBef>
            </a:pPr>
            <a:r>
              <a:rPr lang="en-US" altLang="zh-TW" sz="1800">
                <a:ea typeface="新細明體" charset="-120"/>
                <a:cs typeface="Arial" charset="0"/>
              </a:rPr>
              <a:t>MIMJUtil.getClickParams(" BT007 _btn"," BT007 _txt","S"));</a:t>
            </a:r>
            <a:endParaRPr lang="en-US" altLang="zh-TW" sz="1800">
              <a:ea typeface="新細明體" charset="-120"/>
              <a:cs typeface="Arial" charset="0"/>
            </a:endParaRPr>
          </a:p>
          <a:p>
            <a:pPr marL="609600" indent="-609600" algn="l">
              <a:spcBef>
                <a:spcPct val="20000"/>
              </a:spcBef>
            </a:pPr>
            <a:endParaRPr lang="en-US" altLang="zh-TW" sz="1800">
              <a:ea typeface="新細明體" charset="-12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4595" grpId="0" autoUpdateAnimBg="0" build="p"/>
      <p:bldP spid="494598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ea typeface="新細明體" charset="-120"/>
              </a:rPr>
              <a:t>註冊</a:t>
            </a:r>
            <a:r>
              <a:rPr lang="en-US" altLang="zh-TW">
                <a:ea typeface="新細明體" charset="-120"/>
              </a:rPr>
              <a:t>MI</a:t>
            </a:r>
            <a:r>
              <a:rPr lang="zh-TW" altLang="en-US">
                <a:ea typeface="新細明體" charset="-120"/>
              </a:rPr>
              <a:t>的方法</a:t>
            </a:r>
            <a:r>
              <a:rPr lang="en-US" altLang="zh-TW">
                <a:ea typeface="新細明體" charset="-120"/>
              </a:rPr>
              <a:t>(</a:t>
            </a:r>
            <a:r>
              <a:rPr lang="zh-TW" altLang="en-US">
                <a:ea typeface="新細明體" charset="-120"/>
              </a:rPr>
              <a:t>進階型</a:t>
            </a:r>
            <a:r>
              <a:rPr lang="en-US" altLang="zh-TW">
                <a:ea typeface="新細明體" charset="-120"/>
              </a:rPr>
              <a:t>)(1/2)</a:t>
            </a:r>
            <a:endParaRPr lang="en-US" altLang="zh-TW">
              <a:ea typeface="新細明體" charset="-120"/>
            </a:endParaRPr>
          </a:p>
        </p:txBody>
      </p:sp>
      <p:sp>
        <p:nvSpPr>
          <p:cNvPr id="4956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TW" altLang="en-US" sz="2800" dirty="0">
                <a:ea typeface="新細明體" charset="-120"/>
              </a:rPr>
              <a:t>規格範例： </a:t>
            </a:r>
            <a:r>
              <a:rPr lang="en-US" altLang="zh-TW" sz="2800" dirty="0">
                <a:ea typeface="新細明體" charset="-120"/>
              </a:rPr>
              <a:t>[F2] </a:t>
            </a:r>
            <a:r>
              <a:rPr lang="zh-TW" altLang="en-US" sz="2800" dirty="0">
                <a:ea typeface="新細明體" charset="-120"/>
              </a:rPr>
              <a:t>人員代號查詢</a:t>
            </a:r>
            <a:r>
              <a:rPr lang="en-US" altLang="zh-TW" sz="2800" dirty="0">
                <a:ea typeface="新細明體" charset="-120"/>
              </a:rPr>
              <a:t>(REPMB-01) </a:t>
            </a:r>
            <a:endParaRPr lang="en-US" altLang="zh-TW" sz="2800" dirty="0">
              <a:ea typeface="新細明體" charset="-12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2800" dirty="0">
                <a:ea typeface="新細明體" charset="-120"/>
              </a:rPr>
              <a:t>			     WHERE </a:t>
            </a:r>
            <a:r>
              <a:rPr lang="zh-TW" altLang="en-US" sz="2800" dirty="0">
                <a:ea typeface="新細明體" charset="-120"/>
              </a:rPr>
              <a:t>維修人員 </a:t>
            </a:r>
            <a:endParaRPr lang="zh-TW" altLang="en-US" sz="2800" dirty="0">
              <a:ea typeface="新細明體" charset="-120"/>
            </a:endParaRPr>
          </a:p>
          <a:p>
            <a:pPr>
              <a:lnSpc>
                <a:spcPct val="90000"/>
              </a:lnSpc>
            </a:pPr>
            <a:r>
              <a:rPr lang="zh-TW" altLang="en-US" sz="2800" dirty="0">
                <a:ea typeface="新細明體" charset="-120"/>
              </a:rPr>
              <a:t>實作步驟</a:t>
            </a:r>
            <a:endParaRPr lang="zh-TW" altLang="en-US" sz="2800" dirty="0">
              <a:ea typeface="新細明體" charset="-120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TW" dirty="0">
                <a:latin typeface="Arial" charset="0"/>
                <a:ea typeface="新細明體" charset="-120"/>
              </a:rPr>
              <a:t>1.</a:t>
            </a:r>
            <a:r>
              <a:rPr lang="zh-TW" altLang="en-US" dirty="0" smtClean="0">
                <a:ea typeface="新細明體" charset="-120"/>
              </a:rPr>
              <a:t>以</a:t>
            </a:r>
            <a:r>
              <a:rPr lang="en-US" altLang="zh-TW" dirty="0" smtClean="0">
                <a:ea typeface="新細明體" charset="-120"/>
              </a:rPr>
              <a:t>MIMJ</a:t>
            </a:r>
            <a:r>
              <a:rPr lang="zh-TW" altLang="en-US" dirty="0" smtClean="0">
                <a:ea typeface="新細明體" charset="-120"/>
              </a:rPr>
              <a:t>編輯工具</a:t>
            </a:r>
            <a:r>
              <a:rPr lang="zh-TW" altLang="en-US" dirty="0">
                <a:ea typeface="新細明體" charset="-120"/>
              </a:rPr>
              <a:t>查詢ＳＱＬ內容是否有需傳入的參數</a:t>
            </a:r>
            <a:endParaRPr lang="zh-TW" altLang="en-US" dirty="0">
              <a:ea typeface="新細明體" charset="-120"/>
            </a:endParaRPr>
          </a:p>
        </p:txBody>
      </p:sp>
      <p:sp>
        <p:nvSpPr>
          <p:cNvPr id="495620" name="Rectangle 4"/>
          <p:cNvSpPr>
            <a:spLocks noChangeArrowheads="1"/>
          </p:cNvSpPr>
          <p:nvPr/>
        </p:nvSpPr>
        <p:spPr bwMode="auto">
          <a:xfrm>
            <a:off x="107950" y="3930650"/>
            <a:ext cx="8763000" cy="2667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742950" lvl="1" indent="-285750" algn="l">
              <a:spcBef>
                <a:spcPct val="20000"/>
              </a:spcBef>
            </a:pPr>
            <a:r>
              <a:rPr lang="en-US" altLang="zh-TW" sz="2800" b="0">
                <a:ea typeface="新細明體" charset="-120"/>
              </a:rPr>
              <a:t>2.</a:t>
            </a:r>
            <a:r>
              <a:rPr lang="zh-TW" altLang="en-US" sz="2800" b="0">
                <a:latin typeface="新細明體" charset="-120"/>
                <a:ea typeface="新細明體" charset="-120"/>
              </a:rPr>
              <a:t>在</a:t>
            </a:r>
            <a:r>
              <a:rPr lang="en-US" altLang="zh-TW" sz="2800" b="0">
                <a:ea typeface="新細明體" charset="-120"/>
              </a:rPr>
              <a:t>Test.aspx.cs</a:t>
            </a:r>
            <a:r>
              <a:rPr lang="zh-TW" altLang="en-US" sz="2800" b="0">
                <a:latin typeface="新細明體" charset="-120"/>
                <a:ea typeface="新細明體" charset="-120"/>
              </a:rPr>
              <a:t>的</a:t>
            </a:r>
            <a:r>
              <a:rPr lang="en-US" altLang="zh-TW" sz="2400">
                <a:solidFill>
                  <a:srgbClr val="0000FF"/>
                </a:solidFill>
              </a:rPr>
              <a:t>settingClientFunction()</a:t>
            </a:r>
            <a:r>
              <a:rPr lang="zh-TW" altLang="en-US" sz="2800" b="0">
                <a:latin typeface="新細明體" charset="-120"/>
                <a:ea typeface="新細明體" charset="-120"/>
              </a:rPr>
              <a:t>中註冊事件</a:t>
            </a:r>
            <a:endParaRPr lang="zh-TW" altLang="en-US" sz="2000">
              <a:solidFill>
                <a:srgbClr val="FF0000"/>
              </a:solidFill>
              <a:ea typeface="新細明體" charset="-120"/>
              <a:cs typeface="Arial" charset="0"/>
            </a:endParaRPr>
          </a:p>
          <a:p>
            <a:pPr marL="342900" indent="-342900" algn="l">
              <a:spcBef>
                <a:spcPct val="20000"/>
              </a:spcBef>
            </a:pPr>
            <a:r>
              <a:rPr lang="zh-TW" altLang="en-US" sz="2000">
                <a:solidFill>
                  <a:srgbClr val="FF0000"/>
                </a:solidFill>
                <a:ea typeface="新細明體" charset="-120"/>
                <a:cs typeface="Arial" charset="0"/>
              </a:rPr>
              <a:t> </a:t>
            </a:r>
            <a:r>
              <a:rPr lang="en-US" altLang="zh-TW" sz="1800">
                <a:solidFill>
                  <a:srgbClr val="FF0000"/>
                </a:solidFill>
                <a:ea typeface="新細明體" charset="-120"/>
                <a:cs typeface="Arial" charset="0"/>
              </a:rPr>
              <a:t>getClickParams_Fields(</a:t>
            </a:r>
            <a:r>
              <a:rPr lang="zh-TW" altLang="en-US" sz="1800">
                <a:solidFill>
                  <a:srgbClr val="FF0000"/>
                </a:solidFill>
                <a:ea typeface="新細明體" charset="-120"/>
                <a:cs typeface="Arial" charset="0"/>
              </a:rPr>
              <a:t>按鈕</a:t>
            </a:r>
            <a:r>
              <a:rPr lang="en-US" altLang="zh-TW" sz="1800">
                <a:solidFill>
                  <a:srgbClr val="FF0000"/>
                </a:solidFill>
                <a:ea typeface="新細明體" charset="-120"/>
                <a:cs typeface="Arial" charset="0"/>
              </a:rPr>
              <a:t>, </a:t>
            </a:r>
            <a:r>
              <a:rPr lang="zh-TW" altLang="en-US" sz="1800">
                <a:solidFill>
                  <a:srgbClr val="FF0000"/>
                </a:solidFill>
                <a:ea typeface="新細明體" charset="-120"/>
                <a:cs typeface="Arial" charset="0"/>
              </a:rPr>
              <a:t>當</a:t>
            </a:r>
            <a:r>
              <a:rPr lang="en-US" altLang="zh-TW" sz="1800">
                <a:solidFill>
                  <a:srgbClr val="FF0000"/>
                </a:solidFill>
                <a:ea typeface="新細明體" charset="-120"/>
                <a:cs typeface="Arial" charset="0"/>
              </a:rPr>
              <a:t>SQL where</a:t>
            </a:r>
            <a:r>
              <a:rPr lang="zh-TW" altLang="en-US" sz="1800">
                <a:solidFill>
                  <a:srgbClr val="FF0000"/>
                </a:solidFill>
                <a:ea typeface="新細明體" charset="-120"/>
                <a:cs typeface="Arial" charset="0"/>
              </a:rPr>
              <a:t>條件之參數</a:t>
            </a:r>
            <a:r>
              <a:rPr lang="en-US" altLang="zh-TW" sz="1800">
                <a:solidFill>
                  <a:srgbClr val="FF0000"/>
                </a:solidFill>
                <a:ea typeface="新細明體" charset="-120"/>
                <a:cs typeface="Arial" charset="0"/>
              </a:rPr>
              <a:t>(</a:t>
            </a:r>
            <a:r>
              <a:rPr lang="zh-TW" altLang="en-US" sz="1800">
                <a:solidFill>
                  <a:srgbClr val="FF0000"/>
                </a:solidFill>
                <a:ea typeface="新細明體" charset="-120"/>
                <a:cs typeface="Arial" charset="0"/>
              </a:rPr>
              <a:t>分號</a:t>
            </a:r>
            <a:r>
              <a:rPr lang="en-US" altLang="zh-TW" sz="1800">
                <a:solidFill>
                  <a:srgbClr val="FF0000"/>
                </a:solidFill>
                <a:ea typeface="新細明體" charset="-120"/>
                <a:cs typeface="Arial" charset="0"/>
              </a:rPr>
              <a:t>;</a:t>
            </a:r>
            <a:r>
              <a:rPr lang="zh-TW" altLang="en-US" sz="1800">
                <a:solidFill>
                  <a:srgbClr val="FF0000"/>
                </a:solidFill>
                <a:ea typeface="新細明體" charset="-120"/>
                <a:cs typeface="Arial" charset="0"/>
              </a:rPr>
              <a:t>隔開</a:t>
            </a:r>
            <a:r>
              <a:rPr lang="en-US" altLang="zh-TW" sz="1800">
                <a:solidFill>
                  <a:srgbClr val="FF0000"/>
                </a:solidFill>
                <a:ea typeface="新細明體" charset="-120"/>
                <a:cs typeface="Arial" charset="0"/>
              </a:rPr>
              <a:t>), </a:t>
            </a:r>
            <a:r>
              <a:rPr lang="zh-TW" altLang="en-US" sz="1800">
                <a:solidFill>
                  <a:srgbClr val="FF0000"/>
                </a:solidFill>
                <a:ea typeface="新細明體" charset="-120"/>
                <a:cs typeface="Arial" charset="0"/>
              </a:rPr>
              <a:t>回填到畫面上的物件</a:t>
            </a:r>
            <a:r>
              <a:rPr lang="en-US" altLang="zh-TW" sz="1800">
                <a:solidFill>
                  <a:srgbClr val="FF0000"/>
                </a:solidFill>
                <a:ea typeface="新細明體" charset="-120"/>
                <a:cs typeface="Arial" charset="0"/>
              </a:rPr>
              <a:t>, </a:t>
            </a:r>
            <a:r>
              <a:rPr lang="zh-TW" altLang="en-US" sz="1800">
                <a:solidFill>
                  <a:srgbClr val="FF0000"/>
                </a:solidFill>
                <a:ea typeface="新細明體" charset="-120"/>
                <a:cs typeface="Arial" charset="0"/>
              </a:rPr>
              <a:t>開窗的類型</a:t>
            </a:r>
            <a:r>
              <a:rPr lang="en-US" altLang="zh-TW" sz="1800">
                <a:solidFill>
                  <a:srgbClr val="FF0000"/>
                </a:solidFill>
                <a:ea typeface="新細明體" charset="-120"/>
                <a:cs typeface="Arial" charset="0"/>
              </a:rPr>
              <a:t>)</a:t>
            </a:r>
            <a:endParaRPr lang="en-US" altLang="zh-TW" sz="1800">
              <a:solidFill>
                <a:srgbClr val="FF0000"/>
              </a:solidFill>
              <a:ea typeface="新細明體" charset="-120"/>
              <a:cs typeface="Arial" charset="0"/>
            </a:endParaRPr>
          </a:p>
          <a:p>
            <a:pPr marL="342900" indent="-342900" algn="l">
              <a:spcBef>
                <a:spcPct val="20000"/>
              </a:spcBef>
            </a:pPr>
            <a:r>
              <a:rPr lang="zh-TW" altLang="en-US" sz="2800" b="0">
                <a:latin typeface="新細明體" charset="-120"/>
                <a:ea typeface="新細明體" charset="-120"/>
              </a:rPr>
              <a:t>範例</a:t>
            </a:r>
            <a:r>
              <a:rPr lang="en-US" altLang="zh-TW" sz="2800" b="0">
                <a:latin typeface="新細明體" charset="-120"/>
                <a:ea typeface="新細明體" charset="-120"/>
              </a:rPr>
              <a:t>:</a:t>
            </a:r>
            <a:endParaRPr lang="en-US" altLang="zh-TW" sz="2800" b="0">
              <a:latin typeface="新細明體" charset="-120"/>
              <a:ea typeface="新細明體" charset="-120"/>
            </a:endParaRPr>
          </a:p>
          <a:p>
            <a:pPr marL="742950" lvl="1" indent="-285750" algn="l">
              <a:spcBef>
                <a:spcPct val="20000"/>
              </a:spcBef>
            </a:pPr>
            <a:r>
              <a:rPr lang="en-US" altLang="zh-TW" sz="1800">
                <a:ea typeface="新細明體" charset="-120"/>
                <a:cs typeface="Arial" charset="0"/>
              </a:rPr>
              <a:t>TW016.HtmImg.Attributes.Add(</a:t>
            </a:r>
            <a:r>
              <a:rPr lang="en-US" altLang="zh-TW" sz="1800">
                <a:solidFill>
                  <a:srgbClr val="FF0000"/>
                </a:solidFill>
                <a:ea typeface="新細明體" charset="-120"/>
                <a:cs typeface="Arial" charset="0"/>
              </a:rPr>
              <a:t>"onclick",MIMJUtil.getClickParams_</a:t>
            </a:r>
            <a:r>
              <a:rPr lang="en-US" altLang="zh-TW" sz="1800">
                <a:solidFill>
                  <a:srgbClr val="FF0000"/>
                </a:solidFill>
                <a:ea typeface="新細明體" charset="-120"/>
              </a:rPr>
              <a:t>Fields</a:t>
            </a:r>
            <a:r>
              <a:rPr lang="en-US" altLang="zh-TW" sz="1800" b="0">
                <a:ea typeface="新細明體" charset="-120"/>
              </a:rPr>
              <a:t> </a:t>
            </a:r>
            <a:r>
              <a:rPr lang="en-US" altLang="zh-TW" sz="1800">
                <a:solidFill>
                  <a:srgbClr val="FF0000"/>
                </a:solidFill>
                <a:ea typeface="新細明體" charset="-120"/>
                <a:cs typeface="Arial" charset="0"/>
              </a:rPr>
              <a:t>("TW016_btn","TW012_txt","TW016_txt","S"));</a:t>
            </a:r>
            <a:endParaRPr lang="en-US" altLang="zh-TW" sz="1800">
              <a:ea typeface="新細明體" charset="-120"/>
              <a:cs typeface="Arial" charset="0"/>
            </a:endParaRPr>
          </a:p>
          <a:p>
            <a:pPr marL="342900" indent="-342900" algn="l">
              <a:spcBef>
                <a:spcPct val="20000"/>
              </a:spcBef>
              <a:buFontTx/>
              <a:buChar char="•"/>
            </a:pPr>
            <a:endParaRPr lang="en-US" altLang="zh-TW" sz="2800" b="0">
              <a:latin typeface="Times New Roman" pitchFamily="18" charset="0"/>
              <a:ea typeface="新細明體" charset="-120"/>
            </a:endParaRPr>
          </a:p>
          <a:p>
            <a:pPr marL="342900" indent="-342900" algn="l">
              <a:spcBef>
                <a:spcPct val="20000"/>
              </a:spcBef>
              <a:buFontTx/>
              <a:buChar char="•"/>
            </a:pPr>
            <a:endParaRPr lang="en-US" altLang="zh-TW" sz="2800" b="0">
              <a:latin typeface="Times New Roman" pitchFamily="18" charset="0"/>
              <a:ea typeface="新細明體" charset="-120"/>
            </a:endParaRPr>
          </a:p>
        </p:txBody>
      </p:sp>
      <p:grpSp>
        <p:nvGrpSpPr>
          <p:cNvPr id="2" name="Group 5"/>
          <p:cNvGrpSpPr/>
          <p:nvPr/>
        </p:nvGrpSpPr>
        <p:grpSpPr bwMode="auto">
          <a:xfrm>
            <a:off x="3779838" y="2998788"/>
            <a:ext cx="5334000" cy="3886200"/>
            <a:chOff x="2208" y="1776"/>
            <a:chExt cx="3360" cy="2448"/>
          </a:xfrm>
        </p:grpSpPr>
        <p:graphicFrame>
          <p:nvGraphicFramePr>
            <p:cNvPr id="495622" name="Object 6"/>
            <p:cNvGraphicFramePr>
              <a:graphicFrameLocks noChangeAspect="1"/>
            </p:cNvGraphicFramePr>
            <p:nvPr/>
          </p:nvGraphicFramePr>
          <p:xfrm>
            <a:off x="2208" y="1776"/>
            <a:ext cx="3360" cy="24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3" name="點陣圖影像" r:id="rId1" imgW="3609975" imgH="2962275" progId="PBrush">
                    <p:embed/>
                  </p:oleObj>
                </mc:Choice>
                <mc:Fallback>
                  <p:oleObj name="點陣圖影像" r:id="rId1" imgW="3609975" imgH="2962275" progId="PBrush">
                    <p:embed/>
                    <p:pic>
                      <p:nvPicPr>
                        <p:cNvPr id="0" name="圖片 307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208" y="1776"/>
                          <a:ext cx="3360" cy="24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5623" name="Rectangle 7"/>
            <p:cNvSpPr>
              <a:spLocks noChangeArrowheads="1"/>
            </p:cNvSpPr>
            <p:nvPr/>
          </p:nvSpPr>
          <p:spPr bwMode="auto">
            <a:xfrm>
              <a:off x="3288" y="2840"/>
              <a:ext cx="499" cy="182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56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800">
                <a:ea typeface="新細明體" charset="-120"/>
              </a:rPr>
              <a:t>註冊</a:t>
            </a:r>
            <a:r>
              <a:rPr lang="en-US" altLang="zh-TW" sz="4800">
                <a:ea typeface="新細明體" charset="-120"/>
              </a:rPr>
              <a:t>MI</a:t>
            </a:r>
            <a:r>
              <a:rPr lang="zh-TW" altLang="en-US" sz="4800">
                <a:ea typeface="新細明體" charset="-120"/>
              </a:rPr>
              <a:t>的方法</a:t>
            </a:r>
            <a:r>
              <a:rPr lang="en-US" altLang="zh-TW" sz="4800">
                <a:ea typeface="新細明體" charset="-120"/>
              </a:rPr>
              <a:t>(</a:t>
            </a:r>
            <a:r>
              <a:rPr lang="zh-TW" altLang="en-US" sz="4800">
                <a:ea typeface="新細明體" charset="-120"/>
              </a:rPr>
              <a:t>進階型</a:t>
            </a:r>
            <a:r>
              <a:rPr lang="en-US" altLang="zh-TW" sz="4800">
                <a:ea typeface="新細明體" charset="-120"/>
              </a:rPr>
              <a:t>)(2/2)</a:t>
            </a:r>
            <a:endParaRPr lang="en-US" altLang="zh-TW" sz="4800">
              <a:ea typeface="新細明體" charset="-120"/>
            </a:endParaRPr>
          </a:p>
        </p:txBody>
      </p:sp>
      <p:sp>
        <p:nvSpPr>
          <p:cNvPr id="4966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800" dirty="0">
                <a:ea typeface="新細明體" charset="-120"/>
              </a:rPr>
              <a:t>規格範例： </a:t>
            </a:r>
            <a:r>
              <a:rPr lang="zh-TW" altLang="en-US" sz="2800" dirty="0">
                <a:latin typeface="細明體" pitchFamily="49" charset="-120"/>
                <a:ea typeface="細明體" pitchFamily="49" charset="-120"/>
              </a:rPr>
              <a:t> </a:t>
            </a:r>
            <a:r>
              <a:rPr lang="en-US" altLang="zh-TW" sz="2800" dirty="0">
                <a:ea typeface="新細明體" charset="-120"/>
              </a:rPr>
              <a:t>[F2]</a:t>
            </a:r>
            <a:r>
              <a:rPr lang="zh-TW" altLang="en-US" sz="2800" dirty="0">
                <a:ea typeface="新細明體" charset="-120"/>
              </a:rPr>
              <a:t>單據性質資料 </a:t>
            </a:r>
            <a:r>
              <a:rPr lang="en-US" altLang="zh-TW" sz="2800" dirty="0">
                <a:ea typeface="新細明體" charset="-120"/>
              </a:rPr>
              <a:t>(REPMQ-03):</a:t>
            </a:r>
            <a:endParaRPr lang="en-US" altLang="zh-TW" sz="2800" dirty="0">
              <a:ea typeface="新細明體" charset="-120"/>
            </a:endParaRPr>
          </a:p>
          <a:p>
            <a:pPr>
              <a:buFontTx/>
              <a:buNone/>
            </a:pPr>
            <a:r>
              <a:rPr lang="en-US" altLang="zh-TW" sz="2800" dirty="0">
                <a:ea typeface="新細明體" charset="-120"/>
              </a:rPr>
              <a:t>			   WHERE MQ003='a9' AND USRID</a:t>
            </a:r>
            <a:endParaRPr lang="en-US" altLang="zh-TW" sz="2800" dirty="0">
              <a:ea typeface="新細明體" charset="-120"/>
            </a:endParaRPr>
          </a:p>
          <a:p>
            <a:r>
              <a:rPr lang="zh-TW" altLang="en-US" sz="2800" dirty="0">
                <a:ea typeface="新細明體" charset="-120"/>
              </a:rPr>
              <a:t>實作步驟</a:t>
            </a:r>
            <a:endParaRPr lang="zh-TW" altLang="en-US" sz="2800" dirty="0">
              <a:ea typeface="新細明體" charset="-120"/>
            </a:endParaRPr>
          </a:p>
          <a:p>
            <a:pPr lvl="1">
              <a:buFontTx/>
              <a:buNone/>
            </a:pPr>
            <a:r>
              <a:rPr lang="en-US" altLang="zh-TW" dirty="0">
                <a:ea typeface="新細明體" charset="-120"/>
              </a:rPr>
              <a:t>1.</a:t>
            </a:r>
            <a:r>
              <a:rPr lang="zh-TW" altLang="en-US" dirty="0" smtClean="0">
                <a:ea typeface="新細明體" charset="-120"/>
              </a:rPr>
              <a:t>以</a:t>
            </a:r>
            <a:r>
              <a:rPr lang="en-US" altLang="zh-TW" dirty="0" smtClean="0">
                <a:ea typeface="新細明體" charset="-120"/>
              </a:rPr>
              <a:t>MIMJ</a:t>
            </a:r>
            <a:r>
              <a:rPr lang="zh-TW" altLang="en-US" dirty="0" smtClean="0">
                <a:ea typeface="新細明體" charset="-120"/>
              </a:rPr>
              <a:t>編輯工具</a:t>
            </a:r>
            <a:r>
              <a:rPr lang="zh-TW" altLang="en-US" dirty="0">
                <a:ea typeface="新細明體" charset="-120"/>
              </a:rPr>
              <a:t>查詢ＳＱＬ內容是否有需傳入的參數</a:t>
            </a:r>
            <a:endParaRPr lang="zh-TW" altLang="en-US" dirty="0">
              <a:ea typeface="新細明體" charset="-120"/>
            </a:endParaRPr>
          </a:p>
          <a:p>
            <a:pPr lvl="1">
              <a:buFont typeface="Wingdings" pitchFamily="2" charset="2"/>
              <a:buNone/>
            </a:pPr>
            <a:r>
              <a:rPr lang="en-US" altLang="zh-TW" dirty="0">
                <a:ea typeface="新細明體" charset="-120"/>
              </a:rPr>
              <a:t>2.</a:t>
            </a:r>
            <a:r>
              <a:rPr lang="zh-TW" altLang="en-US" sz="2700" dirty="0">
                <a:ea typeface="新細明體" charset="-120"/>
              </a:rPr>
              <a:t>在</a:t>
            </a:r>
            <a:r>
              <a:rPr lang="en-US" altLang="zh-TW" sz="2700" dirty="0" err="1">
                <a:ea typeface="新細明體" charset="-120"/>
              </a:rPr>
              <a:t>Test.aspx.cs</a:t>
            </a:r>
            <a:r>
              <a:rPr lang="zh-TW" altLang="en-US" sz="2700" dirty="0">
                <a:ea typeface="新細明體" charset="-120"/>
              </a:rPr>
              <a:t>的</a:t>
            </a:r>
            <a:r>
              <a:rPr lang="en-US" altLang="zh-TW" sz="2700" b="1" dirty="0" err="1">
                <a:solidFill>
                  <a:srgbClr val="0000FF"/>
                </a:solidFill>
                <a:ea typeface="新細明體" charset="-120"/>
              </a:rPr>
              <a:t>settingClientFunction</a:t>
            </a:r>
            <a:r>
              <a:rPr lang="en-US" altLang="zh-TW" sz="2700" b="1" dirty="0">
                <a:solidFill>
                  <a:srgbClr val="0000FF"/>
                </a:solidFill>
                <a:ea typeface="新細明體" charset="-120"/>
              </a:rPr>
              <a:t>()</a:t>
            </a:r>
            <a:r>
              <a:rPr lang="zh-TW" altLang="en-US" sz="2700" dirty="0">
                <a:ea typeface="新細明體" charset="-120"/>
              </a:rPr>
              <a:t>中註冊事件</a:t>
            </a:r>
            <a:endParaRPr lang="zh-TW" altLang="en-US" sz="2700" dirty="0">
              <a:ea typeface="新細明體" charset="-120"/>
            </a:endParaRPr>
          </a:p>
          <a:p>
            <a:r>
              <a:rPr lang="en-US" altLang="zh-TW" sz="1800" b="1" dirty="0" err="1">
                <a:solidFill>
                  <a:srgbClr val="FF0000"/>
                </a:solidFill>
                <a:ea typeface="新細明體" charset="-120"/>
                <a:cs typeface="Arial" charset="0"/>
              </a:rPr>
              <a:t>getClickParams_Params</a:t>
            </a:r>
            <a:r>
              <a:rPr lang="en-US" altLang="zh-TW" sz="1800" b="1" dirty="0">
                <a:solidFill>
                  <a:srgbClr val="FF0000"/>
                </a:solidFill>
                <a:ea typeface="新細明體" charset="-120"/>
                <a:cs typeface="Arial" charset="0"/>
              </a:rPr>
              <a:t>(</a:t>
            </a:r>
            <a:r>
              <a:rPr lang="zh-TW" altLang="en-US" sz="1800" b="1" dirty="0">
                <a:solidFill>
                  <a:srgbClr val="FF0000"/>
                </a:solidFill>
                <a:ea typeface="新細明體" charset="-120"/>
                <a:cs typeface="Arial" charset="0"/>
              </a:rPr>
              <a:t>按鈕</a:t>
            </a:r>
            <a:r>
              <a:rPr lang="en-US" altLang="zh-TW" sz="1800" b="1" dirty="0">
                <a:solidFill>
                  <a:srgbClr val="FF0000"/>
                </a:solidFill>
                <a:ea typeface="新細明體" charset="-120"/>
                <a:cs typeface="Arial" charset="0"/>
              </a:rPr>
              <a:t>,</a:t>
            </a:r>
            <a:r>
              <a:rPr lang="zh-TW" altLang="en-US" sz="1800" b="1" dirty="0">
                <a:solidFill>
                  <a:srgbClr val="FF0000"/>
                </a:solidFill>
                <a:ea typeface="新細明體" charset="-120"/>
                <a:cs typeface="Arial" charset="0"/>
              </a:rPr>
              <a:t>回填到畫面上的物件</a:t>
            </a:r>
            <a:r>
              <a:rPr lang="en-US" altLang="zh-TW" sz="1800" b="1" dirty="0">
                <a:solidFill>
                  <a:srgbClr val="FF0000"/>
                </a:solidFill>
                <a:ea typeface="新細明體" charset="-120"/>
                <a:cs typeface="Arial" charset="0"/>
              </a:rPr>
              <a:t>,</a:t>
            </a:r>
            <a:r>
              <a:rPr lang="zh-TW" altLang="en-US" sz="1800" b="1" dirty="0">
                <a:solidFill>
                  <a:srgbClr val="FF0000"/>
                </a:solidFill>
                <a:ea typeface="新細明體" charset="-120"/>
                <a:cs typeface="Arial" charset="0"/>
              </a:rPr>
              <a:t>輔助用的參數</a:t>
            </a:r>
            <a:r>
              <a:rPr lang="en-US" altLang="zh-TW" sz="1800" b="1" dirty="0">
                <a:solidFill>
                  <a:srgbClr val="FF0000"/>
                </a:solidFill>
                <a:ea typeface="新細明體" charset="-120"/>
                <a:cs typeface="Arial" charset="0"/>
              </a:rPr>
              <a:t>, </a:t>
            </a:r>
            <a:r>
              <a:rPr lang="zh-TW" altLang="en-US" sz="1800" b="1" dirty="0">
                <a:solidFill>
                  <a:srgbClr val="FF0000"/>
                </a:solidFill>
                <a:ea typeface="新細明體" charset="-120"/>
                <a:cs typeface="Arial" charset="0"/>
              </a:rPr>
              <a:t>開窗的類型</a:t>
            </a:r>
            <a:r>
              <a:rPr lang="en-US" altLang="zh-TW" sz="1800" b="1" dirty="0">
                <a:solidFill>
                  <a:srgbClr val="FF0000"/>
                </a:solidFill>
                <a:ea typeface="新細明體" charset="-120"/>
                <a:cs typeface="Arial" charset="0"/>
              </a:rPr>
              <a:t>)</a:t>
            </a:r>
            <a:endParaRPr lang="en-US" altLang="zh-TW" sz="1800" b="1" dirty="0">
              <a:solidFill>
                <a:srgbClr val="FF0000"/>
              </a:solidFill>
              <a:ea typeface="新細明體" charset="-120"/>
              <a:cs typeface="Arial" charset="0"/>
            </a:endParaRPr>
          </a:p>
          <a:p>
            <a:r>
              <a:rPr lang="en-US" altLang="zh-TW" sz="1900" dirty="0">
                <a:ea typeface="新細明體" charset="-120"/>
              </a:rPr>
              <a:t>TW016.HtmImg.Attributes.Add("</a:t>
            </a:r>
            <a:r>
              <a:rPr lang="en-US" altLang="zh-TW" sz="1900" dirty="0" err="1">
                <a:ea typeface="新細明體" charset="-120"/>
              </a:rPr>
              <a:t>onclick",MIMJUtil.getClickParams_Params</a:t>
            </a:r>
            <a:r>
              <a:rPr lang="en-US" altLang="zh-TW" sz="1900" dirty="0">
                <a:ea typeface="新細明體" charset="-120"/>
              </a:rPr>
              <a:t> ("TW016_btn","TW016_txt","a=a9,b="+</a:t>
            </a:r>
            <a:r>
              <a:rPr lang="en-US" altLang="zh-TW" sz="1900" dirty="0" err="1">
                <a:ea typeface="新細明體" charset="-120"/>
              </a:rPr>
              <a:t>UserInfo.LoginId.ToString</a:t>
            </a:r>
            <a:r>
              <a:rPr lang="en-US" altLang="zh-TW" sz="1900" dirty="0">
                <a:ea typeface="新細明體" charset="-120"/>
              </a:rPr>
              <a:t>().Trim(),"S"));</a:t>
            </a:r>
            <a:endParaRPr lang="en-US" altLang="zh-TW" sz="1900" dirty="0">
              <a:ea typeface="新細明體" charset="-120"/>
            </a:endParaRPr>
          </a:p>
          <a:p>
            <a:endParaRPr lang="en-US" altLang="zh-TW" sz="1900" dirty="0">
              <a:ea typeface="新細明體" charset="-120"/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2895600" y="3284538"/>
            <a:ext cx="5943600" cy="3287712"/>
            <a:chOff x="1824" y="1776"/>
            <a:chExt cx="3744" cy="2364"/>
          </a:xfrm>
        </p:grpSpPr>
        <p:graphicFrame>
          <p:nvGraphicFramePr>
            <p:cNvPr id="496645" name="Object 5"/>
            <p:cNvGraphicFramePr>
              <a:graphicFrameLocks noChangeAspect="1"/>
            </p:cNvGraphicFramePr>
            <p:nvPr/>
          </p:nvGraphicFramePr>
          <p:xfrm>
            <a:off x="1824" y="1776"/>
            <a:ext cx="3744" cy="2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7" name="點陣圖影像" r:id="rId1" imgW="3543300" imgH="2019300" progId="PBrush">
                    <p:embed/>
                  </p:oleObj>
                </mc:Choice>
                <mc:Fallback>
                  <p:oleObj name="點陣圖影像" r:id="rId1" imgW="3543300" imgH="2019300" progId="PBrush">
                    <p:embed/>
                    <p:pic>
                      <p:nvPicPr>
                        <p:cNvPr id="0" name="圖片 409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rcRect l="1266"/>
                        <a:stretch>
                          <a:fillRect/>
                        </a:stretch>
                      </p:blipFill>
                      <p:spPr>
                        <a:xfrm>
                          <a:off x="1824" y="1776"/>
                          <a:ext cx="3744" cy="236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6646" name="Rectangle 6"/>
            <p:cNvSpPr>
              <a:spLocks noChangeArrowheads="1"/>
            </p:cNvSpPr>
            <p:nvPr/>
          </p:nvSpPr>
          <p:spPr bwMode="auto">
            <a:xfrm>
              <a:off x="2880" y="2523"/>
              <a:ext cx="544" cy="182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96647" name="Rectangle 7"/>
            <p:cNvSpPr>
              <a:spLocks noChangeArrowheads="1"/>
            </p:cNvSpPr>
            <p:nvPr/>
          </p:nvSpPr>
          <p:spPr bwMode="auto">
            <a:xfrm>
              <a:off x="2835" y="2750"/>
              <a:ext cx="544" cy="182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ea typeface="新細明體" charset="-120"/>
              </a:rPr>
              <a:t>註冊</a:t>
            </a:r>
            <a:r>
              <a:rPr lang="en-US" altLang="zh-TW">
                <a:ea typeface="新細明體" charset="-120"/>
              </a:rPr>
              <a:t>MI</a:t>
            </a:r>
            <a:r>
              <a:rPr lang="zh-TW" altLang="en-US">
                <a:ea typeface="新細明體" charset="-120"/>
              </a:rPr>
              <a:t>的方法</a:t>
            </a:r>
            <a:r>
              <a:rPr lang="en-US" altLang="zh-TW">
                <a:ea typeface="新細明體" charset="-120"/>
              </a:rPr>
              <a:t>(</a:t>
            </a:r>
            <a:r>
              <a:rPr lang="zh-TW" altLang="en-US">
                <a:ea typeface="新細明體" charset="-120"/>
              </a:rPr>
              <a:t>高階型</a:t>
            </a:r>
            <a:r>
              <a:rPr lang="en-US" altLang="zh-TW">
                <a:ea typeface="新細明體" charset="-120"/>
              </a:rPr>
              <a:t>)</a:t>
            </a:r>
            <a:endParaRPr lang="en-US" altLang="zh-TW">
              <a:ea typeface="新細明體" charset="-120"/>
            </a:endParaRPr>
          </a:p>
        </p:txBody>
      </p:sp>
      <p:sp>
        <p:nvSpPr>
          <p:cNvPr id="497667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>
              <a:lnSpc>
                <a:spcPct val="90000"/>
              </a:lnSpc>
            </a:pPr>
            <a:r>
              <a:rPr lang="zh-TW" altLang="en-US" sz="2800" dirty="0">
                <a:ea typeface="新細明體" charset="-120"/>
              </a:rPr>
              <a:t>規格範例： </a:t>
            </a:r>
            <a:r>
              <a:rPr lang="zh-TW" altLang="en-US" sz="2800" dirty="0">
                <a:latin typeface="細明體" pitchFamily="49" charset="-120"/>
                <a:ea typeface="細明體" pitchFamily="49" charset="-120"/>
              </a:rPr>
              <a:t> </a:t>
            </a:r>
            <a:endParaRPr lang="zh-TW" altLang="en-US" sz="2800" dirty="0">
              <a:latin typeface="細明體" pitchFamily="49" charset="-120"/>
              <a:ea typeface="細明體" pitchFamily="49" charset="-120"/>
            </a:endParaRPr>
          </a:p>
          <a:p>
            <a:pPr>
              <a:lnSpc>
                <a:spcPct val="90000"/>
              </a:lnSpc>
            </a:pPr>
            <a:r>
              <a:rPr lang="en-US" altLang="zh-TW" sz="2800" dirty="0">
                <a:ea typeface="新細明體" charset="-120"/>
              </a:rPr>
              <a:t>[F2]</a:t>
            </a:r>
            <a:r>
              <a:rPr lang="zh-TW" altLang="en-US" sz="2800" dirty="0">
                <a:ea typeface="新細明體" charset="-120"/>
              </a:rPr>
              <a:t>單據性質資料 </a:t>
            </a:r>
            <a:r>
              <a:rPr lang="en-US" altLang="zh-TW" sz="2800" dirty="0">
                <a:ea typeface="新細明體" charset="-120"/>
              </a:rPr>
              <a:t>(REPMQ-03):WHERE </a:t>
            </a:r>
            <a:r>
              <a:rPr lang="zh-TW" altLang="en-US" sz="2800" dirty="0">
                <a:ea typeface="新細明體" charset="-120"/>
              </a:rPr>
              <a:t>顧客代號 </a:t>
            </a:r>
            <a:r>
              <a:rPr lang="en-US" altLang="zh-TW" sz="2800" dirty="0">
                <a:ea typeface="新細明體" charset="-120"/>
              </a:rPr>
              <a:t>AND MQ003='a9' AND USRID</a:t>
            </a:r>
            <a:endParaRPr lang="en-US" altLang="zh-TW" sz="2800" dirty="0">
              <a:ea typeface="新細明體" charset="-120"/>
            </a:endParaRPr>
          </a:p>
          <a:p>
            <a:pPr>
              <a:lnSpc>
                <a:spcPct val="90000"/>
              </a:lnSpc>
            </a:pPr>
            <a:r>
              <a:rPr lang="zh-TW" altLang="en-US" sz="2800" dirty="0">
                <a:ea typeface="新細明體" charset="-120"/>
              </a:rPr>
              <a:t>實作步驟</a:t>
            </a:r>
            <a:endParaRPr lang="zh-TW" altLang="en-US" sz="2800" dirty="0">
              <a:ea typeface="新細明體" charset="-120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TW" dirty="0">
                <a:ea typeface="新細明體" charset="-120"/>
              </a:rPr>
              <a:t>1.</a:t>
            </a:r>
            <a:r>
              <a:rPr lang="zh-TW" altLang="en-US" dirty="0" smtClean="0">
                <a:ea typeface="新細明體" charset="-120"/>
              </a:rPr>
              <a:t>以</a:t>
            </a:r>
            <a:r>
              <a:rPr lang="en-US" altLang="zh-TW" dirty="0" smtClean="0">
                <a:ea typeface="新細明體" charset="-120"/>
              </a:rPr>
              <a:t>MIMJ</a:t>
            </a:r>
            <a:r>
              <a:rPr lang="zh-TW" altLang="en-US" dirty="0" smtClean="0">
                <a:ea typeface="新細明體" charset="-120"/>
              </a:rPr>
              <a:t>編輯工具</a:t>
            </a:r>
            <a:r>
              <a:rPr lang="zh-TW" altLang="en-US" dirty="0">
                <a:ea typeface="新細明體" charset="-120"/>
              </a:rPr>
              <a:t>查詢ＳＱＬ內容是否有需傳入的參數</a:t>
            </a:r>
            <a:endParaRPr lang="zh-TW" altLang="en-US" dirty="0">
              <a:ea typeface="新細明體" charset="-120"/>
            </a:endParaRPr>
          </a:p>
        </p:txBody>
      </p:sp>
      <p:sp>
        <p:nvSpPr>
          <p:cNvPr id="497668" name="Rectangle 4"/>
          <p:cNvSpPr>
            <a:spLocks noChangeArrowheads="1"/>
          </p:cNvSpPr>
          <p:nvPr/>
        </p:nvSpPr>
        <p:spPr bwMode="auto">
          <a:xfrm>
            <a:off x="120650" y="4149725"/>
            <a:ext cx="8915400" cy="2667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742950" lvl="1" indent="-285750" algn="l">
              <a:spcBef>
                <a:spcPct val="20000"/>
              </a:spcBef>
            </a:pPr>
            <a:r>
              <a:rPr lang="en-US" altLang="zh-TW" sz="2800" b="0">
                <a:latin typeface="新細明體" charset="-120"/>
                <a:ea typeface="新細明體" charset="-120"/>
              </a:rPr>
              <a:t>2.</a:t>
            </a:r>
            <a:r>
              <a:rPr lang="zh-TW" altLang="en-US" sz="2800" b="0">
                <a:latin typeface="新細明體" charset="-120"/>
                <a:ea typeface="新細明體" charset="-120"/>
              </a:rPr>
              <a:t>在</a:t>
            </a:r>
            <a:r>
              <a:rPr lang="en-US" altLang="zh-TW" sz="2800" b="0">
                <a:ea typeface="新細明體" charset="-120"/>
              </a:rPr>
              <a:t>Test.aspx.cs</a:t>
            </a:r>
            <a:r>
              <a:rPr lang="zh-TW" altLang="en-US" sz="2800" b="0">
                <a:latin typeface="新細明體" charset="-120"/>
                <a:ea typeface="新細明體" charset="-120"/>
              </a:rPr>
              <a:t>的</a:t>
            </a:r>
            <a:r>
              <a:rPr lang="en-US" altLang="zh-TW" sz="2400">
                <a:solidFill>
                  <a:srgbClr val="0000FF"/>
                </a:solidFill>
              </a:rPr>
              <a:t>settingClientFunction()</a:t>
            </a:r>
            <a:r>
              <a:rPr lang="zh-TW" altLang="en-US" sz="2800" b="0">
                <a:latin typeface="新細明體" charset="-120"/>
                <a:ea typeface="新細明體" charset="-120"/>
              </a:rPr>
              <a:t>中註冊事件</a:t>
            </a:r>
            <a:endParaRPr lang="zh-TW" altLang="en-US" sz="2000">
              <a:solidFill>
                <a:srgbClr val="FF0000"/>
              </a:solidFill>
              <a:ea typeface="新細明體" charset="-120"/>
              <a:cs typeface="Arial" charset="0"/>
            </a:endParaRPr>
          </a:p>
          <a:p>
            <a:pPr marL="342900" indent="-342900" algn="l">
              <a:spcBef>
                <a:spcPct val="20000"/>
              </a:spcBef>
            </a:pPr>
            <a:r>
              <a:rPr lang="zh-TW" altLang="en-US" sz="2000">
                <a:solidFill>
                  <a:srgbClr val="FF0000"/>
                </a:solidFill>
                <a:ea typeface="新細明體" charset="-120"/>
                <a:cs typeface="Arial" charset="0"/>
              </a:rPr>
              <a:t>        </a:t>
            </a:r>
            <a:r>
              <a:rPr lang="en-US" altLang="zh-TW" sz="1800">
                <a:solidFill>
                  <a:srgbClr val="FF0000"/>
                </a:solidFill>
                <a:ea typeface="新細明體" charset="-120"/>
                <a:cs typeface="Arial" charset="0"/>
              </a:rPr>
              <a:t>getClickParams_Fields_Params(</a:t>
            </a:r>
            <a:r>
              <a:rPr lang="zh-TW" altLang="en-US" sz="1800">
                <a:solidFill>
                  <a:srgbClr val="FF0000"/>
                </a:solidFill>
                <a:ea typeface="新細明體" charset="-120"/>
                <a:cs typeface="Arial" charset="0"/>
              </a:rPr>
              <a:t>按鈕</a:t>
            </a:r>
            <a:r>
              <a:rPr lang="en-US" altLang="zh-TW" sz="1800">
                <a:solidFill>
                  <a:srgbClr val="FF0000"/>
                </a:solidFill>
                <a:ea typeface="新細明體" charset="-120"/>
                <a:cs typeface="Arial" charset="0"/>
              </a:rPr>
              <a:t>, </a:t>
            </a:r>
            <a:r>
              <a:rPr lang="zh-TW" altLang="en-US" sz="1800">
                <a:solidFill>
                  <a:srgbClr val="FF0000"/>
                </a:solidFill>
                <a:ea typeface="新細明體" charset="-120"/>
                <a:cs typeface="Arial" charset="0"/>
              </a:rPr>
              <a:t>當</a:t>
            </a:r>
            <a:r>
              <a:rPr lang="en-US" altLang="zh-TW" sz="1800">
                <a:solidFill>
                  <a:srgbClr val="FF0000"/>
                </a:solidFill>
                <a:ea typeface="新細明體" charset="-120"/>
                <a:cs typeface="Arial" charset="0"/>
              </a:rPr>
              <a:t>SQL where</a:t>
            </a:r>
            <a:r>
              <a:rPr lang="zh-TW" altLang="en-US" sz="1800">
                <a:solidFill>
                  <a:srgbClr val="FF0000"/>
                </a:solidFill>
                <a:ea typeface="新細明體" charset="-120"/>
                <a:cs typeface="Arial" charset="0"/>
              </a:rPr>
              <a:t>條件之參數</a:t>
            </a:r>
            <a:r>
              <a:rPr lang="en-US" altLang="zh-TW" sz="1800">
                <a:solidFill>
                  <a:srgbClr val="FF0000"/>
                </a:solidFill>
                <a:ea typeface="新細明體" charset="-120"/>
                <a:cs typeface="Arial" charset="0"/>
              </a:rPr>
              <a:t>(</a:t>
            </a:r>
            <a:r>
              <a:rPr lang="zh-TW" altLang="en-US" sz="1800">
                <a:solidFill>
                  <a:srgbClr val="FF0000"/>
                </a:solidFill>
                <a:ea typeface="新細明體" charset="-120"/>
                <a:cs typeface="Arial" charset="0"/>
              </a:rPr>
              <a:t>分號</a:t>
            </a:r>
            <a:r>
              <a:rPr lang="en-US" altLang="zh-TW" sz="1800">
                <a:solidFill>
                  <a:srgbClr val="FF0000"/>
                </a:solidFill>
                <a:ea typeface="新細明體" charset="-120"/>
                <a:cs typeface="Arial" charset="0"/>
              </a:rPr>
              <a:t>;</a:t>
            </a:r>
            <a:r>
              <a:rPr lang="zh-TW" altLang="en-US" sz="1800">
                <a:solidFill>
                  <a:srgbClr val="FF0000"/>
                </a:solidFill>
                <a:ea typeface="新細明體" charset="-120"/>
                <a:cs typeface="Arial" charset="0"/>
              </a:rPr>
              <a:t>隔開</a:t>
            </a:r>
            <a:r>
              <a:rPr lang="en-US" altLang="zh-TW" sz="1800">
                <a:solidFill>
                  <a:srgbClr val="FF0000"/>
                </a:solidFill>
                <a:ea typeface="新細明體" charset="-120"/>
                <a:cs typeface="Arial" charset="0"/>
              </a:rPr>
              <a:t>), </a:t>
            </a:r>
            <a:r>
              <a:rPr lang="zh-TW" altLang="en-US" sz="1800">
                <a:solidFill>
                  <a:srgbClr val="FF0000"/>
                </a:solidFill>
                <a:ea typeface="新細明體" charset="-120"/>
                <a:cs typeface="Arial" charset="0"/>
              </a:rPr>
              <a:t>回填到畫面上的物件</a:t>
            </a:r>
            <a:r>
              <a:rPr lang="en-US" altLang="zh-TW" sz="1800">
                <a:solidFill>
                  <a:srgbClr val="FF0000"/>
                </a:solidFill>
                <a:ea typeface="新細明體" charset="-120"/>
                <a:cs typeface="Arial" charset="0"/>
              </a:rPr>
              <a:t>, </a:t>
            </a:r>
            <a:r>
              <a:rPr lang="zh-TW" altLang="en-US" sz="1800">
                <a:solidFill>
                  <a:srgbClr val="FF0000"/>
                </a:solidFill>
                <a:ea typeface="新細明體" charset="-120"/>
                <a:cs typeface="Arial" charset="0"/>
              </a:rPr>
              <a:t>輔助用的參數</a:t>
            </a:r>
            <a:r>
              <a:rPr lang="en-US" altLang="zh-TW" sz="1800">
                <a:solidFill>
                  <a:srgbClr val="FF0000"/>
                </a:solidFill>
                <a:ea typeface="新細明體" charset="-120"/>
                <a:cs typeface="Arial" charset="0"/>
              </a:rPr>
              <a:t>(</a:t>
            </a:r>
            <a:r>
              <a:rPr lang="zh-TW" altLang="en-US" sz="1800">
                <a:solidFill>
                  <a:srgbClr val="FF0000"/>
                </a:solidFill>
                <a:ea typeface="新細明體" charset="-120"/>
                <a:cs typeface="Arial" charset="0"/>
              </a:rPr>
              <a:t>不存在於畫面</a:t>
            </a:r>
            <a:r>
              <a:rPr lang="en-US" altLang="zh-TW" sz="1800">
                <a:solidFill>
                  <a:srgbClr val="FF0000"/>
                </a:solidFill>
                <a:ea typeface="新細明體" charset="-120"/>
                <a:cs typeface="Arial" charset="0"/>
              </a:rPr>
              <a:t>), </a:t>
            </a:r>
            <a:r>
              <a:rPr lang="zh-TW" altLang="en-US" sz="1800">
                <a:solidFill>
                  <a:srgbClr val="FF0000"/>
                </a:solidFill>
                <a:ea typeface="新細明體" charset="-120"/>
                <a:cs typeface="Arial" charset="0"/>
              </a:rPr>
              <a:t>開窗的類型</a:t>
            </a:r>
            <a:r>
              <a:rPr lang="en-US" altLang="zh-TW" sz="1800">
                <a:solidFill>
                  <a:srgbClr val="FF0000"/>
                </a:solidFill>
                <a:ea typeface="新細明體" charset="-120"/>
                <a:cs typeface="Arial" charset="0"/>
              </a:rPr>
              <a:t>) </a:t>
            </a:r>
            <a:endParaRPr lang="en-US" altLang="zh-TW" sz="1800">
              <a:solidFill>
                <a:srgbClr val="FF0000"/>
              </a:solidFill>
              <a:ea typeface="新細明體" charset="-120"/>
              <a:cs typeface="Arial" charset="0"/>
            </a:endParaRPr>
          </a:p>
          <a:p>
            <a:pPr marL="742950" lvl="1" indent="-285750" algn="l">
              <a:spcBef>
                <a:spcPct val="20000"/>
              </a:spcBef>
            </a:pPr>
            <a:r>
              <a:rPr lang="zh-TW" altLang="en-US" sz="2800" b="0">
                <a:latin typeface="新細明體" charset="-120"/>
                <a:ea typeface="新細明體" charset="-120"/>
              </a:rPr>
              <a:t>範例</a:t>
            </a:r>
            <a:r>
              <a:rPr lang="en-US" altLang="zh-TW" sz="2800" b="0">
                <a:latin typeface="新細明體" charset="-120"/>
                <a:ea typeface="新細明體" charset="-120"/>
              </a:rPr>
              <a:t>:</a:t>
            </a:r>
            <a:endParaRPr lang="en-US" altLang="zh-TW" sz="2800" b="0">
              <a:latin typeface="Times New Roman" pitchFamily="18" charset="0"/>
              <a:ea typeface="新細明體" charset="-120"/>
            </a:endParaRPr>
          </a:p>
          <a:p>
            <a:pPr marL="342900" indent="-342900" algn="l">
              <a:spcBef>
                <a:spcPct val="20000"/>
              </a:spcBef>
              <a:buFontTx/>
              <a:buChar char="•"/>
            </a:pPr>
            <a:r>
              <a:rPr lang="en-US" altLang="zh-TW" sz="1800" b="0">
                <a:ea typeface="新細明體" charset="-120"/>
              </a:rPr>
              <a:t>BT009.HtmImg.Attributes.Add("onclick",MIMJUtil.getClickParams_Fields_Params("BT009_btn","BT002_txt","BT009_txt","a=a9,b="+UserInfo.LoginId.ToString(),"S"));</a:t>
            </a:r>
            <a:endParaRPr lang="en-US" altLang="zh-TW" sz="1800" b="0">
              <a:ea typeface="新細明體" charset="-120"/>
            </a:endParaRPr>
          </a:p>
          <a:p>
            <a:pPr marL="342900" indent="-342900" algn="l">
              <a:spcBef>
                <a:spcPct val="20000"/>
              </a:spcBef>
              <a:buFontTx/>
              <a:buChar char="•"/>
            </a:pPr>
            <a:endParaRPr lang="en-US" altLang="zh-TW" sz="2800" b="0">
              <a:latin typeface="Times New Roman" pitchFamily="18" charset="0"/>
              <a:ea typeface="新細明體" charset="-120"/>
            </a:endParaRPr>
          </a:p>
        </p:txBody>
      </p:sp>
      <p:grpSp>
        <p:nvGrpSpPr>
          <p:cNvPr id="2" name="Group 5"/>
          <p:cNvGrpSpPr/>
          <p:nvPr/>
        </p:nvGrpSpPr>
        <p:grpSpPr bwMode="auto">
          <a:xfrm>
            <a:off x="2889250" y="3141663"/>
            <a:ext cx="6254750" cy="3716337"/>
            <a:chOff x="1820" y="1752"/>
            <a:chExt cx="3940" cy="2568"/>
          </a:xfrm>
        </p:grpSpPr>
        <p:pic>
          <p:nvPicPr>
            <p:cNvPr id="497670" name="Picture 6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>
              <a:off x="1820" y="1752"/>
              <a:ext cx="3940" cy="2568"/>
            </a:xfrm>
            <a:prstGeom prst="rect">
              <a:avLst/>
            </a:prstGeom>
            <a:noFill/>
          </p:spPr>
        </p:pic>
        <p:sp>
          <p:nvSpPr>
            <p:cNvPr id="497671" name="Rectangle 7"/>
            <p:cNvSpPr>
              <a:spLocks noChangeArrowheads="1"/>
            </p:cNvSpPr>
            <p:nvPr/>
          </p:nvSpPr>
          <p:spPr bwMode="auto">
            <a:xfrm>
              <a:off x="2925" y="2614"/>
              <a:ext cx="499" cy="182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97672" name="Rectangle 8"/>
            <p:cNvSpPr>
              <a:spLocks noChangeArrowheads="1"/>
            </p:cNvSpPr>
            <p:nvPr/>
          </p:nvSpPr>
          <p:spPr bwMode="auto">
            <a:xfrm>
              <a:off x="4241" y="2614"/>
              <a:ext cx="499" cy="182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97673" name="Rectangle 9"/>
            <p:cNvSpPr>
              <a:spLocks noChangeArrowheads="1"/>
            </p:cNvSpPr>
            <p:nvPr/>
          </p:nvSpPr>
          <p:spPr bwMode="auto">
            <a:xfrm>
              <a:off x="2880" y="2795"/>
              <a:ext cx="499" cy="182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66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zh-TW" altLang="en-US">
                <a:ea typeface="新細明體" charset="-120"/>
              </a:rPr>
              <a:t>執行</a:t>
            </a:r>
            <a:r>
              <a:rPr lang="en-US" altLang="zh-TW">
                <a:ea typeface="新細明體" charset="-120"/>
              </a:rPr>
              <a:t>MI</a:t>
            </a:r>
            <a:r>
              <a:rPr lang="zh-TW" altLang="en-US">
                <a:ea typeface="新細明體" charset="-120"/>
              </a:rPr>
              <a:t>的方法</a:t>
            </a:r>
            <a:r>
              <a:rPr lang="en-US" altLang="zh-TW">
                <a:ea typeface="新細明體" charset="-120"/>
              </a:rPr>
              <a:t>(</a:t>
            </a:r>
            <a:r>
              <a:rPr lang="zh-TW" altLang="en-US">
                <a:ea typeface="新細明體" charset="-120"/>
              </a:rPr>
              <a:t>基本型</a:t>
            </a:r>
            <a:r>
              <a:rPr lang="en-US" altLang="zh-TW">
                <a:ea typeface="新細明體" charset="-120"/>
              </a:rPr>
              <a:t>)</a:t>
            </a:r>
            <a:endParaRPr lang="en-US" altLang="zh-TW">
              <a:ea typeface="新細明體" charset="-120"/>
            </a:endParaRPr>
          </a:p>
        </p:txBody>
      </p:sp>
      <p:sp>
        <p:nvSpPr>
          <p:cNvPr id="498691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r>
              <a:rPr lang="en-US" altLang="zh-TW" sz="2800" b="1" dirty="0" err="1">
                <a:ea typeface="新細明體" charset="-120"/>
                <a:cs typeface="Arial" charset="0"/>
              </a:rPr>
              <a:t>doMI</a:t>
            </a:r>
            <a:r>
              <a:rPr lang="en-US" altLang="zh-TW" sz="2800" b="1" dirty="0">
                <a:ea typeface="新細明體" charset="-120"/>
                <a:cs typeface="Arial" charset="0"/>
              </a:rPr>
              <a:t>(MI</a:t>
            </a:r>
            <a:r>
              <a:rPr lang="zh-TW" altLang="en-US" sz="2800" b="1" dirty="0">
                <a:cs typeface="Arial" charset="0"/>
              </a:rPr>
              <a:t>組數第一組</a:t>
            </a:r>
            <a:r>
              <a:rPr lang="en-US" altLang="zh-TW" sz="2800" b="1" dirty="0">
                <a:ea typeface="新細明體" charset="-120"/>
                <a:cs typeface="Arial" charset="0"/>
              </a:rPr>
              <a:t>, MI</a:t>
            </a:r>
            <a:r>
              <a:rPr lang="zh-TW" altLang="en-US" sz="2800" b="1" dirty="0">
                <a:cs typeface="Arial" charset="0"/>
              </a:rPr>
              <a:t>組數第二組</a:t>
            </a:r>
            <a:r>
              <a:rPr lang="en-US" altLang="zh-TW" sz="2800" b="1" dirty="0">
                <a:ea typeface="新細明體" charset="-120"/>
              </a:rPr>
              <a:t>)*</a:t>
            </a:r>
            <a:endParaRPr lang="en-US" altLang="zh-TW" sz="2800" dirty="0">
              <a:ea typeface="新細明體" charset="-120"/>
            </a:endParaRPr>
          </a:p>
          <a:p>
            <a:pPr lvl="2"/>
            <a:r>
              <a:rPr lang="en-US" altLang="zh-TW" sz="2000" dirty="0" err="1">
                <a:ea typeface="新細明體" charset="-120"/>
              </a:rPr>
              <a:t>doMI</a:t>
            </a:r>
            <a:r>
              <a:rPr lang="en-US" altLang="zh-TW" sz="2000" dirty="0">
                <a:ea typeface="新細明體" charset="-120"/>
              </a:rPr>
              <a:t>("CRMHH","</a:t>
            </a:r>
            <a:r>
              <a:rPr lang="en-US" altLang="zh-TW" sz="2000" dirty="0" smtClean="0">
                <a:ea typeface="新細明體" charset="-120"/>
              </a:rPr>
              <a:t>01”);</a:t>
            </a:r>
            <a:endParaRPr lang="en-US" altLang="zh-TW" sz="2800" dirty="0">
              <a:ea typeface="新細明體" charset="-120"/>
            </a:endParaRPr>
          </a:p>
          <a:p>
            <a:r>
              <a:rPr lang="en-US" altLang="zh-TW" b="1" dirty="0" err="1">
                <a:ea typeface="新細明體" charset="-120"/>
              </a:rPr>
              <a:t>doMI</a:t>
            </a:r>
            <a:r>
              <a:rPr lang="en-US" altLang="zh-TW" b="1" dirty="0">
                <a:ea typeface="新細明體" charset="-120"/>
              </a:rPr>
              <a:t>(MI</a:t>
            </a:r>
            <a:r>
              <a:rPr lang="zh-TW" altLang="en-US" b="1" dirty="0"/>
              <a:t>組數第一組</a:t>
            </a:r>
            <a:r>
              <a:rPr lang="en-US" altLang="zh-TW" b="1" dirty="0">
                <a:ea typeface="新細明體" charset="-120"/>
              </a:rPr>
              <a:t>, MI</a:t>
            </a:r>
            <a:r>
              <a:rPr lang="zh-TW" altLang="en-US" b="1" dirty="0"/>
              <a:t>組數第二組</a:t>
            </a:r>
            <a:r>
              <a:rPr lang="en-US" altLang="zh-TW" b="1" dirty="0">
                <a:ea typeface="新細明體" charset="-120"/>
              </a:rPr>
              <a:t>,</a:t>
            </a:r>
            <a:r>
              <a:rPr lang="zh-TW" altLang="en-US" b="1" dirty="0" smtClean="0"/>
              <a:t>自組</a:t>
            </a:r>
            <a:r>
              <a:rPr lang="en-US" altLang="zh-TW" b="1" dirty="0" smtClean="0">
                <a:ea typeface="新細明體" charset="-120"/>
              </a:rPr>
              <a:t>string</a:t>
            </a:r>
            <a:r>
              <a:rPr lang="en-US" altLang="zh-TW" b="1" dirty="0">
                <a:ea typeface="新細明體" charset="-120"/>
              </a:rPr>
              <a:t>)*</a:t>
            </a:r>
            <a:endParaRPr lang="en-US" altLang="zh-TW" dirty="0">
              <a:ea typeface="新細明體" charset="-120"/>
            </a:endParaRPr>
          </a:p>
          <a:p>
            <a:pPr lvl="2"/>
            <a:r>
              <a:rPr lang="en-US" altLang="zh-TW" sz="2000" dirty="0" err="1">
                <a:ea typeface="新細明體" charset="-120"/>
              </a:rPr>
              <a:t>doMI</a:t>
            </a:r>
            <a:r>
              <a:rPr lang="en-US" altLang="zh-TW" sz="2000" dirty="0">
                <a:ea typeface="新細明體" charset="-120"/>
              </a:rPr>
              <a:t>("CRMHH","01",StringByMySelf);</a:t>
            </a:r>
            <a:endParaRPr lang="en-US" altLang="zh-TW" sz="3200" dirty="0">
              <a:ea typeface="新細明體" charset="-120"/>
            </a:endParaRPr>
          </a:p>
          <a:p>
            <a:r>
              <a:rPr lang="en-US" altLang="zh-TW" b="1" dirty="0" err="1">
                <a:ea typeface="新細明體" charset="-120"/>
              </a:rPr>
              <a:t>doMI</a:t>
            </a:r>
            <a:r>
              <a:rPr lang="en-US" altLang="zh-TW" b="1" dirty="0">
                <a:ea typeface="新細明體" charset="-120"/>
              </a:rPr>
              <a:t>(MI</a:t>
            </a:r>
            <a:r>
              <a:rPr lang="zh-TW" altLang="en-US" b="1" dirty="0"/>
              <a:t>組數第一組</a:t>
            </a:r>
            <a:r>
              <a:rPr lang="en-US" altLang="zh-TW" b="1" dirty="0">
                <a:ea typeface="新細明體" charset="-120"/>
              </a:rPr>
              <a:t>, MI</a:t>
            </a:r>
            <a:r>
              <a:rPr lang="zh-TW" altLang="en-US" b="1" dirty="0"/>
              <a:t>組數第二組</a:t>
            </a:r>
            <a:r>
              <a:rPr lang="en-US" altLang="zh-TW" b="1" dirty="0">
                <a:ea typeface="新細明體" charset="-120"/>
              </a:rPr>
              <a:t>,MI</a:t>
            </a:r>
            <a:r>
              <a:rPr lang="en-US" altLang="zh-TW" dirty="0">
                <a:ea typeface="新細明體" charset="-120"/>
              </a:rPr>
              <a:t> </a:t>
            </a:r>
            <a:r>
              <a:rPr lang="en-US" altLang="zh-TW" b="1" dirty="0">
                <a:ea typeface="新細明體" charset="-120"/>
              </a:rPr>
              <a:t>where</a:t>
            </a:r>
            <a:r>
              <a:rPr lang="zh-TW" altLang="en-US" b="1" dirty="0"/>
              <a:t>條件的參數之個數</a:t>
            </a:r>
            <a:r>
              <a:rPr lang="en-US" altLang="zh-TW" b="1" dirty="0">
                <a:ea typeface="新細明體" charset="-120"/>
              </a:rPr>
              <a:t>)*</a:t>
            </a:r>
            <a:endParaRPr lang="en-US" altLang="zh-TW" dirty="0">
              <a:ea typeface="新細明體" charset="-120"/>
            </a:endParaRPr>
          </a:p>
          <a:p>
            <a:pPr lvl="2"/>
            <a:r>
              <a:rPr lang="en-US" altLang="zh-TW" sz="2000" dirty="0" err="1">
                <a:ea typeface="新細明體" charset="-120"/>
              </a:rPr>
              <a:t>doMI</a:t>
            </a:r>
            <a:r>
              <a:rPr lang="en-US" altLang="zh-TW" sz="2000" dirty="0">
                <a:ea typeface="新細明體" charset="-120"/>
              </a:rPr>
              <a:t>("CRMHH","01",1);</a:t>
            </a:r>
            <a:endParaRPr lang="en-US" altLang="zh-TW" sz="2000" dirty="0">
              <a:ea typeface="新細明體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14" name="Rectangle 2"/>
          <p:cNvSpPr>
            <a:spLocks noChangeArrowheads="1"/>
          </p:cNvSpPr>
          <p:nvPr/>
        </p:nvSpPr>
        <p:spPr bwMode="auto">
          <a:xfrm>
            <a:off x="685800" y="533400"/>
            <a:ext cx="7772400" cy="762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r>
              <a:rPr kumimoji="0" lang="zh-TW" altLang="en-US" sz="4000">
                <a:solidFill>
                  <a:schemeClr val="tx2"/>
                </a:solidFill>
                <a:ea typeface="新細明體" charset="-120"/>
              </a:rPr>
              <a:t>註冊</a:t>
            </a:r>
            <a:r>
              <a:rPr kumimoji="0" lang="en-US" altLang="zh-TW" sz="4000">
                <a:solidFill>
                  <a:schemeClr val="tx2"/>
                </a:solidFill>
                <a:ea typeface="新細明體" charset="-120"/>
              </a:rPr>
              <a:t>MJ</a:t>
            </a:r>
            <a:r>
              <a:rPr kumimoji="0" lang="zh-TW" altLang="en-US" sz="4000">
                <a:solidFill>
                  <a:schemeClr val="tx2"/>
                </a:solidFill>
                <a:ea typeface="新細明體" charset="-120"/>
              </a:rPr>
              <a:t>的方法</a:t>
            </a:r>
            <a:r>
              <a:rPr kumimoji="0" lang="en-US" altLang="zh-TW" sz="4000">
                <a:solidFill>
                  <a:schemeClr val="tx2"/>
                </a:solidFill>
                <a:ea typeface="新細明體" charset="-120"/>
              </a:rPr>
              <a:t>(onblur</a:t>
            </a:r>
            <a:r>
              <a:rPr kumimoji="0" lang="zh-TW" altLang="en-US" sz="4000">
                <a:solidFill>
                  <a:schemeClr val="tx2"/>
                </a:solidFill>
                <a:ea typeface="新細明體" charset="-120"/>
              </a:rPr>
              <a:t>事件</a:t>
            </a:r>
            <a:r>
              <a:rPr kumimoji="0" lang="en-US" altLang="zh-TW" sz="4000">
                <a:solidFill>
                  <a:schemeClr val="tx2"/>
                </a:solidFill>
                <a:ea typeface="新細明體" charset="-120"/>
              </a:rPr>
              <a:t>)</a:t>
            </a:r>
            <a:endParaRPr kumimoji="0" lang="en-US" altLang="zh-TW" sz="4000">
              <a:solidFill>
                <a:schemeClr val="tx2"/>
              </a:solidFill>
              <a:ea typeface="新細明體" charset="-120"/>
            </a:endParaRPr>
          </a:p>
        </p:txBody>
      </p:sp>
      <p:sp>
        <p:nvSpPr>
          <p:cNvPr id="499715" name="Rectangle 3"/>
          <p:cNvSpPr>
            <a:spLocks noChangeArrowheads="1"/>
          </p:cNvSpPr>
          <p:nvPr/>
        </p:nvSpPr>
        <p:spPr bwMode="auto">
          <a:xfrm>
            <a:off x="179388" y="1600200"/>
            <a:ext cx="8583612" cy="4800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zh-TW" altLang="en-US" sz="3200" b="0">
                <a:latin typeface="Times New Roman" pitchFamily="18" charset="0"/>
                <a:ea typeface="新細明體" charset="-120"/>
              </a:rPr>
              <a:t>基本型</a:t>
            </a:r>
            <a:endParaRPr lang="zh-TW" altLang="en-US" sz="3200" b="0">
              <a:latin typeface="Times New Roman" pitchFamily="18" charset="0"/>
              <a:ea typeface="新細明體" charset="-120"/>
            </a:endParaRPr>
          </a:p>
          <a:p>
            <a:pPr marL="342900" indent="-342900" algn="l">
              <a:spcBef>
                <a:spcPct val="20000"/>
              </a:spcBef>
              <a:buFontTx/>
              <a:buChar char="•"/>
            </a:pPr>
            <a:r>
              <a:rPr lang="en-US" altLang="zh-TW" sz="1800">
                <a:ea typeface="新細明體" charset="-120"/>
                <a:cs typeface="Arial" charset="0"/>
              </a:rPr>
              <a:t>getBlurParams(</a:t>
            </a:r>
            <a:r>
              <a:rPr lang="zh-TW" altLang="en-US" sz="1800"/>
              <a:t>主要觸發</a:t>
            </a:r>
            <a:r>
              <a:rPr lang="en-US" altLang="zh-TW" sz="1800">
                <a:ea typeface="新細明體" charset="-120"/>
                <a:cs typeface="Arial" charset="0"/>
              </a:rPr>
              <a:t>MJ</a:t>
            </a:r>
            <a:r>
              <a:rPr lang="zh-TW" altLang="en-US" sz="1800"/>
              <a:t>的欄位</a:t>
            </a:r>
            <a:r>
              <a:rPr lang="en-US" altLang="zh-TW" sz="1800">
                <a:ea typeface="新細明體" charset="-120"/>
                <a:cs typeface="Arial" charset="0"/>
              </a:rPr>
              <a:t>, </a:t>
            </a:r>
            <a:r>
              <a:rPr lang="zh-TW" altLang="en-US" sz="1800"/>
              <a:t>自訂</a:t>
            </a:r>
            <a:r>
              <a:rPr lang="en-US" altLang="zh-TW" sz="1800">
                <a:ea typeface="新細明體" charset="-120"/>
                <a:cs typeface="Arial" charset="0"/>
              </a:rPr>
              <a:t>MJ</a:t>
            </a:r>
            <a:r>
              <a:rPr lang="zh-TW" altLang="en-US" sz="1800"/>
              <a:t>的</a:t>
            </a:r>
            <a:r>
              <a:rPr lang="en-US" altLang="zh-TW" sz="1800">
                <a:ea typeface="新細明體" charset="-120"/>
                <a:cs typeface="Arial" charset="0"/>
              </a:rPr>
              <a:t>SwitchKey</a:t>
            </a:r>
            <a:r>
              <a:rPr lang="zh-TW" altLang="en-US" sz="1800"/>
              <a:t>名稱</a:t>
            </a:r>
            <a:r>
              <a:rPr lang="en-US" altLang="zh-TW" sz="1800">
                <a:ea typeface="新細明體" charset="-120"/>
                <a:cs typeface="Arial" charset="0"/>
              </a:rPr>
              <a:t>, </a:t>
            </a:r>
            <a:r>
              <a:rPr lang="zh-TW" altLang="en-US" sz="1800"/>
              <a:t>傳到後端用的參數</a:t>
            </a:r>
            <a:r>
              <a:rPr lang="en-US" altLang="zh-TW" sz="1800">
                <a:ea typeface="新細明體" charset="-120"/>
                <a:cs typeface="Arial" charset="0"/>
              </a:rPr>
              <a:t>(</a:t>
            </a:r>
            <a:r>
              <a:rPr lang="zh-TW" altLang="en-US" sz="1800"/>
              <a:t>並非均當</a:t>
            </a:r>
            <a:r>
              <a:rPr lang="en-US" altLang="zh-TW" sz="1800">
                <a:ea typeface="新細明體" charset="-120"/>
                <a:cs typeface="Arial" charset="0"/>
              </a:rPr>
              <a:t>SQL where</a:t>
            </a:r>
            <a:r>
              <a:rPr lang="zh-TW" altLang="en-US" sz="1800"/>
              <a:t>條件之參數</a:t>
            </a:r>
            <a:r>
              <a:rPr lang="en-US" altLang="zh-TW" sz="1800">
                <a:ea typeface="新細明體" charset="-120"/>
                <a:cs typeface="Arial" charset="0"/>
              </a:rPr>
              <a:t>))</a:t>
            </a:r>
            <a:endParaRPr lang="en-US" altLang="zh-TW" sz="1800">
              <a:ea typeface="新細明體" charset="-120"/>
              <a:cs typeface="Arial" charset="0"/>
            </a:endParaRPr>
          </a:p>
          <a:p>
            <a:pPr marL="342900" indent="-342900" algn="l">
              <a:spcBef>
                <a:spcPct val="20000"/>
              </a:spcBef>
              <a:buFontTx/>
              <a:buChar char="•"/>
            </a:pPr>
            <a:endParaRPr lang="en-US" altLang="zh-TW" sz="1600" b="0">
              <a:ea typeface="新細明體" charset="-120"/>
              <a:cs typeface="Arial" charset="0"/>
            </a:endParaRPr>
          </a:p>
          <a:p>
            <a:pPr marL="742950" lvl="1" indent="-285750" algn="l">
              <a:spcBef>
                <a:spcPct val="20000"/>
              </a:spcBef>
              <a:buFontTx/>
              <a:buChar char="•"/>
            </a:pPr>
            <a:r>
              <a:rPr lang="en-US" altLang="zh-TW" sz="1600" b="0">
                <a:ea typeface="新細明體" charset="-120"/>
                <a:cs typeface="Arial" charset="0"/>
              </a:rPr>
              <a:t>getBlurParams("GD003_txt","</a:t>
            </a:r>
            <a:r>
              <a:rPr lang="zh-TW" altLang="en-US" sz="1600" b="0">
                <a:ea typeface="新細明體" charset="-120"/>
                <a:cs typeface="Arial" charset="0"/>
              </a:rPr>
              <a:t>部門分類</a:t>
            </a:r>
            <a:r>
              <a:rPr lang="en-US" altLang="zh-TW" sz="1600" b="0">
                <a:ea typeface="新細明體" charset="-120"/>
                <a:cs typeface="Arial" charset="0"/>
              </a:rPr>
              <a:t>","GD003_txt,GD001_ddl")</a:t>
            </a:r>
            <a:endParaRPr lang="en-US" altLang="zh-TW" sz="1600" b="0">
              <a:ea typeface="新細明體" charset="-120"/>
              <a:cs typeface="Arial" charset="0"/>
            </a:endParaRPr>
          </a:p>
          <a:p>
            <a:pPr marL="342900" indent="-342900" algn="l">
              <a:spcBef>
                <a:spcPct val="20000"/>
              </a:spcBef>
              <a:buFontTx/>
              <a:buChar char="•"/>
            </a:pPr>
            <a:endParaRPr lang="en-US" altLang="zh-TW" sz="1800">
              <a:ea typeface="新細明體" charset="-120"/>
              <a:cs typeface="Arial" charset="0"/>
            </a:endParaRPr>
          </a:p>
          <a:p>
            <a:pPr marL="342900" indent="-342900" algn="l">
              <a:spcBef>
                <a:spcPct val="20000"/>
              </a:spcBef>
              <a:buFontTx/>
              <a:buChar char="•"/>
            </a:pPr>
            <a:r>
              <a:rPr lang="en-US" altLang="zh-TW" sz="1800">
                <a:ea typeface="新細明體" charset="-120"/>
                <a:cs typeface="Arial" charset="0"/>
              </a:rPr>
              <a:t>getBlurParams_Params (</a:t>
            </a:r>
            <a:r>
              <a:rPr lang="zh-TW" altLang="en-US" sz="1800">
                <a:ea typeface="新細明體" charset="-120"/>
                <a:cs typeface="Arial" charset="0"/>
              </a:rPr>
              <a:t>主要觸發</a:t>
            </a:r>
            <a:r>
              <a:rPr lang="en-US" altLang="zh-TW" sz="1800">
                <a:ea typeface="新細明體" charset="-120"/>
                <a:cs typeface="Arial" charset="0"/>
              </a:rPr>
              <a:t>MJ</a:t>
            </a:r>
            <a:r>
              <a:rPr lang="zh-TW" altLang="en-US" sz="1800">
                <a:ea typeface="新細明體" charset="-120"/>
                <a:cs typeface="Arial" charset="0"/>
              </a:rPr>
              <a:t>的欄位</a:t>
            </a:r>
            <a:r>
              <a:rPr lang="en-US" altLang="zh-TW" sz="1800">
                <a:ea typeface="新細明體" charset="-120"/>
                <a:cs typeface="Arial" charset="0"/>
              </a:rPr>
              <a:t>, </a:t>
            </a:r>
            <a:r>
              <a:rPr lang="zh-TW" altLang="en-US" sz="1800">
                <a:ea typeface="新細明體" charset="-120"/>
                <a:cs typeface="Arial" charset="0"/>
              </a:rPr>
              <a:t>自訂</a:t>
            </a:r>
            <a:r>
              <a:rPr lang="en-US" altLang="zh-TW" sz="1800">
                <a:ea typeface="新細明體" charset="-120"/>
                <a:cs typeface="Arial" charset="0"/>
              </a:rPr>
              <a:t>MJ</a:t>
            </a:r>
            <a:r>
              <a:rPr lang="zh-TW" altLang="en-US" sz="1800">
                <a:ea typeface="新細明體" charset="-120"/>
                <a:cs typeface="Arial" charset="0"/>
              </a:rPr>
              <a:t>的</a:t>
            </a:r>
            <a:r>
              <a:rPr lang="en-US" altLang="zh-TW" sz="1800">
                <a:ea typeface="新細明體" charset="-120"/>
                <a:cs typeface="Arial" charset="0"/>
              </a:rPr>
              <a:t>SwitchKey</a:t>
            </a:r>
            <a:r>
              <a:rPr lang="zh-TW" altLang="en-US" sz="1800">
                <a:ea typeface="新細明體" charset="-120"/>
                <a:cs typeface="Arial" charset="0"/>
              </a:rPr>
              <a:t>名稱</a:t>
            </a:r>
            <a:r>
              <a:rPr lang="en-US" altLang="zh-TW" sz="1800">
                <a:ea typeface="新細明體" charset="-120"/>
                <a:cs typeface="Arial" charset="0"/>
              </a:rPr>
              <a:t>, </a:t>
            </a:r>
            <a:r>
              <a:rPr lang="zh-TW" altLang="en-US" sz="1800">
                <a:solidFill>
                  <a:srgbClr val="FF0000"/>
                </a:solidFill>
                <a:ea typeface="新細明體" charset="-120"/>
                <a:cs typeface="Arial" charset="0"/>
              </a:rPr>
              <a:t>輔助用的參數</a:t>
            </a:r>
            <a:r>
              <a:rPr lang="en-US" altLang="zh-TW" sz="1800">
                <a:solidFill>
                  <a:srgbClr val="FF0000"/>
                </a:solidFill>
                <a:ea typeface="新細明體" charset="-120"/>
                <a:cs typeface="Arial" charset="0"/>
              </a:rPr>
              <a:t>(</a:t>
            </a:r>
            <a:r>
              <a:rPr lang="zh-TW" altLang="en-US" sz="1800">
                <a:solidFill>
                  <a:srgbClr val="FF0000"/>
                </a:solidFill>
                <a:ea typeface="新細明體" charset="-120"/>
                <a:cs typeface="Arial" charset="0"/>
              </a:rPr>
              <a:t>不存在於畫面</a:t>
            </a:r>
            <a:r>
              <a:rPr lang="en-US" altLang="zh-TW" sz="1800">
                <a:solidFill>
                  <a:srgbClr val="FF0000"/>
                </a:solidFill>
                <a:ea typeface="新細明體" charset="-120"/>
                <a:cs typeface="Arial" charset="0"/>
              </a:rPr>
              <a:t>)</a:t>
            </a:r>
            <a:r>
              <a:rPr lang="en-US" altLang="zh-TW" sz="1800">
                <a:ea typeface="新細明體" charset="-120"/>
                <a:cs typeface="Arial" charset="0"/>
              </a:rPr>
              <a:t>,</a:t>
            </a:r>
            <a:r>
              <a:rPr lang="zh-TW" altLang="en-US" sz="1800">
                <a:ea typeface="新細明體" charset="-120"/>
                <a:cs typeface="Arial" charset="0"/>
              </a:rPr>
              <a:t>傳到後端用的參數</a:t>
            </a:r>
            <a:r>
              <a:rPr lang="en-US" altLang="zh-TW" sz="1800">
                <a:ea typeface="新細明體" charset="-120"/>
                <a:cs typeface="Arial" charset="0"/>
              </a:rPr>
              <a:t>(</a:t>
            </a:r>
            <a:r>
              <a:rPr lang="zh-TW" altLang="en-US" sz="1800">
                <a:ea typeface="新細明體" charset="-120"/>
                <a:cs typeface="Arial" charset="0"/>
              </a:rPr>
              <a:t>並非均當</a:t>
            </a:r>
            <a:r>
              <a:rPr lang="en-US" altLang="zh-TW" sz="1800">
                <a:ea typeface="新細明體" charset="-120"/>
                <a:cs typeface="Arial" charset="0"/>
              </a:rPr>
              <a:t>SQL where</a:t>
            </a:r>
            <a:r>
              <a:rPr lang="zh-TW" altLang="en-US" sz="1800">
                <a:ea typeface="新細明體" charset="-120"/>
                <a:cs typeface="Arial" charset="0"/>
              </a:rPr>
              <a:t>條件之參數</a:t>
            </a:r>
            <a:r>
              <a:rPr lang="en-US" altLang="zh-TW" sz="1800">
                <a:ea typeface="新細明體" charset="-120"/>
                <a:cs typeface="Arial" charset="0"/>
              </a:rPr>
              <a:t>))</a:t>
            </a:r>
            <a:endParaRPr lang="en-US" altLang="zh-TW" sz="1800">
              <a:ea typeface="新細明體" charset="-120"/>
              <a:cs typeface="Arial" charset="0"/>
            </a:endParaRPr>
          </a:p>
          <a:p>
            <a:pPr marL="342900" indent="-342900" algn="l">
              <a:spcBef>
                <a:spcPct val="20000"/>
              </a:spcBef>
              <a:buFontTx/>
              <a:buChar char="•"/>
            </a:pPr>
            <a:endParaRPr lang="en-US" altLang="zh-TW" sz="1600">
              <a:ea typeface="新細明體" charset="-120"/>
              <a:cs typeface="Arial" charset="0"/>
            </a:endParaRPr>
          </a:p>
          <a:p>
            <a:pPr marL="742950" lvl="1" indent="-285750" algn="l">
              <a:spcBef>
                <a:spcPct val="20000"/>
              </a:spcBef>
              <a:buFontTx/>
              <a:buChar char="•"/>
            </a:pPr>
            <a:r>
              <a:rPr lang="en-US" altLang="zh-TW" sz="1600" b="0">
                <a:ea typeface="新細明體" charset="-120"/>
                <a:cs typeface="Arial" charset="0"/>
              </a:rPr>
              <a:t>getBlurParams_Params ("GD003_txt","</a:t>
            </a:r>
            <a:r>
              <a:rPr lang="zh-TW" altLang="en-US" sz="1600" b="0">
                <a:ea typeface="新細明體" charset="-120"/>
                <a:cs typeface="Arial" charset="0"/>
              </a:rPr>
              <a:t>部門分類</a:t>
            </a:r>
            <a:r>
              <a:rPr lang="en-US" altLang="zh-TW" sz="1600" b="0">
                <a:ea typeface="新細明體" charset="-120"/>
                <a:cs typeface="Arial" charset="0"/>
              </a:rPr>
              <a:t>","a=1","GD003_txt,GD001_ddl ") </a:t>
            </a:r>
            <a:endParaRPr lang="en-US" altLang="zh-TW" sz="1600" b="0">
              <a:ea typeface="新細明體" charset="-120"/>
              <a:cs typeface="Arial" charset="0"/>
            </a:endParaRP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ea typeface="新細明體" charset="-120"/>
              </a:rPr>
              <a:t>執行</a:t>
            </a:r>
            <a:r>
              <a:rPr lang="en-US" altLang="zh-TW">
                <a:ea typeface="新細明體" charset="-120"/>
              </a:rPr>
              <a:t>MJ</a:t>
            </a:r>
            <a:r>
              <a:rPr lang="zh-TW" altLang="en-US">
                <a:ea typeface="新細明體" charset="-120"/>
              </a:rPr>
              <a:t>的方法</a:t>
            </a:r>
            <a:r>
              <a:rPr lang="en-US" altLang="zh-TW">
                <a:ea typeface="新細明體" charset="-120"/>
              </a:rPr>
              <a:t>(</a:t>
            </a:r>
            <a:r>
              <a:rPr lang="zh-TW" altLang="en-US">
                <a:ea typeface="新細明體" charset="-120"/>
              </a:rPr>
              <a:t>基本型</a:t>
            </a:r>
            <a:r>
              <a:rPr lang="en-US" altLang="zh-TW">
                <a:ea typeface="新細明體" charset="-120"/>
              </a:rPr>
              <a:t>)</a:t>
            </a:r>
            <a:endParaRPr lang="en-US" altLang="zh-TW">
              <a:ea typeface="新細明體" charset="-120"/>
            </a:endParaRPr>
          </a:p>
        </p:txBody>
      </p:sp>
      <p:sp>
        <p:nvSpPr>
          <p:cNvPr id="5007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000" b="1">
                <a:ea typeface="新細明體" charset="-120"/>
              </a:rPr>
              <a:t>[doMJ</a:t>
            </a:r>
            <a:r>
              <a:rPr lang="en-US" altLang="zh-TW" sz="2000">
                <a:ea typeface="新細明體" charset="-120"/>
              </a:rPr>
              <a:t>]</a:t>
            </a:r>
            <a:r>
              <a:rPr lang="zh-TW" altLang="en-US" sz="2000">
                <a:ea typeface="新細明體" charset="-120"/>
              </a:rPr>
              <a:t>：執行</a:t>
            </a:r>
            <a:r>
              <a:rPr lang="zh-TW" altLang="en-US" sz="2000">
                <a:latin typeface="Arial"/>
                <a:ea typeface="新細明體" charset="-120"/>
              </a:rPr>
              <a:t> </a:t>
            </a:r>
            <a:r>
              <a:rPr lang="en-US" altLang="zh-TW" sz="2000">
                <a:ea typeface="新細明體" charset="-120"/>
              </a:rPr>
              <a:t>MJ</a:t>
            </a:r>
            <a:r>
              <a:rPr lang="zh-TW" altLang="en-US" sz="2000">
                <a:ea typeface="新細明體" charset="-120"/>
              </a:rPr>
              <a:t>之後不再做特殊處理，控制權轉還</a:t>
            </a:r>
            <a:r>
              <a:rPr lang="en-US" altLang="zh-TW" sz="2000">
                <a:ea typeface="新細明體" charset="-120"/>
              </a:rPr>
              <a:t>MIMJBasepage</a:t>
            </a:r>
            <a:r>
              <a:rPr lang="zh-TW" altLang="en-US" sz="2000">
                <a:ea typeface="新細明體" charset="-120"/>
              </a:rPr>
              <a:t>。</a:t>
            </a:r>
            <a:endParaRPr lang="zh-TW" altLang="en-US" sz="2000">
              <a:ea typeface="新細明體" charset="-120"/>
            </a:endParaRPr>
          </a:p>
          <a:p>
            <a:endParaRPr lang="zh-TW" altLang="en-US" sz="2000">
              <a:ea typeface="新細明體" charset="-120"/>
            </a:endParaRPr>
          </a:p>
          <a:p>
            <a:r>
              <a:rPr lang="en-US" altLang="zh-TW" sz="2000" b="1">
                <a:ea typeface="新細明體" charset="-120"/>
              </a:rPr>
              <a:t>doMJ(MJ</a:t>
            </a:r>
            <a:r>
              <a:rPr lang="zh-TW" altLang="en-US" sz="2000" b="1">
                <a:ea typeface="新細明體" charset="-120"/>
              </a:rPr>
              <a:t>組數第一組</a:t>
            </a:r>
            <a:r>
              <a:rPr lang="en-US" altLang="zh-TW" sz="2000" b="1">
                <a:ea typeface="新細明體" charset="-120"/>
              </a:rPr>
              <a:t>, MJ</a:t>
            </a:r>
            <a:r>
              <a:rPr lang="zh-TW" altLang="en-US" sz="2000" b="1">
                <a:ea typeface="新細明體" charset="-120"/>
              </a:rPr>
              <a:t>組數第二組</a:t>
            </a:r>
            <a:r>
              <a:rPr lang="en-US" altLang="zh-TW" sz="2000" b="1">
                <a:ea typeface="新細明體" charset="-120"/>
              </a:rPr>
              <a:t>, </a:t>
            </a:r>
            <a:r>
              <a:rPr lang="zh-TW" altLang="en-US" sz="2000" b="1">
                <a:ea typeface="新細明體" charset="-120"/>
              </a:rPr>
              <a:t>回填畫面之元件 </a:t>
            </a:r>
            <a:r>
              <a:rPr lang="en-US" altLang="zh-TW" sz="2000" b="1">
                <a:ea typeface="新細明體" charset="-120"/>
              </a:rPr>
              <a:t>= </a:t>
            </a:r>
            <a:r>
              <a:rPr lang="zh-TW" altLang="en-US" sz="2000" b="1">
                <a:ea typeface="新細明體" charset="-120"/>
              </a:rPr>
              <a:t>資料庫回傳的欄位名稱</a:t>
            </a:r>
            <a:r>
              <a:rPr lang="en-US" altLang="zh-TW" sz="2000" b="1">
                <a:ea typeface="新細明體" charset="-120"/>
              </a:rPr>
              <a:t>)*</a:t>
            </a:r>
            <a:endParaRPr lang="en-US" altLang="zh-TW" sz="2000" b="1">
              <a:ea typeface="新細明體" charset="-120"/>
            </a:endParaRPr>
          </a:p>
          <a:p>
            <a:pPr lvl="1"/>
            <a:r>
              <a:rPr lang="en-US" altLang="zh-TW" sz="2000">
                <a:ea typeface="新細明體" charset="-120"/>
              </a:rPr>
              <a:t>doMJ("CRMHH","03","EV001_txt=H001");</a:t>
            </a:r>
            <a:endParaRPr lang="en-US" altLang="zh-TW" sz="2000">
              <a:ea typeface="新細明體" charset="-120"/>
            </a:endParaRPr>
          </a:p>
          <a:p>
            <a:pPr lvl="1"/>
            <a:endParaRPr lang="en-US" altLang="zh-TW" sz="2000" b="1">
              <a:ea typeface="新細明體" charset="-120"/>
            </a:endParaRPr>
          </a:p>
          <a:p>
            <a:r>
              <a:rPr lang="en-US" altLang="zh-TW" sz="2000" b="1">
                <a:ea typeface="新細明體" charset="-120"/>
              </a:rPr>
              <a:t>doMJ(MJ</a:t>
            </a:r>
            <a:r>
              <a:rPr lang="zh-TW" altLang="en-US" sz="2000" b="1">
                <a:ea typeface="新細明體" charset="-120"/>
              </a:rPr>
              <a:t>組數第一組</a:t>
            </a:r>
            <a:r>
              <a:rPr lang="en-US" altLang="zh-TW" sz="2000" b="1">
                <a:ea typeface="新細明體" charset="-120"/>
              </a:rPr>
              <a:t>, MJ</a:t>
            </a:r>
            <a:r>
              <a:rPr lang="zh-TW" altLang="en-US" sz="2000" b="1">
                <a:ea typeface="新細明體" charset="-120"/>
              </a:rPr>
              <a:t>組數第二組</a:t>
            </a:r>
            <a:r>
              <a:rPr lang="en-US" altLang="zh-TW" sz="2000" b="1">
                <a:ea typeface="新細明體" charset="-120"/>
              </a:rPr>
              <a:t>, </a:t>
            </a:r>
            <a:r>
              <a:rPr lang="zh-TW" altLang="en-US" sz="2000" b="1">
                <a:solidFill>
                  <a:srgbClr val="FF0000"/>
                </a:solidFill>
                <a:ea typeface="新細明體" charset="-120"/>
              </a:rPr>
              <a:t>當</a:t>
            </a:r>
            <a:r>
              <a:rPr lang="en-US" altLang="zh-TW" sz="2000" b="1">
                <a:solidFill>
                  <a:srgbClr val="FF0000"/>
                </a:solidFill>
                <a:ea typeface="新細明體" charset="-120"/>
              </a:rPr>
              <a:t>SQL where</a:t>
            </a:r>
            <a:r>
              <a:rPr lang="zh-TW" altLang="en-US" sz="2000" b="1">
                <a:solidFill>
                  <a:srgbClr val="FF0000"/>
                </a:solidFill>
                <a:ea typeface="新細明體" charset="-120"/>
              </a:rPr>
              <a:t>條件參數之個數</a:t>
            </a:r>
            <a:r>
              <a:rPr lang="en-US" altLang="zh-TW" sz="2000" b="1">
                <a:ea typeface="新細明體" charset="-120"/>
              </a:rPr>
              <a:t>, </a:t>
            </a:r>
            <a:r>
              <a:rPr lang="zh-TW" altLang="en-US" sz="2000" b="1">
                <a:ea typeface="新細明體" charset="-120"/>
              </a:rPr>
              <a:t>回填畫面之元件 </a:t>
            </a:r>
            <a:r>
              <a:rPr lang="en-US" altLang="zh-TW" sz="2000" b="1">
                <a:ea typeface="新細明體" charset="-120"/>
              </a:rPr>
              <a:t>= </a:t>
            </a:r>
            <a:r>
              <a:rPr lang="zh-TW" altLang="en-US" sz="2000" b="1">
                <a:ea typeface="新細明體" charset="-120"/>
              </a:rPr>
              <a:t>資料庫回傳的欄位名稱</a:t>
            </a:r>
            <a:r>
              <a:rPr lang="en-US" altLang="zh-TW" sz="2000" b="1">
                <a:ea typeface="新細明體" charset="-120"/>
              </a:rPr>
              <a:t>)*</a:t>
            </a:r>
            <a:endParaRPr lang="en-US" altLang="zh-TW" sz="2000" b="1">
              <a:ea typeface="新細明體" charset="-120"/>
            </a:endParaRPr>
          </a:p>
          <a:p>
            <a:pPr lvl="1"/>
            <a:r>
              <a:rPr lang="en-US" altLang="zh-TW" sz="2000">
                <a:ea typeface="新細明體" charset="-120"/>
              </a:rPr>
              <a:t>doMJ("CRMHH","03",</a:t>
            </a:r>
            <a:r>
              <a:rPr lang="en-US" altLang="zh-TW" sz="2000">
                <a:solidFill>
                  <a:srgbClr val="FF0000"/>
                </a:solidFill>
                <a:ea typeface="新細明體" charset="-120"/>
              </a:rPr>
              <a:t>2</a:t>
            </a:r>
            <a:r>
              <a:rPr lang="en-US" altLang="zh-TW" sz="2000">
                <a:ea typeface="新細明體" charset="-120"/>
              </a:rPr>
              <a:t>,"EV001_txt=H001");</a:t>
            </a:r>
            <a:endParaRPr lang="en-US" altLang="zh-TW" sz="2000">
              <a:ea typeface="新細明體" charset="-120"/>
            </a:endParaRPr>
          </a:p>
          <a:p>
            <a:pPr lvl="1"/>
            <a:endParaRPr lang="en-US" altLang="zh-TW" sz="2000" b="1">
              <a:ea typeface="新細明體" charset="-120"/>
            </a:endParaRPr>
          </a:p>
          <a:p>
            <a:r>
              <a:rPr lang="en-US" altLang="zh-TW" sz="2000" b="1">
                <a:ea typeface="新細明體" charset="-120"/>
              </a:rPr>
              <a:t>doMJ(MJ</a:t>
            </a:r>
            <a:r>
              <a:rPr lang="zh-TW" altLang="en-US" sz="2000" b="1">
                <a:ea typeface="新細明體" charset="-120"/>
              </a:rPr>
              <a:t>組數第一組</a:t>
            </a:r>
            <a:r>
              <a:rPr lang="en-US" altLang="zh-TW" sz="2000" b="1">
                <a:ea typeface="新細明體" charset="-120"/>
              </a:rPr>
              <a:t>, MJ</a:t>
            </a:r>
            <a:r>
              <a:rPr lang="zh-TW" altLang="en-US" sz="2000" b="1">
                <a:ea typeface="新細明體" charset="-120"/>
              </a:rPr>
              <a:t>組數第二組</a:t>
            </a:r>
            <a:r>
              <a:rPr lang="en-US" altLang="zh-TW" sz="2000" b="1">
                <a:ea typeface="新細明體" charset="-120"/>
              </a:rPr>
              <a:t>, </a:t>
            </a:r>
            <a:r>
              <a:rPr lang="zh-TW" altLang="en-US" sz="2000" b="1">
                <a:solidFill>
                  <a:srgbClr val="FF0000"/>
                </a:solidFill>
                <a:ea typeface="新細明體" charset="-120"/>
              </a:rPr>
              <a:t>自己將</a:t>
            </a:r>
            <a:r>
              <a:rPr lang="en-US" altLang="zh-TW" sz="2000" b="1">
                <a:solidFill>
                  <a:srgbClr val="FF0000"/>
                </a:solidFill>
                <a:ea typeface="新細明體" charset="-120"/>
              </a:rPr>
              <a:t>SQL where</a:t>
            </a:r>
            <a:r>
              <a:rPr lang="zh-TW" altLang="en-US" sz="2000" b="1">
                <a:solidFill>
                  <a:srgbClr val="FF0000"/>
                </a:solidFill>
                <a:ea typeface="新細明體" charset="-120"/>
              </a:rPr>
              <a:t>條件之參數組成</a:t>
            </a:r>
            <a:r>
              <a:rPr lang="en-US" altLang="zh-TW" sz="2000" b="1">
                <a:solidFill>
                  <a:srgbClr val="FF0000"/>
                </a:solidFill>
                <a:ea typeface="新細明體" charset="-120"/>
              </a:rPr>
              <a:t>Array</a:t>
            </a:r>
            <a:r>
              <a:rPr lang="en-US" altLang="zh-TW" sz="2000" b="1">
                <a:ea typeface="新細明體" charset="-120"/>
              </a:rPr>
              <a:t>, </a:t>
            </a:r>
            <a:r>
              <a:rPr lang="zh-TW" altLang="en-US" sz="2000" b="1">
                <a:ea typeface="新細明體" charset="-120"/>
              </a:rPr>
              <a:t>回填畫面之元件 </a:t>
            </a:r>
            <a:r>
              <a:rPr lang="en-US" altLang="zh-TW" sz="2000" b="1">
                <a:ea typeface="新細明體" charset="-120"/>
              </a:rPr>
              <a:t>= </a:t>
            </a:r>
            <a:r>
              <a:rPr lang="zh-TW" altLang="en-US" sz="2000" b="1">
                <a:ea typeface="新細明體" charset="-120"/>
              </a:rPr>
              <a:t>資料庫回傳的欄位名稱</a:t>
            </a:r>
            <a:r>
              <a:rPr lang="en-US" altLang="zh-TW" sz="2000" b="1">
                <a:ea typeface="新細明體" charset="-120"/>
              </a:rPr>
              <a:t>)*</a:t>
            </a:r>
            <a:endParaRPr lang="en-US" altLang="zh-TW" sz="2000" b="1">
              <a:ea typeface="新細明體" charset="-120"/>
            </a:endParaRPr>
          </a:p>
          <a:p>
            <a:pPr lvl="1"/>
            <a:r>
              <a:rPr lang="en-US" altLang="zh-TW" sz="2000">
                <a:ea typeface="新細明體" charset="-120"/>
              </a:rPr>
              <a:t>doMJ("CRMHH","03",</a:t>
            </a:r>
            <a:r>
              <a:rPr lang="en-US" altLang="zh-TW" sz="2000">
                <a:solidFill>
                  <a:srgbClr val="FF0000"/>
                </a:solidFill>
                <a:ea typeface="新細明體" charset="-120"/>
              </a:rPr>
              <a:t>ArrayByMySelf</a:t>
            </a:r>
            <a:r>
              <a:rPr lang="en-US" altLang="zh-TW" sz="2000">
                <a:ea typeface="新細明體" charset="-120"/>
              </a:rPr>
              <a:t>, "EV001_txt=H001");</a:t>
            </a:r>
            <a:endParaRPr lang="en-US" altLang="zh-TW" sz="2400">
              <a:ea typeface="新細明體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Rectangle 2"/>
          <p:cNvSpPr>
            <a:spLocks noChangeArrowheads="1"/>
          </p:cNvSpPr>
          <p:nvPr/>
        </p:nvSpPr>
        <p:spPr bwMode="auto">
          <a:xfrm>
            <a:off x="1979712" y="476672"/>
            <a:ext cx="7772400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r>
              <a:rPr kumimoji="0" lang="zh-TW" altLang="en-US" sz="4000" dirty="0">
                <a:solidFill>
                  <a:schemeClr val="tx2"/>
                </a:solidFill>
                <a:ea typeface="新細明體" charset="-120"/>
              </a:rPr>
              <a:t>執行</a:t>
            </a:r>
            <a:r>
              <a:rPr kumimoji="0" lang="en-US" altLang="zh-TW" sz="4000" dirty="0">
                <a:solidFill>
                  <a:schemeClr val="tx2"/>
                </a:solidFill>
                <a:ea typeface="新細明體" charset="-120"/>
              </a:rPr>
              <a:t>MJ</a:t>
            </a:r>
            <a:r>
              <a:rPr kumimoji="0" lang="zh-TW" altLang="en-US" sz="4000" dirty="0">
                <a:solidFill>
                  <a:schemeClr val="tx2"/>
                </a:solidFill>
                <a:ea typeface="新細明體" charset="-120"/>
              </a:rPr>
              <a:t>的方法</a:t>
            </a:r>
            <a:r>
              <a:rPr kumimoji="0" lang="en-US" altLang="zh-TW" sz="4000" dirty="0">
                <a:solidFill>
                  <a:schemeClr val="tx2"/>
                </a:solidFill>
                <a:ea typeface="新細明體" charset="-120"/>
              </a:rPr>
              <a:t>--</a:t>
            </a:r>
            <a:r>
              <a:rPr kumimoji="0" lang="zh-TW" altLang="en-US" sz="4000" dirty="0">
                <a:solidFill>
                  <a:schemeClr val="tx2"/>
                </a:solidFill>
                <a:ea typeface="新細明體" charset="-120"/>
              </a:rPr>
              <a:t>進階型（一）</a:t>
            </a:r>
            <a:r>
              <a:rPr lang="zh-TW" altLang="en-US" sz="4000" b="0" dirty="0">
                <a:latin typeface="Times New Roman" pitchFamily="18" charset="0"/>
                <a:ea typeface="新細明體" charset="-120"/>
              </a:rPr>
              <a:t> </a:t>
            </a:r>
            <a:endParaRPr lang="zh-TW" altLang="en-US" sz="4000" b="0" dirty="0">
              <a:latin typeface="Times New Roman" pitchFamily="18" charset="0"/>
              <a:ea typeface="新細明體" charset="-120"/>
            </a:endParaRPr>
          </a:p>
        </p:txBody>
      </p:sp>
      <p:sp>
        <p:nvSpPr>
          <p:cNvPr id="501763" name="Rectangle 3"/>
          <p:cNvSpPr>
            <a:spLocks noChangeArrowheads="1"/>
          </p:cNvSpPr>
          <p:nvPr/>
        </p:nvSpPr>
        <p:spPr bwMode="auto">
          <a:xfrm>
            <a:off x="152400" y="1447800"/>
            <a:ext cx="8991600" cy="5105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algn="l">
              <a:spcBef>
                <a:spcPct val="20000"/>
              </a:spcBef>
            </a:pPr>
            <a:r>
              <a:rPr lang="en-US" altLang="zh-TW" sz="2000" b="0">
                <a:latin typeface="Wingdings" pitchFamily="2" charset="2"/>
              </a:rPr>
              <a:t> </a:t>
            </a:r>
            <a:r>
              <a:rPr lang="en-US" altLang="zh-TW" sz="2000" b="0">
                <a:latin typeface="Times New Roman" pitchFamily="18" charset="0"/>
                <a:ea typeface="新細明體" charset="-120"/>
                <a:cs typeface="Times New Roman" pitchFamily="18" charset="0"/>
              </a:rPr>
              <a:t> </a:t>
            </a:r>
            <a:r>
              <a:rPr lang="en-US" altLang="zh-TW" sz="2000" b="0">
                <a:latin typeface="Wingdings" pitchFamily="2" charset="2"/>
              </a:rPr>
              <a:t>l</a:t>
            </a:r>
            <a:r>
              <a:rPr lang="en-US" altLang="zh-TW" sz="2000" b="0">
                <a:latin typeface="Times New Roman" pitchFamily="18" charset="0"/>
                <a:ea typeface="新細明體" charset="-120"/>
                <a:cs typeface="Times New Roman" pitchFamily="18" charset="0"/>
              </a:rPr>
              <a:t> </a:t>
            </a:r>
            <a:r>
              <a:rPr lang="en-US" altLang="zh-TW" sz="2000"/>
              <a:t>doMJwithErrorMSG(MJ</a:t>
            </a:r>
            <a:r>
              <a:rPr lang="zh-TW" altLang="en-US" sz="2000"/>
              <a:t>組數第一組</a:t>
            </a:r>
            <a:r>
              <a:rPr lang="en-US" altLang="zh-TW" sz="2000"/>
              <a:t>,MJ</a:t>
            </a:r>
            <a:r>
              <a:rPr lang="zh-TW" altLang="en-US" sz="2000"/>
              <a:t>組數第二組</a:t>
            </a:r>
            <a:r>
              <a:rPr lang="en-US" altLang="zh-TW" sz="2000"/>
              <a:t>,</a:t>
            </a:r>
            <a:r>
              <a:rPr lang="zh-TW" altLang="en-US" sz="2000">
                <a:solidFill>
                  <a:srgbClr val="33CC33"/>
                </a:solidFill>
              </a:rPr>
              <a:t>錯誤訊息</a:t>
            </a:r>
            <a:r>
              <a:rPr lang="en-US" altLang="zh-TW" sz="2000"/>
              <a:t>,</a:t>
            </a:r>
            <a:r>
              <a:rPr lang="zh-TW" altLang="en-US" sz="2000"/>
              <a:t>回填畫面之元件 </a:t>
            </a:r>
            <a:r>
              <a:rPr lang="en-US" altLang="zh-TW" sz="2000"/>
              <a:t>= </a:t>
            </a:r>
            <a:r>
              <a:rPr lang="zh-TW" altLang="en-US" sz="2000"/>
              <a:t>資料庫回傳的欄位名稱</a:t>
            </a:r>
            <a:r>
              <a:rPr lang="en-US" altLang="zh-TW" sz="2000"/>
              <a:t>)</a:t>
            </a:r>
            <a:r>
              <a:rPr lang="en-US" altLang="zh-TW" sz="2000" b="0">
                <a:ea typeface="新細明體" charset="-120"/>
              </a:rPr>
              <a:t> *</a:t>
            </a:r>
            <a:endParaRPr lang="en-US" altLang="zh-TW" sz="2000" b="0">
              <a:latin typeface="Times New Roman" pitchFamily="18" charset="0"/>
              <a:ea typeface="新細明體" charset="-120"/>
            </a:endParaRPr>
          </a:p>
          <a:p>
            <a:pPr marL="342900" indent="-342900" algn="l">
              <a:spcBef>
                <a:spcPct val="20000"/>
              </a:spcBef>
            </a:pPr>
            <a:endParaRPr lang="en-US" altLang="zh-TW" sz="2000" b="0">
              <a:latin typeface="Wingdings" pitchFamily="2" charset="2"/>
            </a:endParaRPr>
          </a:p>
          <a:p>
            <a:pPr marL="342900" indent="-342900" algn="l">
              <a:spcBef>
                <a:spcPct val="20000"/>
              </a:spcBef>
            </a:pPr>
            <a:endParaRPr lang="en-US" altLang="zh-TW" sz="2000" b="0">
              <a:latin typeface="Wingdings" pitchFamily="2" charset="2"/>
            </a:endParaRP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 "/>
            </a:pPr>
            <a:r>
              <a:rPr lang="en-US" altLang="zh-TW" sz="2000" b="0">
                <a:latin typeface="Wingdings" pitchFamily="2" charset="2"/>
              </a:rPr>
              <a:t>l</a:t>
            </a:r>
            <a:r>
              <a:rPr lang="en-US" altLang="zh-TW" sz="2000">
                <a:latin typeface="Times New Roman" pitchFamily="18" charset="0"/>
                <a:ea typeface="新細明體" charset="-120"/>
                <a:cs typeface="Times New Roman" pitchFamily="18" charset="0"/>
              </a:rPr>
              <a:t> </a:t>
            </a:r>
            <a:r>
              <a:rPr lang="en-US" altLang="zh-TW" sz="2000"/>
              <a:t>doMJwithErrorMSG(MJ</a:t>
            </a:r>
            <a:r>
              <a:rPr lang="zh-TW" altLang="en-US" sz="2000"/>
              <a:t>組數第一組</a:t>
            </a:r>
            <a:r>
              <a:rPr lang="en-US" altLang="zh-TW" sz="2000"/>
              <a:t>,MJ</a:t>
            </a:r>
            <a:r>
              <a:rPr lang="zh-TW" altLang="en-US" sz="2000"/>
              <a:t>組數第二組</a:t>
            </a:r>
            <a:r>
              <a:rPr lang="en-US" altLang="zh-TW" sz="2000"/>
              <a:t>,</a:t>
            </a:r>
            <a:r>
              <a:rPr lang="zh-TW" altLang="en-US" sz="2000">
                <a:solidFill>
                  <a:srgbClr val="FF0000"/>
                </a:solidFill>
              </a:rPr>
              <a:t>當</a:t>
            </a:r>
            <a:r>
              <a:rPr lang="en-US" altLang="zh-TW" sz="2000">
                <a:solidFill>
                  <a:srgbClr val="FF0000"/>
                </a:solidFill>
              </a:rPr>
              <a:t>SQL where</a:t>
            </a:r>
            <a:r>
              <a:rPr lang="zh-TW" altLang="en-US" sz="2000">
                <a:solidFill>
                  <a:srgbClr val="FF0000"/>
                </a:solidFill>
              </a:rPr>
              <a:t>條件參數之個數</a:t>
            </a:r>
            <a:r>
              <a:rPr lang="en-US" altLang="zh-TW" sz="2000"/>
              <a:t>,</a:t>
            </a:r>
            <a:r>
              <a:rPr lang="zh-TW" altLang="en-US" sz="2000">
                <a:solidFill>
                  <a:srgbClr val="33CC33"/>
                </a:solidFill>
              </a:rPr>
              <a:t>錯誤訊息</a:t>
            </a:r>
            <a:r>
              <a:rPr lang="en-US" altLang="zh-TW" sz="2000"/>
              <a:t>,</a:t>
            </a:r>
            <a:r>
              <a:rPr lang="zh-TW" altLang="en-US" sz="2000"/>
              <a:t>回填畫面之元件 </a:t>
            </a:r>
            <a:r>
              <a:rPr lang="en-US" altLang="zh-TW" sz="2000"/>
              <a:t>= </a:t>
            </a:r>
            <a:r>
              <a:rPr lang="zh-TW" altLang="en-US" sz="2000"/>
              <a:t>資料庫回傳的欄位名稱</a:t>
            </a:r>
            <a:r>
              <a:rPr lang="en-US" altLang="zh-TW" sz="2000"/>
              <a:t>)*</a:t>
            </a:r>
            <a:endParaRPr lang="en-US" altLang="zh-TW" sz="2000">
              <a:ea typeface="新細明體" charset="-120"/>
            </a:endParaRP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 "/>
            </a:pPr>
            <a:endParaRPr lang="en-US" altLang="zh-TW" sz="2000">
              <a:ea typeface="新細明體" charset="-120"/>
              <a:cs typeface="Arial" charset="0"/>
            </a:endParaRP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 "/>
            </a:pPr>
            <a:endParaRPr lang="en-US" altLang="zh-TW" sz="2000" b="0">
              <a:latin typeface="Times New Roman" pitchFamily="18" charset="0"/>
              <a:ea typeface="新細明體" charset="-120"/>
            </a:endParaRP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 "/>
            </a:pPr>
            <a:r>
              <a:rPr lang="en-US" altLang="zh-TW" sz="2000" b="0">
                <a:latin typeface="Wingdings" pitchFamily="2" charset="2"/>
              </a:rPr>
              <a:t>l</a:t>
            </a:r>
            <a:r>
              <a:rPr lang="en-US" altLang="zh-TW" sz="2000" b="0">
                <a:latin typeface="Times New Roman" pitchFamily="18" charset="0"/>
                <a:ea typeface="新細明體" charset="-120"/>
                <a:cs typeface="Times New Roman" pitchFamily="18" charset="0"/>
              </a:rPr>
              <a:t> </a:t>
            </a:r>
            <a:r>
              <a:rPr lang="en-US" altLang="zh-TW" sz="2000"/>
              <a:t>doMJwithErrorMSG(MJ</a:t>
            </a:r>
            <a:r>
              <a:rPr lang="zh-TW" altLang="en-US" sz="2000"/>
              <a:t>組數第一組</a:t>
            </a:r>
            <a:r>
              <a:rPr lang="en-US" altLang="zh-TW" sz="2000"/>
              <a:t>,MJ</a:t>
            </a:r>
            <a:r>
              <a:rPr lang="zh-TW" altLang="en-US" sz="2000"/>
              <a:t>組數第二組</a:t>
            </a:r>
            <a:r>
              <a:rPr lang="en-US" altLang="zh-TW" sz="2000"/>
              <a:t>,</a:t>
            </a:r>
            <a:r>
              <a:rPr lang="zh-TW" altLang="en-US" sz="2000">
                <a:solidFill>
                  <a:srgbClr val="FF0000"/>
                </a:solidFill>
              </a:rPr>
              <a:t>自己將</a:t>
            </a:r>
            <a:r>
              <a:rPr lang="en-US" altLang="zh-TW" sz="2000">
                <a:solidFill>
                  <a:srgbClr val="FF0000"/>
                </a:solidFill>
              </a:rPr>
              <a:t>SQL where</a:t>
            </a:r>
            <a:r>
              <a:rPr lang="zh-TW" altLang="en-US" sz="2000">
                <a:solidFill>
                  <a:srgbClr val="FF0000"/>
                </a:solidFill>
              </a:rPr>
              <a:t>條件之參數組成</a:t>
            </a:r>
            <a:r>
              <a:rPr lang="en-US" altLang="zh-TW" sz="2000">
                <a:solidFill>
                  <a:srgbClr val="FF0000"/>
                </a:solidFill>
              </a:rPr>
              <a:t>Array</a:t>
            </a:r>
            <a:r>
              <a:rPr lang="en-US" altLang="zh-TW" sz="2000"/>
              <a:t>,</a:t>
            </a:r>
            <a:r>
              <a:rPr lang="zh-TW" altLang="en-US" sz="2000">
                <a:solidFill>
                  <a:srgbClr val="33CC33"/>
                </a:solidFill>
              </a:rPr>
              <a:t>錯誤訊息</a:t>
            </a:r>
            <a:r>
              <a:rPr lang="en-US" altLang="zh-TW" sz="2000"/>
              <a:t>,</a:t>
            </a:r>
            <a:r>
              <a:rPr lang="zh-TW" altLang="en-US" sz="2000"/>
              <a:t>回填畫面之元件 </a:t>
            </a:r>
            <a:r>
              <a:rPr lang="en-US" altLang="zh-TW" sz="2000"/>
              <a:t>= </a:t>
            </a:r>
            <a:r>
              <a:rPr lang="zh-TW" altLang="en-US" sz="2000"/>
              <a:t>資料庫回傳的欄位名稱</a:t>
            </a:r>
            <a:r>
              <a:rPr lang="en-US" altLang="zh-TW" sz="2000"/>
              <a:t>)</a:t>
            </a:r>
            <a:r>
              <a:rPr lang="en-US" altLang="zh-TW" sz="2000">
                <a:ea typeface="新細明體" charset="-120"/>
                <a:cs typeface="Arial" charset="0"/>
              </a:rPr>
              <a:t> *</a:t>
            </a:r>
            <a:endParaRPr lang="en-US" altLang="zh-TW" sz="2000">
              <a:ea typeface="新細明體" charset="-120"/>
              <a:cs typeface="Arial" charset="0"/>
            </a:endParaRP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 "/>
            </a:pPr>
            <a:endParaRPr lang="en-US" altLang="zh-TW" sz="2000" b="0">
              <a:latin typeface="Times New Roman" pitchFamily="18" charset="0"/>
              <a:ea typeface="新細明體" charset="-120"/>
            </a:endParaRP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 "/>
            </a:pPr>
            <a:endParaRPr lang="en-US" altLang="zh-TW"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86" name="Rectangle 2"/>
          <p:cNvSpPr>
            <a:spLocks noChangeArrowheads="1"/>
          </p:cNvSpPr>
          <p:nvPr/>
        </p:nvSpPr>
        <p:spPr bwMode="auto">
          <a:xfrm>
            <a:off x="1979712" y="548680"/>
            <a:ext cx="7772400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r>
              <a:rPr kumimoji="0" lang="zh-TW" altLang="en-US" sz="4000" dirty="0">
                <a:solidFill>
                  <a:schemeClr val="tx2"/>
                </a:solidFill>
                <a:ea typeface="新細明體" charset="-120"/>
              </a:rPr>
              <a:t>執行</a:t>
            </a:r>
            <a:r>
              <a:rPr kumimoji="0" lang="en-US" altLang="zh-TW" sz="4000" dirty="0">
                <a:solidFill>
                  <a:schemeClr val="tx2"/>
                </a:solidFill>
                <a:ea typeface="新細明體" charset="-120"/>
              </a:rPr>
              <a:t>MJ</a:t>
            </a:r>
            <a:r>
              <a:rPr kumimoji="0" lang="zh-TW" altLang="en-US" sz="4000" dirty="0">
                <a:solidFill>
                  <a:schemeClr val="tx2"/>
                </a:solidFill>
                <a:ea typeface="新細明體" charset="-120"/>
              </a:rPr>
              <a:t>的方法</a:t>
            </a:r>
            <a:r>
              <a:rPr kumimoji="0" lang="en-US" altLang="zh-TW" sz="4000" dirty="0">
                <a:solidFill>
                  <a:schemeClr val="tx2"/>
                </a:solidFill>
                <a:ea typeface="新細明體" charset="-120"/>
              </a:rPr>
              <a:t>--</a:t>
            </a:r>
            <a:r>
              <a:rPr kumimoji="0" lang="zh-TW" altLang="en-US" sz="4000" dirty="0">
                <a:solidFill>
                  <a:schemeClr val="tx2"/>
                </a:solidFill>
                <a:ea typeface="新細明體" charset="-120"/>
              </a:rPr>
              <a:t>進階型（二）</a:t>
            </a:r>
            <a:r>
              <a:rPr lang="zh-TW" altLang="en-US" sz="4000" b="0" dirty="0">
                <a:latin typeface="Times New Roman" pitchFamily="18" charset="0"/>
                <a:ea typeface="新細明體" charset="-120"/>
              </a:rPr>
              <a:t> </a:t>
            </a:r>
            <a:endParaRPr lang="zh-TW" altLang="en-US" sz="4000" b="0" dirty="0">
              <a:latin typeface="Times New Roman" pitchFamily="18" charset="0"/>
              <a:ea typeface="新細明體" charset="-120"/>
            </a:endParaRPr>
          </a:p>
        </p:txBody>
      </p:sp>
      <p:sp>
        <p:nvSpPr>
          <p:cNvPr id="502787" name="Rectangle 3"/>
          <p:cNvSpPr>
            <a:spLocks noChangeArrowheads="1"/>
          </p:cNvSpPr>
          <p:nvPr/>
        </p:nvSpPr>
        <p:spPr bwMode="auto">
          <a:xfrm>
            <a:off x="0" y="1479550"/>
            <a:ext cx="9144000" cy="5334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algn="l">
              <a:spcBef>
                <a:spcPct val="20000"/>
              </a:spcBef>
            </a:pPr>
            <a:r>
              <a:rPr lang="en-US" altLang="zh-TW" sz="2000" b="0">
                <a:latin typeface="Wingdings" pitchFamily="2" charset="2"/>
              </a:rPr>
              <a:t> </a:t>
            </a:r>
            <a:r>
              <a:rPr lang="en-US" altLang="zh-TW" sz="2000" b="0">
                <a:latin typeface="Times New Roman" pitchFamily="18" charset="0"/>
                <a:ea typeface="新細明體" charset="-120"/>
                <a:cs typeface="Times New Roman" pitchFamily="18" charset="0"/>
              </a:rPr>
              <a:t> </a:t>
            </a:r>
            <a:r>
              <a:rPr lang="en-US" altLang="zh-TW" sz="2000" b="0">
                <a:latin typeface="Wingdings" pitchFamily="2" charset="2"/>
              </a:rPr>
              <a:t>l</a:t>
            </a:r>
            <a:r>
              <a:rPr lang="en-US" altLang="zh-TW" sz="2000" b="0">
                <a:latin typeface="Times New Roman" pitchFamily="18" charset="0"/>
                <a:ea typeface="新細明體" charset="-120"/>
                <a:cs typeface="Times New Roman" pitchFamily="18" charset="0"/>
              </a:rPr>
              <a:t> </a:t>
            </a:r>
            <a:r>
              <a:rPr lang="en-US" altLang="zh-TW" sz="2000" b="0">
                <a:ea typeface="新細明體" charset="-120"/>
                <a:cs typeface="Arial" charset="0"/>
              </a:rPr>
              <a:t>[</a:t>
            </a:r>
            <a:r>
              <a:rPr lang="en-US" altLang="zh-TW" sz="2000">
                <a:ea typeface="新細明體" charset="-120"/>
                <a:cs typeface="Arial" charset="0"/>
              </a:rPr>
              <a:t>getMJResult</a:t>
            </a:r>
            <a:r>
              <a:rPr lang="en-US" altLang="zh-TW" sz="2000" b="0">
                <a:ea typeface="新細明體" charset="-120"/>
                <a:cs typeface="Arial" charset="0"/>
              </a:rPr>
              <a:t>]</a:t>
            </a:r>
            <a:r>
              <a:rPr lang="zh-TW" altLang="en-US" sz="2000" b="0"/>
              <a:t>：執行</a:t>
            </a:r>
            <a:r>
              <a:rPr lang="en-US" altLang="zh-TW" sz="2000" b="0">
                <a:ea typeface="新細明體" charset="-120"/>
                <a:cs typeface="Arial" charset="0"/>
              </a:rPr>
              <a:t>MJ</a:t>
            </a:r>
            <a:r>
              <a:rPr lang="zh-TW" altLang="en-US" sz="2000" b="0"/>
              <a:t>之後需要做特殊處理</a:t>
            </a:r>
            <a:r>
              <a:rPr lang="en-US" altLang="zh-TW" sz="2000" b="0">
                <a:ea typeface="新細明體" charset="-120"/>
                <a:cs typeface="Arial" charset="0"/>
              </a:rPr>
              <a:t>[</a:t>
            </a:r>
            <a:r>
              <a:rPr lang="zh-TW" altLang="en-US" sz="2000" b="0"/>
              <a:t>如再下其他</a:t>
            </a:r>
            <a:r>
              <a:rPr lang="en-US" altLang="zh-TW" sz="2000" b="0">
                <a:ea typeface="新細明體" charset="-120"/>
                <a:cs typeface="Arial" charset="0"/>
              </a:rPr>
              <a:t>MJ</a:t>
            </a:r>
            <a:r>
              <a:rPr lang="zh-TW" altLang="en-US" sz="2000" b="0"/>
              <a:t>或是做         </a:t>
            </a:r>
            <a:r>
              <a:rPr lang="en-US" altLang="zh-TW" sz="2000" b="0">
                <a:ea typeface="新細明體" charset="-120"/>
                <a:cs typeface="Arial" charset="0"/>
              </a:rPr>
              <a:t>IF ELSE</a:t>
            </a:r>
            <a:r>
              <a:rPr lang="zh-TW" altLang="en-US" sz="2000" b="0"/>
              <a:t>的判斷</a:t>
            </a:r>
            <a:r>
              <a:rPr lang="en-US" altLang="zh-TW" sz="2000" b="0">
                <a:ea typeface="新細明體" charset="-120"/>
                <a:cs typeface="Arial" charset="0"/>
              </a:rPr>
              <a:t>]</a:t>
            </a:r>
            <a:r>
              <a:rPr lang="zh-TW" altLang="en-US" sz="2000" b="0"/>
              <a:t>，控制權暫時回到程式設計師手中。</a:t>
            </a:r>
            <a:endParaRPr lang="zh-TW" altLang="en-US" sz="2000" b="0">
              <a:latin typeface="Times New Roman" pitchFamily="18" charset="0"/>
              <a:ea typeface="新細明體" charset="-120"/>
            </a:endParaRPr>
          </a:p>
          <a:p>
            <a:pPr marL="342900" indent="-342900" algn="l">
              <a:spcBef>
                <a:spcPct val="20000"/>
              </a:spcBef>
            </a:pPr>
            <a:endParaRPr lang="zh-TW" altLang="en-US" sz="2000" b="0">
              <a:latin typeface="Wingdings" pitchFamily="2" charset="2"/>
            </a:endParaRP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 "/>
            </a:pPr>
            <a:r>
              <a:rPr lang="en-US" altLang="zh-TW" sz="2000" b="0">
                <a:latin typeface="Wingdings" pitchFamily="2" charset="2"/>
              </a:rPr>
              <a:t>l</a:t>
            </a:r>
            <a:r>
              <a:rPr lang="en-US" altLang="zh-TW" sz="2000" b="0">
                <a:latin typeface="Times New Roman" pitchFamily="18" charset="0"/>
                <a:ea typeface="新細明體" charset="-120"/>
                <a:cs typeface="Times New Roman" pitchFamily="18" charset="0"/>
              </a:rPr>
              <a:t> </a:t>
            </a:r>
            <a:r>
              <a:rPr lang="en-US" altLang="zh-TW" sz="2000">
                <a:ea typeface="新細明體" charset="-120"/>
                <a:cs typeface="Arial" charset="0"/>
              </a:rPr>
              <a:t>getMJResult(MJ</a:t>
            </a:r>
            <a:r>
              <a:rPr lang="zh-TW" altLang="en-US" sz="2000"/>
              <a:t>組數第一組</a:t>
            </a:r>
            <a:r>
              <a:rPr lang="en-US" altLang="zh-TW" sz="2000">
                <a:ea typeface="新細明體" charset="-120"/>
                <a:cs typeface="Arial" charset="0"/>
              </a:rPr>
              <a:t>, MJ</a:t>
            </a:r>
            <a:r>
              <a:rPr lang="zh-TW" altLang="en-US" sz="2000"/>
              <a:t>組數第二組</a:t>
            </a:r>
            <a:r>
              <a:rPr lang="en-US" altLang="zh-TW" sz="2000">
                <a:ea typeface="新細明體" charset="-120"/>
                <a:cs typeface="Arial" charset="0"/>
              </a:rPr>
              <a:t>, </a:t>
            </a:r>
            <a:r>
              <a:rPr lang="zh-TW" altLang="en-US" sz="2000"/>
              <a:t>全域可用的</a:t>
            </a:r>
            <a:r>
              <a:rPr lang="en-US" altLang="zh-TW" sz="2000">
                <a:ea typeface="新細明體" charset="-120"/>
                <a:cs typeface="Arial" charset="0"/>
              </a:rPr>
              <a:t>CommandList, </a:t>
            </a:r>
            <a:r>
              <a:rPr lang="zh-TW" altLang="en-US" sz="2000"/>
              <a:t>回填畫面之元件</a:t>
            </a:r>
            <a:r>
              <a:rPr lang="zh-TW" altLang="en-US" sz="2000">
                <a:ea typeface="新細明體" charset="-120"/>
                <a:cs typeface="Arial" charset="0"/>
              </a:rPr>
              <a:t> </a:t>
            </a:r>
            <a:r>
              <a:rPr lang="en-US" altLang="zh-TW" sz="2000">
                <a:ea typeface="新細明體" charset="-120"/>
                <a:cs typeface="Arial" charset="0"/>
              </a:rPr>
              <a:t>= </a:t>
            </a:r>
            <a:r>
              <a:rPr lang="zh-TW" altLang="en-US" sz="2000"/>
              <a:t>資料庫回傳的欄位名稱</a:t>
            </a:r>
            <a:r>
              <a:rPr lang="en-US" altLang="zh-TW" sz="2000">
                <a:ea typeface="新細明體" charset="-120"/>
                <a:cs typeface="Arial" charset="0"/>
              </a:rPr>
              <a:t>)*</a:t>
            </a:r>
            <a:endParaRPr lang="en-US" altLang="zh-TW" sz="2000">
              <a:ea typeface="新細明體" charset="-120"/>
              <a:cs typeface="Arial" charset="0"/>
            </a:endParaRP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 "/>
            </a:pPr>
            <a:endParaRPr lang="en-US" altLang="zh-TW" sz="2000" b="0">
              <a:latin typeface="Times New Roman" pitchFamily="18" charset="0"/>
              <a:ea typeface="新細明體" charset="-120"/>
            </a:endParaRP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 "/>
            </a:pPr>
            <a:r>
              <a:rPr lang="en-US" altLang="zh-TW" sz="2000" b="0">
                <a:latin typeface="Wingdings" pitchFamily="2" charset="2"/>
              </a:rPr>
              <a:t>l</a:t>
            </a:r>
            <a:r>
              <a:rPr lang="en-US" altLang="zh-TW" sz="2000" b="0">
                <a:latin typeface="Times New Roman" pitchFamily="18" charset="0"/>
                <a:ea typeface="新細明體" charset="-120"/>
                <a:cs typeface="Times New Roman" pitchFamily="18" charset="0"/>
              </a:rPr>
              <a:t> </a:t>
            </a:r>
            <a:r>
              <a:rPr lang="en-US" altLang="zh-TW" sz="2000">
                <a:ea typeface="新細明體" charset="-120"/>
                <a:cs typeface="Arial" charset="0"/>
              </a:rPr>
              <a:t>getMJResult(MJ</a:t>
            </a:r>
            <a:r>
              <a:rPr lang="zh-TW" altLang="en-US" sz="2000"/>
              <a:t>組數第一組</a:t>
            </a:r>
            <a:r>
              <a:rPr lang="en-US" altLang="zh-TW" sz="2000">
                <a:ea typeface="新細明體" charset="-120"/>
                <a:cs typeface="Arial" charset="0"/>
              </a:rPr>
              <a:t>, MJ</a:t>
            </a:r>
            <a:r>
              <a:rPr lang="zh-TW" altLang="en-US" sz="2000"/>
              <a:t>組數第二組</a:t>
            </a:r>
            <a:r>
              <a:rPr lang="en-US" altLang="zh-TW" sz="2000">
                <a:ea typeface="新細明體" charset="-120"/>
                <a:cs typeface="Arial" charset="0"/>
              </a:rPr>
              <a:t>, </a:t>
            </a:r>
            <a:r>
              <a:rPr lang="zh-TW" altLang="en-US" sz="2000">
                <a:solidFill>
                  <a:srgbClr val="FF0000"/>
                </a:solidFill>
              </a:rPr>
              <a:t>當</a:t>
            </a:r>
            <a:r>
              <a:rPr lang="en-US" altLang="zh-TW" sz="2000">
                <a:solidFill>
                  <a:srgbClr val="FF0000"/>
                </a:solidFill>
                <a:ea typeface="新細明體" charset="-120"/>
                <a:cs typeface="Arial" charset="0"/>
              </a:rPr>
              <a:t>SQL where</a:t>
            </a:r>
            <a:r>
              <a:rPr lang="zh-TW" altLang="en-US" sz="2000">
                <a:solidFill>
                  <a:srgbClr val="FF0000"/>
                </a:solidFill>
              </a:rPr>
              <a:t>條件參數之個數</a:t>
            </a:r>
            <a:r>
              <a:rPr lang="en-US" altLang="zh-TW" sz="2000">
                <a:ea typeface="新細明體" charset="-120"/>
                <a:cs typeface="Arial" charset="0"/>
              </a:rPr>
              <a:t>, </a:t>
            </a:r>
            <a:r>
              <a:rPr lang="zh-TW" altLang="en-US" sz="2000"/>
              <a:t>全域可用的</a:t>
            </a:r>
            <a:r>
              <a:rPr lang="en-US" altLang="zh-TW" sz="2000">
                <a:ea typeface="新細明體" charset="-120"/>
                <a:cs typeface="Arial" charset="0"/>
              </a:rPr>
              <a:t>CommandList, </a:t>
            </a:r>
            <a:r>
              <a:rPr lang="zh-TW" altLang="en-US" sz="2000"/>
              <a:t>回填畫面之元件</a:t>
            </a:r>
            <a:r>
              <a:rPr lang="zh-TW" altLang="en-US" sz="2000">
                <a:ea typeface="新細明體" charset="-120"/>
                <a:cs typeface="Arial" charset="0"/>
              </a:rPr>
              <a:t> </a:t>
            </a:r>
            <a:r>
              <a:rPr lang="en-US" altLang="zh-TW" sz="2000">
                <a:ea typeface="新細明體" charset="-120"/>
                <a:cs typeface="Arial" charset="0"/>
              </a:rPr>
              <a:t>= </a:t>
            </a:r>
            <a:r>
              <a:rPr lang="zh-TW" altLang="en-US" sz="2000"/>
              <a:t>資料庫回傳的欄位名稱</a:t>
            </a:r>
            <a:r>
              <a:rPr lang="en-US" altLang="zh-TW" sz="2000">
                <a:ea typeface="新細明體" charset="-120"/>
                <a:cs typeface="Arial" charset="0"/>
              </a:rPr>
              <a:t>)*</a:t>
            </a:r>
            <a:endParaRPr lang="en-US" altLang="zh-TW" sz="2000">
              <a:ea typeface="新細明體" charset="-120"/>
              <a:cs typeface="Arial" charset="0"/>
            </a:endParaRP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 "/>
            </a:pPr>
            <a:endParaRPr lang="en-US" altLang="zh-TW" sz="2000" b="0">
              <a:latin typeface="Times New Roman" pitchFamily="18" charset="0"/>
              <a:ea typeface="新細明體" charset="-120"/>
            </a:endParaRPr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 "/>
            </a:pPr>
            <a:r>
              <a:rPr lang="en-US" altLang="zh-TW" sz="2000" b="0">
                <a:latin typeface="Wingdings" pitchFamily="2" charset="2"/>
              </a:rPr>
              <a:t>l</a:t>
            </a:r>
            <a:r>
              <a:rPr lang="en-US" altLang="zh-TW" sz="2000" b="0">
                <a:latin typeface="Times New Roman" pitchFamily="18" charset="0"/>
                <a:ea typeface="新細明體" charset="-120"/>
                <a:cs typeface="Times New Roman" pitchFamily="18" charset="0"/>
              </a:rPr>
              <a:t> </a:t>
            </a:r>
            <a:r>
              <a:rPr lang="en-US" altLang="zh-TW" sz="2000"/>
              <a:t>getMJResult(MJ</a:t>
            </a:r>
            <a:r>
              <a:rPr lang="zh-TW" altLang="en-US" sz="2000"/>
              <a:t>組數第一組</a:t>
            </a:r>
            <a:r>
              <a:rPr lang="en-US" altLang="zh-TW" sz="2000"/>
              <a:t>, MJ</a:t>
            </a:r>
            <a:r>
              <a:rPr lang="zh-TW" altLang="en-US" sz="2000"/>
              <a:t>組數第二組</a:t>
            </a:r>
            <a:r>
              <a:rPr lang="en-US" altLang="zh-TW" sz="2000"/>
              <a:t>, </a:t>
            </a:r>
            <a:r>
              <a:rPr lang="zh-TW" altLang="en-US" sz="2000">
                <a:solidFill>
                  <a:srgbClr val="FF0000"/>
                </a:solidFill>
              </a:rPr>
              <a:t>自己將</a:t>
            </a:r>
            <a:r>
              <a:rPr lang="en-US" altLang="zh-TW" sz="2000">
                <a:solidFill>
                  <a:srgbClr val="FF0000"/>
                </a:solidFill>
              </a:rPr>
              <a:t>SQL where</a:t>
            </a:r>
            <a:r>
              <a:rPr lang="zh-TW" altLang="en-US" sz="2000">
                <a:solidFill>
                  <a:srgbClr val="FF0000"/>
                </a:solidFill>
              </a:rPr>
              <a:t>條件之參數組成</a:t>
            </a:r>
            <a:r>
              <a:rPr lang="en-US" altLang="zh-TW" sz="2000">
                <a:solidFill>
                  <a:srgbClr val="FF0000"/>
                </a:solidFill>
              </a:rPr>
              <a:t>Array</a:t>
            </a:r>
            <a:r>
              <a:rPr lang="en-US" altLang="zh-TW" sz="2000"/>
              <a:t>, </a:t>
            </a:r>
            <a:r>
              <a:rPr lang="zh-TW" altLang="en-US" sz="2000"/>
              <a:t>全域可用的</a:t>
            </a:r>
            <a:r>
              <a:rPr lang="en-US" altLang="zh-TW" sz="2000"/>
              <a:t>CommandList, </a:t>
            </a:r>
            <a:r>
              <a:rPr lang="zh-TW" altLang="en-US" sz="2000"/>
              <a:t>回填畫面之元件 </a:t>
            </a:r>
            <a:r>
              <a:rPr lang="en-US" altLang="zh-TW" sz="2000"/>
              <a:t>= </a:t>
            </a:r>
            <a:r>
              <a:rPr lang="zh-TW" altLang="en-US" sz="2000"/>
              <a:t>資料庫回傳的欄位名稱</a:t>
            </a:r>
            <a:r>
              <a:rPr lang="en-US" altLang="zh-TW" sz="2000"/>
              <a:t>) *</a:t>
            </a:r>
            <a:endParaRPr lang="en-US" altLang="zh-TW" sz="2000"/>
          </a:p>
          <a:p>
            <a:pPr marL="342900" indent="-342900" algn="l">
              <a:spcBef>
                <a:spcPct val="20000"/>
              </a:spcBef>
              <a:buFont typeface="Wingdings" pitchFamily="2" charset="2"/>
              <a:buChar char=" "/>
            </a:pPr>
            <a:endParaRPr lang="en-US" altLang="zh-TW" sz="2000"/>
          </a:p>
          <a:p>
            <a:pPr marL="742950" lvl="1" indent="-285750" algn="l">
              <a:spcBef>
                <a:spcPct val="20000"/>
              </a:spcBef>
            </a:pPr>
            <a:r>
              <a:rPr lang="en-US" altLang="zh-TW" sz="2000" u="sng">
                <a:solidFill>
                  <a:srgbClr val="000080"/>
                </a:solidFill>
              </a:rPr>
              <a:t>◎</a:t>
            </a:r>
            <a:r>
              <a:rPr lang="zh-TW" altLang="en-US" sz="2000" u="sng">
                <a:solidFill>
                  <a:srgbClr val="000080"/>
                </a:solidFill>
              </a:rPr>
              <a:t>注意！ 使用</a:t>
            </a:r>
            <a:r>
              <a:rPr lang="en-US" altLang="zh-TW" sz="2000" u="sng">
                <a:solidFill>
                  <a:srgbClr val="000080"/>
                </a:solidFill>
              </a:rPr>
              <a:t>getMJResult</a:t>
            </a:r>
            <a:r>
              <a:rPr lang="zh-TW" altLang="en-US" sz="2000" u="sng">
                <a:solidFill>
                  <a:srgbClr val="000080"/>
                </a:solidFill>
              </a:rPr>
              <a:t>做完其他處理之後，務必下 </a:t>
            </a:r>
            <a:r>
              <a:rPr lang="en-US" altLang="zh-TW" sz="2000" u="sng">
                <a:solidFill>
                  <a:srgbClr val="000080"/>
                </a:solidFill>
              </a:rPr>
              <a:t>FinishMJ(</a:t>
            </a:r>
            <a:r>
              <a:rPr lang="zh-TW" altLang="en-US" sz="2000" u="sng">
                <a:solidFill>
                  <a:srgbClr val="000080"/>
                </a:solidFill>
              </a:rPr>
              <a:t>布林值</a:t>
            </a:r>
            <a:r>
              <a:rPr lang="en-US" altLang="zh-TW" sz="2000" u="sng">
                <a:solidFill>
                  <a:srgbClr val="000080"/>
                </a:solidFill>
              </a:rPr>
              <a:t>,FinalList)</a:t>
            </a:r>
            <a:r>
              <a:rPr lang="zh-TW" altLang="en-US" sz="2000" u="sng">
                <a:solidFill>
                  <a:srgbClr val="000080"/>
                </a:solidFill>
              </a:rPr>
              <a:t>，將控制權還給</a:t>
            </a:r>
            <a:r>
              <a:rPr lang="en-US" altLang="zh-TW" sz="2000" u="sng">
                <a:solidFill>
                  <a:srgbClr val="000080"/>
                </a:solidFill>
              </a:rPr>
              <a:t>MIMJBasepasge</a:t>
            </a:r>
            <a:r>
              <a:rPr lang="zh-TW" altLang="en-US" sz="2000">
                <a:solidFill>
                  <a:srgbClr val="000080"/>
                </a:solidFill>
              </a:rPr>
              <a:t>！</a:t>
            </a:r>
            <a:r>
              <a:rPr lang="zh-TW" altLang="en-US" sz="2000"/>
              <a:t> </a:t>
            </a:r>
            <a:endParaRPr lang="zh-TW" altLang="en-US"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charset="-120"/>
              </a:rPr>
              <a:t>FinishMJ</a:t>
            </a:r>
            <a:r>
              <a:rPr lang="zh-TW" altLang="en-US">
                <a:ea typeface="新細明體" charset="-120"/>
              </a:rPr>
              <a:t>的用法</a:t>
            </a:r>
            <a:endParaRPr lang="zh-TW" altLang="en-US">
              <a:ea typeface="新細明體" charset="-120"/>
            </a:endParaRPr>
          </a:p>
        </p:txBody>
      </p:sp>
      <p:sp>
        <p:nvSpPr>
          <p:cNvPr id="5038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400" b="1">
                <a:ea typeface="新細明體" charset="-120"/>
                <a:cs typeface="Arial" charset="0"/>
              </a:rPr>
              <a:t>FinishMJ(MJ</a:t>
            </a:r>
            <a:r>
              <a:rPr lang="zh-TW" altLang="en-US" sz="2400" b="1">
                <a:cs typeface="Arial" charset="0"/>
              </a:rPr>
              <a:t>驗證結果的</a:t>
            </a:r>
            <a:r>
              <a:rPr lang="en-US" altLang="zh-TW" sz="2400" b="1">
                <a:ea typeface="新細明體" charset="-120"/>
                <a:cs typeface="Arial" charset="0"/>
              </a:rPr>
              <a:t>bool,</a:t>
            </a:r>
            <a:r>
              <a:rPr lang="zh-TW" altLang="en-US" sz="2400" b="1">
                <a:cs typeface="Arial" charset="0"/>
              </a:rPr>
              <a:t>組</a:t>
            </a:r>
            <a:r>
              <a:rPr lang="en-US" altLang="zh-TW" sz="2400" b="1">
                <a:ea typeface="新細明體" charset="-120"/>
              </a:rPr>
              <a:t>Command</a:t>
            </a:r>
            <a:r>
              <a:rPr lang="zh-TW" altLang="en-US" sz="2400" b="1"/>
              <a:t>之</a:t>
            </a:r>
            <a:r>
              <a:rPr lang="en-US" altLang="zh-TW" sz="2400" b="1">
                <a:ea typeface="新細明體" charset="-120"/>
              </a:rPr>
              <a:t>List)*</a:t>
            </a:r>
            <a:endParaRPr lang="en-US" altLang="zh-TW" sz="2400" b="1">
              <a:ea typeface="新細明體" charset="-120"/>
            </a:endParaRPr>
          </a:p>
          <a:p>
            <a:pPr lvl="1">
              <a:lnSpc>
                <a:spcPct val="90000"/>
              </a:lnSpc>
            </a:pPr>
            <a:r>
              <a:rPr lang="en-US" altLang="zh-TW" sz="2400">
                <a:ea typeface="新細明體" charset="-120"/>
              </a:rPr>
              <a:t>FinishMJ(</a:t>
            </a:r>
            <a:r>
              <a:rPr lang="zh-TW" altLang="en-US" sz="2400"/>
              <a:t>布林值</a:t>
            </a:r>
            <a:r>
              <a:rPr lang="en-US" altLang="zh-TW" sz="2400">
                <a:ea typeface="新細明體" charset="-120"/>
              </a:rPr>
              <a:t>,FinalList);</a:t>
            </a:r>
            <a:endParaRPr lang="en-US" altLang="zh-TW" sz="2400">
              <a:ea typeface="新細明體" charset="-120"/>
            </a:endParaRPr>
          </a:p>
          <a:p>
            <a:pPr lvl="1">
              <a:lnSpc>
                <a:spcPct val="90000"/>
              </a:lnSpc>
            </a:pPr>
            <a:endParaRPr lang="en-US" altLang="zh-TW" sz="2700" b="1">
              <a:ea typeface="新細明體" charset="-120"/>
            </a:endParaRPr>
          </a:p>
          <a:p>
            <a:pPr>
              <a:lnSpc>
                <a:spcPct val="90000"/>
              </a:lnSpc>
            </a:pPr>
            <a:r>
              <a:rPr lang="en-US" altLang="zh-TW" sz="2400" b="1">
                <a:ea typeface="新細明體" charset="-120"/>
              </a:rPr>
              <a:t>FinishMJ(MJ</a:t>
            </a:r>
            <a:r>
              <a:rPr lang="zh-TW" altLang="en-US" sz="2400" b="1"/>
              <a:t>驗證結果的</a:t>
            </a:r>
            <a:r>
              <a:rPr lang="en-US" altLang="zh-TW" sz="2400" b="1">
                <a:ea typeface="新細明體" charset="-120"/>
              </a:rPr>
              <a:t>bool,</a:t>
            </a:r>
            <a:r>
              <a:rPr lang="zh-TW" altLang="en-US" sz="2400" b="1"/>
              <a:t>組</a:t>
            </a:r>
            <a:r>
              <a:rPr lang="en-US" altLang="zh-TW" sz="2400" b="1">
                <a:ea typeface="新細明體" charset="-120"/>
              </a:rPr>
              <a:t>Command</a:t>
            </a:r>
            <a:r>
              <a:rPr lang="zh-TW" altLang="en-US" sz="2400" b="1"/>
              <a:t>之</a:t>
            </a:r>
            <a:r>
              <a:rPr lang="en-US" altLang="zh-TW" sz="2400" b="1">
                <a:ea typeface="新細明體" charset="-120"/>
              </a:rPr>
              <a:t>List,</a:t>
            </a:r>
            <a:r>
              <a:rPr lang="zh-TW" altLang="en-US" sz="2400" b="1"/>
              <a:t>錯誤訊息</a:t>
            </a:r>
            <a:r>
              <a:rPr lang="en-US" altLang="zh-TW" sz="2400" b="1">
                <a:ea typeface="新細明體" charset="-120"/>
              </a:rPr>
              <a:t>)*</a:t>
            </a:r>
            <a:endParaRPr lang="en-US" altLang="zh-TW" sz="2400" b="1">
              <a:ea typeface="新細明體" charset="-120"/>
            </a:endParaRPr>
          </a:p>
          <a:p>
            <a:pPr lvl="1">
              <a:lnSpc>
                <a:spcPct val="90000"/>
              </a:lnSpc>
            </a:pPr>
            <a:r>
              <a:rPr lang="en-US" altLang="zh-TW" sz="2400">
                <a:ea typeface="新細明體" charset="-120"/>
              </a:rPr>
              <a:t>FinishMJ(</a:t>
            </a:r>
            <a:r>
              <a:rPr lang="zh-TW" altLang="en-US" sz="2400"/>
              <a:t>布林值</a:t>
            </a:r>
            <a:r>
              <a:rPr lang="en-US" altLang="zh-TW" sz="2400">
                <a:ea typeface="新細明體" charset="-120"/>
              </a:rPr>
              <a:t>,FinalList,errorMSG);</a:t>
            </a:r>
            <a:endParaRPr lang="en-US" altLang="zh-TW" sz="2400">
              <a:ea typeface="新細明體" charset="-120"/>
            </a:endParaRPr>
          </a:p>
          <a:p>
            <a:pPr lvl="1">
              <a:lnSpc>
                <a:spcPct val="90000"/>
              </a:lnSpc>
            </a:pPr>
            <a:endParaRPr lang="en-US" altLang="zh-TW" sz="2400" b="1">
              <a:ea typeface="新細明體" charset="-120"/>
            </a:endParaRPr>
          </a:p>
          <a:p>
            <a:pPr>
              <a:lnSpc>
                <a:spcPct val="90000"/>
              </a:lnSpc>
            </a:pPr>
            <a:r>
              <a:rPr lang="zh-TW" altLang="en-US" sz="2400" b="1">
                <a:ea typeface="新細明體" charset="-120"/>
              </a:rPr>
              <a:t>若傳入之布林值為</a:t>
            </a:r>
            <a:r>
              <a:rPr lang="en-US" altLang="zh-TW" sz="2400" b="1">
                <a:ea typeface="新細明體" charset="-120"/>
              </a:rPr>
              <a:t>true</a:t>
            </a:r>
            <a:r>
              <a:rPr lang="zh-TW" altLang="en-US" sz="2400" b="1">
                <a:ea typeface="新細明體" charset="-120"/>
              </a:rPr>
              <a:t>，表示</a:t>
            </a:r>
            <a:r>
              <a:rPr lang="en-US" altLang="zh-TW" sz="2400" b="1">
                <a:ea typeface="新細明體" charset="-120"/>
              </a:rPr>
              <a:t>MJ</a:t>
            </a:r>
            <a:r>
              <a:rPr lang="zh-TW" altLang="en-US" sz="2400" b="1">
                <a:ea typeface="新細明體" charset="-120"/>
              </a:rPr>
              <a:t>驗證結果為正確，平台會執行</a:t>
            </a:r>
            <a:r>
              <a:rPr lang="en-US" altLang="zh-TW" sz="2400" b="1">
                <a:ea typeface="新細明體" charset="-120"/>
              </a:rPr>
              <a:t>Command List</a:t>
            </a:r>
            <a:r>
              <a:rPr lang="zh-TW" altLang="en-US" sz="2400" b="1">
                <a:ea typeface="新細明體" charset="-120"/>
              </a:rPr>
              <a:t>內容</a:t>
            </a:r>
            <a:endParaRPr lang="zh-TW" altLang="en-US" sz="2400" b="1">
              <a:ea typeface="新細明體" charset="-120"/>
            </a:endParaRPr>
          </a:p>
          <a:p>
            <a:pPr>
              <a:lnSpc>
                <a:spcPct val="90000"/>
              </a:lnSpc>
            </a:pPr>
            <a:r>
              <a:rPr lang="zh-TW" altLang="en-US" sz="2400" b="1">
                <a:ea typeface="新細明體" charset="-120"/>
              </a:rPr>
              <a:t>若傳入之布林值為</a:t>
            </a:r>
            <a:r>
              <a:rPr lang="en-US" altLang="zh-TW" sz="2400" b="1">
                <a:ea typeface="新細明體" charset="-120"/>
              </a:rPr>
              <a:t>false</a:t>
            </a:r>
            <a:r>
              <a:rPr lang="zh-TW" altLang="en-US" sz="2400" b="1">
                <a:ea typeface="新細明體" charset="-120"/>
              </a:rPr>
              <a:t>，表示</a:t>
            </a:r>
            <a:r>
              <a:rPr lang="en-US" altLang="zh-TW" sz="2400" b="1">
                <a:ea typeface="新細明體" charset="-120"/>
              </a:rPr>
              <a:t>MJ</a:t>
            </a:r>
            <a:r>
              <a:rPr lang="zh-TW" altLang="en-US" sz="2400" b="1">
                <a:ea typeface="新細明體" charset="-120"/>
              </a:rPr>
              <a:t>驗證結果為失敗，平台不執行</a:t>
            </a:r>
            <a:r>
              <a:rPr lang="en-US" altLang="zh-TW" sz="2400" b="1">
                <a:ea typeface="新細明體" charset="-120"/>
              </a:rPr>
              <a:t>Command List</a:t>
            </a:r>
            <a:r>
              <a:rPr lang="zh-TW" altLang="en-US" sz="2400" b="1">
                <a:ea typeface="新細明體" charset="-120"/>
              </a:rPr>
              <a:t>內容，並且會彈出預設之錯誤訊息</a:t>
            </a:r>
            <a:r>
              <a:rPr lang="en-US" altLang="zh-TW" sz="2400" b="1">
                <a:ea typeface="新細明體" charset="-120"/>
              </a:rPr>
              <a:t>(</a:t>
            </a:r>
            <a:r>
              <a:rPr lang="zh-TW" altLang="en-US" sz="2400" b="1">
                <a:ea typeface="新細明體" charset="-120"/>
              </a:rPr>
              <a:t>多國語系</a:t>
            </a:r>
            <a:r>
              <a:rPr lang="en-US" altLang="zh-TW" sz="2400" b="1">
                <a:ea typeface="新細明體" charset="-120"/>
              </a:rPr>
              <a:t>)</a:t>
            </a:r>
            <a:endParaRPr lang="en-US" altLang="zh-TW" sz="2400">
              <a:ea typeface="新細明體" charset="-120"/>
            </a:endParaRPr>
          </a:p>
          <a:p>
            <a:pPr>
              <a:lnSpc>
                <a:spcPct val="90000"/>
              </a:lnSpc>
            </a:pPr>
            <a:endParaRPr lang="en-US" altLang="zh-TW" sz="3100">
              <a:ea typeface="新細明體" charset="-120"/>
            </a:endParaRPr>
          </a:p>
          <a:p>
            <a:pPr>
              <a:lnSpc>
                <a:spcPct val="90000"/>
              </a:lnSpc>
            </a:pPr>
            <a:endParaRPr lang="en-US" altLang="zh-TW" sz="2800">
              <a:ea typeface="新細明體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ea typeface="新細明體" charset="-120"/>
              </a:rPr>
              <a:t>可使用的全域變數</a:t>
            </a:r>
            <a:r>
              <a:rPr lang="en-US" altLang="zh-TW">
                <a:ea typeface="新細明體" charset="-120"/>
              </a:rPr>
              <a:t>(</a:t>
            </a:r>
            <a:r>
              <a:rPr lang="zh-TW" altLang="en-US">
                <a:ea typeface="新細明體" charset="-120"/>
              </a:rPr>
              <a:t>一</a:t>
            </a:r>
            <a:r>
              <a:rPr lang="en-US" altLang="zh-TW">
                <a:ea typeface="新細明體" charset="-120"/>
              </a:rPr>
              <a:t>)</a:t>
            </a:r>
            <a:endParaRPr lang="en-US" altLang="zh-TW">
              <a:ea typeface="新細明體" charset="-120"/>
            </a:endParaRPr>
          </a:p>
        </p:txBody>
      </p:sp>
      <p:sp>
        <p:nvSpPr>
          <p:cNvPr id="5048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>
                <a:ea typeface="新細明體" charset="-120"/>
              </a:rPr>
              <a:t>FinalList</a:t>
            </a:r>
            <a:r>
              <a:rPr lang="en-US" altLang="zh-TW" sz="2800">
                <a:latin typeface="Arial"/>
                <a:ea typeface="新細明體" charset="-120"/>
              </a:rPr>
              <a:t>—</a:t>
            </a:r>
            <a:r>
              <a:rPr lang="zh-TW" altLang="en-US" sz="2800">
                <a:ea typeface="新細明體" charset="-120"/>
              </a:rPr>
              <a:t>為一</a:t>
            </a:r>
            <a:r>
              <a:rPr lang="en-US" altLang="zh-TW" sz="2800">
                <a:ea typeface="新細明體" charset="-120"/>
              </a:rPr>
              <a:t>Command ArrayList</a:t>
            </a:r>
            <a:endParaRPr lang="en-US" altLang="zh-TW" sz="2800">
              <a:ea typeface="新細明體" charset="-120"/>
            </a:endParaRPr>
          </a:p>
          <a:p>
            <a:pPr lvl="1"/>
            <a:r>
              <a:rPr lang="zh-TW" altLang="en-US" sz="2600">
                <a:ea typeface="新細明體" charset="-120"/>
              </a:rPr>
              <a:t>對畫面元件設值</a:t>
            </a:r>
            <a:endParaRPr lang="zh-TW" altLang="en-US" sz="2600">
              <a:ea typeface="新細明體" charset="-120"/>
            </a:endParaRPr>
          </a:p>
          <a:p>
            <a:pPr lvl="2"/>
            <a:r>
              <a:rPr lang="en-US" altLang="zh-TW">
                <a:ea typeface="新細明體" charset="-120"/>
              </a:rPr>
              <a:t>FinalList.</a:t>
            </a:r>
            <a:r>
              <a:rPr lang="en-US" altLang="zh-TW" b="1">
                <a:ea typeface="新細明體" charset="-120"/>
              </a:rPr>
              <a:t>Add</a:t>
            </a:r>
            <a:r>
              <a:rPr lang="en-US" altLang="zh-TW">
                <a:ea typeface="新細明體" charset="-120"/>
              </a:rPr>
              <a:t>("EC001_txt","value","</a:t>
            </a:r>
            <a:r>
              <a:rPr lang="zh-TW" altLang="en-US">
                <a:ea typeface="新細明體" charset="-120"/>
              </a:rPr>
              <a:t>台北市大安區</a:t>
            </a:r>
            <a:r>
              <a:rPr lang="en-US" altLang="zh-TW">
                <a:ea typeface="新細明體" charset="-120"/>
              </a:rPr>
              <a:t>"); </a:t>
            </a:r>
            <a:endParaRPr lang="en-US" altLang="zh-TW">
              <a:ea typeface="新細明體" charset="-120"/>
            </a:endParaRPr>
          </a:p>
          <a:p>
            <a:pPr lvl="1"/>
            <a:r>
              <a:rPr lang="zh-TW" altLang="en-US" sz="2600">
                <a:ea typeface="新細明體" charset="-120"/>
              </a:rPr>
              <a:t>自行產生</a:t>
            </a:r>
            <a:r>
              <a:rPr lang="en-US" altLang="zh-TW" sz="2600">
                <a:ea typeface="新細明體" charset="-120"/>
              </a:rPr>
              <a:t>alert</a:t>
            </a:r>
            <a:r>
              <a:rPr lang="zh-TW" altLang="en-US" sz="2600">
                <a:ea typeface="新細明體" charset="-120"/>
              </a:rPr>
              <a:t>訊息</a:t>
            </a:r>
            <a:endParaRPr lang="zh-TW" altLang="en-US" sz="2600">
              <a:ea typeface="新細明體" charset="-120"/>
            </a:endParaRPr>
          </a:p>
          <a:p>
            <a:pPr lvl="2"/>
            <a:r>
              <a:rPr lang="en-US" altLang="zh-TW">
                <a:ea typeface="新細明體" charset="-120"/>
              </a:rPr>
              <a:t>FinalList.</a:t>
            </a:r>
            <a:r>
              <a:rPr lang="en-US" altLang="zh-TW" b="1">
                <a:ea typeface="新細明體" charset="-120"/>
              </a:rPr>
              <a:t>Insert</a:t>
            </a:r>
            <a:r>
              <a:rPr lang="en-US" altLang="zh-TW">
                <a:ea typeface="新細明體" charset="-120"/>
              </a:rPr>
              <a:t>(0, "alert('</a:t>
            </a:r>
            <a:r>
              <a:rPr lang="zh-TW" altLang="en-US">
                <a:ea typeface="新細明體" charset="-120"/>
              </a:rPr>
              <a:t>郵遞區號輸入錯誤！</a:t>
            </a:r>
            <a:r>
              <a:rPr lang="en-US" altLang="zh-TW">
                <a:ea typeface="新細明體" charset="-120"/>
              </a:rPr>
              <a:t>')"); </a:t>
            </a:r>
            <a:endParaRPr lang="en-US" altLang="zh-TW">
              <a:ea typeface="新細明體" charset="-120"/>
            </a:endParaRPr>
          </a:p>
          <a:p>
            <a:r>
              <a:rPr lang="en-US" altLang="zh-TW" sz="2800">
                <a:ea typeface="新細明體" charset="-120"/>
              </a:rPr>
              <a:t>tAllInputValues </a:t>
            </a:r>
            <a:r>
              <a:rPr lang="en-US" altLang="zh-TW" sz="2800">
                <a:latin typeface="Arial"/>
                <a:ea typeface="新細明體" charset="-120"/>
              </a:rPr>
              <a:t>—</a:t>
            </a:r>
            <a:r>
              <a:rPr lang="zh-TW" altLang="en-US" sz="2800">
                <a:ea typeface="新細明體" charset="-120"/>
              </a:rPr>
              <a:t>為一</a:t>
            </a:r>
            <a:r>
              <a:rPr lang="en-US" altLang="zh-TW" sz="2800">
                <a:ea typeface="新細明體" charset="-120"/>
              </a:rPr>
              <a:t>Hashtable</a:t>
            </a:r>
            <a:endParaRPr lang="en-US" altLang="zh-TW" sz="2800">
              <a:ea typeface="新細明體" charset="-120"/>
            </a:endParaRPr>
          </a:p>
          <a:p>
            <a:pPr lvl="1"/>
            <a:r>
              <a:rPr lang="zh-TW" altLang="en-US" sz="2200">
                <a:ea typeface="新細明體" charset="-120"/>
              </a:rPr>
              <a:t>可以取出所有</a:t>
            </a:r>
            <a:r>
              <a:rPr lang="en-US" altLang="zh-TW" sz="2200">
                <a:ea typeface="新細明體" charset="-120"/>
              </a:rPr>
              <a:t>MIMJ</a:t>
            </a:r>
            <a:r>
              <a:rPr lang="zh-TW" altLang="en-US" sz="2200">
                <a:ea typeface="新細明體" charset="-120"/>
              </a:rPr>
              <a:t>下</a:t>
            </a:r>
            <a:r>
              <a:rPr lang="en-US" altLang="zh-TW" sz="2200">
                <a:ea typeface="新細明體" charset="-120"/>
              </a:rPr>
              <a:t>SQL</a:t>
            </a:r>
            <a:r>
              <a:rPr lang="zh-TW" altLang="en-US" sz="2200">
                <a:ea typeface="新細明體" charset="-120"/>
              </a:rPr>
              <a:t>用的參數及輔助用的參數</a:t>
            </a:r>
            <a:endParaRPr lang="zh-TW" altLang="en-US" sz="2200">
              <a:ea typeface="新細明體" charset="-120"/>
            </a:endParaRPr>
          </a:p>
          <a:p>
            <a:pPr lvl="2"/>
            <a:r>
              <a:rPr lang="en-US" altLang="zh-TW">
                <a:ea typeface="新細明體" charset="-120"/>
              </a:rPr>
              <a:t>tAllInputValues["EC001_txt"].ToString();</a:t>
            </a:r>
            <a:endParaRPr lang="en-US" altLang="zh-TW" sz="2000">
              <a:ea typeface="新細明體" charset="-120"/>
            </a:endParaRPr>
          </a:p>
          <a:p>
            <a:endParaRPr lang="en-US" altLang="zh-TW" sz="2800">
              <a:ea typeface="新細明體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ea typeface="新細明體" charset="-120"/>
              </a:rPr>
              <a:t>可使用的全域變數</a:t>
            </a:r>
            <a:r>
              <a:rPr lang="en-US" altLang="zh-TW">
                <a:ea typeface="新細明體" charset="-120"/>
              </a:rPr>
              <a:t>(</a:t>
            </a:r>
            <a:r>
              <a:rPr lang="zh-TW" altLang="en-US">
                <a:ea typeface="新細明體" charset="-120"/>
              </a:rPr>
              <a:t>一</a:t>
            </a:r>
            <a:r>
              <a:rPr lang="en-US" altLang="zh-TW">
                <a:ea typeface="新細明體" charset="-120"/>
              </a:rPr>
              <a:t>)</a:t>
            </a:r>
            <a:endParaRPr lang="en-US" altLang="zh-TW">
              <a:ea typeface="新細明體" charset="-120"/>
            </a:endParaRPr>
          </a:p>
        </p:txBody>
      </p:sp>
      <p:sp>
        <p:nvSpPr>
          <p:cNvPr id="5058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400">
                <a:ea typeface="新細明體" charset="-120"/>
              </a:rPr>
              <a:t>returnValueHash </a:t>
            </a:r>
            <a:r>
              <a:rPr lang="en-US" altLang="zh-TW" sz="2400">
                <a:latin typeface="Arial"/>
                <a:ea typeface="新細明體" charset="-120"/>
              </a:rPr>
              <a:t>—</a:t>
            </a:r>
            <a:r>
              <a:rPr lang="zh-TW" altLang="en-US" sz="2400">
                <a:ea typeface="新細明體" charset="-120"/>
              </a:rPr>
              <a:t>為一</a:t>
            </a:r>
            <a:r>
              <a:rPr lang="en-US" altLang="zh-TW" sz="2400">
                <a:ea typeface="新細明體" charset="-120"/>
              </a:rPr>
              <a:t>Hashtable</a:t>
            </a:r>
            <a:endParaRPr lang="en-US" altLang="zh-TW" sz="2400">
              <a:ea typeface="新細明體" charset="-120"/>
            </a:endParaRPr>
          </a:p>
          <a:p>
            <a:pPr lvl="1">
              <a:lnSpc>
                <a:spcPct val="90000"/>
              </a:lnSpc>
            </a:pPr>
            <a:r>
              <a:rPr lang="zh-TW" altLang="en-US" sz="2200">
                <a:ea typeface="新細明體" charset="-120"/>
              </a:rPr>
              <a:t>可以取出所有</a:t>
            </a:r>
            <a:r>
              <a:rPr lang="en-US" altLang="zh-TW" sz="2200">
                <a:ea typeface="新細明體" charset="-120"/>
              </a:rPr>
              <a:t>MJ</a:t>
            </a:r>
            <a:r>
              <a:rPr lang="zh-TW" altLang="en-US" sz="2200">
                <a:ea typeface="新細明體" charset="-120"/>
              </a:rPr>
              <a:t>回來的資料庫欄位值</a:t>
            </a:r>
            <a:endParaRPr lang="zh-TW" altLang="en-US" sz="2200">
              <a:ea typeface="新細明體" charset="-120"/>
            </a:endParaRPr>
          </a:p>
          <a:p>
            <a:pPr lvl="2">
              <a:lnSpc>
                <a:spcPct val="90000"/>
              </a:lnSpc>
            </a:pPr>
            <a:r>
              <a:rPr lang="en-US" altLang="zh-TW" sz="2000">
                <a:ea typeface="新細明體" charset="-120"/>
              </a:rPr>
              <a:t>returnValueHash ["H001"].ToString();</a:t>
            </a:r>
            <a:endParaRPr lang="en-US" altLang="zh-TW" sz="2000">
              <a:ea typeface="新細明體" charset="-120"/>
            </a:endParaRPr>
          </a:p>
          <a:p>
            <a:pPr lvl="2">
              <a:lnSpc>
                <a:spcPct val="90000"/>
              </a:lnSpc>
            </a:pPr>
            <a:endParaRPr lang="en-US" altLang="zh-TW" sz="2000">
              <a:ea typeface="新細明體" charset="-120"/>
            </a:endParaRPr>
          </a:p>
          <a:p>
            <a:pPr>
              <a:lnSpc>
                <a:spcPct val="90000"/>
              </a:lnSpc>
            </a:pPr>
            <a:r>
              <a:rPr lang="en-US" altLang="zh-TW" sz="2400">
                <a:ea typeface="新細明體" charset="-120"/>
              </a:rPr>
              <a:t>returnControlHash </a:t>
            </a:r>
            <a:r>
              <a:rPr lang="en-US" altLang="zh-TW" sz="2400">
                <a:latin typeface="Arial"/>
                <a:ea typeface="新細明體" charset="-120"/>
              </a:rPr>
              <a:t>—</a:t>
            </a:r>
            <a:r>
              <a:rPr lang="zh-TW" altLang="en-US" sz="2400">
                <a:ea typeface="新細明體" charset="-120"/>
              </a:rPr>
              <a:t>為一</a:t>
            </a:r>
            <a:r>
              <a:rPr lang="en-US" altLang="zh-TW" sz="2400">
                <a:ea typeface="新細明體" charset="-120"/>
              </a:rPr>
              <a:t>Hashtable</a:t>
            </a:r>
            <a:endParaRPr lang="en-US" altLang="zh-TW" sz="2400">
              <a:ea typeface="新細明體" charset="-120"/>
            </a:endParaRPr>
          </a:p>
          <a:p>
            <a:pPr lvl="1">
              <a:lnSpc>
                <a:spcPct val="90000"/>
              </a:lnSpc>
            </a:pPr>
            <a:r>
              <a:rPr lang="zh-TW" altLang="en-US" sz="2200">
                <a:ea typeface="新細明體" charset="-120"/>
              </a:rPr>
              <a:t>可以取出所有你輸入時等號左右的元件</a:t>
            </a:r>
            <a:r>
              <a:rPr lang="en-US" altLang="zh-TW" sz="2200">
                <a:ea typeface="新細明體" charset="-120"/>
              </a:rPr>
              <a:t>(</a:t>
            </a:r>
            <a:r>
              <a:rPr lang="zh-TW" altLang="en-US" sz="2200">
                <a:ea typeface="新細明體" charset="-120"/>
              </a:rPr>
              <a:t>如</a:t>
            </a:r>
            <a:r>
              <a:rPr lang="en-US" altLang="zh-TW" sz="2200">
                <a:ea typeface="新細明體" charset="-120"/>
              </a:rPr>
              <a:t>"EV001_txt=H001"</a:t>
            </a:r>
            <a:r>
              <a:rPr lang="zh-TW" altLang="en-US" sz="2200">
                <a:ea typeface="新細明體" charset="-120"/>
              </a:rPr>
              <a:t>之</a:t>
            </a:r>
            <a:r>
              <a:rPr lang="en-US" altLang="zh-TW" sz="2200">
                <a:ea typeface="新細明體" charset="-120"/>
              </a:rPr>
              <a:t>EV001_txt)</a:t>
            </a:r>
            <a:r>
              <a:rPr lang="en-US" altLang="zh-TW" sz="2400">
                <a:ea typeface="新細明體" charset="-120"/>
              </a:rPr>
              <a:t> </a:t>
            </a:r>
            <a:endParaRPr lang="en-US" altLang="zh-TW" sz="2400">
              <a:ea typeface="新細明體" charset="-120"/>
            </a:endParaRPr>
          </a:p>
          <a:p>
            <a:pPr lvl="2">
              <a:lnSpc>
                <a:spcPct val="90000"/>
              </a:lnSpc>
            </a:pPr>
            <a:r>
              <a:rPr lang="en-US" altLang="zh-TW" sz="2000">
                <a:ea typeface="新細明體" charset="-120"/>
              </a:rPr>
              <a:t>returnControlHash ["H001"].ToString();</a:t>
            </a:r>
            <a:endParaRPr lang="en-US" altLang="zh-TW" sz="2000">
              <a:ea typeface="新細明體" charset="-120"/>
            </a:endParaRPr>
          </a:p>
          <a:p>
            <a:pPr lvl="2">
              <a:lnSpc>
                <a:spcPct val="90000"/>
              </a:lnSpc>
            </a:pPr>
            <a:endParaRPr lang="en-US" altLang="zh-TW" sz="1800">
              <a:ea typeface="新細明體" charset="-120"/>
            </a:endParaRPr>
          </a:p>
          <a:p>
            <a:pPr>
              <a:lnSpc>
                <a:spcPct val="90000"/>
              </a:lnSpc>
            </a:pPr>
            <a:r>
              <a:rPr lang="en-US" altLang="zh-TW" sz="2400">
                <a:ea typeface="新細明體" charset="-120"/>
              </a:rPr>
              <a:t>returnConvertlHash </a:t>
            </a:r>
            <a:r>
              <a:rPr lang="en-US" altLang="zh-TW" sz="2400">
                <a:latin typeface="Arial"/>
                <a:ea typeface="新細明體" charset="-120"/>
              </a:rPr>
              <a:t>—</a:t>
            </a:r>
            <a:r>
              <a:rPr lang="zh-TW" altLang="en-US" sz="2400">
                <a:ea typeface="新細明體" charset="-120"/>
              </a:rPr>
              <a:t>為一</a:t>
            </a:r>
            <a:r>
              <a:rPr lang="en-US" altLang="zh-TW" sz="2400">
                <a:ea typeface="新細明體" charset="-120"/>
              </a:rPr>
              <a:t>Hashtable</a:t>
            </a:r>
            <a:endParaRPr lang="en-US" altLang="zh-TW" sz="2400">
              <a:ea typeface="新細明體" charset="-120"/>
            </a:endParaRPr>
          </a:p>
          <a:p>
            <a:pPr lvl="1">
              <a:lnSpc>
                <a:spcPct val="90000"/>
              </a:lnSpc>
            </a:pPr>
            <a:r>
              <a:rPr lang="zh-TW" altLang="en-US" sz="2200">
                <a:ea typeface="新細明體" charset="-120"/>
              </a:rPr>
              <a:t>自訂</a:t>
            </a:r>
            <a:r>
              <a:rPr lang="en-US" altLang="zh-TW" sz="2200">
                <a:ea typeface="新細明體" charset="-120"/>
              </a:rPr>
              <a:t>checkbox</a:t>
            </a:r>
            <a:r>
              <a:rPr lang="zh-TW" altLang="en-US" sz="2200">
                <a:ea typeface="新細明體" charset="-120"/>
              </a:rPr>
              <a:t>內存外顯之值</a:t>
            </a:r>
            <a:endParaRPr lang="zh-TW" altLang="en-US" sz="2200">
              <a:ea typeface="新細明體" charset="-120"/>
            </a:endParaRPr>
          </a:p>
          <a:p>
            <a:pPr lvl="2">
              <a:lnSpc>
                <a:spcPct val="90000"/>
              </a:lnSpc>
            </a:pPr>
            <a:r>
              <a:rPr lang="en-US" altLang="zh-TW" sz="2000">
                <a:ea typeface="新細明體" charset="-120"/>
              </a:rPr>
              <a:t>returnConvertlHash.Add("</a:t>
            </a:r>
            <a:r>
              <a:rPr lang="zh-TW" altLang="en-US" sz="2000">
                <a:ea typeface="新細明體" charset="-120"/>
              </a:rPr>
              <a:t>女</a:t>
            </a:r>
            <a:r>
              <a:rPr lang="en-US" altLang="zh-TW" sz="2000">
                <a:ea typeface="新細明體" charset="-120"/>
              </a:rPr>
              <a:t>"," true ")</a:t>
            </a:r>
            <a:endParaRPr lang="en-US" altLang="zh-TW" sz="2000">
              <a:ea typeface="新細明體" charset="-120"/>
            </a:endParaRPr>
          </a:p>
          <a:p>
            <a:pPr lvl="2">
              <a:lnSpc>
                <a:spcPct val="90000"/>
              </a:lnSpc>
            </a:pPr>
            <a:r>
              <a:rPr lang="en-US" altLang="zh-TW" sz="2000">
                <a:ea typeface="新細明體" charset="-120"/>
              </a:rPr>
              <a:t>returnConvertlHash.Add("</a:t>
            </a:r>
            <a:r>
              <a:rPr lang="zh-TW" altLang="en-US" sz="2000">
                <a:ea typeface="新細明體" charset="-120"/>
              </a:rPr>
              <a:t>男</a:t>
            </a:r>
            <a:r>
              <a:rPr lang="en-US" altLang="zh-TW" sz="2000">
                <a:ea typeface="新細明體" charset="-120"/>
              </a:rPr>
              <a:t>"," false ")</a:t>
            </a:r>
            <a:endParaRPr lang="en-US" altLang="zh-TW" sz="2000">
              <a:ea typeface="新細明體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ea typeface="新細明體" charset="-120"/>
              </a:rPr>
              <a:t>特殊案例</a:t>
            </a:r>
            <a:r>
              <a:rPr lang="en-US" altLang="zh-TW">
                <a:ea typeface="新細明體" charset="-120"/>
              </a:rPr>
              <a:t>(</a:t>
            </a:r>
            <a:r>
              <a:rPr lang="zh-TW" altLang="en-US">
                <a:ea typeface="新細明體" charset="-120"/>
              </a:rPr>
              <a:t>一</a:t>
            </a:r>
            <a:r>
              <a:rPr lang="en-US" altLang="zh-TW">
                <a:ea typeface="新細明體" charset="-120"/>
              </a:rPr>
              <a:t>)---</a:t>
            </a:r>
            <a:r>
              <a:rPr lang="zh-TW" altLang="en-US">
                <a:ea typeface="新細明體" charset="-120"/>
              </a:rPr>
              <a:t>多層次</a:t>
            </a:r>
            <a:r>
              <a:rPr lang="en-US" altLang="zh-TW">
                <a:ea typeface="新細明體" charset="-120"/>
              </a:rPr>
              <a:t>MJ(1/2)</a:t>
            </a:r>
            <a:endParaRPr lang="en-US" altLang="zh-TW">
              <a:ea typeface="新細明體" charset="-120"/>
            </a:endParaRPr>
          </a:p>
        </p:txBody>
      </p:sp>
      <p:sp>
        <p:nvSpPr>
          <p:cNvPr id="5068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>
                <a:ea typeface="新細明體" charset="-120"/>
              </a:rPr>
              <a:t>規格範例</a:t>
            </a:r>
            <a:r>
              <a:rPr lang="en-US" altLang="zh-TW">
                <a:ea typeface="新細明體" charset="-120"/>
              </a:rPr>
              <a:t>:</a:t>
            </a:r>
            <a:endParaRPr lang="en-US" altLang="zh-TW">
              <a:ea typeface="新細明體" charset="-120"/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0" y="2133600"/>
            <a:ext cx="9144000" cy="3095625"/>
            <a:chOff x="521" y="1298"/>
            <a:chExt cx="6083" cy="1828"/>
          </a:xfrm>
        </p:grpSpPr>
        <p:pic>
          <p:nvPicPr>
            <p:cNvPr id="506885" name="Picture 5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>
              <a:off x="521" y="1298"/>
              <a:ext cx="6083" cy="1828"/>
            </a:xfrm>
            <a:prstGeom prst="rect">
              <a:avLst/>
            </a:prstGeom>
            <a:noFill/>
          </p:spPr>
        </p:pic>
        <p:sp>
          <p:nvSpPr>
            <p:cNvPr id="506886" name="Rectangle 6"/>
            <p:cNvSpPr>
              <a:spLocks noChangeArrowheads="1"/>
            </p:cNvSpPr>
            <p:nvPr/>
          </p:nvSpPr>
          <p:spPr bwMode="auto">
            <a:xfrm>
              <a:off x="567" y="1298"/>
              <a:ext cx="680" cy="182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06887" name="Rectangle 7"/>
            <p:cNvSpPr>
              <a:spLocks noChangeArrowheads="1"/>
            </p:cNvSpPr>
            <p:nvPr/>
          </p:nvSpPr>
          <p:spPr bwMode="auto">
            <a:xfrm>
              <a:off x="567" y="2024"/>
              <a:ext cx="680" cy="182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06888" name="Rectangle 8"/>
            <p:cNvSpPr>
              <a:spLocks noChangeArrowheads="1"/>
            </p:cNvSpPr>
            <p:nvPr/>
          </p:nvSpPr>
          <p:spPr bwMode="auto">
            <a:xfrm>
              <a:off x="521" y="2704"/>
              <a:ext cx="680" cy="182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ea typeface="新細明體" charset="-120"/>
              </a:rPr>
              <a:t>特殊案例</a:t>
            </a:r>
            <a:r>
              <a:rPr lang="en-US" altLang="zh-TW">
                <a:ea typeface="新細明體" charset="-120"/>
              </a:rPr>
              <a:t>(</a:t>
            </a:r>
            <a:r>
              <a:rPr lang="zh-TW" altLang="en-US">
                <a:ea typeface="新細明體" charset="-120"/>
              </a:rPr>
              <a:t>一</a:t>
            </a:r>
            <a:r>
              <a:rPr lang="en-US" altLang="zh-TW">
                <a:ea typeface="新細明體" charset="-120"/>
              </a:rPr>
              <a:t>)---</a:t>
            </a:r>
            <a:r>
              <a:rPr lang="zh-TW" altLang="en-US">
                <a:ea typeface="新細明體" charset="-120"/>
              </a:rPr>
              <a:t>多層次</a:t>
            </a:r>
            <a:r>
              <a:rPr lang="en-US" altLang="zh-TW">
                <a:ea typeface="新細明體" charset="-120"/>
              </a:rPr>
              <a:t>MJ(2/2)</a:t>
            </a:r>
            <a:endParaRPr lang="en-US" altLang="zh-TW">
              <a:ea typeface="新細明體" charset="-120"/>
            </a:endParaRPr>
          </a:p>
        </p:txBody>
      </p:sp>
      <p:sp>
        <p:nvSpPr>
          <p:cNvPr id="5079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>
                <a:ea typeface="新細明體" charset="-120"/>
              </a:rPr>
              <a:t>觀念解析</a:t>
            </a:r>
            <a:endParaRPr lang="zh-TW" altLang="en-US">
              <a:ea typeface="新細明體" charset="-120"/>
            </a:endParaRPr>
          </a:p>
        </p:txBody>
      </p:sp>
      <p:pic>
        <p:nvPicPr>
          <p:cNvPr id="507908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619250" y="2032000"/>
            <a:ext cx="5972175" cy="4781550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ea typeface="新細明體" charset="-120"/>
              </a:rPr>
              <a:t>特殊案例</a:t>
            </a:r>
            <a:r>
              <a:rPr lang="en-US" altLang="zh-TW">
                <a:ea typeface="新細明體" charset="-120"/>
              </a:rPr>
              <a:t>(</a:t>
            </a:r>
            <a:r>
              <a:rPr lang="zh-TW" altLang="en-US">
                <a:ea typeface="新細明體" charset="-120"/>
              </a:rPr>
              <a:t>二</a:t>
            </a:r>
            <a:r>
              <a:rPr lang="en-US" altLang="zh-TW">
                <a:ea typeface="新細明體" charset="-120"/>
              </a:rPr>
              <a:t>)---</a:t>
            </a:r>
            <a:r>
              <a:rPr lang="zh-TW" altLang="en-US">
                <a:ea typeface="新細明體" charset="-120"/>
              </a:rPr>
              <a:t>取序號</a:t>
            </a:r>
            <a:r>
              <a:rPr lang="en-US" altLang="zh-TW">
                <a:ea typeface="新細明體" charset="-120"/>
              </a:rPr>
              <a:t>MJ(1/2)*</a:t>
            </a:r>
            <a:endParaRPr lang="en-US" altLang="zh-TW">
              <a:ea typeface="新細明體" charset="-120"/>
            </a:endParaRPr>
          </a:p>
        </p:txBody>
      </p:sp>
      <p:sp>
        <p:nvSpPr>
          <p:cNvPr id="5089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zh-TW" altLang="en-US">
                <a:ea typeface="新細明體" charset="-120"/>
              </a:rPr>
              <a:t>問題描述</a:t>
            </a:r>
            <a:endParaRPr lang="zh-TW" altLang="en-US">
              <a:ea typeface="新細明體" charset="-120"/>
            </a:endParaRPr>
          </a:p>
          <a:p>
            <a:r>
              <a:rPr lang="zh-TW" altLang="en-US" sz="3000">
                <a:ea typeface="新細明體" charset="-120"/>
              </a:rPr>
              <a:t>一般而言，</a:t>
            </a:r>
            <a:r>
              <a:rPr lang="en-US" altLang="zh-TW" sz="3000">
                <a:ea typeface="新細明體" charset="-120"/>
              </a:rPr>
              <a:t>MJ</a:t>
            </a:r>
            <a:r>
              <a:rPr lang="zh-TW" altLang="en-US" sz="3000">
                <a:ea typeface="新細明體" charset="-120"/>
              </a:rPr>
              <a:t>執行</a:t>
            </a:r>
            <a:r>
              <a:rPr lang="en-US" altLang="zh-TW" sz="3000">
                <a:ea typeface="新細明體" charset="-120"/>
              </a:rPr>
              <a:t>SQL</a:t>
            </a:r>
            <a:r>
              <a:rPr lang="zh-TW" altLang="en-US" sz="3000">
                <a:ea typeface="新細明體" charset="-120"/>
              </a:rPr>
              <a:t>到</a:t>
            </a:r>
            <a:r>
              <a:rPr lang="en-US" altLang="zh-TW" sz="3000">
                <a:ea typeface="新細明體" charset="-120"/>
              </a:rPr>
              <a:t>DB</a:t>
            </a:r>
            <a:r>
              <a:rPr lang="zh-TW" altLang="en-US" sz="3000">
                <a:ea typeface="新細明體" charset="-120"/>
              </a:rPr>
              <a:t>中搜尋是否有值，如果存在這筆資料，</a:t>
            </a:r>
            <a:r>
              <a:rPr lang="en-US" altLang="zh-TW" sz="3000">
                <a:ea typeface="新細明體" charset="-120"/>
              </a:rPr>
              <a:t>MJ</a:t>
            </a:r>
            <a:r>
              <a:rPr lang="zh-TW" altLang="en-US" sz="3000">
                <a:ea typeface="新細明體" charset="-120"/>
              </a:rPr>
              <a:t>為</a:t>
            </a:r>
            <a:r>
              <a:rPr lang="en-US" altLang="zh-TW" sz="3000">
                <a:ea typeface="新細明體" charset="-120"/>
              </a:rPr>
              <a:t>TURE</a:t>
            </a:r>
            <a:r>
              <a:rPr lang="zh-TW" altLang="en-US" sz="3000">
                <a:ea typeface="新細明體" charset="-120"/>
              </a:rPr>
              <a:t>就會把所搜尋到的值傳回畫面上的欄位， </a:t>
            </a:r>
            <a:r>
              <a:rPr lang="en-US" altLang="zh-TW" sz="3000">
                <a:ea typeface="新細明體" charset="-120"/>
              </a:rPr>
              <a:t>FALSE</a:t>
            </a:r>
            <a:r>
              <a:rPr lang="zh-TW" altLang="en-US" sz="3000">
                <a:ea typeface="新細明體" charset="-120"/>
              </a:rPr>
              <a:t>則</a:t>
            </a:r>
            <a:r>
              <a:rPr lang="en-US" altLang="zh-TW" sz="3000">
                <a:ea typeface="新細明體" charset="-120"/>
              </a:rPr>
              <a:t>ShowAlert</a:t>
            </a:r>
            <a:r>
              <a:rPr lang="zh-TW" altLang="en-US" sz="3000">
                <a:ea typeface="新細明體" charset="-120"/>
              </a:rPr>
              <a:t>訊息，例如：開員工窗且帶回所屬部門。 </a:t>
            </a:r>
            <a:endParaRPr lang="zh-TW" altLang="en-US" sz="3000">
              <a:ea typeface="新細明體" charset="-120"/>
            </a:endParaRPr>
          </a:p>
          <a:p>
            <a:r>
              <a:rPr lang="zh-TW" altLang="en-US" sz="3000">
                <a:ea typeface="新細明體" charset="-120"/>
              </a:rPr>
              <a:t>但是取序號的邏輯剛好相反，當</a:t>
            </a:r>
            <a:r>
              <a:rPr lang="en-US" altLang="zh-TW" sz="3000">
                <a:ea typeface="新細明體" charset="-120"/>
              </a:rPr>
              <a:t>USER</a:t>
            </a:r>
            <a:r>
              <a:rPr lang="zh-TW" altLang="en-US" sz="3000">
                <a:ea typeface="新細明體" charset="-120"/>
              </a:rPr>
              <a:t>輸入序號為</a:t>
            </a:r>
            <a:r>
              <a:rPr lang="en-US" altLang="zh-TW" sz="3000">
                <a:ea typeface="新細明體" charset="-120"/>
              </a:rPr>
              <a:t>002</a:t>
            </a:r>
            <a:r>
              <a:rPr lang="zh-TW" altLang="en-US" sz="3000">
                <a:ea typeface="新細明體" charset="-120"/>
              </a:rPr>
              <a:t>的一筆資料，</a:t>
            </a:r>
            <a:r>
              <a:rPr lang="en-US" altLang="zh-TW" sz="3000">
                <a:ea typeface="新細明體" charset="-120"/>
              </a:rPr>
              <a:t>MJ</a:t>
            </a:r>
            <a:r>
              <a:rPr lang="zh-TW" altLang="en-US" sz="3000">
                <a:ea typeface="新細明體" charset="-120"/>
              </a:rPr>
              <a:t>會去驗證</a:t>
            </a:r>
            <a:r>
              <a:rPr lang="en-US" altLang="zh-TW" sz="3000">
                <a:ea typeface="新細明體" charset="-120"/>
              </a:rPr>
              <a:t>DB</a:t>
            </a:r>
            <a:r>
              <a:rPr lang="zh-TW" altLang="en-US" sz="3000">
                <a:ea typeface="新細明體" charset="-120"/>
              </a:rPr>
              <a:t>是否有此筆資料，如果為</a:t>
            </a:r>
            <a:r>
              <a:rPr lang="en-US" altLang="zh-TW" sz="3000">
                <a:ea typeface="新細明體" charset="-120"/>
              </a:rPr>
              <a:t>TURE</a:t>
            </a:r>
            <a:r>
              <a:rPr lang="zh-TW" altLang="en-US" sz="3000">
                <a:ea typeface="新細明體" charset="-120"/>
              </a:rPr>
              <a:t>表已存在此筆資料則</a:t>
            </a:r>
            <a:r>
              <a:rPr lang="en-US" altLang="zh-TW" sz="3000">
                <a:ea typeface="新細明體" charset="-120"/>
              </a:rPr>
              <a:t>ShowAlert</a:t>
            </a:r>
            <a:r>
              <a:rPr lang="zh-TW" altLang="en-US" sz="3000">
                <a:ea typeface="新細明體" charset="-120"/>
              </a:rPr>
              <a:t>訊息，</a:t>
            </a:r>
            <a:r>
              <a:rPr lang="en-US" altLang="zh-TW" sz="3000">
                <a:ea typeface="新細明體" charset="-120"/>
              </a:rPr>
              <a:t>FALSE</a:t>
            </a:r>
            <a:r>
              <a:rPr lang="zh-TW" altLang="en-US" sz="3000">
                <a:ea typeface="新細明體" charset="-120"/>
              </a:rPr>
              <a:t>則回傳畫面上的欄位。</a:t>
            </a:r>
            <a:endParaRPr lang="zh-TW" altLang="en-US" sz="3000">
              <a:ea typeface="新細明體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ea typeface="新細明體" charset="-120"/>
              </a:rPr>
              <a:t>特殊案例</a:t>
            </a:r>
            <a:r>
              <a:rPr lang="en-US" altLang="zh-TW">
                <a:ea typeface="新細明體" charset="-120"/>
              </a:rPr>
              <a:t>(</a:t>
            </a:r>
            <a:r>
              <a:rPr lang="zh-TW" altLang="en-US">
                <a:ea typeface="新細明體" charset="-120"/>
              </a:rPr>
              <a:t>二</a:t>
            </a:r>
            <a:r>
              <a:rPr lang="en-US" altLang="zh-TW">
                <a:ea typeface="新細明體" charset="-120"/>
              </a:rPr>
              <a:t>)---</a:t>
            </a:r>
            <a:r>
              <a:rPr lang="zh-TW" altLang="en-US">
                <a:ea typeface="新細明體" charset="-120"/>
              </a:rPr>
              <a:t>取序號</a:t>
            </a:r>
            <a:r>
              <a:rPr lang="en-US" altLang="zh-TW">
                <a:ea typeface="新細明體" charset="-120"/>
              </a:rPr>
              <a:t>MJ(2/2)</a:t>
            </a:r>
            <a:endParaRPr lang="en-US" altLang="zh-TW">
              <a:ea typeface="新細明體" charset="-120"/>
            </a:endParaRPr>
          </a:p>
        </p:txBody>
      </p:sp>
      <p:sp>
        <p:nvSpPr>
          <p:cNvPr id="5099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>
                <a:ea typeface="新細明體" charset="-120"/>
              </a:rPr>
              <a:t>觀念解析</a:t>
            </a:r>
            <a:endParaRPr lang="zh-TW" altLang="en-US">
              <a:ea typeface="新細明體" charset="-120"/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1331913" y="1916113"/>
            <a:ext cx="6767512" cy="2332037"/>
            <a:chOff x="839" y="1207"/>
            <a:chExt cx="4263" cy="1469"/>
          </a:xfrm>
        </p:grpSpPr>
        <p:pic>
          <p:nvPicPr>
            <p:cNvPr id="509957" name="Picture 5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>
              <a:off x="839" y="1207"/>
              <a:ext cx="4263" cy="1469"/>
            </a:xfrm>
            <a:prstGeom prst="rect">
              <a:avLst/>
            </a:prstGeom>
            <a:noFill/>
          </p:spPr>
        </p:pic>
        <p:sp>
          <p:nvSpPr>
            <p:cNvPr id="509958" name="Rectangle 6"/>
            <p:cNvSpPr>
              <a:spLocks noChangeArrowheads="1"/>
            </p:cNvSpPr>
            <p:nvPr/>
          </p:nvSpPr>
          <p:spPr bwMode="auto">
            <a:xfrm>
              <a:off x="2064" y="1797"/>
              <a:ext cx="408" cy="182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09959" name="Rectangle 7"/>
            <p:cNvSpPr>
              <a:spLocks noChangeArrowheads="1"/>
            </p:cNvSpPr>
            <p:nvPr/>
          </p:nvSpPr>
          <p:spPr bwMode="auto">
            <a:xfrm>
              <a:off x="2064" y="2251"/>
              <a:ext cx="408" cy="182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</p:grpSp>
      <p:grpSp>
        <p:nvGrpSpPr>
          <p:cNvPr id="3" name="Group 8"/>
          <p:cNvGrpSpPr/>
          <p:nvPr/>
        </p:nvGrpSpPr>
        <p:grpSpPr bwMode="auto">
          <a:xfrm>
            <a:off x="1331913" y="4365625"/>
            <a:ext cx="6767512" cy="2338388"/>
            <a:chOff x="839" y="2750"/>
            <a:chExt cx="4263" cy="1473"/>
          </a:xfrm>
        </p:grpSpPr>
        <p:pic>
          <p:nvPicPr>
            <p:cNvPr id="509961" name="Picture 9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839" y="2750"/>
              <a:ext cx="4263" cy="1473"/>
            </a:xfrm>
            <a:prstGeom prst="rect">
              <a:avLst/>
            </a:prstGeom>
            <a:noFill/>
          </p:spPr>
        </p:pic>
        <p:sp>
          <p:nvSpPr>
            <p:cNvPr id="509962" name="Rectangle 10"/>
            <p:cNvSpPr>
              <a:spLocks noChangeArrowheads="1"/>
            </p:cNvSpPr>
            <p:nvPr/>
          </p:nvSpPr>
          <p:spPr bwMode="auto">
            <a:xfrm>
              <a:off x="2018" y="3294"/>
              <a:ext cx="318" cy="182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09963" name="Rectangle 11"/>
            <p:cNvSpPr>
              <a:spLocks noChangeArrowheads="1"/>
            </p:cNvSpPr>
            <p:nvPr/>
          </p:nvSpPr>
          <p:spPr bwMode="auto">
            <a:xfrm>
              <a:off x="2018" y="3748"/>
              <a:ext cx="318" cy="182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</p:grpSp>
      <p:grpSp>
        <p:nvGrpSpPr>
          <p:cNvPr id="4" name="Group 12"/>
          <p:cNvGrpSpPr/>
          <p:nvPr/>
        </p:nvGrpSpPr>
        <p:grpSpPr bwMode="auto">
          <a:xfrm>
            <a:off x="3708400" y="3141663"/>
            <a:ext cx="1368425" cy="431800"/>
            <a:chOff x="2336" y="1979"/>
            <a:chExt cx="862" cy="272"/>
          </a:xfrm>
        </p:grpSpPr>
        <p:sp>
          <p:nvSpPr>
            <p:cNvPr id="509965" name="Line 13"/>
            <p:cNvSpPr>
              <a:spLocks noChangeShapeType="1"/>
            </p:cNvSpPr>
            <p:nvPr/>
          </p:nvSpPr>
          <p:spPr bwMode="auto">
            <a:xfrm>
              <a:off x="2336" y="1979"/>
              <a:ext cx="0" cy="18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509966" name="Line 14"/>
            <p:cNvSpPr>
              <a:spLocks noChangeShapeType="1"/>
            </p:cNvSpPr>
            <p:nvPr/>
          </p:nvSpPr>
          <p:spPr bwMode="auto">
            <a:xfrm>
              <a:off x="2336" y="2160"/>
              <a:ext cx="27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509967" name="Rectangle 15"/>
            <p:cNvSpPr>
              <a:spLocks noChangeArrowheads="1"/>
            </p:cNvSpPr>
            <p:nvPr/>
          </p:nvSpPr>
          <p:spPr bwMode="auto">
            <a:xfrm>
              <a:off x="2653" y="2069"/>
              <a:ext cx="545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0" hangingPunct="0"/>
              <a:r>
                <a:rPr kumimoji="0" lang="en-US" altLang="zh-TW" sz="1800" b="0">
                  <a:ea typeface="新細明體" charset="-120"/>
                </a:rPr>
                <a:t>true</a:t>
              </a:r>
              <a:endParaRPr kumimoji="0" lang="en-US" altLang="zh-TW" sz="1800" b="0">
                <a:ea typeface="新細明體" charset="-120"/>
              </a:endParaRPr>
            </a:p>
          </p:txBody>
        </p:sp>
      </p:grpSp>
      <p:grpSp>
        <p:nvGrpSpPr>
          <p:cNvPr id="5" name="Group 16"/>
          <p:cNvGrpSpPr/>
          <p:nvPr/>
        </p:nvGrpSpPr>
        <p:grpSpPr bwMode="auto">
          <a:xfrm>
            <a:off x="3708400" y="3860800"/>
            <a:ext cx="1368425" cy="361950"/>
            <a:chOff x="2336" y="2432"/>
            <a:chExt cx="862" cy="228"/>
          </a:xfrm>
        </p:grpSpPr>
        <p:sp>
          <p:nvSpPr>
            <p:cNvPr id="509969" name="Line 17"/>
            <p:cNvSpPr>
              <a:spLocks noChangeShapeType="1"/>
            </p:cNvSpPr>
            <p:nvPr/>
          </p:nvSpPr>
          <p:spPr bwMode="auto">
            <a:xfrm>
              <a:off x="2336" y="2432"/>
              <a:ext cx="0" cy="18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509970" name="Line 18"/>
            <p:cNvSpPr>
              <a:spLocks noChangeShapeType="1"/>
            </p:cNvSpPr>
            <p:nvPr/>
          </p:nvSpPr>
          <p:spPr bwMode="auto">
            <a:xfrm>
              <a:off x="2336" y="2614"/>
              <a:ext cx="27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509971" name="Rectangle 19"/>
            <p:cNvSpPr>
              <a:spLocks noChangeArrowheads="1"/>
            </p:cNvSpPr>
            <p:nvPr/>
          </p:nvSpPr>
          <p:spPr bwMode="auto">
            <a:xfrm>
              <a:off x="2653" y="2478"/>
              <a:ext cx="545" cy="1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0" hangingPunct="0"/>
              <a:r>
                <a:rPr kumimoji="0" lang="en-US" altLang="zh-TW" sz="1800" b="0">
                  <a:ea typeface="新細明體" charset="-120"/>
                </a:rPr>
                <a:t>false</a:t>
              </a:r>
              <a:endParaRPr kumimoji="0" lang="en-US" altLang="zh-TW" sz="1800" b="0">
                <a:ea typeface="新細明體" charset="-12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ea typeface="新細明體" charset="-120"/>
              </a:rPr>
              <a:t>特殊案例</a:t>
            </a:r>
            <a:r>
              <a:rPr lang="en-US" altLang="zh-TW">
                <a:ea typeface="新細明體" charset="-120"/>
              </a:rPr>
              <a:t>(</a:t>
            </a:r>
            <a:r>
              <a:rPr lang="zh-TW" altLang="en-US">
                <a:ea typeface="新細明體" charset="-120"/>
              </a:rPr>
              <a:t>三</a:t>
            </a:r>
            <a:r>
              <a:rPr lang="en-US" altLang="zh-TW">
                <a:ea typeface="新細明體" charset="-120"/>
              </a:rPr>
              <a:t>)---</a:t>
            </a:r>
            <a:br>
              <a:rPr lang="en-US" altLang="zh-TW">
                <a:ea typeface="新細明體" charset="-120"/>
              </a:rPr>
            </a:br>
            <a:r>
              <a:rPr lang="en-US" altLang="zh-TW">
                <a:ea typeface="新細明體" charset="-120"/>
              </a:rPr>
              <a:t>MJ</a:t>
            </a:r>
            <a:r>
              <a:rPr lang="zh-TW" altLang="en-US">
                <a:ea typeface="新細明體" charset="-120"/>
              </a:rPr>
              <a:t>帶回值且</a:t>
            </a:r>
            <a:r>
              <a:rPr lang="en-US" altLang="zh-TW">
                <a:ea typeface="新細明體" charset="-120"/>
              </a:rPr>
              <a:t>SHOW ALERT(1/2)</a:t>
            </a:r>
            <a:endParaRPr lang="en-US" altLang="zh-TW">
              <a:ea typeface="新細明體" charset="-120"/>
            </a:endParaRPr>
          </a:p>
        </p:txBody>
      </p:sp>
      <p:sp>
        <p:nvSpPr>
          <p:cNvPr id="5109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zh-TW" altLang="en-US" sz="3000">
                <a:ea typeface="新細明體" charset="-120"/>
              </a:rPr>
              <a:t>問題描述</a:t>
            </a:r>
            <a:endParaRPr lang="zh-TW" altLang="en-US" sz="3000">
              <a:ea typeface="新細明體" charset="-120"/>
            </a:endParaRPr>
          </a:p>
          <a:p>
            <a:r>
              <a:rPr lang="zh-TW" altLang="en-US" sz="3000">
                <a:ea typeface="新細明體" charset="-120"/>
              </a:rPr>
              <a:t>一般而言如果我們要</a:t>
            </a:r>
            <a:r>
              <a:rPr lang="en-US" altLang="zh-TW" sz="3000">
                <a:ea typeface="新細明體" charset="-120"/>
              </a:rPr>
              <a:t>ShowAlert</a:t>
            </a:r>
            <a:r>
              <a:rPr lang="zh-TW" altLang="en-US" sz="3000">
                <a:ea typeface="新細明體" charset="-120"/>
              </a:rPr>
              <a:t>，必須要讓</a:t>
            </a:r>
            <a:r>
              <a:rPr lang="en-US" altLang="zh-TW" sz="3000">
                <a:ea typeface="新細明體" charset="-120"/>
              </a:rPr>
              <a:t>FinishMJ </a:t>
            </a:r>
            <a:r>
              <a:rPr lang="zh-TW" altLang="en-US" sz="3000">
                <a:ea typeface="新細明體" charset="-120"/>
              </a:rPr>
              <a:t>為</a:t>
            </a:r>
            <a:r>
              <a:rPr lang="en-US" altLang="zh-TW" sz="3000">
                <a:ea typeface="新細明體" charset="-120"/>
              </a:rPr>
              <a:t>false</a:t>
            </a:r>
            <a:r>
              <a:rPr lang="zh-TW" altLang="en-US" sz="3000">
                <a:ea typeface="新細明體" charset="-120"/>
              </a:rPr>
              <a:t>，因為</a:t>
            </a:r>
            <a:r>
              <a:rPr lang="en-US" altLang="zh-TW" sz="3000">
                <a:ea typeface="新細明體" charset="-120"/>
              </a:rPr>
              <a:t>FinishMJ</a:t>
            </a:r>
            <a:r>
              <a:rPr lang="zh-TW" altLang="en-US" sz="3000">
                <a:ea typeface="新細明體" charset="-120"/>
              </a:rPr>
              <a:t>一看到</a:t>
            </a:r>
            <a:r>
              <a:rPr lang="en-US" altLang="zh-TW" sz="3000">
                <a:ea typeface="新細明體" charset="-120"/>
              </a:rPr>
              <a:t>false</a:t>
            </a:r>
            <a:r>
              <a:rPr lang="zh-TW" altLang="en-US" sz="3000">
                <a:ea typeface="新細明體" charset="-120"/>
              </a:rPr>
              <a:t>就會執行平台的</a:t>
            </a:r>
            <a:r>
              <a:rPr lang="en-US" altLang="zh-TW" sz="3000">
                <a:ea typeface="新細明體" charset="-120"/>
              </a:rPr>
              <a:t>Alert</a:t>
            </a:r>
            <a:r>
              <a:rPr lang="zh-TW" altLang="en-US" sz="3000">
                <a:ea typeface="新細明體" charset="-120"/>
              </a:rPr>
              <a:t>訊息且不傳回值到畫面上。</a:t>
            </a:r>
            <a:endParaRPr lang="zh-TW" altLang="en-US" sz="3000">
              <a:ea typeface="新細明體" charset="-120"/>
            </a:endParaRPr>
          </a:p>
          <a:p>
            <a:endParaRPr lang="zh-TW" altLang="en-US" sz="2900">
              <a:ea typeface="新細明體" charset="-120"/>
            </a:endParaRPr>
          </a:p>
          <a:p>
            <a:r>
              <a:rPr lang="zh-TW" altLang="en-US" sz="3000">
                <a:ea typeface="新細明體" charset="-120"/>
              </a:rPr>
              <a:t>若我們需要傳回值且要</a:t>
            </a:r>
            <a:r>
              <a:rPr lang="en-US" altLang="zh-TW" sz="3000">
                <a:ea typeface="新細明體" charset="-120"/>
              </a:rPr>
              <a:t>ShowAlert</a:t>
            </a:r>
            <a:r>
              <a:rPr lang="zh-TW" altLang="en-US" sz="3000">
                <a:ea typeface="新細明體" charset="-120"/>
              </a:rPr>
              <a:t>訊息，就必須讓</a:t>
            </a:r>
            <a:r>
              <a:rPr lang="en-US" altLang="zh-TW" sz="3000">
                <a:ea typeface="新細明體" charset="-120"/>
              </a:rPr>
              <a:t>FinishMJ</a:t>
            </a:r>
            <a:r>
              <a:rPr lang="zh-TW" altLang="en-US" sz="3000">
                <a:ea typeface="新細明體" charset="-120"/>
              </a:rPr>
              <a:t>為</a:t>
            </a:r>
            <a:r>
              <a:rPr lang="en-US" altLang="zh-TW" sz="3000">
                <a:ea typeface="新細明體" charset="-120"/>
              </a:rPr>
              <a:t>true</a:t>
            </a:r>
            <a:r>
              <a:rPr lang="zh-TW" altLang="en-US" sz="3000">
                <a:ea typeface="新細明體" charset="-120"/>
              </a:rPr>
              <a:t>，且</a:t>
            </a:r>
            <a:r>
              <a:rPr lang="en-US" altLang="zh-TW" sz="3000">
                <a:ea typeface="新細明體" charset="-120"/>
              </a:rPr>
              <a:t>Alert</a:t>
            </a:r>
            <a:r>
              <a:rPr lang="zh-TW" altLang="en-US" sz="3000">
                <a:ea typeface="新細明體" charset="-120"/>
              </a:rPr>
              <a:t>訊息必須由</a:t>
            </a:r>
            <a:r>
              <a:rPr lang="en-US" altLang="zh-TW" sz="3000">
                <a:ea typeface="新細明體" charset="-120"/>
              </a:rPr>
              <a:t>PR</a:t>
            </a:r>
            <a:r>
              <a:rPr lang="zh-TW" altLang="en-US" sz="3000">
                <a:ea typeface="新細明體" charset="-120"/>
              </a:rPr>
              <a:t>自行</a:t>
            </a:r>
            <a:r>
              <a:rPr lang="en-US" altLang="zh-TW" sz="3000">
                <a:ea typeface="新細明體" charset="-120"/>
              </a:rPr>
              <a:t>Insert</a:t>
            </a:r>
            <a:r>
              <a:rPr lang="zh-TW" altLang="en-US" sz="3000">
                <a:ea typeface="新細明體" charset="-120"/>
              </a:rPr>
              <a:t>或</a:t>
            </a:r>
            <a:r>
              <a:rPr lang="en-US" altLang="zh-TW" sz="3000">
                <a:ea typeface="新細明體" charset="-120"/>
              </a:rPr>
              <a:t>Add</a:t>
            </a:r>
            <a:r>
              <a:rPr lang="zh-TW" altLang="en-US" sz="3000">
                <a:ea typeface="新細明體" charset="-120"/>
              </a:rPr>
              <a:t>。</a:t>
            </a:r>
            <a:endParaRPr lang="zh-TW" altLang="en-US" sz="3000">
              <a:ea typeface="新細明體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ea typeface="新細明體" charset="-120"/>
              </a:rPr>
              <a:t>特殊案例</a:t>
            </a:r>
            <a:r>
              <a:rPr lang="en-US" altLang="zh-TW">
                <a:ea typeface="新細明體" charset="-120"/>
              </a:rPr>
              <a:t>(</a:t>
            </a:r>
            <a:r>
              <a:rPr lang="zh-TW" altLang="en-US">
                <a:ea typeface="新細明體" charset="-120"/>
              </a:rPr>
              <a:t>三</a:t>
            </a:r>
            <a:r>
              <a:rPr lang="en-US" altLang="zh-TW">
                <a:ea typeface="新細明體" charset="-120"/>
              </a:rPr>
              <a:t>)---</a:t>
            </a:r>
            <a:br>
              <a:rPr lang="en-US" altLang="zh-TW">
                <a:ea typeface="新細明體" charset="-120"/>
              </a:rPr>
            </a:br>
            <a:r>
              <a:rPr lang="en-US" altLang="zh-TW">
                <a:ea typeface="新細明體" charset="-120"/>
              </a:rPr>
              <a:t>MJ</a:t>
            </a:r>
            <a:r>
              <a:rPr lang="zh-TW" altLang="en-US">
                <a:ea typeface="新細明體" charset="-120"/>
              </a:rPr>
              <a:t>帶回值且</a:t>
            </a:r>
            <a:r>
              <a:rPr lang="en-US" altLang="zh-TW">
                <a:ea typeface="新細明體" charset="-120"/>
              </a:rPr>
              <a:t>SHOW ALERT(2/2)</a:t>
            </a:r>
            <a:endParaRPr lang="en-US" altLang="zh-TW">
              <a:ea typeface="新細明體" charset="-120"/>
            </a:endParaRPr>
          </a:p>
        </p:txBody>
      </p:sp>
      <p:sp>
        <p:nvSpPr>
          <p:cNvPr id="5120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>
                <a:ea typeface="新細明體" charset="-120"/>
              </a:rPr>
              <a:t>觀念解析</a:t>
            </a:r>
            <a:endParaRPr lang="zh-TW" altLang="en-US">
              <a:ea typeface="新細明體" charset="-120"/>
            </a:endParaRPr>
          </a:p>
        </p:txBody>
      </p:sp>
      <p:pic>
        <p:nvPicPr>
          <p:cNvPr id="512004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11188" y="2133600"/>
            <a:ext cx="7993062" cy="4032250"/>
          </a:xfrm>
          <a:prstGeom prst="rect">
            <a:avLst/>
          </a:prstGeom>
          <a:noFill/>
        </p:spPr>
      </p:pic>
      <p:sp>
        <p:nvSpPr>
          <p:cNvPr id="512005" name="Rectangle 5"/>
          <p:cNvSpPr>
            <a:spLocks noChangeArrowheads="1"/>
          </p:cNvSpPr>
          <p:nvPr/>
        </p:nvSpPr>
        <p:spPr bwMode="auto">
          <a:xfrm>
            <a:off x="1331913" y="4076700"/>
            <a:ext cx="4464050" cy="360363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charset="-120"/>
              </a:rPr>
              <a:t>FinishMJ</a:t>
            </a:r>
            <a:r>
              <a:rPr lang="zh-TW" altLang="en-US">
                <a:ea typeface="新細明體" charset="-120"/>
              </a:rPr>
              <a:t>的限制</a:t>
            </a:r>
            <a:endParaRPr lang="zh-TW" altLang="en-US">
              <a:ea typeface="新細明體" charset="-120"/>
            </a:endParaRPr>
          </a:p>
        </p:txBody>
      </p:sp>
      <p:sp>
        <p:nvSpPr>
          <p:cNvPr id="51302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373110" cy="452628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TW" altLang="en-US" sz="3000">
                <a:ea typeface="新細明體" charset="-120"/>
              </a:rPr>
              <a:t>限制： </a:t>
            </a:r>
            <a:r>
              <a:rPr lang="en-US" altLang="zh-TW" sz="3000">
                <a:ea typeface="新細明體" charset="-120"/>
              </a:rPr>
              <a:t>FinishMJ</a:t>
            </a:r>
            <a:r>
              <a:rPr lang="zh-TW" altLang="en-US" sz="3000">
                <a:ea typeface="新細明體" charset="-120"/>
              </a:rPr>
              <a:t>只能執行一次</a:t>
            </a:r>
            <a:endParaRPr lang="zh-TW" altLang="en-US" sz="3000">
              <a:ea typeface="新細明體" charset="-120"/>
            </a:endParaRPr>
          </a:p>
          <a:p>
            <a:pPr>
              <a:lnSpc>
                <a:spcPct val="90000"/>
              </a:lnSpc>
            </a:pPr>
            <a:r>
              <a:rPr lang="zh-TW" altLang="en-US" sz="3000">
                <a:ea typeface="新細明體" charset="-120"/>
              </a:rPr>
              <a:t>原因說明：平台以</a:t>
            </a:r>
            <a:r>
              <a:rPr lang="en-US" altLang="zh-TW" sz="3000">
                <a:ea typeface="新細明體" charset="-120"/>
              </a:rPr>
              <a:t>XML</a:t>
            </a:r>
            <a:r>
              <a:rPr lang="zh-TW" altLang="en-US" sz="3000">
                <a:ea typeface="新細明體" charset="-120"/>
              </a:rPr>
              <a:t>的格式執行</a:t>
            </a:r>
            <a:r>
              <a:rPr lang="en-US" altLang="zh-TW" sz="3000">
                <a:ea typeface="新細明體" charset="-120"/>
              </a:rPr>
              <a:t>MIMJ</a:t>
            </a:r>
            <a:r>
              <a:rPr lang="zh-TW" altLang="en-US" sz="3000">
                <a:ea typeface="新細明體" charset="-120"/>
              </a:rPr>
              <a:t>，例如以</a:t>
            </a:r>
            <a:r>
              <a:rPr lang="en-US" altLang="zh-TW" sz="3000">
                <a:ea typeface="新細明體" charset="-120"/>
              </a:rPr>
              <a:t>&lt;FinishMJ&gt;&lt;/FinishMJ&gt;</a:t>
            </a:r>
            <a:r>
              <a:rPr lang="zh-TW" altLang="en-US" sz="3000">
                <a:ea typeface="新細明體" charset="-120"/>
              </a:rPr>
              <a:t>的方式執行 ，但是如果同時有兩個</a:t>
            </a:r>
            <a:r>
              <a:rPr lang="en-US" altLang="zh-TW" sz="3000">
                <a:ea typeface="新細明體" charset="-120"/>
              </a:rPr>
              <a:t>&lt;FinishMJ&gt;&lt;/FinishMJ&gt;</a:t>
            </a:r>
            <a:r>
              <a:rPr lang="zh-TW" altLang="en-US" sz="3000">
                <a:ea typeface="新細明體" charset="-120"/>
              </a:rPr>
              <a:t>則會讓程式無法判斷到底該用哪一個</a:t>
            </a:r>
            <a:r>
              <a:rPr lang="en-US" altLang="zh-TW" sz="3000">
                <a:ea typeface="新細明體" charset="-120"/>
              </a:rPr>
              <a:t>&lt;FinishMJ&gt;&lt;/FinishMJ&gt;</a:t>
            </a:r>
            <a:r>
              <a:rPr lang="zh-TW" altLang="en-US">
                <a:ea typeface="新細明體" charset="-120"/>
              </a:rPr>
              <a:t>。 </a:t>
            </a:r>
            <a:endParaRPr lang="zh-TW" altLang="en-US" sz="3000">
              <a:ea typeface="新細明體" charset="-120"/>
            </a:endParaRPr>
          </a:p>
          <a:p>
            <a:pPr>
              <a:lnSpc>
                <a:spcPct val="90000"/>
              </a:lnSpc>
            </a:pPr>
            <a:r>
              <a:rPr lang="zh-TW" altLang="en-US" sz="2700">
                <a:ea typeface="新細明體" charset="-120"/>
              </a:rPr>
              <a:t>範例： </a:t>
            </a:r>
            <a:r>
              <a:rPr lang="en-US" altLang="zh-TW" sz="2700">
                <a:ea typeface="新細明體" charset="-120"/>
              </a:rPr>
              <a:t>AppUtil</a:t>
            </a:r>
            <a:r>
              <a:rPr lang="zh-TW" altLang="en-US" sz="2700">
                <a:ea typeface="新細明體" charset="-120"/>
              </a:rPr>
              <a:t>中</a:t>
            </a:r>
            <a:r>
              <a:rPr lang="en-US" altLang="zh-TW" sz="2700">
                <a:ea typeface="新細明體" charset="-120"/>
              </a:rPr>
              <a:t>OpenWin.cs</a:t>
            </a:r>
            <a:r>
              <a:rPr lang="zh-TW" altLang="en-US" sz="2700">
                <a:ea typeface="新細明體" charset="-120"/>
              </a:rPr>
              <a:t>有驗證客戶代號</a:t>
            </a:r>
            <a:r>
              <a:rPr lang="en-US" altLang="zh-TW" sz="2700">
                <a:ea typeface="新細明體" charset="-120"/>
              </a:rPr>
              <a:t>Function</a:t>
            </a:r>
            <a:r>
              <a:rPr lang="zh-TW" altLang="en-US" sz="2700">
                <a:ea typeface="新細明體" charset="-120"/>
              </a:rPr>
              <a:t>，包含一大段</a:t>
            </a:r>
            <a:r>
              <a:rPr lang="en-US" altLang="zh-TW" sz="2700">
                <a:ea typeface="新細明體" charset="-120"/>
              </a:rPr>
              <a:t>MJ</a:t>
            </a:r>
            <a:r>
              <a:rPr lang="zh-TW" altLang="en-US" sz="2700">
                <a:ea typeface="新細明體" charset="-120"/>
              </a:rPr>
              <a:t>驗證且已有</a:t>
            </a:r>
            <a:r>
              <a:rPr lang="en-US" altLang="zh-TW" sz="2700">
                <a:ea typeface="新細明體" charset="-120"/>
              </a:rPr>
              <a:t>FinishMJ</a:t>
            </a:r>
            <a:r>
              <a:rPr lang="zh-TW" altLang="en-US" sz="2700">
                <a:ea typeface="新細明體" charset="-120"/>
              </a:rPr>
              <a:t>，所以當我們需要呼叫此</a:t>
            </a:r>
            <a:r>
              <a:rPr lang="en-US" altLang="zh-TW" sz="2700">
                <a:ea typeface="新細明體" charset="-120"/>
              </a:rPr>
              <a:t>Function</a:t>
            </a:r>
            <a:r>
              <a:rPr lang="zh-TW" altLang="en-US" sz="2700">
                <a:ea typeface="新細明體" charset="-120"/>
              </a:rPr>
              <a:t>時就不需再下</a:t>
            </a:r>
            <a:r>
              <a:rPr lang="en-US" altLang="zh-TW" sz="2700">
                <a:ea typeface="新細明體" charset="-120"/>
              </a:rPr>
              <a:t>FinishMJ </a:t>
            </a:r>
            <a:r>
              <a:rPr lang="zh-TW" altLang="en-US" sz="2700">
                <a:ea typeface="新細明體" charset="-120"/>
              </a:rPr>
              <a:t>。但是如果不想執行</a:t>
            </a:r>
            <a:r>
              <a:rPr lang="en-US" altLang="zh-TW" sz="2700">
                <a:ea typeface="新細明體" charset="-120"/>
              </a:rPr>
              <a:t>Function</a:t>
            </a:r>
            <a:r>
              <a:rPr lang="zh-TW" altLang="en-US" sz="2700">
                <a:ea typeface="新細明體" charset="-120"/>
              </a:rPr>
              <a:t>中的</a:t>
            </a:r>
            <a:r>
              <a:rPr lang="en-US" altLang="zh-TW" sz="2700">
                <a:ea typeface="新細明體" charset="-120"/>
              </a:rPr>
              <a:t>FinishMJ</a:t>
            </a:r>
            <a:r>
              <a:rPr lang="zh-TW" altLang="en-US" sz="2700">
                <a:ea typeface="新細明體" charset="-120"/>
              </a:rPr>
              <a:t>，現已開放傳入參數，就不會執行</a:t>
            </a:r>
            <a:r>
              <a:rPr lang="en-US" altLang="zh-TW" sz="2700">
                <a:ea typeface="新細明體" charset="-120"/>
              </a:rPr>
              <a:t>Function</a:t>
            </a:r>
            <a:r>
              <a:rPr lang="zh-TW" altLang="en-US" sz="2700">
                <a:ea typeface="新細明體" charset="-120"/>
              </a:rPr>
              <a:t>中的</a:t>
            </a:r>
            <a:r>
              <a:rPr lang="en-US" altLang="zh-TW" sz="2700">
                <a:ea typeface="新細明體" charset="-120"/>
              </a:rPr>
              <a:t>FinishMJ</a:t>
            </a:r>
            <a:r>
              <a:rPr lang="zh-TW" altLang="en-US" sz="2700">
                <a:ea typeface="新細明體" charset="-120"/>
              </a:rPr>
              <a:t>，而執行</a:t>
            </a:r>
            <a:r>
              <a:rPr lang="en-US" altLang="zh-TW" sz="2700">
                <a:ea typeface="新細明體" charset="-120"/>
              </a:rPr>
              <a:t>PR</a:t>
            </a:r>
            <a:r>
              <a:rPr lang="zh-TW" altLang="en-US" sz="2700">
                <a:ea typeface="新細明體" charset="-120"/>
              </a:rPr>
              <a:t>下的</a:t>
            </a:r>
            <a:r>
              <a:rPr lang="en-US" altLang="zh-TW" sz="2700">
                <a:ea typeface="新細明體" charset="-120"/>
              </a:rPr>
              <a:t>FinishMJ </a:t>
            </a:r>
            <a:r>
              <a:rPr lang="zh-TW" altLang="en-US" sz="2700">
                <a:ea typeface="新細明體" charset="-120"/>
              </a:rPr>
              <a:t>。</a:t>
            </a:r>
            <a:endParaRPr lang="zh-TW" altLang="en-US" sz="2700">
              <a:ea typeface="新細明體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ea typeface="新細明體" charset="-120"/>
              </a:rPr>
              <a:t>標準</a:t>
            </a:r>
            <a:r>
              <a:rPr lang="en-US" altLang="zh-TW">
                <a:ea typeface="新細明體" charset="-120"/>
              </a:rPr>
              <a:t>MI</a:t>
            </a:r>
            <a:r>
              <a:rPr lang="zh-TW" altLang="en-US">
                <a:ea typeface="新細明體" charset="-120"/>
              </a:rPr>
              <a:t>寫法</a:t>
            </a:r>
            <a:endParaRPr lang="zh-TW" altLang="en-US">
              <a:ea typeface="新細明體" charset="-120"/>
            </a:endParaRPr>
          </a:p>
        </p:txBody>
      </p:sp>
      <p:sp>
        <p:nvSpPr>
          <p:cNvPr id="5140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ea typeface="新細明體" charset="-120"/>
              </a:rPr>
              <a:t>--MAINSELECT</a:t>
            </a:r>
            <a:r>
              <a:rPr lang="en-US" altLang="zh-TW" sz="1800">
                <a:ea typeface="新細明體" charset="-120"/>
              </a:rPr>
              <a:t>;SALI17;SERI23;SERI24;SERI25;SERI12</a:t>
            </a:r>
            <a:endParaRPr lang="en-US" altLang="zh-TW" sz="1800">
              <a:ea typeface="新細明體" charset="-120"/>
            </a:endParaRPr>
          </a:p>
          <a:p>
            <a:pPr>
              <a:buClr>
                <a:schemeClr val="tx1"/>
              </a:buClr>
              <a:buFontTx/>
              <a:buNone/>
            </a:pPr>
            <a:r>
              <a:rPr lang="en-US" altLang="zh-TW" sz="1800">
                <a:ea typeface="新細明體" charset="-120"/>
              </a:rPr>
              <a:t>Select MV001,MV002</a:t>
            </a:r>
            <a:endParaRPr lang="en-US" altLang="zh-TW" sz="1800">
              <a:ea typeface="新細明體" charset="-120"/>
            </a:endParaRPr>
          </a:p>
          <a:p>
            <a:pPr>
              <a:buClr>
                <a:schemeClr val="tx1"/>
              </a:buClr>
              <a:buFontTx/>
              <a:buNone/>
            </a:pPr>
            <a:r>
              <a:rPr lang="en-US" altLang="zh-TW" sz="1800">
                <a:ea typeface="新細明體" charset="-120"/>
              </a:rPr>
              <a:t> from $$CMSMV as CMSMV</a:t>
            </a:r>
            <a:endParaRPr lang="en-US" altLang="zh-TW" sz="1800">
              <a:ea typeface="新細明體" charset="-120"/>
            </a:endParaRPr>
          </a:p>
          <a:p>
            <a:pPr>
              <a:buClr>
                <a:schemeClr val="tx1"/>
              </a:buClr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ea typeface="新細明體" charset="-120"/>
              </a:rPr>
              <a:t>--ORDER</a:t>
            </a:r>
            <a:endParaRPr lang="en-US" altLang="zh-TW" sz="1800">
              <a:solidFill>
                <a:srgbClr val="FF0000"/>
              </a:solidFill>
              <a:ea typeface="新細明體" charset="-120"/>
            </a:endParaRPr>
          </a:p>
          <a:p>
            <a:pPr>
              <a:buClr>
                <a:schemeClr val="tx1"/>
              </a:buClr>
              <a:buFontTx/>
              <a:buNone/>
            </a:pPr>
            <a:r>
              <a:rPr lang="en-US" altLang="zh-TW" sz="1800">
                <a:ea typeface="新細明體" charset="-120"/>
              </a:rPr>
              <a:t>MV001</a:t>
            </a:r>
            <a:endParaRPr lang="en-US" altLang="zh-TW" sz="1800">
              <a:ea typeface="新細明體" charset="-120"/>
            </a:endParaRPr>
          </a:p>
          <a:p>
            <a:pPr>
              <a:buClr>
                <a:schemeClr val="tx1"/>
              </a:buClr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ea typeface="新細明體" charset="-120"/>
              </a:rPr>
              <a:t>--ORDER2</a:t>
            </a:r>
            <a:endParaRPr lang="en-US" altLang="zh-TW" sz="1800">
              <a:solidFill>
                <a:srgbClr val="FF0000"/>
              </a:solidFill>
              <a:ea typeface="新細明體" charset="-120"/>
            </a:endParaRPr>
          </a:p>
          <a:p>
            <a:pPr>
              <a:buClr>
                <a:schemeClr val="tx1"/>
              </a:buClr>
              <a:buFontTx/>
              <a:buNone/>
            </a:pPr>
            <a:r>
              <a:rPr lang="en-US" altLang="zh-TW" sz="1800">
                <a:ea typeface="新細明體" charset="-120"/>
              </a:rPr>
              <a:t>MV002</a:t>
            </a:r>
            <a:endParaRPr lang="en-US" altLang="zh-TW" sz="1800">
              <a:ea typeface="新細明體" charset="-120"/>
            </a:endParaRPr>
          </a:p>
          <a:p>
            <a:pPr>
              <a:buClr>
                <a:schemeClr val="tx1"/>
              </a:buClr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ea typeface="新細明體" charset="-120"/>
              </a:rPr>
              <a:t>--RETURN</a:t>
            </a:r>
            <a:endParaRPr lang="en-US" altLang="zh-TW" sz="1800">
              <a:solidFill>
                <a:srgbClr val="FF0000"/>
              </a:solidFill>
              <a:ea typeface="新細明體" charset="-120"/>
            </a:endParaRPr>
          </a:p>
          <a:p>
            <a:pPr>
              <a:buClr>
                <a:schemeClr val="tx1"/>
              </a:buClr>
              <a:buFontTx/>
              <a:buNone/>
            </a:pPr>
            <a:r>
              <a:rPr lang="en-US" altLang="zh-TW" sz="1800">
                <a:ea typeface="新細明體" charset="-120"/>
              </a:rPr>
              <a:t>MV001</a:t>
            </a:r>
            <a:r>
              <a:rPr lang="en-US" altLang="zh-TW">
                <a:solidFill>
                  <a:srgbClr val="FF0000"/>
                </a:solidFill>
                <a:ea typeface="新細明體" charset="-120"/>
              </a:rPr>
              <a:t>,</a:t>
            </a:r>
            <a:r>
              <a:rPr lang="en-US" altLang="zh-TW" sz="1800">
                <a:ea typeface="新細明體" charset="-120"/>
              </a:rPr>
              <a:t>MV002</a:t>
            </a:r>
            <a:endParaRPr lang="en-US" altLang="zh-TW" sz="1800">
              <a:ea typeface="新細明體" charset="-120"/>
            </a:endParaRPr>
          </a:p>
          <a:p>
            <a:pPr>
              <a:buClr>
                <a:schemeClr val="tx1"/>
              </a:buClr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ea typeface="新細明體" charset="-120"/>
              </a:rPr>
              <a:t>--DISPLAY</a:t>
            </a:r>
            <a:endParaRPr lang="en-US" altLang="zh-TW" sz="1800">
              <a:solidFill>
                <a:srgbClr val="FF0000"/>
              </a:solidFill>
              <a:ea typeface="新細明體" charset="-120"/>
            </a:endParaRPr>
          </a:p>
          <a:p>
            <a:pPr>
              <a:buClr>
                <a:schemeClr val="tx1"/>
              </a:buClr>
              <a:buFontTx/>
              <a:buNone/>
            </a:pPr>
            <a:r>
              <a:rPr lang="zh-TW" altLang="en-US" sz="1800">
                <a:ea typeface="新細明體" charset="-120"/>
              </a:rPr>
              <a:t>員工代號 </a:t>
            </a:r>
            <a:r>
              <a:rPr lang="en-US" altLang="zh-TW">
                <a:solidFill>
                  <a:srgbClr val="FF0000"/>
                </a:solidFill>
                <a:ea typeface="新細明體" charset="-120"/>
              </a:rPr>
              <a:t>;</a:t>
            </a:r>
            <a:r>
              <a:rPr lang="en-US" altLang="zh-TW" sz="2400">
                <a:solidFill>
                  <a:srgbClr val="FF0000"/>
                </a:solidFill>
                <a:ea typeface="新細明體" charset="-120"/>
              </a:rPr>
              <a:t> </a:t>
            </a:r>
            <a:r>
              <a:rPr lang="zh-TW" altLang="en-US" sz="1800">
                <a:ea typeface="新細明體" charset="-120"/>
              </a:rPr>
              <a:t>姓名</a:t>
            </a:r>
            <a:endParaRPr lang="zh-TW" altLang="en-US" sz="1800">
              <a:ea typeface="新細明體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charset="-120"/>
              </a:rPr>
              <a:t>MI</a:t>
            </a:r>
            <a:r>
              <a:rPr lang="zh-TW" altLang="en-US">
                <a:ea typeface="新細明體" charset="-120"/>
              </a:rPr>
              <a:t>錯誤訊息</a:t>
            </a:r>
            <a:endParaRPr lang="zh-TW" altLang="en-US">
              <a:ea typeface="新細明體" charset="-120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graphicFrame>
        <p:nvGraphicFramePr>
          <p:cNvPr id="515075" name="Object 3"/>
          <p:cNvGraphicFramePr>
            <a:graphicFrameLocks noChangeAspect="1"/>
          </p:cNvGraphicFramePr>
          <p:nvPr/>
        </p:nvGraphicFramePr>
        <p:xfrm>
          <a:off x="2286000" y="1600200"/>
          <a:ext cx="4838700" cy="497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點陣圖影像" r:id="rId1" imgW="4838700" imgH="4972050" progId="PBrush">
                  <p:embed/>
                </p:oleObj>
              </mc:Choice>
              <mc:Fallback>
                <p:oleObj name="點陣圖影像" r:id="rId1" imgW="4838700" imgH="4972050" progId="PBrush">
                  <p:embed/>
                  <p:pic>
                    <p:nvPicPr>
                      <p:cNvPr id="0" name="圖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86000" y="1600200"/>
                        <a:ext cx="4838700" cy="4972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charset="-120"/>
              </a:rPr>
              <a:t>MI</a:t>
            </a:r>
            <a:r>
              <a:rPr lang="zh-TW" altLang="en-US">
                <a:ea typeface="新細明體" charset="-120"/>
              </a:rPr>
              <a:t>錯誤原因</a:t>
            </a:r>
            <a:endParaRPr lang="zh-TW" altLang="en-US">
              <a:ea typeface="新細明體" charset="-120"/>
            </a:endParaRPr>
          </a:p>
        </p:txBody>
      </p:sp>
      <p:sp>
        <p:nvSpPr>
          <p:cNvPr id="516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800">
                <a:ea typeface="新細明體" charset="-120"/>
              </a:rPr>
              <a:t>MI</a:t>
            </a:r>
            <a:r>
              <a:rPr lang="zh-TW" altLang="en-US" sz="2800">
                <a:ea typeface="新細明體" charset="-120"/>
              </a:rPr>
              <a:t>組數</a:t>
            </a:r>
            <a:r>
              <a:rPr lang="en-US" altLang="zh-TW" sz="2800">
                <a:ea typeface="新細明體" charset="-120"/>
              </a:rPr>
              <a:t>SQL</a:t>
            </a:r>
            <a:r>
              <a:rPr lang="zh-TW" altLang="en-US" sz="2800">
                <a:ea typeface="新細明體" charset="-120"/>
              </a:rPr>
              <a:t>本身的錯誤</a:t>
            </a:r>
            <a:endParaRPr lang="zh-TW" altLang="en-US" sz="2800">
              <a:solidFill>
                <a:srgbClr val="FF0000"/>
              </a:solidFill>
              <a:ea typeface="新細明體" charset="-120"/>
            </a:endParaRPr>
          </a:p>
          <a:p>
            <a:pPr lvl="1">
              <a:lnSpc>
                <a:spcPct val="90000"/>
              </a:lnSpc>
            </a:pPr>
            <a:r>
              <a:rPr lang="zh-TW" altLang="en-US" sz="2400">
                <a:ea typeface="新細明體" charset="-120"/>
              </a:rPr>
              <a:t> </a:t>
            </a:r>
            <a:r>
              <a:rPr lang="en-US" altLang="zh-TW" sz="2400">
                <a:solidFill>
                  <a:srgbClr val="FF0000"/>
                </a:solidFill>
                <a:ea typeface="新細明體" charset="-120"/>
              </a:rPr>
              <a:t>MAINSELECT</a:t>
            </a:r>
            <a:r>
              <a:rPr lang="zh-TW" altLang="en-US" sz="2400">
                <a:ea typeface="新細明體" charset="-120"/>
              </a:rPr>
              <a:t>、</a:t>
            </a:r>
            <a:r>
              <a:rPr lang="en-US" altLang="zh-TW" sz="2400">
                <a:solidFill>
                  <a:srgbClr val="FF0000"/>
                </a:solidFill>
                <a:ea typeface="新細明體" charset="-120"/>
              </a:rPr>
              <a:t>RETURN</a:t>
            </a:r>
            <a:r>
              <a:rPr lang="zh-TW" altLang="en-US" sz="2400">
                <a:ea typeface="新細明體" charset="-120"/>
              </a:rPr>
              <a:t>、</a:t>
            </a:r>
            <a:r>
              <a:rPr lang="en-US" altLang="zh-TW" sz="2400">
                <a:solidFill>
                  <a:srgbClr val="FF0000"/>
                </a:solidFill>
                <a:ea typeface="新細明體" charset="-120"/>
              </a:rPr>
              <a:t>ORDER</a:t>
            </a:r>
            <a:r>
              <a:rPr lang="zh-TW" altLang="en-US" sz="2400">
                <a:ea typeface="新細明體" charset="-120"/>
              </a:rPr>
              <a:t>、</a:t>
            </a:r>
            <a:r>
              <a:rPr lang="en-US" altLang="zh-TW" sz="2400">
                <a:solidFill>
                  <a:srgbClr val="FF0000"/>
                </a:solidFill>
                <a:ea typeface="新細明體" charset="-120"/>
              </a:rPr>
              <a:t>DISPLAY</a:t>
            </a:r>
            <a:r>
              <a:rPr lang="zh-TW" altLang="en-US" sz="2400">
                <a:ea typeface="新細明體" charset="-120"/>
              </a:rPr>
              <a:t>等關鍵字前面少了「</a:t>
            </a:r>
            <a:r>
              <a:rPr lang="en-US" altLang="zh-TW" sz="2400">
                <a:solidFill>
                  <a:srgbClr val="FF0000"/>
                </a:solidFill>
                <a:ea typeface="新細明體" charset="-120"/>
              </a:rPr>
              <a:t>--</a:t>
            </a:r>
            <a:r>
              <a:rPr lang="zh-TW" altLang="en-US" sz="2400">
                <a:ea typeface="新細明體" charset="-120"/>
              </a:rPr>
              <a:t>」 符號。 </a:t>
            </a:r>
            <a:endParaRPr lang="zh-TW" altLang="en-US" sz="2400">
              <a:ea typeface="新細明體" charset="-120"/>
            </a:endParaRPr>
          </a:p>
          <a:p>
            <a:pPr lvl="1">
              <a:lnSpc>
                <a:spcPct val="90000"/>
              </a:lnSpc>
            </a:pPr>
            <a:r>
              <a:rPr lang="en-US" altLang="zh-TW" sz="2400">
                <a:ea typeface="新細明體" charset="-120"/>
              </a:rPr>
              <a:t>SELECT</a:t>
            </a:r>
            <a:r>
              <a:rPr lang="zh-TW" altLang="en-US" sz="2400">
                <a:ea typeface="新細明體" charset="-120"/>
              </a:rPr>
              <a:t>與</a:t>
            </a:r>
            <a:r>
              <a:rPr lang="en-US" altLang="zh-TW" sz="2400">
                <a:ea typeface="新細明體" charset="-120"/>
              </a:rPr>
              <a:t>RETURN </a:t>
            </a:r>
            <a:r>
              <a:rPr lang="zh-TW" altLang="en-US" sz="2400">
                <a:ea typeface="新細明體" charset="-120"/>
              </a:rPr>
              <a:t>不對稱</a:t>
            </a:r>
            <a:endParaRPr lang="zh-TW" altLang="en-US" sz="2400">
              <a:ea typeface="新細明體" charset="-120"/>
            </a:endParaRPr>
          </a:p>
          <a:p>
            <a:pPr lvl="2">
              <a:lnSpc>
                <a:spcPct val="90000"/>
              </a:lnSpc>
            </a:pPr>
            <a:r>
              <a:rPr lang="zh-TW" altLang="en-US" sz="2000">
                <a:ea typeface="新細明體" charset="-120"/>
              </a:rPr>
              <a:t>可以</a:t>
            </a:r>
            <a:r>
              <a:rPr lang="en-US" altLang="zh-TW" sz="2000">
                <a:ea typeface="新細明體" charset="-120"/>
              </a:rPr>
              <a:t>SELECT</a:t>
            </a:r>
            <a:r>
              <a:rPr lang="zh-TW" altLang="en-US" sz="2000">
                <a:ea typeface="新細明體" charset="-120"/>
              </a:rPr>
              <a:t>欄位但是不將欄位</a:t>
            </a:r>
            <a:r>
              <a:rPr lang="en-US" altLang="zh-TW" sz="2000">
                <a:ea typeface="新細明體" charset="-120"/>
              </a:rPr>
              <a:t>RETURN </a:t>
            </a:r>
            <a:r>
              <a:rPr lang="zh-TW" altLang="en-US" sz="2000">
                <a:ea typeface="新細明體" charset="-120"/>
              </a:rPr>
              <a:t>， 但是不可以要求要</a:t>
            </a:r>
            <a:r>
              <a:rPr lang="en-US" altLang="zh-TW" sz="2000">
                <a:ea typeface="新細明體" charset="-120"/>
              </a:rPr>
              <a:t>RETURN</a:t>
            </a:r>
            <a:r>
              <a:rPr lang="zh-TW" altLang="en-US" sz="2000">
                <a:ea typeface="新細明體" charset="-120"/>
              </a:rPr>
              <a:t>欄位卻沒有將欄位</a:t>
            </a:r>
            <a:r>
              <a:rPr lang="en-US" altLang="zh-TW" sz="2000">
                <a:ea typeface="新細明體" charset="-120"/>
              </a:rPr>
              <a:t>SELECT</a:t>
            </a:r>
            <a:r>
              <a:rPr lang="zh-TW" altLang="en-US" sz="2000">
                <a:ea typeface="新細明體" charset="-120"/>
              </a:rPr>
              <a:t>出來。</a:t>
            </a:r>
            <a:endParaRPr lang="zh-TW" altLang="en-US" sz="2000">
              <a:ea typeface="新細明體" charset="-120"/>
            </a:endParaRPr>
          </a:p>
          <a:p>
            <a:pPr lvl="1">
              <a:lnSpc>
                <a:spcPct val="90000"/>
              </a:lnSpc>
            </a:pPr>
            <a:r>
              <a:rPr lang="zh-TW" altLang="en-US" sz="2400">
                <a:ea typeface="新細明體" charset="-120"/>
              </a:rPr>
              <a:t>沒有</a:t>
            </a:r>
            <a:r>
              <a:rPr lang="en-US" altLang="zh-TW" sz="2400">
                <a:ea typeface="新細明體" charset="-120"/>
              </a:rPr>
              <a:t>RETURN</a:t>
            </a:r>
            <a:r>
              <a:rPr lang="zh-TW" altLang="en-US" sz="2400">
                <a:ea typeface="新細明體" charset="-120"/>
              </a:rPr>
              <a:t>或</a:t>
            </a:r>
            <a:r>
              <a:rPr lang="en-US" altLang="zh-TW" sz="2400">
                <a:ea typeface="新細明體" charset="-120"/>
              </a:rPr>
              <a:t>DISPLAY</a:t>
            </a:r>
            <a:endParaRPr lang="en-US" altLang="zh-TW" sz="2400">
              <a:ea typeface="新細明體" charset="-120"/>
            </a:endParaRPr>
          </a:p>
          <a:p>
            <a:pPr lvl="1">
              <a:lnSpc>
                <a:spcPct val="90000"/>
              </a:lnSpc>
            </a:pPr>
            <a:r>
              <a:rPr lang="en-US" altLang="zh-TW" sz="2400">
                <a:ea typeface="新細明體" charset="-120"/>
              </a:rPr>
              <a:t>RETURN</a:t>
            </a:r>
            <a:r>
              <a:rPr lang="zh-TW" altLang="en-US" sz="2400">
                <a:ea typeface="新細明體" charset="-120"/>
              </a:rPr>
              <a:t>與</a:t>
            </a:r>
            <a:r>
              <a:rPr lang="en-US" altLang="zh-TW" sz="2400">
                <a:ea typeface="新細明體" charset="-120"/>
              </a:rPr>
              <a:t>DISPLAY</a:t>
            </a:r>
            <a:r>
              <a:rPr lang="zh-TW" altLang="en-US" sz="2400">
                <a:ea typeface="新細明體" charset="-120"/>
              </a:rPr>
              <a:t>不對稱</a:t>
            </a:r>
            <a:endParaRPr lang="zh-TW" altLang="en-US" sz="2400">
              <a:ea typeface="新細明體" charset="-120"/>
            </a:endParaRPr>
          </a:p>
          <a:p>
            <a:pPr lvl="2">
              <a:lnSpc>
                <a:spcPct val="90000"/>
              </a:lnSpc>
            </a:pPr>
            <a:r>
              <a:rPr lang="zh-TW" altLang="en-US" sz="2000">
                <a:ea typeface="新細明體" charset="-120"/>
              </a:rPr>
              <a:t>可以</a:t>
            </a:r>
            <a:r>
              <a:rPr lang="en-US" altLang="zh-TW" sz="2000">
                <a:ea typeface="新細明體" charset="-120"/>
              </a:rPr>
              <a:t>RETURN</a:t>
            </a:r>
            <a:r>
              <a:rPr lang="zh-TW" altLang="en-US" sz="2000">
                <a:ea typeface="新細明體" charset="-120"/>
              </a:rPr>
              <a:t>但是不</a:t>
            </a:r>
            <a:r>
              <a:rPr lang="en-US" altLang="zh-TW" sz="2000">
                <a:ea typeface="新細明體" charset="-120"/>
              </a:rPr>
              <a:t>DISPLAY </a:t>
            </a:r>
            <a:r>
              <a:rPr lang="zh-TW" altLang="en-US" sz="2000">
                <a:ea typeface="新細明體" charset="-120"/>
              </a:rPr>
              <a:t>， 但是不可以要求</a:t>
            </a:r>
            <a:r>
              <a:rPr lang="en-US" altLang="zh-TW" sz="2000">
                <a:ea typeface="新細明體" charset="-120"/>
              </a:rPr>
              <a:t>DISPLAY</a:t>
            </a:r>
            <a:r>
              <a:rPr lang="zh-TW" altLang="en-US" sz="2000">
                <a:ea typeface="新細明體" charset="-120"/>
              </a:rPr>
              <a:t>卻沒有</a:t>
            </a:r>
            <a:r>
              <a:rPr lang="en-US" altLang="zh-TW" sz="2000">
                <a:ea typeface="新細明體" charset="-120"/>
              </a:rPr>
              <a:t>RETURN </a:t>
            </a:r>
            <a:r>
              <a:rPr lang="zh-TW" altLang="en-US" sz="2000">
                <a:ea typeface="新細明體" charset="-120"/>
              </a:rPr>
              <a:t>。</a:t>
            </a:r>
            <a:endParaRPr lang="zh-TW" altLang="en-US" sz="2000">
              <a:ea typeface="新細明體" charset="-120"/>
            </a:endParaRPr>
          </a:p>
          <a:p>
            <a:pPr>
              <a:lnSpc>
                <a:spcPct val="90000"/>
              </a:lnSpc>
            </a:pPr>
            <a:r>
              <a:rPr lang="zh-TW" altLang="en-US" sz="2800">
                <a:ea typeface="新細明體" charset="-120"/>
              </a:rPr>
              <a:t>程式撰寫的錯誤</a:t>
            </a:r>
            <a:endParaRPr lang="zh-TW" altLang="en-US" sz="2800">
              <a:ea typeface="新細明體" charset="-120"/>
            </a:endParaRPr>
          </a:p>
          <a:p>
            <a:pPr lvl="1">
              <a:lnSpc>
                <a:spcPct val="90000"/>
              </a:lnSpc>
            </a:pPr>
            <a:r>
              <a:rPr lang="en-US" altLang="zh-TW" sz="2400">
                <a:ea typeface="新細明體" charset="-120"/>
              </a:rPr>
              <a:t>MI</a:t>
            </a:r>
            <a:r>
              <a:rPr lang="zh-TW" altLang="en-US" sz="2400">
                <a:ea typeface="新細明體" charset="-120"/>
              </a:rPr>
              <a:t>組數</a:t>
            </a:r>
            <a:r>
              <a:rPr lang="en-US" altLang="zh-TW" sz="2400">
                <a:ea typeface="新細明體" charset="-120"/>
              </a:rPr>
              <a:t>SQL</a:t>
            </a:r>
            <a:r>
              <a:rPr lang="zh-TW" altLang="en-US" sz="2400">
                <a:ea typeface="新細明體" charset="-120"/>
              </a:rPr>
              <a:t>需要傳入參數，但是在註冊時沒有傳入。</a:t>
            </a:r>
            <a:endParaRPr lang="zh-TW" altLang="en-US" sz="2400">
              <a:ea typeface="新細明體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ea typeface="新細明體" charset="-120"/>
              </a:rPr>
              <a:t>標準</a:t>
            </a:r>
            <a:r>
              <a:rPr lang="en-US" altLang="zh-TW">
                <a:ea typeface="新細明體" charset="-120"/>
              </a:rPr>
              <a:t>MJ</a:t>
            </a:r>
            <a:r>
              <a:rPr lang="zh-TW" altLang="en-US">
                <a:ea typeface="新細明體" charset="-120"/>
              </a:rPr>
              <a:t>寫法</a:t>
            </a:r>
            <a:endParaRPr lang="zh-TW" altLang="en-US">
              <a:ea typeface="新細明體" charset="-120"/>
            </a:endParaRPr>
          </a:p>
        </p:txBody>
      </p:sp>
      <p:sp>
        <p:nvSpPr>
          <p:cNvPr id="517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Tx/>
              <a:buNone/>
            </a:pPr>
            <a:r>
              <a:rPr lang="en-US" altLang="zh-TW" sz="2400">
                <a:solidFill>
                  <a:srgbClr val="FF0000"/>
                </a:solidFill>
                <a:ea typeface="新細明體" charset="-120"/>
              </a:rPr>
              <a:t>--MAINSELECT</a:t>
            </a:r>
            <a:r>
              <a:rPr lang="en-US" altLang="zh-TW" sz="2400">
                <a:ea typeface="新細明體" charset="-120"/>
              </a:rPr>
              <a:t>;SERI16;SERI17;SERI20;SERI13</a:t>
            </a:r>
            <a:endParaRPr lang="en-US" altLang="zh-TW" sz="2400">
              <a:ea typeface="新細明體" charset="-120"/>
            </a:endParaRPr>
          </a:p>
          <a:p>
            <a:pPr>
              <a:buClr>
                <a:schemeClr val="tx1"/>
              </a:buClr>
              <a:buFontTx/>
              <a:buNone/>
            </a:pPr>
            <a:r>
              <a:rPr lang="en-US" altLang="zh-TW" sz="2400">
                <a:ea typeface="新細明體" charset="-120"/>
              </a:rPr>
              <a:t>SELECT * FROM $$CMSMV AS CMSMV</a:t>
            </a:r>
            <a:endParaRPr lang="en-US" altLang="zh-TW" sz="2400">
              <a:ea typeface="新細明體" charset="-120"/>
            </a:endParaRPr>
          </a:p>
          <a:p>
            <a:pPr>
              <a:buClr>
                <a:schemeClr val="tx1"/>
              </a:buClr>
              <a:buFontTx/>
              <a:buNone/>
            </a:pPr>
            <a:r>
              <a:rPr lang="en-US" altLang="zh-TW" sz="2400">
                <a:ea typeface="新細明體" charset="-120"/>
              </a:rPr>
              <a:t>    WHERE MV001=:MV001 AND MV004=:MV004</a:t>
            </a:r>
            <a:endParaRPr lang="en-US" altLang="zh-TW" sz="2400">
              <a:ea typeface="新細明體" charset="-120"/>
            </a:endParaRPr>
          </a:p>
          <a:p>
            <a:pPr>
              <a:buClr>
                <a:schemeClr val="tx1"/>
              </a:buClr>
              <a:buFontTx/>
              <a:buNone/>
            </a:pPr>
            <a:r>
              <a:rPr lang="en-US" altLang="zh-TW" sz="2400">
                <a:solidFill>
                  <a:srgbClr val="FF0000"/>
                </a:solidFill>
                <a:ea typeface="新細明體" charset="-120"/>
              </a:rPr>
              <a:t>--RETURN</a:t>
            </a:r>
            <a:endParaRPr lang="en-US" altLang="zh-TW" sz="2400">
              <a:solidFill>
                <a:srgbClr val="FF0000"/>
              </a:solidFill>
              <a:ea typeface="新細明體" charset="-120"/>
            </a:endParaRPr>
          </a:p>
          <a:p>
            <a:pPr>
              <a:buClr>
                <a:schemeClr val="tx1"/>
              </a:buClr>
              <a:buFontTx/>
              <a:buNone/>
            </a:pPr>
            <a:r>
              <a:rPr lang="en-US" altLang="zh-TW" sz="2400">
                <a:ea typeface="新細明體" charset="-120"/>
              </a:rPr>
              <a:t>MV002</a:t>
            </a:r>
            <a:r>
              <a:rPr lang="en-US" altLang="zh-TW" sz="2400">
                <a:solidFill>
                  <a:srgbClr val="FF0000"/>
                </a:solidFill>
                <a:ea typeface="新細明體" charset="-120"/>
              </a:rPr>
              <a:t>;</a:t>
            </a:r>
            <a:r>
              <a:rPr lang="en-US" altLang="zh-TW" sz="2400">
                <a:ea typeface="新細明體" charset="-120"/>
              </a:rPr>
              <a:t>MV005</a:t>
            </a:r>
            <a:r>
              <a:rPr lang="en-US" altLang="zh-TW" sz="2400">
                <a:solidFill>
                  <a:srgbClr val="FF0000"/>
                </a:solidFill>
                <a:ea typeface="新細明體" charset="-120"/>
              </a:rPr>
              <a:t>;</a:t>
            </a:r>
            <a:r>
              <a:rPr lang="en-US" altLang="zh-TW" sz="2400">
                <a:ea typeface="新細明體" charset="-120"/>
              </a:rPr>
              <a:t>MV021</a:t>
            </a:r>
            <a:r>
              <a:rPr lang="en-US" altLang="zh-TW" sz="2400">
                <a:solidFill>
                  <a:srgbClr val="FF0000"/>
                </a:solidFill>
                <a:ea typeface="新細明體" charset="-120"/>
              </a:rPr>
              <a:t>;</a:t>
            </a:r>
            <a:r>
              <a:rPr lang="en-US" altLang="zh-TW" sz="2400">
                <a:ea typeface="新細明體" charset="-120"/>
              </a:rPr>
              <a:t>MV022</a:t>
            </a:r>
            <a:r>
              <a:rPr lang="en-US" altLang="zh-TW" sz="2400">
                <a:solidFill>
                  <a:srgbClr val="FF0000"/>
                </a:solidFill>
                <a:ea typeface="新細明體" charset="-120"/>
              </a:rPr>
              <a:t>;</a:t>
            </a:r>
            <a:r>
              <a:rPr lang="en-US" altLang="zh-TW" sz="2400">
                <a:ea typeface="新細明體" charset="-120"/>
              </a:rPr>
              <a:t>MV006</a:t>
            </a:r>
            <a:endParaRPr lang="en-US" altLang="zh-TW" sz="2400">
              <a:ea typeface="新細明體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8146" name="Object 2"/>
          <p:cNvGraphicFramePr>
            <a:graphicFrameLocks noChangeAspect="1"/>
          </p:cNvGraphicFramePr>
          <p:nvPr/>
        </p:nvGraphicFramePr>
        <p:xfrm>
          <a:off x="914400" y="2673350"/>
          <a:ext cx="7315200" cy="414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點陣圖影像" r:id="rId1" imgW="6448425" imgH="3257550" progId="PBrush">
                  <p:embed/>
                </p:oleObj>
              </mc:Choice>
              <mc:Fallback>
                <p:oleObj name="點陣圖影像" r:id="rId1" imgW="6448425" imgH="3257550" progId="PBrush">
                  <p:embed/>
                  <p:pic>
                    <p:nvPicPr>
                      <p:cNvPr id="0" name="圖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14400" y="2673350"/>
                        <a:ext cx="7315200" cy="4140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814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charset="-120"/>
              </a:rPr>
              <a:t>MJ</a:t>
            </a:r>
            <a:r>
              <a:rPr lang="zh-TW" altLang="en-US">
                <a:ea typeface="新細明體" charset="-120"/>
              </a:rPr>
              <a:t>錯誤訊息</a:t>
            </a:r>
            <a:endParaRPr lang="zh-TW" altLang="en-US">
              <a:ea typeface="新細明體" charset="-120"/>
            </a:endParaRPr>
          </a:p>
        </p:txBody>
      </p:sp>
      <p:sp>
        <p:nvSpPr>
          <p:cNvPr id="518148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>
                <a:ea typeface="新細明體" charset="-120"/>
              </a:rPr>
              <a:t>MJ</a:t>
            </a:r>
            <a:r>
              <a:rPr lang="zh-TW" altLang="en-US" sz="2800">
                <a:ea typeface="新細明體" charset="-120"/>
              </a:rPr>
              <a:t>組數</a:t>
            </a:r>
            <a:r>
              <a:rPr lang="en-US" altLang="zh-TW" sz="2800">
                <a:ea typeface="新細明體" charset="-120"/>
              </a:rPr>
              <a:t>SQL</a:t>
            </a:r>
            <a:r>
              <a:rPr lang="zh-TW" altLang="en-US" sz="2800">
                <a:ea typeface="新細明體" charset="-120"/>
              </a:rPr>
              <a:t>本身的錯誤</a:t>
            </a:r>
            <a:endParaRPr lang="zh-TW" altLang="en-US" sz="2800">
              <a:solidFill>
                <a:srgbClr val="FF0000"/>
              </a:solidFill>
              <a:ea typeface="新細明體" charset="-120"/>
            </a:endParaRPr>
          </a:p>
          <a:p>
            <a:pPr lvl="1"/>
            <a:r>
              <a:rPr lang="zh-TW" altLang="en-US" sz="2400">
                <a:ea typeface="新細明體" charset="-120"/>
              </a:rPr>
              <a:t> </a:t>
            </a:r>
            <a:r>
              <a:rPr lang="en-US" altLang="zh-TW" sz="2400">
                <a:solidFill>
                  <a:srgbClr val="FF0000"/>
                </a:solidFill>
                <a:ea typeface="新細明體" charset="-120"/>
              </a:rPr>
              <a:t>MAINSELECT</a:t>
            </a:r>
            <a:r>
              <a:rPr lang="zh-TW" altLang="en-US" sz="2400">
                <a:ea typeface="新細明體" charset="-120"/>
              </a:rPr>
              <a:t>、</a:t>
            </a:r>
            <a:r>
              <a:rPr lang="zh-TW" altLang="en-US" sz="2400">
                <a:solidFill>
                  <a:srgbClr val="FF0000"/>
                </a:solidFill>
                <a:ea typeface="新細明體" charset="-120"/>
              </a:rPr>
              <a:t> </a:t>
            </a:r>
            <a:r>
              <a:rPr lang="en-US" altLang="zh-TW" sz="2400">
                <a:solidFill>
                  <a:srgbClr val="FF0000"/>
                </a:solidFill>
                <a:ea typeface="新細明體" charset="-120"/>
              </a:rPr>
              <a:t>RETURN </a:t>
            </a:r>
            <a:r>
              <a:rPr lang="zh-TW" altLang="en-US" sz="2400">
                <a:ea typeface="新細明體" charset="-120"/>
              </a:rPr>
              <a:t>、</a:t>
            </a:r>
            <a:r>
              <a:rPr lang="en-US" altLang="zh-TW" sz="2400">
                <a:solidFill>
                  <a:srgbClr val="FF0000"/>
                </a:solidFill>
                <a:ea typeface="新細明體" charset="-120"/>
              </a:rPr>
              <a:t>ORDER </a:t>
            </a:r>
            <a:r>
              <a:rPr lang="zh-TW" altLang="en-US" sz="2400">
                <a:ea typeface="新細明體" charset="-120"/>
              </a:rPr>
              <a:t>、</a:t>
            </a:r>
            <a:r>
              <a:rPr lang="zh-TW" altLang="en-US" sz="2400">
                <a:solidFill>
                  <a:srgbClr val="FF0000"/>
                </a:solidFill>
                <a:ea typeface="新細明體" charset="-120"/>
              </a:rPr>
              <a:t> </a:t>
            </a:r>
            <a:r>
              <a:rPr lang="en-US" altLang="zh-TW" sz="2400">
                <a:solidFill>
                  <a:srgbClr val="FF0000"/>
                </a:solidFill>
                <a:ea typeface="新細明體" charset="-120"/>
              </a:rPr>
              <a:t>DISPLAY</a:t>
            </a:r>
            <a:r>
              <a:rPr lang="zh-TW" altLang="en-US" sz="2400">
                <a:ea typeface="新細明體" charset="-120"/>
              </a:rPr>
              <a:t>等關鍵字前面少了「</a:t>
            </a:r>
            <a:r>
              <a:rPr lang="en-US" altLang="zh-TW" sz="2400">
                <a:ea typeface="新細明體" charset="-120"/>
              </a:rPr>
              <a:t>--</a:t>
            </a:r>
            <a:r>
              <a:rPr lang="zh-TW" altLang="en-US" sz="2400">
                <a:ea typeface="新細明體" charset="-120"/>
              </a:rPr>
              <a:t>」 符號。</a:t>
            </a:r>
            <a:endParaRPr lang="zh-TW" altLang="en-US" sz="2400">
              <a:ea typeface="新細明體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9170" name="Object 2"/>
          <p:cNvGraphicFramePr>
            <a:graphicFrameLocks noChangeAspect="1"/>
          </p:cNvGraphicFramePr>
          <p:nvPr/>
        </p:nvGraphicFramePr>
        <p:xfrm>
          <a:off x="900113" y="3267075"/>
          <a:ext cx="7239000" cy="361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點陣圖影像" r:id="rId1" imgW="6457950" imgH="3228975" progId="PBrush">
                  <p:embed/>
                </p:oleObj>
              </mc:Choice>
              <mc:Fallback>
                <p:oleObj name="點陣圖影像" r:id="rId1" imgW="6457950" imgH="3228975" progId="PBrush">
                  <p:embed/>
                  <p:pic>
                    <p:nvPicPr>
                      <p:cNvPr id="0" name="圖片 716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00113" y="3267075"/>
                        <a:ext cx="7239000" cy="36179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9171" name="Rectangle 3"/>
          <p:cNvSpPr>
            <a:spLocks noChangeArrowheads="1"/>
          </p:cNvSpPr>
          <p:nvPr/>
        </p:nvSpPr>
        <p:spPr bwMode="auto">
          <a:xfrm>
            <a:off x="1907704" y="476672"/>
            <a:ext cx="7772400" cy="762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r>
              <a:rPr kumimoji="0" lang="en-US" altLang="zh-TW" sz="4000" dirty="0">
                <a:solidFill>
                  <a:schemeClr val="tx2"/>
                </a:solidFill>
                <a:ea typeface="新細明體" charset="-120"/>
              </a:rPr>
              <a:t>MJ</a:t>
            </a:r>
            <a:r>
              <a:rPr kumimoji="0" lang="zh-TW" altLang="en-US" sz="4000" dirty="0">
                <a:solidFill>
                  <a:schemeClr val="tx2"/>
                </a:solidFill>
                <a:ea typeface="新細明體" charset="-120"/>
              </a:rPr>
              <a:t>錯誤原因</a:t>
            </a:r>
            <a:r>
              <a:rPr kumimoji="0" lang="en-US" altLang="zh-TW" sz="4000" dirty="0">
                <a:solidFill>
                  <a:schemeClr val="tx2"/>
                </a:solidFill>
                <a:ea typeface="新細明體" charset="-120"/>
              </a:rPr>
              <a:t>(</a:t>
            </a:r>
            <a:r>
              <a:rPr kumimoji="0" lang="zh-TW" altLang="en-US" sz="4000" dirty="0">
                <a:solidFill>
                  <a:schemeClr val="tx2"/>
                </a:solidFill>
                <a:ea typeface="新細明體" charset="-120"/>
              </a:rPr>
              <a:t>一</a:t>
            </a:r>
            <a:r>
              <a:rPr kumimoji="0" lang="en-US" altLang="zh-TW" sz="4000" dirty="0">
                <a:solidFill>
                  <a:schemeClr val="tx2"/>
                </a:solidFill>
                <a:ea typeface="新細明體" charset="-120"/>
              </a:rPr>
              <a:t>)</a:t>
            </a:r>
            <a:endParaRPr kumimoji="0" lang="en-US" altLang="zh-TW" sz="4000" dirty="0">
              <a:solidFill>
                <a:schemeClr val="tx2"/>
              </a:solidFill>
              <a:ea typeface="新細明體" charset="-120"/>
            </a:endParaRPr>
          </a:p>
        </p:txBody>
      </p:sp>
      <p:sp>
        <p:nvSpPr>
          <p:cNvPr id="519172" name="Rectangle 4"/>
          <p:cNvSpPr>
            <a:spLocks noChangeArrowheads="1"/>
          </p:cNvSpPr>
          <p:nvPr/>
        </p:nvSpPr>
        <p:spPr bwMode="auto">
          <a:xfrm>
            <a:off x="323850" y="1455738"/>
            <a:ext cx="8424863" cy="1828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algn="l">
              <a:spcBef>
                <a:spcPct val="20000"/>
              </a:spcBef>
              <a:buFontTx/>
              <a:buChar char="•"/>
            </a:pPr>
            <a:r>
              <a:rPr lang="en-US" altLang="zh-TW" sz="3200" b="0">
                <a:latin typeface="Times New Roman" pitchFamily="18" charset="0"/>
                <a:ea typeface="新細明體" charset="-120"/>
              </a:rPr>
              <a:t>MJ</a:t>
            </a:r>
            <a:r>
              <a:rPr lang="zh-TW" altLang="en-US" sz="3200" b="0">
                <a:latin typeface="Times New Roman" pitchFamily="18" charset="0"/>
                <a:ea typeface="新細明體" charset="-120"/>
              </a:rPr>
              <a:t>組數</a:t>
            </a:r>
            <a:r>
              <a:rPr lang="en-US" altLang="zh-TW" sz="3200" b="0">
                <a:latin typeface="Times New Roman" pitchFamily="18" charset="0"/>
                <a:ea typeface="新細明體" charset="-120"/>
              </a:rPr>
              <a:t>SQL</a:t>
            </a:r>
            <a:r>
              <a:rPr lang="zh-TW" altLang="en-US" sz="3200" b="0">
                <a:latin typeface="Times New Roman" pitchFamily="18" charset="0"/>
                <a:ea typeface="新細明體" charset="-120"/>
              </a:rPr>
              <a:t>本身的錯誤</a:t>
            </a:r>
            <a:endParaRPr lang="zh-TW" altLang="en-US" sz="3200" b="0">
              <a:solidFill>
                <a:srgbClr val="FF0000"/>
              </a:solidFill>
              <a:latin typeface="Times New Roman" pitchFamily="18" charset="0"/>
              <a:ea typeface="新細明體" charset="-120"/>
            </a:endParaRPr>
          </a:p>
          <a:p>
            <a:pPr marL="742950" lvl="1" indent="-285750" algn="l">
              <a:spcBef>
                <a:spcPct val="20000"/>
              </a:spcBef>
              <a:buFontTx/>
              <a:buChar char="–"/>
            </a:pPr>
            <a:r>
              <a:rPr lang="en-US" altLang="zh-TW" sz="2800" b="0">
                <a:latin typeface="Times New Roman" pitchFamily="18" charset="0"/>
                <a:ea typeface="新細明體" charset="-120"/>
              </a:rPr>
              <a:t>SELECT</a:t>
            </a:r>
            <a:r>
              <a:rPr lang="zh-TW" altLang="en-US" sz="2800" b="0">
                <a:latin typeface="Times New Roman" pitchFamily="18" charset="0"/>
                <a:ea typeface="新細明體" charset="-120"/>
              </a:rPr>
              <a:t>與</a:t>
            </a:r>
            <a:r>
              <a:rPr lang="en-US" altLang="zh-TW" sz="2800" b="0">
                <a:latin typeface="Times New Roman" pitchFamily="18" charset="0"/>
                <a:ea typeface="新細明體" charset="-120"/>
              </a:rPr>
              <a:t>RETURN </a:t>
            </a:r>
            <a:r>
              <a:rPr lang="zh-TW" altLang="en-US" sz="2800" b="0">
                <a:latin typeface="Times New Roman" pitchFamily="18" charset="0"/>
                <a:ea typeface="新細明體" charset="-120"/>
              </a:rPr>
              <a:t>不對稱</a:t>
            </a:r>
            <a:endParaRPr lang="zh-TW" altLang="en-US" sz="2800" b="0">
              <a:latin typeface="Times New Roman" pitchFamily="18" charset="0"/>
              <a:ea typeface="新細明體" charset="-120"/>
            </a:endParaRPr>
          </a:p>
          <a:p>
            <a:pPr marL="1143000" lvl="2" indent="-228600" algn="l">
              <a:spcBef>
                <a:spcPct val="20000"/>
              </a:spcBef>
              <a:buFontTx/>
              <a:buChar char="•"/>
            </a:pPr>
            <a:r>
              <a:rPr lang="zh-TW" altLang="en-US" sz="2400" b="0">
                <a:latin typeface="Times New Roman" pitchFamily="18" charset="0"/>
                <a:ea typeface="新細明體" charset="-120"/>
              </a:rPr>
              <a:t>可以</a:t>
            </a:r>
            <a:r>
              <a:rPr lang="en-US" altLang="zh-TW" sz="2400" b="0">
                <a:latin typeface="Times New Roman" pitchFamily="18" charset="0"/>
                <a:ea typeface="新細明體" charset="-120"/>
              </a:rPr>
              <a:t>SELECT</a:t>
            </a:r>
            <a:r>
              <a:rPr lang="zh-TW" altLang="en-US" sz="2400" b="0">
                <a:latin typeface="Times New Roman" pitchFamily="18" charset="0"/>
                <a:ea typeface="新細明體" charset="-120"/>
              </a:rPr>
              <a:t>欄位但是不將欄位</a:t>
            </a:r>
            <a:r>
              <a:rPr lang="en-US" altLang="zh-TW" sz="2400" b="0">
                <a:latin typeface="Times New Roman" pitchFamily="18" charset="0"/>
                <a:ea typeface="新細明體" charset="-120"/>
              </a:rPr>
              <a:t>RETURN</a:t>
            </a:r>
            <a:r>
              <a:rPr lang="zh-TW" altLang="en-US" sz="2400" b="0">
                <a:latin typeface="Times New Roman" pitchFamily="18" charset="0"/>
                <a:ea typeface="新細明體" charset="-120"/>
              </a:rPr>
              <a:t>， 但是不可以要求</a:t>
            </a:r>
            <a:r>
              <a:rPr lang="en-US" altLang="zh-TW" sz="2400" b="0">
                <a:latin typeface="Times New Roman" pitchFamily="18" charset="0"/>
                <a:ea typeface="新細明體" charset="-120"/>
              </a:rPr>
              <a:t>RETURN</a:t>
            </a:r>
            <a:r>
              <a:rPr lang="zh-TW" altLang="en-US" sz="2400" b="0">
                <a:latin typeface="Times New Roman" pitchFamily="18" charset="0"/>
                <a:ea typeface="新細明體" charset="-120"/>
              </a:rPr>
              <a:t>欄位卻沒有將欄位</a:t>
            </a:r>
            <a:r>
              <a:rPr lang="en-US" altLang="zh-TW" sz="2400" b="0">
                <a:latin typeface="Times New Roman" pitchFamily="18" charset="0"/>
                <a:ea typeface="新細明體" charset="-120"/>
              </a:rPr>
              <a:t>SELECT </a:t>
            </a:r>
            <a:r>
              <a:rPr kumimoji="0" lang="zh-TW" altLang="en-US" sz="1800" b="0">
                <a:ea typeface="新細明體" charset="-120"/>
              </a:rPr>
              <a:t>。</a:t>
            </a:r>
            <a:endParaRPr kumimoji="0" lang="zh-TW" altLang="en-US" sz="1800" b="0">
              <a:ea typeface="新細明體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194" name="Rectangle 2"/>
          <p:cNvSpPr>
            <a:spLocks noChangeArrowheads="1"/>
          </p:cNvSpPr>
          <p:nvPr/>
        </p:nvSpPr>
        <p:spPr bwMode="auto">
          <a:xfrm>
            <a:off x="1979712" y="476672"/>
            <a:ext cx="7772400" cy="762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r>
              <a:rPr kumimoji="0" lang="en-US" altLang="zh-TW" sz="4000" dirty="0">
                <a:solidFill>
                  <a:schemeClr val="tx2"/>
                </a:solidFill>
                <a:ea typeface="新細明體" charset="-120"/>
              </a:rPr>
              <a:t>MJ</a:t>
            </a:r>
            <a:r>
              <a:rPr kumimoji="0" lang="zh-TW" altLang="en-US" sz="4000" dirty="0">
                <a:solidFill>
                  <a:schemeClr val="tx2"/>
                </a:solidFill>
                <a:ea typeface="新細明體" charset="-120"/>
              </a:rPr>
              <a:t>錯誤原因</a:t>
            </a:r>
            <a:r>
              <a:rPr kumimoji="0" lang="en-US" altLang="zh-TW" sz="4000" dirty="0">
                <a:solidFill>
                  <a:schemeClr val="tx2"/>
                </a:solidFill>
                <a:ea typeface="新細明體" charset="-120"/>
              </a:rPr>
              <a:t>(</a:t>
            </a:r>
            <a:r>
              <a:rPr kumimoji="0" lang="zh-TW" altLang="en-US" sz="4000" dirty="0">
                <a:solidFill>
                  <a:schemeClr val="tx2"/>
                </a:solidFill>
                <a:ea typeface="新細明體" charset="-120"/>
              </a:rPr>
              <a:t>二</a:t>
            </a:r>
            <a:r>
              <a:rPr kumimoji="0" lang="en-US" altLang="zh-TW" sz="4000" dirty="0">
                <a:solidFill>
                  <a:schemeClr val="tx2"/>
                </a:solidFill>
                <a:ea typeface="新細明體" charset="-120"/>
              </a:rPr>
              <a:t>)</a:t>
            </a:r>
            <a:endParaRPr kumimoji="0" lang="en-US" altLang="zh-TW" sz="4000" dirty="0">
              <a:solidFill>
                <a:schemeClr val="tx2"/>
              </a:solidFill>
              <a:ea typeface="新細明體" charset="-120"/>
            </a:endParaRPr>
          </a:p>
        </p:txBody>
      </p:sp>
      <p:sp>
        <p:nvSpPr>
          <p:cNvPr id="520195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r>
              <a:rPr lang="en-US" altLang="zh-TW">
                <a:ea typeface="新細明體" charset="-120"/>
              </a:rPr>
              <a:t>MJ</a:t>
            </a:r>
            <a:r>
              <a:rPr lang="zh-TW" altLang="en-US">
                <a:ea typeface="新細明體" charset="-120"/>
              </a:rPr>
              <a:t>組數</a:t>
            </a:r>
            <a:r>
              <a:rPr lang="en-US" altLang="zh-TW">
                <a:ea typeface="新細明體" charset="-120"/>
              </a:rPr>
              <a:t>SQL</a:t>
            </a:r>
            <a:r>
              <a:rPr lang="zh-TW" altLang="en-US">
                <a:ea typeface="新細明體" charset="-120"/>
              </a:rPr>
              <a:t>本身的錯誤</a:t>
            </a:r>
            <a:endParaRPr lang="zh-TW" altLang="en-US">
              <a:solidFill>
                <a:srgbClr val="FF0000"/>
              </a:solidFill>
              <a:ea typeface="新細明體" charset="-120"/>
            </a:endParaRPr>
          </a:p>
          <a:p>
            <a:pPr lvl="1"/>
            <a:r>
              <a:rPr lang="zh-TW" altLang="en-US">
                <a:ea typeface="新細明體" charset="-120"/>
              </a:rPr>
              <a:t> </a:t>
            </a:r>
            <a:r>
              <a:rPr lang="en-US" altLang="zh-TW">
                <a:solidFill>
                  <a:srgbClr val="FF0000"/>
                </a:solidFill>
                <a:ea typeface="新細明體" charset="-120"/>
              </a:rPr>
              <a:t>MAINSELECT</a:t>
            </a:r>
            <a:r>
              <a:rPr lang="zh-TW" altLang="en-US">
                <a:ea typeface="新細明體" charset="-120"/>
              </a:rPr>
              <a:t>、</a:t>
            </a:r>
            <a:r>
              <a:rPr lang="en-US" altLang="zh-TW">
                <a:solidFill>
                  <a:srgbClr val="FF0000"/>
                </a:solidFill>
                <a:ea typeface="新細明體" charset="-120"/>
              </a:rPr>
              <a:t>RETURN</a:t>
            </a:r>
            <a:r>
              <a:rPr lang="zh-TW" altLang="en-US">
                <a:ea typeface="新細明體" charset="-120"/>
              </a:rPr>
              <a:t>、</a:t>
            </a:r>
            <a:r>
              <a:rPr lang="en-US" altLang="zh-TW">
                <a:solidFill>
                  <a:srgbClr val="FF0000"/>
                </a:solidFill>
                <a:ea typeface="新細明體" charset="-120"/>
              </a:rPr>
              <a:t>ORDER</a:t>
            </a:r>
            <a:r>
              <a:rPr lang="zh-TW" altLang="en-US">
                <a:ea typeface="新細明體" charset="-120"/>
              </a:rPr>
              <a:t>、</a:t>
            </a:r>
            <a:r>
              <a:rPr lang="en-US" altLang="zh-TW">
                <a:solidFill>
                  <a:srgbClr val="FF0000"/>
                </a:solidFill>
                <a:ea typeface="新細明體" charset="-120"/>
              </a:rPr>
              <a:t>DISPLAY</a:t>
            </a:r>
            <a:r>
              <a:rPr lang="zh-TW" altLang="en-US">
                <a:ea typeface="新細明體" charset="-120"/>
              </a:rPr>
              <a:t>等關鍵字前面少了「</a:t>
            </a:r>
            <a:r>
              <a:rPr lang="en-US" altLang="zh-TW">
                <a:ea typeface="新細明體" charset="-120"/>
              </a:rPr>
              <a:t>--</a:t>
            </a:r>
            <a:r>
              <a:rPr lang="zh-TW" altLang="en-US">
                <a:ea typeface="新細明體" charset="-120"/>
              </a:rPr>
              <a:t>」 符號。 </a:t>
            </a:r>
            <a:endParaRPr lang="zh-TW" altLang="en-US">
              <a:ea typeface="新細明體" charset="-120"/>
            </a:endParaRPr>
          </a:p>
          <a:p>
            <a:pPr lvl="1"/>
            <a:r>
              <a:rPr lang="en-US" altLang="zh-TW">
                <a:ea typeface="新細明體" charset="-120"/>
              </a:rPr>
              <a:t>SELECT</a:t>
            </a:r>
            <a:r>
              <a:rPr lang="zh-TW" altLang="en-US">
                <a:ea typeface="新細明體" charset="-120"/>
              </a:rPr>
              <a:t>與</a:t>
            </a:r>
            <a:r>
              <a:rPr lang="en-US" altLang="zh-TW">
                <a:ea typeface="新細明體" charset="-120"/>
              </a:rPr>
              <a:t>RETURN </a:t>
            </a:r>
            <a:r>
              <a:rPr lang="zh-TW" altLang="en-US">
                <a:ea typeface="新細明體" charset="-120"/>
              </a:rPr>
              <a:t>不對稱</a:t>
            </a:r>
            <a:endParaRPr lang="zh-TW" altLang="en-US">
              <a:ea typeface="新細明體" charset="-120"/>
            </a:endParaRPr>
          </a:p>
          <a:p>
            <a:pPr lvl="2"/>
            <a:r>
              <a:rPr lang="zh-TW" altLang="en-US">
                <a:ea typeface="新細明體" charset="-120"/>
              </a:rPr>
              <a:t>可以</a:t>
            </a:r>
            <a:r>
              <a:rPr lang="en-US" altLang="zh-TW">
                <a:ea typeface="新細明體" charset="-120"/>
              </a:rPr>
              <a:t>SELECT</a:t>
            </a:r>
            <a:r>
              <a:rPr lang="zh-TW" altLang="en-US">
                <a:ea typeface="新細明體" charset="-120"/>
              </a:rPr>
              <a:t>欄位但是不</a:t>
            </a:r>
            <a:r>
              <a:rPr lang="en-US" altLang="zh-TW">
                <a:ea typeface="新細明體" charset="-120"/>
              </a:rPr>
              <a:t>RETURN </a:t>
            </a:r>
            <a:r>
              <a:rPr lang="zh-TW" altLang="en-US">
                <a:ea typeface="新細明體" charset="-120"/>
              </a:rPr>
              <a:t>，但是不可以要求要</a:t>
            </a:r>
            <a:r>
              <a:rPr lang="en-US" altLang="zh-TW">
                <a:ea typeface="新細明體" charset="-120"/>
              </a:rPr>
              <a:t>RETURN</a:t>
            </a:r>
            <a:r>
              <a:rPr lang="zh-TW" altLang="en-US">
                <a:ea typeface="新細明體" charset="-120"/>
              </a:rPr>
              <a:t>欄位卻沒有</a:t>
            </a:r>
            <a:r>
              <a:rPr lang="en-US" altLang="zh-TW">
                <a:ea typeface="新細明體" charset="-120"/>
              </a:rPr>
              <a:t>SELECT</a:t>
            </a:r>
            <a:r>
              <a:rPr lang="zh-TW" altLang="en-US">
                <a:ea typeface="新細明體" charset="-120"/>
              </a:rPr>
              <a:t>欄位。</a:t>
            </a:r>
            <a:endParaRPr lang="zh-TW" altLang="en-US">
              <a:ea typeface="新細明體" charset="-120"/>
            </a:endParaRPr>
          </a:p>
          <a:p>
            <a:r>
              <a:rPr lang="zh-TW" altLang="en-US">
                <a:ea typeface="新細明體" charset="-120"/>
              </a:rPr>
              <a:t>程式撰寫的錯誤</a:t>
            </a:r>
            <a:endParaRPr lang="zh-TW" altLang="en-US">
              <a:ea typeface="新細明體" charset="-120"/>
            </a:endParaRPr>
          </a:p>
          <a:p>
            <a:pPr lvl="1"/>
            <a:r>
              <a:rPr lang="en-US" altLang="zh-TW" sz="2700">
                <a:ea typeface="新細明體" charset="-120"/>
              </a:rPr>
              <a:t>MJ</a:t>
            </a:r>
            <a:r>
              <a:rPr lang="zh-TW" altLang="en-US" sz="2700">
                <a:ea typeface="新細明體" charset="-120"/>
              </a:rPr>
              <a:t>組數</a:t>
            </a:r>
            <a:r>
              <a:rPr lang="en-US" altLang="zh-TW" sz="2700">
                <a:ea typeface="新細明體" charset="-120"/>
              </a:rPr>
              <a:t>SQL</a:t>
            </a:r>
            <a:r>
              <a:rPr lang="zh-TW" altLang="en-US" sz="2700">
                <a:ea typeface="新細明體" charset="-120"/>
              </a:rPr>
              <a:t>需要傳入參數，但是在註冊時沒有傳入。</a:t>
            </a:r>
            <a:endParaRPr lang="zh-TW" altLang="en-US" sz="2700">
              <a:ea typeface="新細明體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220" name="Picture 4" descr="警告訊息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71550" y="2492375"/>
            <a:ext cx="6934200" cy="4365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521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charset="-120"/>
              </a:rPr>
              <a:t>MJ</a:t>
            </a:r>
            <a:r>
              <a:rPr lang="zh-TW" altLang="en-US">
                <a:ea typeface="新細明體" charset="-120"/>
              </a:rPr>
              <a:t>錯誤原因</a:t>
            </a:r>
            <a:r>
              <a:rPr lang="en-US" altLang="zh-TW">
                <a:ea typeface="新細明體" charset="-120"/>
              </a:rPr>
              <a:t>(</a:t>
            </a:r>
            <a:r>
              <a:rPr lang="zh-TW" altLang="en-US">
                <a:ea typeface="新細明體" charset="-120"/>
              </a:rPr>
              <a:t>三</a:t>
            </a:r>
            <a:r>
              <a:rPr lang="en-US" altLang="zh-TW">
                <a:ea typeface="新細明體" charset="-120"/>
              </a:rPr>
              <a:t>)</a:t>
            </a:r>
            <a:endParaRPr lang="en-US" altLang="zh-TW">
              <a:ea typeface="新細明體" charset="-120"/>
            </a:endParaRPr>
          </a:p>
        </p:txBody>
      </p:sp>
      <p:sp>
        <p:nvSpPr>
          <p:cNvPr id="521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3600">
                <a:ea typeface="新細明體" charset="-120"/>
              </a:rPr>
              <a:t>於 </a:t>
            </a:r>
            <a:r>
              <a:rPr lang="en-US" altLang="zh-TW" sz="3600">
                <a:solidFill>
                  <a:srgbClr val="000099"/>
                </a:solidFill>
                <a:ea typeface="新細明體" charset="-120"/>
              </a:rPr>
              <a:t>QQQK01_MIMJ.aspx</a:t>
            </a:r>
            <a:r>
              <a:rPr lang="zh-TW" altLang="en-US" sz="3600">
                <a:ea typeface="新細明體" charset="-120"/>
              </a:rPr>
              <a:t>加入以下</a:t>
            </a:r>
            <a:endParaRPr lang="zh-TW" altLang="en-US" sz="3600">
              <a:ea typeface="新細明體" charset="-120"/>
            </a:endParaRPr>
          </a:p>
          <a:p>
            <a:pPr lvl="1"/>
            <a:r>
              <a:rPr lang="en-US" altLang="zh-TW">
                <a:ea typeface="新細明體" charset="-120"/>
              </a:rPr>
              <a:t>validaterequest=</a:t>
            </a:r>
            <a:r>
              <a:rPr lang="en-US" altLang="zh-TW" sz="2400">
                <a:ea typeface="新細明體" charset="-120"/>
              </a:rPr>
              <a:t>"</a:t>
            </a:r>
            <a:r>
              <a:rPr lang="en-US" altLang="zh-TW">
                <a:ea typeface="新細明體" charset="-120"/>
              </a:rPr>
              <a:t>false</a:t>
            </a:r>
            <a:endParaRPr lang="en-US" altLang="zh-TW">
              <a:ea typeface="新細明體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charset="-120"/>
              </a:rPr>
              <a:t>MJ</a:t>
            </a:r>
            <a:r>
              <a:rPr lang="zh-TW" altLang="en-US">
                <a:ea typeface="新細明體" charset="-120"/>
              </a:rPr>
              <a:t>錯誤原因</a:t>
            </a:r>
            <a:r>
              <a:rPr lang="en-US" altLang="zh-TW">
                <a:ea typeface="新細明體" charset="-120"/>
              </a:rPr>
              <a:t>(</a:t>
            </a:r>
            <a:r>
              <a:rPr lang="zh-TW" altLang="en-US">
                <a:ea typeface="新細明體" charset="-120"/>
              </a:rPr>
              <a:t>四</a:t>
            </a:r>
            <a:r>
              <a:rPr lang="en-US" altLang="zh-TW">
                <a:ea typeface="新細明體" charset="-120"/>
              </a:rPr>
              <a:t>)</a:t>
            </a:r>
            <a:endParaRPr lang="en-US" altLang="zh-TW">
              <a:ea typeface="新細明體" charset="-120"/>
            </a:endParaRPr>
          </a:p>
        </p:txBody>
      </p:sp>
      <p:sp>
        <p:nvSpPr>
          <p:cNvPr id="522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>
                <a:ea typeface="新細明體" charset="-120"/>
              </a:rPr>
              <a:t>HTML</a:t>
            </a:r>
            <a:r>
              <a:rPr lang="zh-TW" altLang="en-US">
                <a:ea typeface="新細明體" charset="-120"/>
              </a:rPr>
              <a:t>碼必須為空，不能有任何一行</a:t>
            </a:r>
            <a:r>
              <a:rPr lang="en-US" altLang="zh-TW">
                <a:ea typeface="新細明體" charset="-120"/>
              </a:rPr>
              <a:t>HTML</a:t>
            </a:r>
            <a:r>
              <a:rPr lang="zh-TW" altLang="en-US">
                <a:ea typeface="新細明體" charset="-120"/>
              </a:rPr>
              <a:t>碼</a:t>
            </a:r>
            <a:endParaRPr lang="zh-TW" altLang="en-US">
              <a:ea typeface="新細明體" charset="-120"/>
            </a:endParaRPr>
          </a:p>
        </p:txBody>
      </p:sp>
      <p:pic>
        <p:nvPicPr>
          <p:cNvPr id="522244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979613" y="1989138"/>
            <a:ext cx="4464050" cy="2306637"/>
          </a:xfrm>
          <a:prstGeom prst="rect">
            <a:avLst/>
          </a:prstGeom>
          <a:noFill/>
        </p:spPr>
      </p:pic>
      <p:grpSp>
        <p:nvGrpSpPr>
          <p:cNvPr id="2" name="Group 5"/>
          <p:cNvGrpSpPr/>
          <p:nvPr/>
        </p:nvGrpSpPr>
        <p:grpSpPr bwMode="auto">
          <a:xfrm>
            <a:off x="0" y="4652963"/>
            <a:ext cx="8964613" cy="1152525"/>
            <a:chOff x="249" y="3566"/>
            <a:chExt cx="5262" cy="590"/>
          </a:xfrm>
        </p:grpSpPr>
        <p:pic>
          <p:nvPicPr>
            <p:cNvPr id="522246" name="Picture 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49" y="3566"/>
              <a:ext cx="5262" cy="590"/>
            </a:xfrm>
            <a:prstGeom prst="rect">
              <a:avLst/>
            </a:prstGeom>
            <a:noFill/>
          </p:spPr>
        </p:pic>
        <p:sp>
          <p:nvSpPr>
            <p:cNvPr id="522247" name="Rectangle 7"/>
            <p:cNvSpPr>
              <a:spLocks noChangeArrowheads="1"/>
            </p:cNvSpPr>
            <p:nvPr/>
          </p:nvSpPr>
          <p:spPr bwMode="auto">
            <a:xfrm>
              <a:off x="1338" y="3566"/>
              <a:ext cx="1043" cy="136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22248" name="Rectangle 8"/>
            <p:cNvSpPr>
              <a:spLocks noChangeArrowheads="1"/>
            </p:cNvSpPr>
            <p:nvPr/>
          </p:nvSpPr>
          <p:spPr bwMode="auto">
            <a:xfrm>
              <a:off x="385" y="3702"/>
              <a:ext cx="1361" cy="136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3068960"/>
            <a:ext cx="8229600" cy="2016223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TW" sz="4000" b="1" i="1" dirty="0" smtClean="0"/>
              <a:t>The End</a:t>
            </a:r>
            <a:endParaRPr lang="en-US" altLang="zh-TW" sz="4000" b="1" i="1" dirty="0" smtClean="0"/>
          </a:p>
          <a:p>
            <a:pPr marL="0" indent="0" algn="ctr">
              <a:buNone/>
            </a:pPr>
            <a:endParaRPr lang="en-US" altLang="zh-TW" b="1" i="1" dirty="0" smtClean="0"/>
          </a:p>
          <a:p>
            <a:pPr marL="0" indent="0" algn="r">
              <a:buNone/>
            </a:pPr>
            <a:endParaRPr lang="zh-TW" altLang="en-US" b="1" i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自訂設計">
  <a:themeElements>
    <a:clrScheme name="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訂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6072</Words>
  <Application>WPS Presentation</Application>
  <PresentationFormat>如螢幕大小 (4:3)</PresentationFormat>
  <Paragraphs>318</Paragraphs>
  <Slides>34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37" baseType="lpstr">
      <vt:lpstr>自訂設計</vt:lpstr>
      <vt:lpstr>Office 佈景主題</vt:lpstr>
      <vt:lpstr>PBrush</vt:lpstr>
      <vt:lpstr>DSC.NET 平台 MIMJ技術概念</vt:lpstr>
      <vt:lpstr>大   綱</vt:lpstr>
      <vt:lpstr>PowerPoint 演示文稿</vt:lpstr>
      <vt:lpstr>註冊事件的Function</vt:lpstr>
      <vt:lpstr>註冊MI的方法(onclick事件) </vt:lpstr>
      <vt:lpstr>註冊MI的方法(基本型)</vt:lpstr>
      <vt:lpstr>註冊MI的方法(進階型)(1/2)</vt:lpstr>
      <vt:lpstr>註冊MI的方法(進階型)(2/2)</vt:lpstr>
      <vt:lpstr>註冊MI的方法(高階型)</vt:lpstr>
      <vt:lpstr>執行MI的方法(基本型)</vt:lpstr>
      <vt:lpstr>PowerPoint 演示文稿</vt:lpstr>
      <vt:lpstr>執行MJ的方法(基本型)</vt:lpstr>
      <vt:lpstr>PowerPoint 演示文稿</vt:lpstr>
      <vt:lpstr>PowerPoint 演示文稿</vt:lpstr>
      <vt:lpstr>FinishMJ的用法</vt:lpstr>
      <vt:lpstr>可使用的全域變數(一)</vt:lpstr>
      <vt:lpstr>可使用的全域變數(一)</vt:lpstr>
      <vt:lpstr>特殊案例(一)---多層次MJ(1/2)</vt:lpstr>
      <vt:lpstr>特殊案例(一)---多層次MJ(2/2)</vt:lpstr>
      <vt:lpstr>特殊案例(二)---取序號MJ(1/2)*</vt:lpstr>
      <vt:lpstr>特殊案例(二)---取序號MJ(2/2)</vt:lpstr>
      <vt:lpstr>特殊案例(三)--- MJ帶回值且SHOW ALERT(1/2)</vt:lpstr>
      <vt:lpstr>特殊案例(三)--- MJ帶回值且SHOW ALERT(2/2)</vt:lpstr>
      <vt:lpstr>FinishMJ的限制</vt:lpstr>
      <vt:lpstr>標準MI寫法</vt:lpstr>
      <vt:lpstr>MI錯誤訊息</vt:lpstr>
      <vt:lpstr>MI錯誤原因</vt:lpstr>
      <vt:lpstr>標準MJ寫法</vt:lpstr>
      <vt:lpstr>MJ錯誤訊息</vt:lpstr>
      <vt:lpstr>PowerPoint 演示文稿</vt:lpstr>
      <vt:lpstr>PowerPoint 演示文稿</vt:lpstr>
      <vt:lpstr>MJ錯誤原因(三)</vt:lpstr>
      <vt:lpstr>MJ錯誤原因(四)</vt:lpstr>
      <vt:lpstr>PowerPoint 演示文稿</vt:lpstr>
    </vt:vector>
  </TitlesOfParts>
  <Company>dsc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ella</dc:creator>
  <cp:lastModifiedBy>Administrator</cp:lastModifiedBy>
  <cp:revision>1575</cp:revision>
  <dcterms:created xsi:type="dcterms:W3CDTF">2008-10-15T09:32:00Z</dcterms:created>
  <dcterms:modified xsi:type="dcterms:W3CDTF">2016-08-18T08:37:50Z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1028-10.8.0.5615</vt:lpwstr>
  </property>
</Properties>
</file>