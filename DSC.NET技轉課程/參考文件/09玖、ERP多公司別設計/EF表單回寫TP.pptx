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4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/>
  <p:notesSz cx="6833235" cy="9979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type="hdr" idx="2"/>
          </p:nvPr>
        </p:nvSpPr>
        <p:spPr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type="dt" idx="10"/>
          </p:nvPr>
        </p:nvSpPr>
        <p:spPr>
          <a:xfrm>
            <a:off x="3871913" y="0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type="sldImg" idx="3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Shape 6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type="ftr" idx="11"/>
          </p:nvPr>
        </p:nvSpPr>
        <p:spPr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type="sldNum" idx="12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Shape 121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Shape 128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Shape 160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Shape 166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2" name="Shape 172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文字描述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173"/>
          <p:cNvSpPr txBox="1"/>
          <p:nvPr>
            <p:ph type="sldNum" idx="12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Shape 181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Shape 188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Shape 195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Shape 203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Shape 209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8" name="Shape 218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Shape 219"/>
          <p:cNvSpPr txBox="1"/>
          <p:nvPr>
            <p:ph type="sldNum" idx="12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Shape 227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4" name="Shape 234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Shape 235"/>
          <p:cNvSpPr txBox="1"/>
          <p:nvPr>
            <p:ph type="sldNum" idx="12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Shape 243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Shape 251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Shape 260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9" name="Shape 269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Shape 270"/>
          <p:cNvSpPr txBox="1"/>
          <p:nvPr>
            <p:ph type="sldNum" idx="12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Shape 277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Shape 284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/>
          <p:nvPr>
            <p:ph type="body" idx="1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Shape 291"/>
          <p:cNvSpPr/>
          <p:nvPr>
            <p:ph type="sldImg" idx="2"/>
          </p:nvPr>
        </p:nvSpPr>
        <p:spPr>
          <a:xfrm>
            <a:off x="922338" y="747713"/>
            <a:ext cx="4989512" cy="3743325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13" descr="20110301簡報首頁_集團繁B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4838" y="965200"/>
            <a:ext cx="647700" cy="17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Shape 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62875" y="989013"/>
            <a:ext cx="798513" cy="1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/>
          <p:nvPr>
            <p:ph type="ctrTitle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Shape 17"/>
          <p:cNvSpPr txBox="1"/>
          <p:nvPr>
            <p:ph type="subTitle" idx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投影片">
  <p:cSld name="1_標題投影片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hape 19" descr="20110301簡報內頁1_集團繁B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14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Shape 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62875" y="187325"/>
            <a:ext cx="7953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Shape 2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49263" y="176213"/>
            <a:ext cx="604837" cy="15716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hape 22"/>
          <p:cNvSpPr txBox="1"/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Shape 2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type="sldNum" idx="12"/>
          </p:nvPr>
        </p:nvSpPr>
        <p:spPr>
          <a:xfrm>
            <a:off x="7451725" y="6445250"/>
            <a:ext cx="14509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>
  <p:cSld name="3_標題投影片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hape 26" descr="20110301簡報內頁1_集團繁B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14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Shape 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62875" y="187325"/>
            <a:ext cx="7953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Shape 2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49263" y="176213"/>
            <a:ext cx="604837" cy="15716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hape 29"/>
          <p:cNvSpPr txBox="1"/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>
  <p:cSld name="2_標題投影片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hape 31" descr="20110301簡報內頁2_集團繁B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Shape 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62875" y="187325"/>
            <a:ext cx="7953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Shape 3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49263" y="176213"/>
            <a:ext cx="604837" cy="15716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Shape 34"/>
          <p:cNvSpPr txBox="1"/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type="sldNum" idx="12"/>
          </p:nvPr>
        </p:nvSpPr>
        <p:spPr>
          <a:xfrm>
            <a:off x="7451725" y="6445250"/>
            <a:ext cx="14509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標題及物件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type="body"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Shape 41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Shape 42"/>
          <p:cNvSpPr txBox="1"/>
          <p:nvPr>
            <p:ph type="sldNum" idx="12"/>
          </p:nvPr>
        </p:nvSpPr>
        <p:spPr>
          <a:xfrm>
            <a:off x="7451725" y="6445250"/>
            <a:ext cx="14509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標題投影片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Shape 53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Shape 54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Shape 55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標題及物件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type="title"/>
          </p:nvPr>
        </p:nvSpPr>
        <p:spPr>
          <a:xfrm>
            <a:off x="500034" y="785794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type="body" idx="1"/>
          </p:nvPr>
        </p:nvSpPr>
        <p:spPr>
          <a:xfrm>
            <a:off x="500034" y="1928802"/>
            <a:ext cx="8229600" cy="406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■"/>
              <a:defRPr sz="32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6633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Shape 61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區段標題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Shape 67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兩項物件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Shape 70"/>
          <p:cNvSpPr txBox="1"/>
          <p:nvPr>
            <p:ph type="body" idx="1"/>
          </p:nvPr>
        </p:nvSpPr>
        <p:spPr>
          <a:xfrm>
            <a:off x="457200" y="2060575"/>
            <a:ext cx="4038600" cy="406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Shape 71"/>
          <p:cNvSpPr txBox="1"/>
          <p:nvPr>
            <p:ph type="body" idx="2"/>
          </p:nvPr>
        </p:nvSpPr>
        <p:spPr>
          <a:xfrm>
            <a:off x="4648200" y="2060575"/>
            <a:ext cx="4038600" cy="406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Shape 72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Shape 73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對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Shape 78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Shape 79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Shape 80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只有標題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Shape 86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Shape 91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Shape 92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含標題的內容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Shape 97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Shape 98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Shape 99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含標題的圖片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Shape 102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Shape 103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Shape 104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Shape 105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Shape 106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標題及直排文字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Shape 109"/>
          <p:cNvSpPr txBox="1"/>
          <p:nvPr>
            <p:ph type="body" idx="1"/>
          </p:nvPr>
        </p:nvSpPr>
        <p:spPr>
          <a:xfrm rot="5400000">
            <a:off x="2539206" y="-21431"/>
            <a:ext cx="406558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Shape 110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Shape 111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Shape 112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直排標題及文字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type="title"/>
          </p:nvPr>
        </p:nvSpPr>
        <p:spPr>
          <a:xfrm rot="5400000">
            <a:off x="5085556" y="2524919"/>
            <a:ext cx="51450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Shape 115"/>
          <p:cNvSpPr txBox="1"/>
          <p:nvPr>
            <p:ph type="body" idx="1"/>
          </p:nvPr>
        </p:nvSpPr>
        <p:spPr>
          <a:xfrm rot="5400000">
            <a:off x="894556" y="543719"/>
            <a:ext cx="51450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Shape 116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Shape 117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Shape 118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3" Type="http://schemas.openxmlformats.org/officeDocument/2006/relationships/theme" Target="../theme/theme2.xml"/><Relationship Id="rId12" Type="http://schemas.openxmlformats.org/officeDocument/2006/relationships/image" Target="../media/image9.jpeg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1007簡報內頁.jp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63" y="0"/>
            <a:ext cx="9134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/>
          <p:nvPr>
            <p:ph type="sldNum" idx="12"/>
          </p:nvPr>
        </p:nvSpPr>
        <p:spPr>
          <a:xfrm>
            <a:off x="7451725" y="6445250"/>
            <a:ext cx="14509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hape 44" descr="ppt_B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-4763" y="-1588"/>
            <a:ext cx="9153526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Shape 45"/>
          <p:cNvSpPr txBox="1"/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Shape 46"/>
          <p:cNvSpPr txBox="1"/>
          <p:nvPr>
            <p:ph type="body"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Shape 47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Shape 48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Shape 49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>
    <p:push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5.emf"/><Relationship Id="rId2" Type="http://schemas.openxmlformats.org/officeDocument/2006/relationships/oleObject" Target="../embeddings/Document1.doc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ctrTitle"/>
          </p:nvPr>
        </p:nvSpPr>
        <p:spPr>
          <a:xfrm>
            <a:off x="2500313" y="1357313"/>
            <a:ext cx="6192837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type="subTitle" idx="1"/>
          </p:nvPr>
        </p:nvSpPr>
        <p:spPr>
          <a:xfrm>
            <a:off x="2555875" y="5143500"/>
            <a:ext cx="45370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黃語潔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鼎新電腦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Shape 125"/>
          <p:cNvSpPr txBox="1"/>
          <p:nvPr/>
        </p:nvSpPr>
        <p:spPr>
          <a:xfrm>
            <a:off x="2500313" y="2286000"/>
            <a:ext cx="6429375" cy="975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EF表單回寫TIPTOP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/>
        </p:nvSpPr>
        <p:spPr>
          <a:xfrm>
            <a:off x="5651500" y="2852738"/>
            <a:ext cx="2952750" cy="21764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1247775" y="2852738"/>
            <a:ext cx="2952750" cy="21764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 txBox="1"/>
          <p:nvPr/>
        </p:nvSpPr>
        <p:spPr>
          <a:xfrm>
            <a:off x="2124075" y="620713"/>
            <a:ext cx="7019925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整合架構說明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Shape 133"/>
          <p:cNvGrpSpPr/>
          <p:nvPr/>
        </p:nvGrpSpPr>
        <p:grpSpPr>
          <a:xfrm>
            <a:off x="1476375" y="3044825"/>
            <a:ext cx="1057275" cy="1685925"/>
            <a:chOff x="2326" y="4795"/>
            <a:chExt cx="1663" cy="2655"/>
          </a:xfrm>
        </p:grpSpPr>
        <p:pic>
          <p:nvPicPr>
            <p:cNvPr id="134" name="Shape 134" descr="2016-07-06_10512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2357" y="4795"/>
              <a:ext cx="1632" cy="2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Shape 135"/>
            <p:cNvSpPr txBox="1"/>
            <p:nvPr/>
          </p:nvSpPr>
          <p:spPr>
            <a:xfrm>
              <a:off x="2326" y="6874"/>
              <a:ext cx="1468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EFNET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Shape 136"/>
          <p:cNvGrpSpPr/>
          <p:nvPr/>
        </p:nvGrpSpPr>
        <p:grpSpPr>
          <a:xfrm>
            <a:off x="7429500" y="3140075"/>
            <a:ext cx="1058499" cy="1685925"/>
            <a:chOff x="10571" y="4946"/>
            <a:chExt cx="1665" cy="2655"/>
          </a:xfrm>
        </p:grpSpPr>
        <p:sp>
          <p:nvSpPr>
            <p:cNvPr id="137" name="Shape 137"/>
            <p:cNvSpPr txBox="1"/>
            <p:nvPr/>
          </p:nvSpPr>
          <p:spPr>
            <a:xfrm>
              <a:off x="10571" y="7025"/>
              <a:ext cx="1579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TIPTOP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" name="Shape 138" descr="2016-07-06_10512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0604" y="4946"/>
              <a:ext cx="1632" cy="2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Shape 139"/>
          <p:cNvSpPr/>
          <p:nvPr/>
        </p:nvSpPr>
        <p:spPr>
          <a:xfrm>
            <a:off x="109538" y="1485900"/>
            <a:ext cx="3865563" cy="5032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EF表單拋轉-&gt;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TT生單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流程圖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Shape 140"/>
          <p:cNvGrpSpPr/>
          <p:nvPr/>
        </p:nvGrpSpPr>
        <p:grpSpPr>
          <a:xfrm>
            <a:off x="179388" y="5156200"/>
            <a:ext cx="1229043" cy="1590675"/>
            <a:chOff x="5725" y="7895"/>
            <a:chExt cx="1935" cy="2503"/>
          </a:xfrm>
        </p:grpSpPr>
        <p:pic>
          <p:nvPicPr>
            <p:cNvPr id="141" name="Shape 1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725" y="7895"/>
              <a:ext cx="1927" cy="16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Shape 14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406" y="8575"/>
              <a:ext cx="721" cy="1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Shape 143"/>
            <p:cNvSpPr txBox="1"/>
            <p:nvPr/>
          </p:nvSpPr>
          <p:spPr>
            <a:xfrm>
              <a:off x="6292" y="9822"/>
              <a:ext cx="1368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使用者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Shape 144"/>
          <p:cNvSpPr/>
          <p:nvPr/>
        </p:nvSpPr>
        <p:spPr>
          <a:xfrm>
            <a:off x="5241925" y="3212465"/>
            <a:ext cx="1499870" cy="431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接口(efsrv)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5345430" y="4293235"/>
            <a:ext cx="1483360" cy="431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接口(ttsrv)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Shape 146"/>
          <p:cNvCxnSpPr>
            <a:stCxn id="134" idx="3"/>
            <a:endCxn id="145" idx="1"/>
          </p:cNvCxnSpPr>
          <p:nvPr/>
        </p:nvCxnSpPr>
        <p:spPr>
          <a:xfrm>
            <a:off x="2533650" y="3695700"/>
            <a:ext cx="2811900" cy="813300"/>
          </a:xfrm>
          <a:prstGeom prst="straightConnector1">
            <a:avLst/>
          </a:prstGeom>
          <a:noFill/>
          <a:ln w="5080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7" name="Shape 147"/>
          <p:cNvCxnSpPr>
            <a:stCxn id="145" idx="3"/>
            <a:endCxn id="138" idx="1"/>
          </p:cNvCxnSpPr>
          <p:nvPr/>
        </p:nvCxnSpPr>
        <p:spPr>
          <a:xfrm rot="10800000" flipH="1">
            <a:off x="6828790" y="3790935"/>
            <a:ext cx="621600" cy="718200"/>
          </a:xfrm>
          <a:prstGeom prst="straightConnector1">
            <a:avLst/>
          </a:prstGeom>
          <a:noFill/>
          <a:ln w="5080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48" name="Shape 148"/>
          <p:cNvSpPr/>
          <p:nvPr/>
        </p:nvSpPr>
        <p:spPr>
          <a:xfrm>
            <a:off x="3564255" y="5805170"/>
            <a:ext cx="2472055" cy="39751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成功，回傳TIPTOP單別單號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失敗，回傳TIPTOP錯誤訊息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1908175" y="2348865"/>
            <a:ext cx="1558925" cy="39624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EF表單上拋轉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Shape 150"/>
          <p:cNvSpPr/>
          <p:nvPr/>
        </p:nvSpPr>
        <p:spPr>
          <a:xfrm>
            <a:off x="5364480" y="2492375"/>
            <a:ext cx="1311275" cy="2793365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5508308" y="1772603"/>
            <a:ext cx="1155700" cy="5032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怎麼實作?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6732270" y="2924810"/>
            <a:ext cx="1489710" cy="2667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成功，TIPTOP生單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Shape 153"/>
          <p:cNvCxnSpPr>
            <a:stCxn id="134" idx="3"/>
            <a:endCxn id="144" idx="1"/>
          </p:cNvCxnSpPr>
          <p:nvPr/>
        </p:nvCxnSpPr>
        <p:spPr>
          <a:xfrm rot="10800000" flipH="1">
            <a:off x="2533650" y="3428400"/>
            <a:ext cx="2708400" cy="267300"/>
          </a:xfrm>
          <a:prstGeom prst="straightConnector1">
            <a:avLst/>
          </a:prstGeom>
          <a:noFill/>
          <a:ln w="5080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54" name="Shape 154"/>
          <p:cNvCxnSpPr>
            <a:stCxn id="141" idx="0"/>
            <a:endCxn id="135" idx="1"/>
          </p:cNvCxnSpPr>
          <p:nvPr/>
        </p:nvCxnSpPr>
        <p:spPr>
          <a:xfrm rot="10800000" flipH="1">
            <a:off x="791369" y="4547800"/>
            <a:ext cx="684900" cy="60840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55" name="Shape 155"/>
          <p:cNvCxnSpPr>
            <a:stCxn id="137" idx="2"/>
            <a:endCxn id="135" idx="2"/>
          </p:cNvCxnSpPr>
          <p:nvPr/>
        </p:nvCxnSpPr>
        <p:spPr>
          <a:xfrm rot="5400000" flipH="1">
            <a:off x="4889563" y="1784150"/>
            <a:ext cx="95400" cy="5988300"/>
          </a:xfrm>
          <a:prstGeom prst="curvedConnector3">
            <a:avLst>
              <a:gd name="adj1" fmla="val -873375"/>
            </a:avLst>
          </a:prstGeom>
          <a:noFill/>
          <a:ln w="57150" cap="flat" cmpd="sng">
            <a:solidFill>
              <a:srgbClr val="7C5F9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6" name="Shape 156"/>
          <p:cNvSpPr/>
          <p:nvPr/>
        </p:nvSpPr>
        <p:spPr>
          <a:xfrm>
            <a:off x="4284028" y="5012373"/>
            <a:ext cx="1155700" cy="5032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怎麼實作?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Shape 157"/>
          <p:cNvCxnSpPr>
            <a:stCxn id="144" idx="3"/>
          </p:cNvCxnSpPr>
          <p:nvPr/>
        </p:nvCxnSpPr>
        <p:spPr>
          <a:xfrm>
            <a:off x="6741795" y="3428365"/>
            <a:ext cx="630000" cy="360600"/>
          </a:xfrm>
          <a:prstGeom prst="straightConnector1">
            <a:avLst/>
          </a:prstGeom>
          <a:noFill/>
          <a:ln w="50800" cap="flat" cmpd="sng">
            <a:solidFill>
              <a:srgbClr val="7030A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兩個接口的差別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Shape 163"/>
          <p:cNvSpPr txBox="1"/>
          <p:nvPr/>
        </p:nvSpPr>
        <p:spPr>
          <a:xfrm>
            <a:off x="467360" y="1628775"/>
            <a:ext cx="826389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ttsrv 接口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此接口為所有系統與TIPTOP整合接口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 efsrv接口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此接口為EFNET與TIPTOP整合接口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若整合作業只針對EFNET，一般會把整合接口建在efsrv，若可能會有多個系統用到這個整合作業，便會把接口建立在ttsrv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/>
        </p:nvSpPr>
        <p:spPr>
          <a:xfrm>
            <a:off x="2124075" y="620713"/>
            <a:ext cx="7019925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事前準備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Shape 169"/>
          <p:cNvSpPr/>
          <p:nvPr/>
        </p:nvSpPr>
        <p:spPr>
          <a:xfrm>
            <a:off x="38100" y="1772285"/>
            <a:ext cx="9061450" cy="28130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使用EFNET電子表單精靈,產生送審時的表單。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觸發時機點(按鈕、簽核同意)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需設計一</a:t>
            </a:r>
            <a:r>
              <a:rPr lang="en-US" sz="2400" b="0" i="0" u="sng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TIPTOP單別單號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欄位主來存TIPTOP發單成功時的單別單號。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事先確認TIPTOP接口為efsrv或ttsrv。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確認TIPTOP接口所需傳入的字串及回傳格式。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整合流程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467360" y="1628775"/>
            <a:ext cx="826389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Shape 17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1505" y="1628775"/>
            <a:ext cx="7705090" cy="473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Shape 178"/>
          <p:cNvSpPr/>
          <p:nvPr/>
        </p:nvSpPr>
        <p:spPr>
          <a:xfrm>
            <a:off x="611505" y="1916430"/>
            <a:ext cx="6624320" cy="14414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/>
          <p:nvPr/>
        </p:nvSpPr>
        <p:spPr>
          <a:xfrm>
            <a:off x="899160" y="1844675"/>
            <a:ext cx="745934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Shape 184"/>
          <p:cNvSpPr txBox="1"/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Shape 185"/>
          <p:cNvSpPr txBox="1"/>
          <p:nvPr/>
        </p:nvSpPr>
        <p:spPr>
          <a:xfrm>
            <a:off x="1097915" y="3140710"/>
            <a:ext cx="6948805" cy="81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ttsrv物件建立、宣告、呼叫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ttsrv-建立TIPTOP WS物件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467360" y="1628775"/>
            <a:ext cx="826389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取得TIPTOP wsdl檔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TIPTOP WS位置+”?wsdl”檔案&gt;右鍵&gt;另存新檔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 http://127.0.0.1:6384/ws/r/aws_ttsrv?wsdl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建立TIPTOP WS物件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Shape 19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67810" y="3284855"/>
            <a:ext cx="3438525" cy="27692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" name="物件 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2295" y="4497705"/>
          <a:ext cx="923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23925" imgH="838200" progId="Word.Document.8">
                  <p:embed/>
                </p:oleObj>
              </mc:Choice>
              <mc:Fallback>
                <p:oleObj name="" showAsIcon="1" r:id="rId2" imgW="923925" imgH="838200" progId="Word.Document.8">
                  <p:embed/>
                  <p:pic>
                    <p:nvPicPr>
                      <p:cNvPr id="0" name="圖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295" y="4497705"/>
                        <a:ext cx="923925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物件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90725" y="4483735"/>
          <a:ext cx="923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4" imgW="923925" imgH="838200" progId="Package">
                  <p:embed/>
                </p:oleObj>
              </mc:Choice>
              <mc:Fallback>
                <p:oleObj name="" showAsIcon="1" r:id="rId4" imgW="923925" imgH="838200" progId="Package">
                  <p:embed/>
                  <p:pic>
                    <p:nvPicPr>
                      <p:cNvPr id="0" name="圖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0725" y="4483735"/>
                        <a:ext cx="923925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ttsrv-宣告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395605" y="4149090"/>
            <a:ext cx="826389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呼叫TIPTOP WS物件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呼叫自行建立的WS物件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Shape 199"/>
          <p:cNvPicPr preferRelativeResize="0"/>
          <p:nvPr/>
        </p:nvPicPr>
        <p:blipFill rotWithShape="1">
          <a:blip r:embed="rId1"/>
          <a:srcRect b="6869"/>
          <a:stretch>
            <a:fillRect/>
          </a:stretch>
        </p:blipFill>
        <p:spPr>
          <a:xfrm>
            <a:off x="467360" y="1772920"/>
            <a:ext cx="7143115" cy="204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Shape 20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5605" y="5229225"/>
            <a:ext cx="7721600" cy="42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建XML字串(XML字串根據TP單據)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Shape 20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48030" y="1771650"/>
            <a:ext cx="7647305" cy="331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ttsrv-記錄LOG資訊，呼叫方法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755650" y="1772920"/>
            <a:ext cx="7459345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-ttsrv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Shape 2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3895" y="2277110"/>
            <a:ext cx="663829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Shape 214"/>
          <p:cNvSpPr/>
          <p:nvPr/>
        </p:nvSpPr>
        <p:spPr>
          <a:xfrm>
            <a:off x="2267585" y="2924810"/>
            <a:ext cx="3240405" cy="28829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4572000" y="249301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呼叫的方法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ttsrv-分析回傳字串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Shape 222"/>
          <p:cNvSpPr txBox="1"/>
          <p:nvPr/>
        </p:nvSpPr>
        <p:spPr>
          <a:xfrm>
            <a:off x="827405" y="1772920"/>
            <a:ext cx="745934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Shape 2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4960" y="1843405"/>
            <a:ext cx="8514080" cy="31711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物件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64705" y="5372735"/>
          <a:ext cx="1254760" cy="80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2" imgW="1104900" imgH="711200" progId="Package">
                  <p:embed/>
                </p:oleObj>
              </mc:Choice>
              <mc:Fallback>
                <p:oleObj name="" r:id="rId2" imgW="1104900" imgH="711200" progId="Package">
                  <p:embed/>
                  <p:pic>
                    <p:nvPicPr>
                      <p:cNvPr id="0" name="圖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64705" y="5372735"/>
                        <a:ext cx="1254760" cy="807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/>
        </p:nvSpPr>
        <p:spPr>
          <a:xfrm>
            <a:off x="899160" y="1844675"/>
            <a:ext cx="745934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Shape 230"/>
          <p:cNvSpPr txBox="1"/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Shape 231"/>
          <p:cNvSpPr txBox="1"/>
          <p:nvPr/>
        </p:nvSpPr>
        <p:spPr>
          <a:xfrm>
            <a:off x="2446973" y="3140710"/>
            <a:ext cx="4250690" cy="81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efsrv宣告、呼叫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efsrv-宣告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Shape 238"/>
          <p:cNvSpPr txBox="1"/>
          <p:nvPr/>
        </p:nvSpPr>
        <p:spPr>
          <a:xfrm>
            <a:off x="395605" y="4149090"/>
            <a:ext cx="826389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呼叫TIPTOP WS物件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呼叫標準整合元件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Shape 23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4970" y="5229225"/>
            <a:ext cx="791400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Shape 24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7995" y="1988820"/>
            <a:ext cx="709549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efsrv呼叫方法限制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Shape 246"/>
          <p:cNvSpPr txBox="1"/>
          <p:nvPr/>
        </p:nvSpPr>
        <p:spPr>
          <a:xfrm>
            <a:off x="827405" y="1772920"/>
            <a:ext cx="663130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efsrv的接口會去檢查呼叫的方是否在EF標準元件的設定內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目前可呼叫的方法有下列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Shape 247"/>
          <p:cNvPicPr preferRelativeResize="0"/>
          <p:nvPr/>
        </p:nvPicPr>
        <p:blipFill rotWithShape="1">
          <a:blip r:embed="rId1"/>
          <a:srcRect t="2971" b="4324"/>
          <a:stretch>
            <a:fillRect/>
          </a:stretch>
        </p:blipFill>
        <p:spPr>
          <a:xfrm>
            <a:off x="4643755" y="2348865"/>
            <a:ext cx="313182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Shape 248"/>
          <p:cNvPicPr preferRelativeResize="0"/>
          <p:nvPr/>
        </p:nvPicPr>
        <p:blipFill rotWithShape="1">
          <a:blip r:embed="rId2"/>
          <a:srcRect b="16332"/>
          <a:stretch>
            <a:fillRect/>
          </a:stretch>
        </p:blipFill>
        <p:spPr>
          <a:xfrm>
            <a:off x="395605" y="2853055"/>
            <a:ext cx="41243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建XML字串(XML字串根據TP單據)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Shape 25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3895" y="1844675"/>
            <a:ext cx="7209790" cy="39617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Shape 256"/>
          <p:cNvSpPr txBox="1"/>
          <p:nvPr/>
        </p:nvSpPr>
        <p:spPr>
          <a:xfrm>
            <a:off x="4139565" y="5949950"/>
            <a:ext cx="37007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XML格式範例，呼叫方法SetStatus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Shape 257"/>
          <p:cNvSpPr/>
          <p:nvPr/>
        </p:nvSpPr>
        <p:spPr>
          <a:xfrm>
            <a:off x="3420110" y="1988820"/>
            <a:ext cx="1151890" cy="36004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物件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12405" y="5805170"/>
          <a:ext cx="923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showAsIcon="1" r:id="rId2" imgW="923925" imgH="838200" progId="Package">
                  <p:embed/>
                </p:oleObj>
              </mc:Choice>
              <mc:Fallback>
                <p:oleObj name="" showAsIcon="1" r:id="rId2" imgW="923925" imgH="838200" progId="Package">
                  <p:embed/>
                  <p:pic>
                    <p:nvPicPr>
                      <p:cNvPr id="0" name="圖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12405" y="5805170"/>
                        <a:ext cx="923925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efsrv-記錄LOG資訊，呼叫方法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Shape 263"/>
          <p:cNvSpPr txBox="1"/>
          <p:nvPr/>
        </p:nvSpPr>
        <p:spPr>
          <a:xfrm>
            <a:off x="755650" y="1772920"/>
            <a:ext cx="745934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-efsrv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Shape 26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55015" y="2492375"/>
            <a:ext cx="6299835" cy="155638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Shape 265"/>
          <p:cNvSpPr/>
          <p:nvPr/>
        </p:nvSpPr>
        <p:spPr>
          <a:xfrm>
            <a:off x="2555240" y="3140710"/>
            <a:ext cx="2303780" cy="28829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Shape 266"/>
          <p:cNvSpPr txBox="1"/>
          <p:nvPr/>
        </p:nvSpPr>
        <p:spPr>
          <a:xfrm>
            <a:off x="4283710" y="270891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用標準元件去呼叫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efsrv-分析回傳字串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Shape 273"/>
          <p:cNvSpPr txBox="1"/>
          <p:nvPr/>
        </p:nvSpPr>
        <p:spPr>
          <a:xfrm>
            <a:off x="827405" y="1772920"/>
            <a:ext cx="745934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Shape 27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5605" y="1844675"/>
            <a:ext cx="8395335" cy="38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finally時呼叫WrieLog寫LOG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Shape 28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1505" y="1700530"/>
            <a:ext cx="435737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Shape 28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39750" y="3140710"/>
            <a:ext cx="6390640" cy="316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/>
          <p:nvPr>
            <p:ph type="title"/>
          </p:nvPr>
        </p:nvSpPr>
        <p:spPr>
          <a:xfrm>
            <a:off x="1979613" y="620713"/>
            <a:ext cx="7019925" cy="6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特殊字元處理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179388" y="3971925"/>
            <a:ext cx="8545513" cy="25384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#region ReplaceXMLSpecialSign</a:t>
            </a:r>
            <a:endParaRPr lang="zh-TW" altLang="en-US" sz="2000" strike="noStrike" noProof="1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        private string ReplaceXMLSpecialSign(string pValue)</a:t>
            </a:r>
            <a:endParaRPr lang="zh-TW" altLang="en-US" sz="2000" strike="noStrike" noProof="1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        {</a:t>
            </a:r>
            <a:endParaRPr lang="zh-TW" altLang="en-US" sz="2000" strike="noStrike" noProof="1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           return pValue.Replace("&amp;", "&amp;amp;").Replace("&lt;", "&amp;lt;").Replace("&gt;", "&amp;gt;").Replace("'", "&amp;apos;").Replace("\"", "&amp;quot;");</a:t>
            </a:r>
            <a:endParaRPr lang="zh-TW" altLang="en-US" sz="2000" strike="noStrike" noProof="1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       }</a:t>
            </a:r>
            <a:endParaRPr lang="zh-TW" altLang="en-US" sz="2000" strike="noStrike" noProof="1"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defRPr/>
            </a:pPr>
            <a:r>
              <a:rPr lang="zh-TW" altLang="en-US" sz="2000" strike="noStrike" noProof="1">
                <a:sym typeface="+mn-ea"/>
              </a:rPr>
              <a:t>#endregion</a:t>
            </a:r>
            <a:endParaRPr kumimoji="0" lang="zh-TW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2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8" y="1502410"/>
            <a:ext cx="6146800" cy="233680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 txBox="1"/>
          <p:nvPr>
            <p:ph type="title"/>
          </p:nvPr>
        </p:nvSpPr>
        <p:spPr>
          <a:xfrm>
            <a:off x="1042988" y="2924175"/>
            <a:ext cx="7021512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End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WPS Presentation</Application>
  <PresentationFormat/>
  <Paragraphs>128</Paragraphs>
  <Slides>20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Office 佈景主題</vt:lpstr>
      <vt:lpstr>自訂設計</vt:lpstr>
      <vt:lpstr>Word.Document.8</vt:lpstr>
      <vt:lpstr>Package</vt:lpstr>
      <vt:lpstr> </vt:lpstr>
      <vt:lpstr>PowerPoint 演示文稿</vt:lpstr>
      <vt:lpstr>兩個接口的差別</vt:lpstr>
      <vt:lpstr>PowerPoint 演示文稿</vt:lpstr>
      <vt:lpstr>整合流程</vt:lpstr>
      <vt:lpstr>PowerPoint 演示文稿</vt:lpstr>
      <vt:lpstr>ttsrv-建立TIPTOP WS物件</vt:lpstr>
      <vt:lpstr>ttsrv-宣告</vt:lpstr>
      <vt:lpstr>建XML字串(XML字串根據TP單據)</vt:lpstr>
      <vt:lpstr>ttsrv-記錄LOG資訊，呼叫方法</vt:lpstr>
      <vt:lpstr>ttsrv-分析回傳字串</vt:lpstr>
      <vt:lpstr>PowerPoint 演示文稿</vt:lpstr>
      <vt:lpstr>efsrv-宣告</vt:lpstr>
      <vt:lpstr>efsrv呼叫方法限制</vt:lpstr>
      <vt:lpstr>建XML字串(XML字串根據TP單據)</vt:lpstr>
      <vt:lpstr>efsrv-記錄LOG資訊，呼叫方法</vt:lpstr>
      <vt:lpstr>efsrv-分析回傳字串</vt:lpstr>
      <vt:lpstr>finally時呼叫WrieLog寫LOG</vt:lpstr>
      <vt:lpstr>特殊字元處理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</dc:title>
  <dc:creator/>
  <cp:lastModifiedBy>Administrator</cp:lastModifiedBy>
  <cp:revision>9</cp:revision>
  <dcterms:created xsi:type="dcterms:W3CDTF">2018-04-13T06:26:00Z</dcterms:created>
  <dcterms:modified xsi:type="dcterms:W3CDTF">2018-06-04T07:52:14Z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