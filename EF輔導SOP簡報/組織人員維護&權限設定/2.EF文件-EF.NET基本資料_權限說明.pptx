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14"/>
        <p:guide pos="289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1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2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3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4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5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6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7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49" name="Google Shape;149;p8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9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10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11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82" name="Google Shape;182;p12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191" name="Google Shape;191;p13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4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1號員工建立的資料，誰看的到：1、2、4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2號員工建立的資料，誰看的到：1、2、4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3號員工建立的資料，誰看的到：1、2、4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4號員工建立的資料，誰看的到：2、4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5號員工建立的資料，誰看的到：2、4、5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1號員工看的到：台灣分公司、台北、台中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2號員工看的到：皆看的到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3號員工看的到：台中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4號員工看的到：皆看的到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zh-TW"/>
              <a:t>5號員工看的到：上海</a:t>
            </a:r>
            <a:endParaRPr lang="zh-TW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6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7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8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9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6" name="Google Shape;266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1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p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2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4" name="Google Shape;294;p2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23:notes"/>
          <p:cNvSpPr/>
          <p:nvPr>
            <p:ph type="sldImg" idx="2"/>
          </p:nvPr>
        </p:nvSpPr>
        <p:spPr>
          <a:xfrm>
            <a:off x="381533" y="685800"/>
            <a:ext cx="6094934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標題頁">
  <p:cSld name="TITLE">
    <p:bg>
      <p:bgPr>
        <a:solidFill>
          <a:schemeClr val="lt1"/>
        </a:solidFill>
        <a:effectLst/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5" descr="D:\工作區\2022工作區\01_40周年\簡報提案\pic\封面_藍.jpg封面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" y="866"/>
            <a:ext cx="9140190" cy="514175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5"/>
          <p:cNvSpPr txBox="1"/>
          <p:nvPr>
            <p:ph type="ctrTitle"/>
          </p:nvPr>
        </p:nvSpPr>
        <p:spPr>
          <a:xfrm>
            <a:off x="501015" y="960239"/>
            <a:ext cx="8139113" cy="18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25400" bIns="381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Arial" panose="020B0604020202020204"/>
              <a:buNone/>
              <a:defRPr sz="3375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6" name="Google Shape;16;p25" descr="D:\工作區\2022工作區\01_40周年\簡報提案\pic\字與slogan\贏在數位價值.png贏在數位價值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560000" y="4928108"/>
            <a:ext cx="1437542" cy="98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5" descr="鼎新logo_反白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5"/>
          <p:cNvSpPr txBox="1"/>
          <p:nvPr>
            <p:ph type="subTitle" idx="1"/>
          </p:nvPr>
        </p:nvSpPr>
        <p:spPr>
          <a:xfrm>
            <a:off x="2424859" y="3725672"/>
            <a:ext cx="4320000" cy="29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u="none" strike="noStrike" cap="none"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" name="Google Shape;19;p25"/>
          <p:cNvSpPr txBox="1"/>
          <p:nvPr>
            <p:ph type="body" idx="2"/>
          </p:nvPr>
        </p:nvSpPr>
        <p:spPr>
          <a:xfrm>
            <a:off x="2424859" y="4468264"/>
            <a:ext cx="4320000" cy="2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  <a:defRPr sz="15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0" name="Google Shape;20;p25"/>
          <p:cNvSpPr txBox="1"/>
          <p:nvPr>
            <p:ph type="body" idx="3"/>
          </p:nvPr>
        </p:nvSpPr>
        <p:spPr>
          <a:xfrm>
            <a:off x="2424827" y="4036241"/>
            <a:ext cx="4320064" cy="34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  <a:defRPr sz="2100" b="0" u="none" strike="noStrike" cap="none">
                <a:solidFill>
                  <a:srgbClr val="3F3F3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白底_空白">
  <p:cSld name="OBJECT">
    <p:bg>
      <p:bgPr>
        <a:solidFill>
          <a:schemeClr val="lt1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23" name="Google Shape;23;p26" descr="內頁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底_齊左">
  <p:cSld name="白底_齊左">
    <p:bg>
      <p:bgPr>
        <a:solidFill>
          <a:schemeClr val="lt1"/>
        </a:solidFill>
        <a:effectLst/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27" name="Google Shape;27;p27"/>
          <p:cNvSpPr txBox="1"/>
          <p:nvPr>
            <p:ph type="body" idx="1"/>
          </p:nvPr>
        </p:nvSpPr>
        <p:spPr>
          <a:xfrm>
            <a:off x="405000" y="1134140"/>
            <a:ext cx="8370000" cy="326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8" name="Google Shape;28;p27" descr="內頁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結尾頁">
  <p:cSld name="結尾頁">
    <p:bg>
      <p:bgPr>
        <a:solidFill>
          <a:schemeClr val="lt1"/>
        </a:solidFill>
        <a:effectLst/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8" descr="D:\工作區\2022工作區\01_40周年\簡報提案\pic\結尾_藍.jpg結尾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76" y="628"/>
            <a:ext cx="9141143" cy="5142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8" descr="D:\工作區\2022工作區\01_40周年\簡報提案\pic\字與slogan\贏在數位價值反白.png贏在數位價值反白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7560000" y="4928108"/>
            <a:ext cx="1445305" cy="9907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8"/>
          <p:cNvSpPr txBox="1"/>
          <p:nvPr>
            <p:ph type="title"/>
          </p:nvPr>
        </p:nvSpPr>
        <p:spPr>
          <a:xfrm>
            <a:off x="521048" y="1755217"/>
            <a:ext cx="8100000" cy="121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50"/>
              <a:buFont typeface="Arial" panose="020B0604020202020204"/>
              <a:buNone/>
              <a:defRPr sz="4050" b="1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type="body" idx="1"/>
          </p:nvPr>
        </p:nvSpPr>
        <p:spPr>
          <a:xfrm>
            <a:off x="521048" y="3010748"/>
            <a:ext cx="8100000" cy="494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28" descr="鼎新logo_反白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16000" y="135017"/>
            <a:ext cx="1215000" cy="332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底_居中">
  <p:cSld name="白底_居中">
    <p:bg>
      <p:bgPr>
        <a:solidFill>
          <a:schemeClr val="lt1"/>
        </a:solidFill>
        <a:effectLst/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9"/>
          <p:cNvSpPr txBox="1"/>
          <p:nvPr>
            <p:ph type="body" idx="1"/>
          </p:nvPr>
        </p:nvSpPr>
        <p:spPr>
          <a:xfrm>
            <a:off x="404813" y="1134091"/>
            <a:ext cx="8370094" cy="36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9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39" name="Google Shape;39;p29" descr="內頁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底紋_齊左">
  <p:cSld name="TITLE_ONLY">
    <p:bg>
      <p:bgPr>
        <a:solidFill>
          <a:schemeClr val="lt1"/>
        </a:solidFill>
        <a:effectLst/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0" descr="D:\工作區\2022工作區\01_40周年\簡報提案\pic\灰底紋鏤空.png灰底紋鏤空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0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0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44" name="Google Shape;44;p30"/>
          <p:cNvSpPr txBox="1"/>
          <p:nvPr>
            <p:ph type="body" idx="1"/>
          </p:nvPr>
        </p:nvSpPr>
        <p:spPr>
          <a:xfrm>
            <a:off x="404813" y="1134091"/>
            <a:ext cx="8370094" cy="3510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5" name="Google Shape;45;p30" descr="內頁_藍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底紋_居中">
  <p:cSld name="底紋_居中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31" descr="D:\工作區\2022工作區\01_40周年\簡報提案\pic\灰底紋鏤空.png灰底紋鏤空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1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1"/>
          <p:cNvSpPr txBox="1"/>
          <p:nvPr>
            <p:ph type="body" idx="1"/>
          </p:nvPr>
        </p:nvSpPr>
        <p:spPr>
          <a:xfrm>
            <a:off x="404813" y="1134091"/>
            <a:ext cx="8370094" cy="3645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350"/>
              <a:buFont typeface="Arial" panose="020B0604020202020204"/>
              <a:buNone/>
              <a:defRPr sz="135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1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51" name="Google Shape;51;p31" descr="內頁_藍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底紋_空白">
  <p:cSld name="底紋_空白">
    <p:bg>
      <p:bgPr>
        <a:solidFill>
          <a:schemeClr val="lt1"/>
        </a:solidFill>
        <a:effectLst/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32" descr="D:\工作區\2022工作區\01_40周年\簡報提案\pic\灰底紋鏤空.png灰底紋鏤空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223292" y="532922"/>
            <a:ext cx="5908358" cy="460209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2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pic>
        <p:nvPicPr>
          <p:cNvPr id="55" name="Google Shape;55;p32" descr="內頁_藍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白底_雙欄">
  <p:cSld name="SECTION_HEADER">
    <p:bg>
      <p:bgPr>
        <a:solidFill>
          <a:schemeClr val="lt1"/>
        </a:soli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 txBox="1"/>
          <p:nvPr>
            <p:ph type="body" idx="1"/>
          </p:nvPr>
        </p:nvSpPr>
        <p:spPr>
          <a:xfrm>
            <a:off x="405000" y="1210274"/>
            <a:ext cx="3962432" cy="351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 u="none" strike="noStrike" cap="none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58" name="Google Shape;58;p33"/>
          <p:cNvSpPr txBox="1"/>
          <p:nvPr>
            <p:ph type="body" idx="2"/>
          </p:nvPr>
        </p:nvSpPr>
        <p:spPr>
          <a:xfrm>
            <a:off x="405000" y="1606299"/>
            <a:ext cx="3962400" cy="297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Autofit/>
          </a:bodyPr>
          <a:lstStyle>
            <a:lvl1pPr marL="457200" marR="0" lvl="0" indent="-304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body" idx="3"/>
          </p:nvPr>
        </p:nvSpPr>
        <p:spPr>
          <a:xfrm>
            <a:off x="4676813" y="1210274"/>
            <a:ext cx="3962432" cy="351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60" name="Google Shape;60;p33"/>
          <p:cNvSpPr txBox="1"/>
          <p:nvPr>
            <p:ph type="body" idx="4"/>
          </p:nvPr>
        </p:nvSpPr>
        <p:spPr>
          <a:xfrm>
            <a:off x="4676813" y="1606299"/>
            <a:ext cx="3962432" cy="2970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0" rIns="82550" bIns="0" anchor="t" anchorCtr="0">
            <a:noAutofit/>
          </a:bodyPr>
          <a:lstStyle>
            <a:lvl1pPr marL="457200" marR="0" lvl="0" indent="-3048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0480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1200"/>
              <a:buFont typeface="Arial" panose="020B0604020202020204"/>
              <a:buChar char="•"/>
              <a:defRPr sz="1200" b="0" i="0" u="none" strike="noStrike" cap="none">
                <a:solidFill>
                  <a:srgbClr val="3F3F3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lvl="5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" name="Google Shape;61;p33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  <p:sp>
        <p:nvSpPr>
          <p:cNvPr id="62" name="Google Shape;62;p33"/>
          <p:cNvSpPr txBox="1"/>
          <p:nvPr>
            <p:ph type="title"/>
          </p:nvPr>
        </p:nvSpPr>
        <p:spPr>
          <a:xfrm>
            <a:off x="405000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3" name="Google Shape;63;p33" descr="內頁_藍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9144900" cy="4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04813" y="540134"/>
            <a:ext cx="78867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  <a:defRPr sz="2400" b="1" i="0" u="none" strike="noStrike" cap="none">
                <a:solidFill>
                  <a:srgbClr val="41B6E7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type="body" idx="1"/>
          </p:nvPr>
        </p:nvSpPr>
        <p:spPr>
          <a:xfrm>
            <a:off x="405000" y="1134140"/>
            <a:ext cx="7886700" cy="326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type="sldNum" idx="12"/>
          </p:nvPr>
        </p:nvSpPr>
        <p:spPr>
          <a:xfrm>
            <a:off x="7061835" y="4872514"/>
            <a:ext cx="2025000" cy="23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</a:fld>
            <a:endParaRPr lang="zh-TW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Microsoft YaHei" panose="020B0503020204020204" charset="-122"/>
          <a:ea typeface="Microsoft YaHei" panose="020B0503020204020204" charset="-122"/>
          <a:cs typeface="Microsoft Tai Le" panose="020B0502040204020203" charset="0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"/>
          <p:cNvSpPr txBox="1"/>
          <p:nvPr>
            <p:ph type="ctrTitle"/>
          </p:nvPr>
        </p:nvSpPr>
        <p:spPr>
          <a:xfrm>
            <a:off x="501015" y="960239"/>
            <a:ext cx="8139113" cy="18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25400" bIns="381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 panose="020B0604020202020204"/>
              <a:buNone/>
            </a:pPr>
            <a:r>
              <a:rPr lang="zh-TW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EasyFlow電子簽核系統</a:t>
            </a:r>
            <a:br>
              <a:rPr lang="zh-TW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r>
              <a:rPr lang="zh-TW"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基本資料&amp;權限說明</a:t>
            </a:r>
            <a:br>
              <a:rPr lang="zh-TW">
                <a:solidFill>
                  <a:schemeClr val="lt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</a:br>
            <a:endParaRPr lang="zh-TW">
              <a:solidFill>
                <a:schemeClr val="lt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69" name="Google Shape;69;p1"/>
          <p:cNvSpPr txBox="1"/>
          <p:nvPr>
            <p:ph type="subTitle" idx="1"/>
          </p:nvPr>
        </p:nvSpPr>
        <p:spPr>
          <a:xfrm>
            <a:off x="2424859" y="3725672"/>
            <a:ext cx="4320000" cy="29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</a:pPr>
            <a:r>
              <a:rPr lang="zh-TW">
                <a:latin typeface="Microsoft YaHei" panose="020B0503020204020204" charset="-122"/>
                <a:ea typeface="Microsoft YaHei" panose="020B0503020204020204" charset="-122"/>
              </a:rPr>
              <a:t>價值交付組</a:t>
            </a:r>
            <a:endParaRPr lang="zh-TW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0" name="Google Shape;70;p1"/>
          <p:cNvSpPr txBox="1"/>
          <p:nvPr>
            <p:ph type="body" idx="2"/>
          </p:nvPr>
        </p:nvSpPr>
        <p:spPr>
          <a:xfrm>
            <a:off x="2424859" y="4468264"/>
            <a:ext cx="4320000" cy="29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500"/>
              <a:buNone/>
            </a:pPr>
            <a:r>
              <a:rPr lang="zh-TW">
                <a:latin typeface="Microsoft YaHei" panose="020B0503020204020204" charset="-122"/>
                <a:ea typeface="Microsoft YaHei" panose="020B0503020204020204" charset="-122"/>
              </a:rPr>
              <a:t>2022/03/07</a:t>
            </a:r>
            <a:endParaRPr lang="zh-TW"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1" name="Google Shape;71;p1"/>
          <p:cNvSpPr txBox="1"/>
          <p:nvPr>
            <p:ph type="body" idx="3"/>
          </p:nvPr>
        </p:nvSpPr>
        <p:spPr>
          <a:xfrm>
            <a:off x="2424827" y="4036241"/>
            <a:ext cx="4320064" cy="344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100"/>
              <a:buNone/>
            </a:pPr>
            <a:r>
              <a:rPr lang="zh-TW" altLang="en-US">
                <a:latin typeface="Microsoft YaHei" panose="020B0503020204020204" charset="-122"/>
                <a:ea typeface="Microsoft YaHei" panose="020B0503020204020204" charset="-122"/>
              </a:rPr>
              <a:t>沈亞墨</a:t>
            </a:r>
            <a:endParaRPr lang="zh-TW" altLang="en-US"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oogle Shape;76;p2"/>
          <p:cNvGrpSpPr/>
          <p:nvPr/>
        </p:nvGrpSpPr>
        <p:grpSpPr>
          <a:xfrm>
            <a:off x="1815465" y="1129030"/>
            <a:ext cx="5542598" cy="612656"/>
            <a:chOff x="3482" y="2370"/>
            <a:chExt cx="11638" cy="1286"/>
          </a:xfrm>
        </p:grpSpPr>
        <p:grpSp>
          <p:nvGrpSpPr>
            <p:cNvPr id="77" name="Google Shape;77;p2"/>
            <p:cNvGrpSpPr/>
            <p:nvPr/>
          </p:nvGrpSpPr>
          <p:grpSpPr>
            <a:xfrm>
              <a:off x="3482" y="3497"/>
              <a:ext cx="11622" cy="117"/>
              <a:chOff x="0" y="2075"/>
              <a:chExt cx="6698" cy="1067"/>
            </a:xfrm>
          </p:grpSpPr>
          <p:sp>
            <p:nvSpPr>
              <p:cNvPr id="78" name="Google Shape;78;p2"/>
              <p:cNvSpPr/>
              <p:nvPr/>
            </p:nvSpPr>
            <p:spPr>
              <a:xfrm>
                <a:off x="0" y="2325"/>
                <a:ext cx="6698" cy="817"/>
              </a:xfrm>
              <a:prstGeom prst="rect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79" name="Google Shape;79;p2"/>
              <p:cNvSpPr/>
              <p:nvPr/>
            </p:nvSpPr>
            <p:spPr>
              <a:xfrm rot="10800000" flipH="1">
                <a:off x="0" y="2086"/>
                <a:ext cx="6698" cy="246"/>
              </a:xfrm>
              <a:prstGeom prst="rect">
                <a:avLst/>
              </a:prstGeom>
              <a:gradFill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80" name="Google Shape;80;p2"/>
              <p:cNvSpPr txBox="1"/>
              <p:nvPr/>
            </p:nvSpPr>
            <p:spPr>
              <a:xfrm flipH="1">
                <a:off x="0" y="2075"/>
                <a:ext cx="6698" cy="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81" name="Google Shape;81;p2"/>
            <p:cNvGrpSpPr/>
            <p:nvPr/>
          </p:nvGrpSpPr>
          <p:grpSpPr>
            <a:xfrm>
              <a:off x="3756" y="2370"/>
              <a:ext cx="3404" cy="1286"/>
              <a:chOff x="497" y="935"/>
              <a:chExt cx="1872" cy="746"/>
            </a:xfrm>
          </p:grpSpPr>
          <p:pic>
            <p:nvPicPr>
              <p:cNvPr id="82" name="Google Shape;82;p2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" name="Google Shape;83;p2"/>
              <p:cNvSpPr/>
              <p:nvPr/>
            </p:nvSpPr>
            <p:spPr>
              <a:xfrm>
                <a:off x="753" y="935"/>
                <a:ext cx="1127" cy="669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1520" extrusionOk="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4" name="Google Shape;84;p2"/>
              <p:cNvSpPr/>
              <p:nvPr/>
            </p:nvSpPr>
            <p:spPr>
              <a:xfrm>
                <a:off x="739" y="947"/>
                <a:ext cx="1126" cy="661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04" extrusionOk="0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47" y="942"/>
                <a:ext cx="1128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6" name="Google Shape;86;p2"/>
              <p:cNvSpPr/>
              <p:nvPr/>
            </p:nvSpPr>
            <p:spPr>
              <a:xfrm>
                <a:off x="746" y="941"/>
                <a:ext cx="1129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87" name="Google Shape;87;p2"/>
              <p:cNvSpPr txBox="1"/>
              <p:nvPr/>
            </p:nvSpPr>
            <p:spPr>
              <a:xfrm flipH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000"/>
                  <a:buFont typeface="Arial" panose="020B0604020202020204"/>
                  <a:buNone/>
                </a:pPr>
                <a:r>
                  <a:rPr lang="zh-TW" sz="3000" b="1" i="0" u="none" strike="noStrike" cap="none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</a:t>
                </a:r>
                <a:endParaRPr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88" name="Google Shape;88;p2" descr="yy"/>
              <p:cNvPicPr preferRelativeResize="0"/>
              <p:nvPr/>
            </p:nvPicPr>
            <p:blipFill rotWithShape="1">
              <a:blip r:embed="rId2"/>
              <a:srcRect t="52698"/>
              <a:stretch>
                <a:fillRect/>
              </a:stretch>
            </p:blipFill>
            <p:spPr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89" name="Google Shape;89;p2"/>
            <p:cNvSpPr txBox="1"/>
            <p:nvPr/>
          </p:nvSpPr>
          <p:spPr>
            <a:xfrm>
              <a:off x="6690" y="2572"/>
              <a:ext cx="8430" cy="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B6E7"/>
                </a:buClr>
                <a:buSzPts val="2400"/>
                <a:buFont typeface="Microsoft YaHei" panose="020B0503020204020204" charset="-122"/>
                <a:buNone/>
              </a:pPr>
              <a:r>
                <a:rPr lang="zh-TW" sz="2400" b="1" i="0" u="none" strike="noStrike" cap="none">
                  <a:solidFill>
                    <a:srgbClr val="41B6E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組織與員工基本資料維護</a:t>
              </a:r>
              <a:endParaRPr sz="2400" b="1" i="0" u="none" strike="noStrike" cap="none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pSp>
        <p:nvGrpSpPr>
          <p:cNvPr id="90" name="Google Shape;90;p2"/>
          <p:cNvGrpSpPr/>
          <p:nvPr/>
        </p:nvGrpSpPr>
        <p:grpSpPr>
          <a:xfrm>
            <a:off x="1815465" y="1969611"/>
            <a:ext cx="5542598" cy="612656"/>
            <a:chOff x="3482" y="4152"/>
            <a:chExt cx="11638" cy="1286"/>
          </a:xfrm>
        </p:grpSpPr>
        <p:grpSp>
          <p:nvGrpSpPr>
            <p:cNvPr id="91" name="Google Shape;91;p2"/>
            <p:cNvGrpSpPr/>
            <p:nvPr/>
          </p:nvGrpSpPr>
          <p:grpSpPr>
            <a:xfrm>
              <a:off x="3482" y="5279"/>
              <a:ext cx="11622" cy="117"/>
              <a:chOff x="0" y="2075"/>
              <a:chExt cx="6698" cy="1067"/>
            </a:xfrm>
          </p:grpSpPr>
          <p:sp>
            <p:nvSpPr>
              <p:cNvPr id="92" name="Google Shape;92;p2"/>
              <p:cNvSpPr/>
              <p:nvPr/>
            </p:nvSpPr>
            <p:spPr>
              <a:xfrm>
                <a:off x="0" y="2325"/>
                <a:ext cx="6698" cy="817"/>
              </a:xfrm>
              <a:prstGeom prst="rect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 rot="10800000" flipH="1">
                <a:off x="0" y="2086"/>
                <a:ext cx="6698" cy="246"/>
              </a:xfrm>
              <a:prstGeom prst="rect">
                <a:avLst/>
              </a:prstGeom>
              <a:gradFill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94" name="Google Shape;94;p2"/>
              <p:cNvSpPr txBox="1"/>
              <p:nvPr/>
            </p:nvSpPr>
            <p:spPr>
              <a:xfrm flipH="1">
                <a:off x="0" y="2075"/>
                <a:ext cx="6698" cy="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95" name="Google Shape;95;p2"/>
            <p:cNvGrpSpPr/>
            <p:nvPr/>
          </p:nvGrpSpPr>
          <p:grpSpPr>
            <a:xfrm>
              <a:off x="3756" y="4152"/>
              <a:ext cx="3404" cy="1286"/>
              <a:chOff x="497" y="935"/>
              <a:chExt cx="1872" cy="746"/>
            </a:xfrm>
          </p:grpSpPr>
          <p:pic>
            <p:nvPicPr>
              <p:cNvPr id="96" name="Google Shape;96;p2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7" name="Google Shape;97;p2"/>
              <p:cNvSpPr/>
              <p:nvPr/>
            </p:nvSpPr>
            <p:spPr>
              <a:xfrm>
                <a:off x="753" y="935"/>
                <a:ext cx="1127" cy="669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1520" extrusionOk="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739" y="947"/>
                <a:ext cx="1126" cy="661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04" extrusionOk="0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747" y="942"/>
                <a:ext cx="1128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0" name="Google Shape;100;p2"/>
              <p:cNvSpPr/>
              <p:nvPr/>
            </p:nvSpPr>
            <p:spPr>
              <a:xfrm>
                <a:off x="746" y="941"/>
                <a:ext cx="1129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101" name="Google Shape;101;p2"/>
              <p:cNvSpPr txBox="1"/>
              <p:nvPr/>
            </p:nvSpPr>
            <p:spPr>
              <a:xfrm flipH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000"/>
                  <a:buFont typeface="Arial" panose="020B0604020202020204"/>
                  <a:buNone/>
                </a:pPr>
                <a:r>
                  <a:rPr lang="zh-TW" sz="3000" b="1" i="0" u="none" strike="noStrike" cap="none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endParaRPr sz="3000" b="1" i="0" u="none" strike="noStrike" cap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102" name="Google Shape;102;p2" descr="yy"/>
              <p:cNvPicPr preferRelativeResize="0"/>
              <p:nvPr/>
            </p:nvPicPr>
            <p:blipFill rotWithShape="1">
              <a:blip r:embed="rId2"/>
              <a:srcRect t="52698"/>
              <a:stretch>
                <a:fillRect/>
              </a:stretch>
            </p:blipFill>
            <p:spPr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03" name="Google Shape;103;p2"/>
            <p:cNvSpPr txBox="1"/>
            <p:nvPr/>
          </p:nvSpPr>
          <p:spPr>
            <a:xfrm>
              <a:off x="6690" y="4357"/>
              <a:ext cx="8430" cy="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B6E7"/>
                </a:buClr>
                <a:buSzPts val="2400"/>
                <a:buFont typeface="Microsoft YaHei" panose="020B0503020204020204" charset="-122"/>
                <a:buNone/>
              </a:pPr>
              <a:r>
                <a:rPr lang="zh-TW" sz="2400" b="1" i="0" u="none" strike="noStrike" cap="none">
                  <a:solidFill>
                    <a:srgbClr val="41B6E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使用者系統權限維護</a:t>
              </a:r>
              <a:endParaRPr sz="2400" b="1" i="0" u="none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組織與員工導入程序</a:t>
            </a:r>
            <a:endParaRPr lang="zh-TW"/>
          </a:p>
        </p:txBody>
      </p:sp>
      <p:sp>
        <p:nvSpPr>
          <p:cNvPr id="109" name="Google Shape;109;p3"/>
          <p:cNvSpPr txBox="1"/>
          <p:nvPr>
            <p:ph type="body" idx="1"/>
          </p:nvPr>
        </p:nvSpPr>
        <p:spPr>
          <a:xfrm>
            <a:off x="720725" y="2004695"/>
            <a:ext cx="2787015" cy="12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Microsoft YaHei" panose="020B0503020204020204" charset="-122"/>
              <a:buNone/>
            </a:pPr>
            <a:r>
              <a:rPr lang="zh-TW" sz="1400">
                <a:solidFill>
                  <a:srgbClr val="7030A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1.部門職稱代號維護作業</a:t>
            </a:r>
            <a:endParaRPr sz="1400">
              <a:solidFill>
                <a:srgbClr val="7030A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Microsoft YaHei" panose="020B0503020204020204" charset="-122"/>
              <a:buNone/>
            </a:pPr>
            <a:r>
              <a:rPr lang="zh-TW" sz="1400">
                <a:solidFill>
                  <a:srgbClr val="7030A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2.部門職務代號維護作業</a:t>
            </a:r>
            <a:endParaRPr sz="1400">
              <a:solidFill>
                <a:srgbClr val="7030A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Microsoft YaHei" panose="020B0503020204020204" charset="-122"/>
              <a:buNone/>
            </a:pPr>
            <a:r>
              <a:rPr lang="zh-TW" sz="1400">
                <a:solidFill>
                  <a:srgbClr val="7030A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3.簽核層級代號維護作業</a:t>
            </a:r>
            <a:endParaRPr sz="1400">
              <a:solidFill>
                <a:srgbClr val="7030A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Microsoft YaHei" panose="020B0503020204020204" charset="-122"/>
              <a:buNone/>
            </a:pPr>
            <a:r>
              <a:rPr lang="zh-TW" sz="1400">
                <a:solidFill>
                  <a:srgbClr val="7030A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4.部門屬性代號維護作業</a:t>
            </a:r>
            <a:endParaRPr sz="1400">
              <a:solidFill>
                <a:srgbClr val="7030A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Microsoft YaHei" panose="020B0503020204020204" charset="-122"/>
              <a:buNone/>
            </a:pPr>
            <a:r>
              <a:rPr lang="zh-TW" sz="1400">
                <a:solidFill>
                  <a:srgbClr val="7030A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5.機密等級代號維護作業</a:t>
            </a:r>
            <a:endParaRPr sz="1400"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110" name="Google Shape;110;p3"/>
          <p:cNvGrpSpPr/>
          <p:nvPr/>
        </p:nvGrpSpPr>
        <p:grpSpPr>
          <a:xfrm>
            <a:off x="874057" y="3347453"/>
            <a:ext cx="6450364" cy="992363"/>
            <a:chOff x="2837" y="943978"/>
            <a:chExt cx="6450364" cy="992363"/>
          </a:xfrm>
        </p:grpSpPr>
        <p:sp>
          <p:nvSpPr>
            <p:cNvPr id="111" name="Google Shape;111;p3"/>
            <p:cNvSpPr/>
            <p:nvPr/>
          </p:nvSpPr>
          <p:spPr>
            <a:xfrm>
              <a:off x="2837" y="943978"/>
              <a:ext cx="2480909" cy="992363"/>
            </a:xfrm>
            <a:prstGeom prst="homePlate">
              <a:avLst>
                <a:gd name="adj" fmla="val 50000"/>
              </a:avLst>
            </a:prstGeom>
            <a:solidFill>
              <a:schemeClr val="accent4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2837" y="943978"/>
              <a:ext cx="2480909" cy="992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2675" tIns="61325" rIns="30650" bIns="61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微軟正黑體" panose="020B0604030504040204" charset="-120"/>
                <a:buNone/>
              </a:pPr>
              <a:r>
                <a:rPr lang="zh-TW" sz="2300" b="0" i="0" u="none">
                  <a:solidFill>
                    <a:schemeClr val="lt1"/>
                  </a:solidFill>
                  <a:latin typeface="微軟正黑體" panose="020B0604030504040204" charset="-120"/>
                  <a:ea typeface="微軟正黑體" panose="020B0604030504040204" charset="-120"/>
                  <a:cs typeface="微軟正黑體" panose="020B0604030504040204" charset="-120"/>
                  <a:sym typeface="微軟正黑體" panose="020B0604030504040204" charset="-120"/>
                </a:rPr>
                <a:t>組織內基本資料</a:t>
              </a:r>
              <a:endParaRPr sz="2300" b="0" i="0" u="none">
                <a:solidFill>
                  <a:schemeClr val="lt1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  <a:sym typeface="微軟正黑體" panose="020B0604030504040204" charset="-120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1987565" y="943978"/>
              <a:ext cx="2480909" cy="992363"/>
            </a:xfrm>
            <a:prstGeom prst="chevron">
              <a:avLst>
                <a:gd name="adj" fmla="val 50000"/>
              </a:avLst>
            </a:prstGeom>
            <a:solidFill>
              <a:srgbClr val="FF1905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1987565" y="943978"/>
              <a:ext cx="2480909" cy="992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00" tIns="61325" rIns="30650" bIns="61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微軟正黑體" panose="020B0604030504040204" charset="-120"/>
                <a:buNone/>
              </a:pPr>
              <a:r>
                <a:rPr lang="zh-TW" sz="2300" b="0" i="0" u="none">
                  <a:solidFill>
                    <a:schemeClr val="lt1"/>
                  </a:solidFill>
                  <a:latin typeface="微軟正黑體" panose="020B0604030504040204" charset="-120"/>
                  <a:ea typeface="微軟正黑體" panose="020B0604030504040204" charset="-120"/>
                  <a:cs typeface="微軟正黑體" panose="020B0604030504040204" charset="-120"/>
                  <a:sym typeface="微軟正黑體" panose="020B0604030504040204" charset="-120"/>
                </a:rPr>
                <a:t>部門資料</a:t>
              </a:r>
              <a:endParaRPr lang="zh-TW" sz="2300" b="0" i="0" u="none">
                <a:solidFill>
                  <a:schemeClr val="lt1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  <a:sym typeface="微軟正黑體" panose="020B0604030504040204" charset="-120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972292" y="943978"/>
              <a:ext cx="2480909" cy="992363"/>
            </a:xfrm>
            <a:prstGeom prst="chevron">
              <a:avLst>
                <a:gd name="adj" fmla="val 50000"/>
              </a:avLst>
            </a:prstGeom>
            <a:solidFill>
              <a:srgbClr val="FE0A0A"/>
            </a:solidFill>
            <a:ln w="254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6" name="Google Shape;116;p3"/>
            <p:cNvSpPr txBox="1"/>
            <p:nvPr/>
          </p:nvSpPr>
          <p:spPr>
            <a:xfrm>
              <a:off x="3972292" y="943978"/>
              <a:ext cx="2480909" cy="9923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2000" tIns="61325" rIns="30650" bIns="613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微軟正黑體" panose="020B0604030504040204" charset="-120"/>
                <a:buNone/>
              </a:pPr>
              <a:r>
                <a:rPr lang="zh-TW" sz="2300" b="0" i="0" u="none">
                  <a:solidFill>
                    <a:schemeClr val="lt1"/>
                  </a:solidFill>
                  <a:latin typeface="微軟正黑體" panose="020B0604030504040204" charset="-120"/>
                  <a:ea typeface="微軟正黑體" panose="020B0604030504040204" charset="-120"/>
                  <a:cs typeface="微軟正黑體" panose="020B0604030504040204" charset="-120"/>
                  <a:sym typeface="微軟正黑體" panose="020B0604030504040204" charset="-120"/>
                </a:rPr>
                <a:t>員工資料</a:t>
              </a:r>
              <a:endParaRPr lang="zh-TW" sz="2300" b="0" i="0" u="none">
                <a:solidFill>
                  <a:schemeClr val="lt1"/>
                </a:solidFill>
                <a:latin typeface="微軟正黑體" panose="020B0604030504040204" charset="-120"/>
                <a:ea typeface="微軟正黑體" panose="020B0604030504040204" charset="-120"/>
                <a:cs typeface="微軟正黑體" panose="020B0604030504040204" charset="-120"/>
                <a:sym typeface="微軟正黑體" panose="020B0604030504040204" charset="-120"/>
              </a:endParaRPr>
            </a:p>
          </p:txBody>
        </p:sp>
      </p:grpSp>
      <p:sp>
        <p:nvSpPr>
          <p:cNvPr id="117" name="Google Shape;117;p3"/>
          <p:cNvSpPr/>
          <p:nvPr/>
        </p:nvSpPr>
        <p:spPr>
          <a:xfrm>
            <a:off x="2858770" y="2004695"/>
            <a:ext cx="2351405" cy="12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Font typeface="Arial" panose="020B0604020202020204"/>
              <a:buNone/>
            </a:pPr>
            <a:r>
              <a:rPr lang="zh-TW" sz="1400" b="0" i="0" u="none" strike="noStrike" cap="none">
                <a:solidFill>
                  <a:srgbClr val="0000FF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6.組織資料維護作業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4973320" y="2004695"/>
            <a:ext cx="2351405" cy="122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Arial" panose="020B0604020202020204"/>
              <a:buNone/>
            </a:pPr>
            <a:r>
              <a:rPr lang="zh-TW" sz="1400" b="0" i="0" u="none" strike="noStrike" cap="none">
                <a:solidFill>
                  <a:schemeClr val="accent6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7.員工資料維護作業</a:t>
            </a:r>
            <a:endParaRPr sz="1400" b="0" i="0" u="none" strike="noStrike" cap="none">
              <a:solidFill>
                <a:schemeClr val="accent6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維護組織、員工資料</a:t>
            </a:r>
            <a:endParaRPr lang="zh-TW"/>
          </a:p>
        </p:txBody>
      </p:sp>
      <p:pic>
        <p:nvPicPr>
          <p:cNvPr id="124" name="Google Shape;124;p4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5151" y="1134384"/>
            <a:ext cx="2592444" cy="3835674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 txBox="1"/>
          <p:nvPr/>
        </p:nvSpPr>
        <p:spPr>
          <a:xfrm>
            <a:off x="405130" y="1134110"/>
            <a:ext cx="2138680" cy="514350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 panose="020B0604020202020204"/>
              <a:buNone/>
            </a:pPr>
            <a:endParaRPr sz="1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員工資料維護作業</a:t>
            </a:r>
            <a:endParaRPr lang="zh-TW"/>
          </a:p>
        </p:txBody>
      </p:sp>
      <p:pic>
        <p:nvPicPr>
          <p:cNvPr id="131" name="Google Shape;131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93395" y="1160145"/>
            <a:ext cx="8157845" cy="3441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員工資料維護作業</a:t>
            </a:r>
            <a:endParaRPr lang="zh-TW"/>
          </a:p>
        </p:txBody>
      </p:sp>
      <p:pic>
        <p:nvPicPr>
          <p:cNvPr id="137" name="Google Shape;137;p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5130" y="1505585"/>
            <a:ext cx="8543290" cy="354393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6"/>
          <p:cNvSpPr txBox="1"/>
          <p:nvPr/>
        </p:nvSpPr>
        <p:spPr>
          <a:xfrm>
            <a:off x="481965" y="2985770"/>
            <a:ext cx="3129915" cy="186055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 panose="020B0604020202020204"/>
              <a:buNone/>
            </a:pPr>
            <a:endParaRPr sz="1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481965" y="952500"/>
            <a:ext cx="478345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新增員工時，如勾選同步建立登入帳號密碼，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則不需再至「登入者建立與密碼變更作業」進行新增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新增登入者帳號與密碼</a:t>
            </a:r>
            <a:endParaRPr lang="zh-TW"/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1595" y="1080135"/>
            <a:ext cx="9020810" cy="275653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237490" y="2352040"/>
            <a:ext cx="1053465" cy="164465"/>
          </a:xfrm>
          <a:prstGeom prst="rect">
            <a:avLst/>
          </a:prstGeom>
          <a:noFill/>
          <a:ln w="38100" cap="flat" cmpd="sng">
            <a:solidFill>
              <a:srgbClr val="FF3300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Arial" panose="020B0604020202020204"/>
              <a:buNone/>
            </a:pPr>
            <a:endParaRPr sz="100" b="0" i="0" u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離職員工查詢作業</a:t>
            </a:r>
            <a:endParaRPr lang="zh-TW"/>
          </a:p>
        </p:txBody>
      </p:sp>
      <p:pic>
        <p:nvPicPr>
          <p:cNvPr id="152" name="Google Shape;152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2317" y="1492114"/>
            <a:ext cx="6700819" cy="933613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8"/>
          <p:cNvSpPr/>
          <p:nvPr/>
        </p:nvSpPr>
        <p:spPr>
          <a:xfrm>
            <a:off x="7300595" y="1415415"/>
            <a:ext cx="1729105" cy="252730"/>
          </a:xfrm>
          <a:prstGeom prst="wedgeRectCallout">
            <a:avLst>
              <a:gd name="adj1" fmla="val -61604"/>
              <a:gd name="adj2" fmla="val 23869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離職人員可復職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2974975" y="1995805"/>
            <a:ext cx="739775" cy="327025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5" name="Google Shape;155;p8"/>
          <p:cNvSpPr txBox="1"/>
          <p:nvPr/>
        </p:nvSpPr>
        <p:spPr>
          <a:xfrm>
            <a:off x="481965" y="952500"/>
            <a:ext cx="4783455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登入者帳號會加上_U，該員工無法登入電子簽核系統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幽靈人口查詢作業</a:t>
            </a:r>
            <a:endParaRPr lang="zh-TW"/>
          </a:p>
        </p:txBody>
      </p:sp>
      <p:sp>
        <p:nvSpPr>
          <p:cNvPr id="161" name="Google Shape;161;p9"/>
          <p:cNvSpPr txBox="1"/>
          <p:nvPr/>
        </p:nvSpPr>
        <p:spPr>
          <a:xfrm>
            <a:off x="481965" y="945515"/>
            <a:ext cx="4783455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組織、人員異動後可檢查此作業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62" name="Google Shape;162;p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1973" y="1335101"/>
            <a:ext cx="6295935" cy="28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6036310" y="3877310"/>
            <a:ext cx="2656205" cy="267335"/>
          </a:xfrm>
          <a:prstGeom prst="wedgeRectCallout">
            <a:avLst>
              <a:gd name="adj1" fmla="val -59586"/>
              <a:gd name="adj2" fmla="val 12232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無部門資料者，則為幽靈人口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組織資料維護作業</a:t>
            </a:r>
            <a:endParaRPr lang="zh-TW"/>
          </a:p>
        </p:txBody>
      </p:sp>
      <p:pic>
        <p:nvPicPr>
          <p:cNvPr id="169" name="Google Shape;169;p10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4850" y="1221795"/>
            <a:ext cx="6459080" cy="3216441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/>
          <p:nvPr/>
        </p:nvSpPr>
        <p:spPr>
          <a:xfrm>
            <a:off x="5464175" y="1515110"/>
            <a:ext cx="2317115" cy="311150"/>
          </a:xfrm>
          <a:prstGeom prst="wedgeRectCallout">
            <a:avLst>
              <a:gd name="adj1" fmla="val -63181"/>
              <a:gd name="adj2" fmla="val -19183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部門代號唯一值，不得重複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71" name="Google Shape;171;p10"/>
          <p:cNvSpPr/>
          <p:nvPr/>
        </p:nvSpPr>
        <p:spPr>
          <a:xfrm>
            <a:off x="5609590" y="2563495"/>
            <a:ext cx="1500505" cy="274955"/>
          </a:xfrm>
          <a:prstGeom prst="wedgeRectCallout">
            <a:avLst>
              <a:gd name="adj1" fmla="val -58209"/>
              <a:gd name="adj2" fmla="val -9160"/>
            </a:avLst>
          </a:prstGeom>
          <a:gradFill>
            <a:gsLst>
              <a:gs pos="0">
                <a:srgbClr val="B4D4A5"/>
              </a:gs>
              <a:gs pos="50000">
                <a:srgbClr val="A8CD97"/>
              </a:gs>
              <a:gs pos="100000">
                <a:srgbClr val="9BC985"/>
              </a:gs>
            </a:gsLst>
            <a:lin ang="5400000" scaled="0"/>
          </a:gradFill>
          <a:ln w="9525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決定組織架構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sp>
        <p:nvSpPr>
          <p:cNvPr id="172" name="Google Shape;172;p10"/>
          <p:cNvSpPr/>
          <p:nvPr/>
        </p:nvSpPr>
        <p:spPr>
          <a:xfrm>
            <a:off x="5609590" y="2889250"/>
            <a:ext cx="2491105" cy="303530"/>
          </a:xfrm>
          <a:prstGeom prst="wedgeRectCallout">
            <a:avLst>
              <a:gd name="adj1" fmla="val -55607"/>
              <a:gd name="adj2" fmla="val -35146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部門主管為部門成員之一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刪除組織資料維護</a:t>
            </a:r>
            <a:endParaRPr lang="zh-TW"/>
          </a:p>
        </p:txBody>
      </p:sp>
      <p:pic>
        <p:nvPicPr>
          <p:cNvPr id="178" name="Google Shape;178;p1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4946" y="1180358"/>
            <a:ext cx="6750834" cy="82405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1"/>
          <p:cNvSpPr/>
          <p:nvPr/>
        </p:nvSpPr>
        <p:spPr>
          <a:xfrm>
            <a:off x="7322185" y="1180465"/>
            <a:ext cx="1729105" cy="252730"/>
          </a:xfrm>
          <a:prstGeom prst="wedgeRectCallout">
            <a:avLst>
              <a:gd name="adj1" fmla="val -61604"/>
              <a:gd name="adj2" fmla="val 23869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icrosoft YaHei" panose="020B0503020204020204" charset="-122"/>
              <a:buNone/>
            </a:pPr>
            <a:r>
              <a:rPr lang="zh-TW" sz="140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部門可復工</a:t>
            </a:r>
            <a:endParaRPr sz="140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直屬部門主管調整作業</a:t>
            </a:r>
            <a:endParaRPr lang="zh-TW"/>
          </a:p>
        </p:txBody>
      </p:sp>
      <p:sp>
        <p:nvSpPr>
          <p:cNvPr id="185" name="Google Shape;185;p12"/>
          <p:cNvSpPr txBox="1"/>
          <p:nvPr/>
        </p:nvSpPr>
        <p:spPr>
          <a:xfrm>
            <a:off x="481965" y="945515"/>
            <a:ext cx="4783455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批次直屬主管調整(員工資料單身直屬主管)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186" name="Google Shape;186;p1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350955" y="2786550"/>
            <a:ext cx="5131301" cy="2219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7845" y="1437336"/>
            <a:ext cx="3079495" cy="15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2"/>
          <p:cNvSpPr/>
          <p:nvPr/>
        </p:nvSpPr>
        <p:spPr>
          <a:xfrm>
            <a:off x="3532505" y="2139950"/>
            <a:ext cx="2950210" cy="485775"/>
          </a:xfrm>
          <a:prstGeom prst="wedgeRectCallout">
            <a:avLst>
              <a:gd name="adj1" fmla="val -94231"/>
              <a:gd name="adj2" fmla="val -29869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YaHei" panose="020B0503020204020204" charset="-122"/>
              <a:buNone/>
            </a:pPr>
            <a:r>
              <a:rPr lang="zh-TW" sz="135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🗹可調整部門主管的單身直屬主管</a:t>
            </a:r>
            <a:endParaRPr sz="135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YaHei" panose="020B0503020204020204" charset="-122"/>
              <a:buNone/>
            </a:pPr>
            <a:r>
              <a:rPr lang="zh-TW" sz="135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◻可調整部門員工的單身直屬主管</a:t>
            </a:r>
            <a:endParaRPr sz="135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13"/>
          <p:cNvGrpSpPr/>
          <p:nvPr/>
        </p:nvGrpSpPr>
        <p:grpSpPr>
          <a:xfrm>
            <a:off x="1815465" y="1129030"/>
            <a:ext cx="5542598" cy="612656"/>
            <a:chOff x="3482" y="2370"/>
            <a:chExt cx="11638" cy="1286"/>
          </a:xfrm>
        </p:grpSpPr>
        <p:grpSp>
          <p:nvGrpSpPr>
            <p:cNvPr id="194" name="Google Shape;194;p13"/>
            <p:cNvGrpSpPr/>
            <p:nvPr/>
          </p:nvGrpSpPr>
          <p:grpSpPr>
            <a:xfrm>
              <a:off x="3482" y="3497"/>
              <a:ext cx="11622" cy="117"/>
              <a:chOff x="0" y="2075"/>
              <a:chExt cx="6698" cy="1067"/>
            </a:xfrm>
          </p:grpSpPr>
          <p:sp>
            <p:nvSpPr>
              <p:cNvPr id="195" name="Google Shape;195;p13"/>
              <p:cNvSpPr/>
              <p:nvPr/>
            </p:nvSpPr>
            <p:spPr>
              <a:xfrm>
                <a:off x="0" y="2325"/>
                <a:ext cx="6698" cy="817"/>
              </a:xfrm>
              <a:prstGeom prst="rect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196" name="Google Shape;196;p13"/>
              <p:cNvSpPr/>
              <p:nvPr/>
            </p:nvSpPr>
            <p:spPr>
              <a:xfrm rot="10800000" flipH="1">
                <a:off x="0" y="2086"/>
                <a:ext cx="6698" cy="246"/>
              </a:xfrm>
              <a:prstGeom prst="rect">
                <a:avLst/>
              </a:prstGeom>
              <a:gradFill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197" name="Google Shape;197;p13"/>
              <p:cNvSpPr txBox="1"/>
              <p:nvPr/>
            </p:nvSpPr>
            <p:spPr>
              <a:xfrm flipH="1">
                <a:off x="0" y="2075"/>
                <a:ext cx="6698" cy="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198" name="Google Shape;198;p13"/>
            <p:cNvGrpSpPr/>
            <p:nvPr/>
          </p:nvGrpSpPr>
          <p:grpSpPr>
            <a:xfrm>
              <a:off x="3756" y="2370"/>
              <a:ext cx="3404" cy="1286"/>
              <a:chOff x="497" y="935"/>
              <a:chExt cx="1872" cy="746"/>
            </a:xfrm>
          </p:grpSpPr>
          <p:pic>
            <p:nvPicPr>
              <p:cNvPr id="199" name="Google Shape;199;p13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0" name="Google Shape;200;p13"/>
              <p:cNvSpPr/>
              <p:nvPr/>
            </p:nvSpPr>
            <p:spPr>
              <a:xfrm>
                <a:off x="753" y="935"/>
                <a:ext cx="1127" cy="669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1520" extrusionOk="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1" name="Google Shape;201;p13"/>
              <p:cNvSpPr/>
              <p:nvPr/>
            </p:nvSpPr>
            <p:spPr>
              <a:xfrm>
                <a:off x="739" y="947"/>
                <a:ext cx="1126" cy="661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04" extrusionOk="0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2" name="Google Shape;202;p13"/>
              <p:cNvSpPr/>
              <p:nvPr/>
            </p:nvSpPr>
            <p:spPr>
              <a:xfrm>
                <a:off x="747" y="942"/>
                <a:ext cx="1128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3" name="Google Shape;203;p13"/>
              <p:cNvSpPr/>
              <p:nvPr/>
            </p:nvSpPr>
            <p:spPr>
              <a:xfrm>
                <a:off x="746" y="941"/>
                <a:ext cx="1129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04" name="Google Shape;204;p13"/>
              <p:cNvSpPr txBox="1"/>
              <p:nvPr/>
            </p:nvSpPr>
            <p:spPr>
              <a:xfrm flipH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000"/>
                  <a:buFont typeface="Arial" panose="020B0604020202020204"/>
                  <a:buNone/>
                </a:pPr>
                <a:r>
                  <a:rPr lang="zh-TW" sz="3000" b="1" i="0" u="none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1</a:t>
                </a:r>
                <a:endParaRPr sz="3000" b="1" i="0" u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205" name="Google Shape;205;p13" descr="yy"/>
              <p:cNvPicPr preferRelativeResize="0"/>
              <p:nvPr/>
            </p:nvPicPr>
            <p:blipFill rotWithShape="1">
              <a:blip r:embed="rId2"/>
              <a:srcRect t="52698"/>
              <a:stretch>
                <a:fillRect/>
              </a:stretch>
            </p:blipFill>
            <p:spPr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06" name="Google Shape;206;p13"/>
            <p:cNvSpPr txBox="1"/>
            <p:nvPr/>
          </p:nvSpPr>
          <p:spPr>
            <a:xfrm>
              <a:off x="6690" y="2572"/>
              <a:ext cx="8430" cy="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B6E7"/>
                </a:buClr>
                <a:buSzPts val="2400"/>
                <a:buFont typeface="Microsoft YaHei" panose="020B0503020204020204" charset="-122"/>
                <a:buNone/>
              </a:pPr>
              <a:r>
                <a:rPr lang="zh-TW" sz="2400" b="1" i="0" u="none">
                  <a:solidFill>
                    <a:srgbClr val="41B6E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組織與員工基本資料維護</a:t>
              </a:r>
              <a:endParaRPr sz="2400" b="1" i="0" u="none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  <p:grpSp>
        <p:nvGrpSpPr>
          <p:cNvPr id="207" name="Google Shape;207;p13"/>
          <p:cNvGrpSpPr/>
          <p:nvPr/>
        </p:nvGrpSpPr>
        <p:grpSpPr>
          <a:xfrm>
            <a:off x="1815465" y="1969611"/>
            <a:ext cx="5542598" cy="612656"/>
            <a:chOff x="3482" y="4152"/>
            <a:chExt cx="11638" cy="1286"/>
          </a:xfrm>
        </p:grpSpPr>
        <p:grpSp>
          <p:nvGrpSpPr>
            <p:cNvPr id="208" name="Google Shape;208;p13"/>
            <p:cNvGrpSpPr/>
            <p:nvPr/>
          </p:nvGrpSpPr>
          <p:grpSpPr>
            <a:xfrm>
              <a:off x="3482" y="5279"/>
              <a:ext cx="11622" cy="117"/>
              <a:chOff x="0" y="2075"/>
              <a:chExt cx="6698" cy="1067"/>
            </a:xfrm>
          </p:grpSpPr>
          <p:sp>
            <p:nvSpPr>
              <p:cNvPr id="209" name="Google Shape;209;p13"/>
              <p:cNvSpPr/>
              <p:nvPr/>
            </p:nvSpPr>
            <p:spPr>
              <a:xfrm>
                <a:off x="0" y="2325"/>
                <a:ext cx="6698" cy="817"/>
              </a:xfrm>
              <a:prstGeom prst="rect">
                <a:avLst/>
              </a:prstGeom>
              <a:gradFill>
                <a:gsLst>
                  <a:gs pos="0">
                    <a:srgbClr val="DDDDDD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sp>
            <p:nvSpPr>
              <p:cNvPr id="210" name="Google Shape;210;p13"/>
              <p:cNvSpPr/>
              <p:nvPr/>
            </p:nvSpPr>
            <p:spPr>
              <a:xfrm rot="10800000" flipH="1">
                <a:off x="0" y="2086"/>
                <a:ext cx="6698" cy="246"/>
              </a:xfrm>
              <a:prstGeom prst="rect">
                <a:avLst/>
              </a:prstGeom>
              <a:gradFill>
                <a:gsLst>
                  <a:gs pos="0">
                    <a:srgbClr val="DBDBDB"/>
                  </a:gs>
                  <a:gs pos="100000">
                    <a:srgbClr val="FFFFFF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</a:p>
            </p:txBody>
          </p:sp>
          <p:sp>
            <p:nvSpPr>
              <p:cNvPr id="211" name="Google Shape;211;p13"/>
              <p:cNvSpPr txBox="1"/>
              <p:nvPr/>
            </p:nvSpPr>
            <p:spPr>
              <a:xfrm flipH="1">
                <a:off x="0" y="2075"/>
                <a:ext cx="6698" cy="2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7500" tIns="67500" rIns="54000" bIns="675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</p:grpSp>
        <p:grpSp>
          <p:nvGrpSpPr>
            <p:cNvPr id="212" name="Google Shape;212;p13"/>
            <p:cNvGrpSpPr/>
            <p:nvPr/>
          </p:nvGrpSpPr>
          <p:grpSpPr>
            <a:xfrm>
              <a:off x="3756" y="4152"/>
              <a:ext cx="3404" cy="1286"/>
              <a:chOff x="497" y="935"/>
              <a:chExt cx="1872" cy="746"/>
            </a:xfrm>
          </p:grpSpPr>
          <p:pic>
            <p:nvPicPr>
              <p:cNvPr id="213" name="Google Shape;213;p13"/>
              <p:cNvPicPr preferRelativeResize="0"/>
              <p:nvPr/>
            </p:nvPicPr>
            <p:blipFill rotWithShape="1">
              <a:blip r:embed="rId1"/>
              <a:srcRect/>
              <a:stretch>
                <a:fillRect/>
              </a:stretch>
            </p:blipFill>
            <p:spPr>
              <a:xfrm>
                <a:off x="687" y="1175"/>
                <a:ext cx="982" cy="42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14" name="Google Shape;214;p13"/>
              <p:cNvSpPr/>
              <p:nvPr/>
            </p:nvSpPr>
            <p:spPr>
              <a:xfrm>
                <a:off x="753" y="935"/>
                <a:ext cx="1127" cy="669"/>
              </a:xfrm>
              <a:custGeom>
                <a:avLst/>
                <a:gdLst/>
                <a:ahLst/>
                <a:cxnLst/>
                <a:rect l="l" t="t" r="r" b="b"/>
                <a:pathLst>
                  <a:path w="2561" h="1520" extrusionOk="0">
                    <a:moveTo>
                      <a:pt x="1505" y="33"/>
                    </a:moveTo>
                    <a:cubicBezTo>
                      <a:pt x="1556" y="0"/>
                      <a:pt x="1627" y="17"/>
                      <a:pt x="1663" y="68"/>
                    </a:cubicBezTo>
                    <a:cubicBezTo>
                      <a:pt x="2558" y="1505"/>
                      <a:pt x="2561" y="1518"/>
                      <a:pt x="2561" y="1518"/>
                    </a:cubicBezTo>
                    <a:cubicBezTo>
                      <a:pt x="2257" y="1520"/>
                      <a:pt x="752" y="1520"/>
                      <a:pt x="304" y="1520"/>
                    </a:cubicBezTo>
                    <a:cubicBezTo>
                      <a:pt x="155" y="1281"/>
                      <a:pt x="72" y="1185"/>
                      <a:pt x="33" y="1086"/>
                    </a:cubicBezTo>
                    <a:cubicBezTo>
                      <a:pt x="0" y="1032"/>
                      <a:pt x="17" y="961"/>
                      <a:pt x="68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accent1">
                  <a:alpha val="20000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5" name="Google Shape;215;p13"/>
              <p:cNvSpPr/>
              <p:nvPr/>
            </p:nvSpPr>
            <p:spPr>
              <a:xfrm>
                <a:off x="739" y="947"/>
                <a:ext cx="1126" cy="661"/>
              </a:xfrm>
              <a:custGeom>
                <a:avLst/>
                <a:gdLst/>
                <a:ahLst/>
                <a:cxnLst/>
                <a:rect l="l" t="t" r="r" b="b"/>
                <a:pathLst>
                  <a:path w="2559" h="1504" extrusionOk="0">
                    <a:moveTo>
                      <a:pt x="1505" y="33"/>
                    </a:moveTo>
                    <a:cubicBezTo>
                      <a:pt x="1559" y="0"/>
                      <a:pt x="1630" y="17"/>
                      <a:pt x="1663" y="71"/>
                    </a:cubicBezTo>
                    <a:cubicBezTo>
                      <a:pt x="2559" y="1504"/>
                      <a:pt x="2556" y="1494"/>
                      <a:pt x="2556" y="1494"/>
                    </a:cubicBezTo>
                    <a:cubicBezTo>
                      <a:pt x="2274" y="1492"/>
                      <a:pt x="747" y="1494"/>
                      <a:pt x="279" y="1492"/>
                    </a:cubicBezTo>
                    <a:cubicBezTo>
                      <a:pt x="130" y="1253"/>
                      <a:pt x="69" y="1183"/>
                      <a:pt x="33" y="1089"/>
                    </a:cubicBezTo>
                    <a:cubicBezTo>
                      <a:pt x="0" y="1034"/>
                      <a:pt x="17" y="964"/>
                      <a:pt x="71" y="930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343F1E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6" name="Google Shape;216;p13"/>
              <p:cNvSpPr/>
              <p:nvPr/>
            </p:nvSpPr>
            <p:spPr>
              <a:xfrm>
                <a:off x="747" y="942"/>
                <a:ext cx="1128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7" name="Google Shape;217;p13"/>
              <p:cNvSpPr/>
              <p:nvPr/>
            </p:nvSpPr>
            <p:spPr>
              <a:xfrm>
                <a:off x="746" y="941"/>
                <a:ext cx="1129" cy="694"/>
              </a:xfrm>
              <a:custGeom>
                <a:avLst/>
                <a:gdLst/>
                <a:ahLst/>
                <a:cxnLst/>
                <a:rect l="l" t="t" r="r" b="b"/>
                <a:pathLst>
                  <a:path w="2564" h="1577" extrusionOk="0">
                    <a:moveTo>
                      <a:pt x="1505" y="33"/>
                    </a:moveTo>
                    <a:cubicBezTo>
                      <a:pt x="1557" y="0"/>
                      <a:pt x="1628" y="17"/>
                      <a:pt x="1663" y="68"/>
                    </a:cubicBezTo>
                    <a:cubicBezTo>
                      <a:pt x="2559" y="1505"/>
                      <a:pt x="2564" y="1506"/>
                      <a:pt x="2564" y="1506"/>
                    </a:cubicBezTo>
                    <a:cubicBezTo>
                      <a:pt x="2301" y="1505"/>
                      <a:pt x="667" y="1506"/>
                      <a:pt x="290" y="1506"/>
                    </a:cubicBezTo>
                    <a:cubicBezTo>
                      <a:pt x="184" y="1337"/>
                      <a:pt x="338" y="1577"/>
                      <a:pt x="295" y="1507"/>
                    </a:cubicBezTo>
                    <a:cubicBezTo>
                      <a:pt x="252" y="1437"/>
                      <a:pt x="71" y="1182"/>
                      <a:pt x="33" y="1086"/>
                    </a:cubicBezTo>
                    <a:cubicBezTo>
                      <a:pt x="0" y="1032"/>
                      <a:pt x="14" y="961"/>
                      <a:pt x="69" y="928"/>
                    </a:cubicBezTo>
                    <a:cubicBezTo>
                      <a:pt x="1505" y="33"/>
                      <a:pt x="1505" y="33"/>
                      <a:pt x="1505" y="33"/>
                    </a:cubicBezTo>
                  </a:path>
                </a:pathLst>
              </a:custGeom>
              <a:solidFill>
                <a:srgbClr val="41B6E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0"/>
                  <a:buFont typeface="Calibri" panose="020F0502020204030204"/>
                  <a:buNone/>
                </a:pPr>
                <a:endParaRPr sz="100" b="0" i="0" u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endParaRPr>
              </a:p>
            </p:txBody>
          </p:sp>
          <p:sp>
            <p:nvSpPr>
              <p:cNvPr id="218" name="Google Shape;218;p13"/>
              <p:cNvSpPr txBox="1"/>
              <p:nvPr/>
            </p:nvSpPr>
            <p:spPr>
              <a:xfrm flipH="1">
                <a:off x="739" y="1008"/>
                <a:ext cx="1175" cy="6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000"/>
                  <a:buFont typeface="Arial" panose="020B0604020202020204"/>
                  <a:buNone/>
                </a:pPr>
                <a:r>
                  <a:rPr lang="zh-TW" sz="3000" b="1" i="0" u="none">
                    <a:solidFill>
                      <a:schemeClr val="lt1"/>
                    </a:solidFill>
                    <a:latin typeface="Arial" panose="020B0604020202020204"/>
                    <a:ea typeface="Arial" panose="020B0604020202020204"/>
                    <a:cs typeface="Arial" panose="020B0604020202020204"/>
                    <a:sym typeface="Arial" panose="020B0604020202020204"/>
                  </a:rPr>
                  <a:t>2</a:t>
                </a:r>
                <a:endParaRPr sz="3000" b="1" i="0" u="none">
                  <a:solidFill>
                    <a:schemeClr val="lt1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endParaRPr>
              </a:p>
            </p:txBody>
          </p:sp>
          <p:pic>
            <p:nvPicPr>
              <p:cNvPr id="219" name="Google Shape;219;p13" descr="yy"/>
              <p:cNvPicPr preferRelativeResize="0"/>
              <p:nvPr/>
            </p:nvPicPr>
            <p:blipFill rotWithShape="1">
              <a:blip r:embed="rId2"/>
              <a:srcRect t="52698"/>
              <a:stretch>
                <a:fillRect/>
              </a:stretch>
            </p:blipFill>
            <p:spPr>
              <a:xfrm>
                <a:off x="497" y="1555"/>
                <a:ext cx="1872" cy="10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220" name="Google Shape;220;p13"/>
            <p:cNvSpPr txBox="1"/>
            <p:nvPr/>
          </p:nvSpPr>
          <p:spPr>
            <a:xfrm>
              <a:off x="6690" y="4357"/>
              <a:ext cx="8430" cy="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1B6E7"/>
                </a:buClr>
                <a:buSzPts val="2400"/>
                <a:buFont typeface="Microsoft YaHei" panose="020B0503020204020204" charset="-122"/>
                <a:buNone/>
              </a:pPr>
              <a:r>
                <a:rPr lang="zh-TW" sz="2400" b="1" i="0" u="none">
                  <a:solidFill>
                    <a:srgbClr val="41B6E7"/>
                  </a:solidFill>
                  <a:latin typeface="Microsoft YaHei" panose="020B0503020204020204" charset="-122"/>
                  <a:ea typeface="Microsoft YaHei" panose="020B0503020204020204" charset="-122"/>
                  <a:cs typeface="Microsoft YaHei" panose="020B0503020204020204" charset="-122"/>
                  <a:sym typeface="Microsoft YaHei" panose="020B0503020204020204" charset="-122"/>
                </a:rPr>
                <a:t>使用者系統權限維護</a:t>
              </a:r>
              <a:endParaRPr sz="2400" b="1" i="0" u="none">
                <a:solidFill>
                  <a:srgbClr val="41B6E7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使用者權限群組建立</a:t>
            </a:r>
            <a:endParaRPr lang="zh-TW"/>
          </a:p>
        </p:txBody>
      </p:sp>
      <p:grpSp>
        <p:nvGrpSpPr>
          <p:cNvPr id="226" name="Google Shape;226;p14"/>
          <p:cNvGrpSpPr/>
          <p:nvPr/>
        </p:nvGrpSpPr>
        <p:grpSpPr>
          <a:xfrm>
            <a:off x="405130" y="1177925"/>
            <a:ext cx="2971165" cy="3037840"/>
            <a:chOff x="4393" y="1924"/>
            <a:chExt cx="4679" cy="4784"/>
          </a:xfrm>
        </p:grpSpPr>
        <p:pic>
          <p:nvPicPr>
            <p:cNvPr id="227" name="Google Shape;227;p14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393" y="1924"/>
              <a:ext cx="4679" cy="4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4"/>
            <p:cNvSpPr/>
            <p:nvPr/>
          </p:nvSpPr>
          <p:spPr>
            <a:xfrm>
              <a:off x="4393" y="1924"/>
              <a:ext cx="3572" cy="42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9" name="Google Shape;229;p14"/>
            <p:cNvSpPr/>
            <p:nvPr/>
          </p:nvSpPr>
          <p:spPr>
            <a:xfrm rot="10800000" flipH="1">
              <a:off x="4989" y="3370"/>
              <a:ext cx="3828" cy="42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pic>
        <p:nvPicPr>
          <p:cNvPr id="230" name="Google Shape;230;p14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701923" y="1080381"/>
            <a:ext cx="5226568" cy="2203042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4"/>
          <p:cNvSpPr txBox="1"/>
          <p:nvPr/>
        </p:nvSpPr>
        <p:spPr>
          <a:xfrm>
            <a:off x="3702255" y="3432519"/>
            <a:ext cx="4537075" cy="1383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Ex：開放簽呈總表查詢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0000【鼎捷集團】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|__T001【台灣總公司】    1號員工(群組權限)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|        |_0001【台北】       2號員工(群組權限、他組權限)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|        |_0002【台中】       3號員工(群組權限)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|_C001【大陸分公司】      4號員工(群組權限、他組權限)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icrosoft YaHei" panose="020B0503020204020204" charset="-122"/>
              <a:buNone/>
            </a:pPr>
            <a:r>
              <a:rPr lang="zh-TW" sz="1200" b="0" i="0" u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        |_1001【上海】        5號員工(群組權限)</a:t>
            </a:r>
            <a:endParaRPr sz="1200" b="0" i="0" u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5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使用者權限管理</a:t>
            </a:r>
            <a:endParaRPr lang="zh-TW"/>
          </a:p>
        </p:txBody>
      </p:sp>
      <p:grpSp>
        <p:nvGrpSpPr>
          <p:cNvPr id="237" name="Google Shape;237;p15"/>
          <p:cNvGrpSpPr/>
          <p:nvPr/>
        </p:nvGrpSpPr>
        <p:grpSpPr>
          <a:xfrm>
            <a:off x="405130" y="1080135"/>
            <a:ext cx="2971165" cy="3038475"/>
            <a:chOff x="4308" y="1903"/>
            <a:chExt cx="4679" cy="4785"/>
          </a:xfrm>
        </p:grpSpPr>
        <p:pic>
          <p:nvPicPr>
            <p:cNvPr id="238" name="Google Shape;238;p15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308" y="1903"/>
              <a:ext cx="4679" cy="4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9" name="Google Shape;239;p15"/>
            <p:cNvSpPr/>
            <p:nvPr/>
          </p:nvSpPr>
          <p:spPr>
            <a:xfrm>
              <a:off x="4648" y="1924"/>
              <a:ext cx="3572" cy="341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0" name="Google Shape;240;p15"/>
            <p:cNvSpPr/>
            <p:nvPr/>
          </p:nvSpPr>
          <p:spPr>
            <a:xfrm>
              <a:off x="4903" y="3880"/>
              <a:ext cx="4084" cy="1361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41" name="Google Shape;241;p15"/>
            <p:cNvSpPr/>
            <p:nvPr/>
          </p:nvSpPr>
          <p:spPr>
            <a:xfrm>
              <a:off x="4903" y="6262"/>
              <a:ext cx="4084" cy="42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使用者權限設定作業</a:t>
            </a:r>
            <a:endParaRPr lang="zh-TW"/>
          </a:p>
        </p:txBody>
      </p:sp>
      <p:sp>
        <p:nvSpPr>
          <p:cNvPr id="247" name="Google Shape;247;p16"/>
          <p:cNvSpPr txBox="1"/>
          <p:nvPr/>
        </p:nvSpPr>
        <p:spPr>
          <a:xfrm>
            <a:off x="481965" y="945515"/>
            <a:ext cx="4783455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可設定個別User權限、通常設定超級使用者權限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248" name="Google Shape;248;p16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4918" y="1353268"/>
            <a:ext cx="5968456" cy="3192624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16"/>
          <p:cNvSpPr/>
          <p:nvPr/>
        </p:nvSpPr>
        <p:spPr>
          <a:xfrm>
            <a:off x="3208379" y="1940262"/>
            <a:ext cx="971720" cy="485860"/>
          </a:xfrm>
          <a:prstGeom prst="rect">
            <a:avLst/>
          </a:prstGeom>
          <a:noFill/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7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權限批次複製作業</a:t>
            </a:r>
            <a:endParaRPr lang="zh-TW"/>
          </a:p>
        </p:txBody>
      </p:sp>
      <p:sp>
        <p:nvSpPr>
          <p:cNvPr id="255" name="Google Shape;255;p17"/>
          <p:cNvSpPr txBox="1"/>
          <p:nvPr/>
        </p:nvSpPr>
        <p:spPr>
          <a:xfrm>
            <a:off x="481965" y="945515"/>
            <a:ext cx="5775960" cy="78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將某一人員權限統一複製給相關人員、部門、部門(含子部門)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通常在系統上線後，有新進人員時可直接給予複製權限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None/>
            </a:pP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256" name="Google Shape;256;p17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2255" y="1529220"/>
            <a:ext cx="3836865" cy="32914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8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使用者程式別權限產生作業</a:t>
            </a:r>
            <a:endParaRPr lang="zh-TW"/>
          </a:p>
        </p:txBody>
      </p:sp>
      <p:sp>
        <p:nvSpPr>
          <p:cNvPr id="262" name="Google Shape;262;p18"/>
          <p:cNvSpPr txBox="1"/>
          <p:nvPr/>
        </p:nvSpPr>
        <p:spPr>
          <a:xfrm>
            <a:off x="481965" y="945515"/>
            <a:ext cx="5775960" cy="553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表單與維護作業皆需控管執行權限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通常會將欲上線之表單批次開放執行權限給所有人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263" name="Google Shape;26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59435" y="1498600"/>
            <a:ext cx="6165850" cy="35344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9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使用者程式別權限刪除作業</a:t>
            </a:r>
            <a:endParaRPr lang="zh-TW"/>
          </a:p>
        </p:txBody>
      </p:sp>
      <p:sp>
        <p:nvSpPr>
          <p:cNvPr id="269" name="Google Shape;269;p19"/>
          <p:cNvSpPr txBox="1"/>
          <p:nvPr/>
        </p:nvSpPr>
        <p:spPr>
          <a:xfrm>
            <a:off x="481965" y="945515"/>
            <a:ext cx="5775960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將已設定好的權限給予刪除，可透過使用者角度、表單角度刪除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270" name="Google Shape;270;p19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4862" y="1422045"/>
            <a:ext cx="3272410" cy="2722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3861851" y="1422045"/>
            <a:ext cx="3215250" cy="267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0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使用者權限管理</a:t>
            </a:r>
            <a:endParaRPr lang="zh-TW"/>
          </a:p>
        </p:txBody>
      </p:sp>
      <p:grpSp>
        <p:nvGrpSpPr>
          <p:cNvPr id="277" name="Google Shape;277;p20"/>
          <p:cNvGrpSpPr/>
          <p:nvPr/>
        </p:nvGrpSpPr>
        <p:grpSpPr>
          <a:xfrm>
            <a:off x="405130" y="1080135"/>
            <a:ext cx="2971165" cy="3037840"/>
            <a:chOff x="4308" y="1903"/>
            <a:chExt cx="4679" cy="4784"/>
          </a:xfrm>
        </p:grpSpPr>
        <p:pic>
          <p:nvPicPr>
            <p:cNvPr id="278" name="Google Shape;278;p20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4308" y="1903"/>
              <a:ext cx="4679" cy="478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9" name="Google Shape;279;p20"/>
            <p:cNvSpPr/>
            <p:nvPr/>
          </p:nvSpPr>
          <p:spPr>
            <a:xfrm>
              <a:off x="4648" y="1924"/>
              <a:ext cx="3572" cy="341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>
              <a:off x="4903" y="5810"/>
              <a:ext cx="4084" cy="426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50"/>
                <a:buFont typeface="Arial" panose="020B0604020202020204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1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離職員工原稿授權維護作業</a:t>
            </a:r>
            <a:endParaRPr lang="zh-TW"/>
          </a:p>
        </p:txBody>
      </p:sp>
      <p:sp>
        <p:nvSpPr>
          <p:cNvPr id="286" name="Google Shape;286;p21"/>
          <p:cNvSpPr txBox="1"/>
          <p:nvPr/>
        </p:nvSpPr>
        <p:spPr>
          <a:xfrm>
            <a:off x="481965" y="945515"/>
            <a:ext cx="5775960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設定接手人員可查看離職員工曾發起的表單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grpSp>
        <p:nvGrpSpPr>
          <p:cNvPr id="287" name="Google Shape;287;p21"/>
          <p:cNvGrpSpPr/>
          <p:nvPr/>
        </p:nvGrpSpPr>
        <p:grpSpPr>
          <a:xfrm>
            <a:off x="405130" y="1428750"/>
            <a:ext cx="6531610" cy="3095625"/>
            <a:chOff x="2315" y="2579"/>
            <a:chExt cx="10286" cy="4875"/>
          </a:xfrm>
        </p:grpSpPr>
        <p:pic>
          <p:nvPicPr>
            <p:cNvPr id="288" name="Google Shape;288;p2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2315" y="2579"/>
              <a:ext cx="9478" cy="42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p21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156" y="3370"/>
              <a:ext cx="4445" cy="4084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90" name="Google Shape;290;p21"/>
            <p:cNvCxnSpPr/>
            <p:nvPr/>
          </p:nvCxnSpPr>
          <p:spPr>
            <a:xfrm>
              <a:off x="9964" y="2944"/>
              <a:ext cx="56" cy="474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 lim="800000"/>
              <a:headEnd type="none" w="sm" len="sm"/>
              <a:tailEnd type="stealth" w="med" len="med"/>
            </a:ln>
          </p:spPr>
        </p:cxnSp>
      </p:grpSp>
      <p:sp>
        <p:nvSpPr>
          <p:cNvPr id="291" name="Google Shape;291;p21"/>
          <p:cNvSpPr/>
          <p:nvPr/>
        </p:nvSpPr>
        <p:spPr>
          <a:xfrm>
            <a:off x="6423660" y="2675890"/>
            <a:ext cx="1250950" cy="307340"/>
          </a:xfrm>
          <a:prstGeom prst="wedgeRectCallout">
            <a:avLst>
              <a:gd name="adj1" fmla="val -64645"/>
              <a:gd name="adj2" fmla="val -25163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00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Microsoft YaHei" panose="020B0503020204020204" charset="-122"/>
              <a:buNone/>
            </a:pPr>
            <a:r>
              <a:rPr lang="zh-TW" sz="1350" b="0" i="0" u="none" strike="noStrike" cap="none">
                <a:solidFill>
                  <a:schemeClr val="dk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選擇接手人員</a:t>
            </a:r>
            <a:endParaRPr sz="1350" b="0" i="0" u="none" strike="noStrike" cap="none">
              <a:solidFill>
                <a:schemeClr val="dk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2"/>
          <p:cNvSpPr txBox="1"/>
          <p:nvPr>
            <p:ph type="title"/>
          </p:nvPr>
        </p:nvSpPr>
        <p:spPr>
          <a:xfrm>
            <a:off x="404813" y="540134"/>
            <a:ext cx="8370000" cy="540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1600" tIns="38100" rIns="76200" bIns="381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6E7"/>
              </a:buClr>
              <a:buSzPts val="2400"/>
              <a:buFont typeface="Arial" panose="020B0604020202020204"/>
              <a:buNone/>
            </a:pPr>
            <a:r>
              <a:rPr lang="zh-TW"/>
              <a:t>離職員工原稿授權維護作業</a:t>
            </a:r>
            <a:endParaRPr lang="zh-TW"/>
          </a:p>
        </p:txBody>
      </p:sp>
      <p:pic>
        <p:nvPicPr>
          <p:cNvPr id="297" name="Google Shape;297;p22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05130" y="1276985"/>
            <a:ext cx="4604385" cy="2221865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2"/>
          <p:cNvSpPr/>
          <p:nvPr/>
        </p:nvSpPr>
        <p:spPr>
          <a:xfrm>
            <a:off x="4349234" y="1267324"/>
            <a:ext cx="215541" cy="270319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 panose="020B0604020202020204"/>
              <a:buNone/>
            </a:pPr>
            <a:endParaRPr sz="1350" b="0" i="0" u="none" strike="noStrike" cap="none">
              <a:solidFill>
                <a:schemeClr val="lt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99" name="Google Shape;299;p22"/>
          <p:cNvSpPr txBox="1"/>
          <p:nvPr/>
        </p:nvSpPr>
        <p:spPr>
          <a:xfrm>
            <a:off x="481965" y="945515"/>
            <a:ext cx="5775960" cy="321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500"/>
              <a:buFont typeface="Microsoft YaHei" panose="020B0503020204020204" charset="-122"/>
              <a:buNone/>
            </a:pPr>
            <a:r>
              <a:rPr lang="zh-TW" sz="1500" b="0" i="0" u="none">
                <a:solidFill>
                  <a:srgbClr val="00206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  <a:sym typeface="Microsoft YaHei" panose="020B0503020204020204" charset="-122"/>
              </a:rPr>
              <a:t>接手人員可至原稿資料匣，查詢離職人員曾填寫過的表單</a:t>
            </a:r>
            <a:endParaRPr sz="1500" b="0" i="0" u="none">
              <a:solidFill>
                <a:srgbClr val="00206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  <a:sym typeface="Microsoft YaHei" panose="020B0503020204020204" charset="-122"/>
            </a:endParaRPr>
          </a:p>
        </p:txBody>
      </p:sp>
      <p:pic>
        <p:nvPicPr>
          <p:cNvPr id="300" name="Google Shape;300;p2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05130" y="3498850"/>
            <a:ext cx="5382260" cy="1608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>
            <p:ph type="title"/>
          </p:nvPr>
        </p:nvSpPr>
        <p:spPr>
          <a:xfrm>
            <a:off x="521048" y="1755217"/>
            <a:ext cx="8100000" cy="1215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 panose="020B0604020202020204"/>
              <a:buNone/>
            </a:pPr>
            <a:r>
              <a:rPr lang="zh-TW"/>
              <a:t>Q&amp;A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931</Words>
  <Application>WPS Presentation</Application>
  <PresentationFormat/>
  <Paragraphs>130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44" baseType="lpstr">
      <vt:lpstr>Arial</vt:lpstr>
      <vt:lpstr>新細明體</vt:lpstr>
      <vt:lpstr>Wingdings</vt:lpstr>
      <vt:lpstr>Arial</vt:lpstr>
      <vt:lpstr>Calibri</vt:lpstr>
      <vt:lpstr>Microsoft YaHei</vt:lpstr>
      <vt:lpstr>微軟正黑體</vt:lpstr>
      <vt:lpstr>SimSun</vt:lpstr>
      <vt:lpstr>Arial Unicode MS</vt:lpstr>
      <vt:lpstr>Arial Black</vt:lpstr>
      <vt:lpstr>Yu Gothic UI Semilight</vt:lpstr>
      <vt:lpstr>Microsoft Tai Le</vt:lpstr>
      <vt:lpstr>Microsoft New Tai Lue</vt:lpstr>
      <vt:lpstr>Lucida Sans Unicode</vt:lpstr>
      <vt:lpstr>Microsoft Himalaya</vt:lpstr>
      <vt:lpstr>Mongolian Baiti</vt:lpstr>
      <vt:lpstr>MT Extra</vt:lpstr>
      <vt:lpstr>Microsoft Yi Baiti</vt:lpstr>
      <vt:lpstr>Microsoft Sans Serif</vt:lpstr>
      <vt:lpstr>Microsoft PhagsPa</vt:lpstr>
      <vt:lpstr>Office 佈景主題​​</vt:lpstr>
      <vt:lpstr>EasyFlow電子簽核系統 基本資料&amp;權限說明 </vt:lpstr>
      <vt:lpstr>PowerPoint 演示文稿</vt:lpstr>
      <vt:lpstr>組織與員工導入程序</vt:lpstr>
      <vt:lpstr>維護組織、員工資料</vt:lpstr>
      <vt:lpstr>員工資料維護作業</vt:lpstr>
      <vt:lpstr>員工資料維護作業</vt:lpstr>
      <vt:lpstr>新增登入者帳號與密碼</vt:lpstr>
      <vt:lpstr>離職員工查詢作業</vt:lpstr>
      <vt:lpstr>幽靈人口查詢作業</vt:lpstr>
      <vt:lpstr>組織資料維護作業</vt:lpstr>
      <vt:lpstr>刪除組織資料維護</vt:lpstr>
      <vt:lpstr>直屬部門主管調整作業</vt:lpstr>
      <vt:lpstr>PowerPoint 演示文稿</vt:lpstr>
      <vt:lpstr>使用者權限群組建立</vt:lpstr>
      <vt:lpstr>使用者權限管理</vt:lpstr>
      <vt:lpstr>使用者權限設定作業</vt:lpstr>
      <vt:lpstr>權限批次複製作業</vt:lpstr>
      <vt:lpstr>使用者程式別權限產生作業</vt:lpstr>
      <vt:lpstr>使用者程式別權限刪除作業</vt:lpstr>
      <vt:lpstr>使用者權限管理</vt:lpstr>
      <vt:lpstr>離職員工原稿授權維護作業</vt:lpstr>
      <vt:lpstr>離職員工原稿授權維護作業</vt:lpstr>
      <vt:lpstr>Q&amp;A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EasyFlow電子簽核系統 基本資料&amp;權限說明 </dc:title>
  <dc:creator>eve</dc:creator>
  <cp:lastModifiedBy>Asus</cp:lastModifiedBy>
  <cp:revision>2</cp:revision>
  <dcterms:created xsi:type="dcterms:W3CDTF">2022-07-06T15:55:28Z</dcterms:created>
  <dcterms:modified xsi:type="dcterms:W3CDTF">2022-07-06T15:59:38Z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1028-11.8.2.8378</vt:lpwstr>
  </property>
</Properties>
</file>